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  <p:sldMasterId id="2147483653" r:id="rId2"/>
    <p:sldMasterId id="2147483654" r:id="rId3"/>
  </p:sldMasterIdLst>
  <p:notesMasterIdLst>
    <p:notesMasterId r:id="rId48"/>
  </p:notesMasterIdLst>
  <p:sldIdLst>
    <p:sldId id="256" r:id="rId4"/>
    <p:sldId id="287" r:id="rId5"/>
    <p:sldId id="285" r:id="rId6"/>
    <p:sldId id="286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6" r:id="rId15"/>
    <p:sldId id="295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304" r:id="rId24"/>
    <p:sldId id="306" r:id="rId25"/>
    <p:sldId id="305" r:id="rId26"/>
    <p:sldId id="329" r:id="rId27"/>
    <p:sldId id="308" r:id="rId28"/>
    <p:sldId id="307" r:id="rId29"/>
    <p:sldId id="310" r:id="rId30"/>
    <p:sldId id="311" r:id="rId31"/>
    <p:sldId id="312" r:id="rId32"/>
    <p:sldId id="313" r:id="rId33"/>
    <p:sldId id="314" r:id="rId34"/>
    <p:sldId id="315" r:id="rId35"/>
    <p:sldId id="316" r:id="rId36"/>
    <p:sldId id="317" r:id="rId37"/>
    <p:sldId id="318" r:id="rId38"/>
    <p:sldId id="320" r:id="rId39"/>
    <p:sldId id="321" r:id="rId40"/>
    <p:sldId id="322" r:id="rId41"/>
    <p:sldId id="323" r:id="rId42"/>
    <p:sldId id="324" r:id="rId43"/>
    <p:sldId id="325" r:id="rId44"/>
    <p:sldId id="326" r:id="rId45"/>
    <p:sldId id="327" r:id="rId46"/>
    <p:sldId id="328" r:id="rId47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fld id="{FB8FC928-72EE-464F-BC38-B4632756C9EE}" type="datetimeFigureOut">
              <a:rPr lang="zh-TW" altLang="en-US"/>
              <a:pPr>
                <a:defRPr/>
              </a:pPr>
              <a:t>2024/2/21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 smtClean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9676536-6B7D-46DE-95D7-3DD0ACF4DB29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2804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3CB1B1-1809-4C5B-B10D-D56A7FED31A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18777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93C270-138C-42DF-BA7F-31BECF9A9D4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0585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0C126F-E9D4-4779-B5E6-E6821E897C3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90925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9144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768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3A61E-6E50-47C5-A571-1BEA1FBBB6D4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98581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9E5B3A-745C-4BDD-A569-4E3A2C7663D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34319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E72F18-AD83-40E9-AFC0-EAB75D45B4F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55378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0021CF-3A74-41EE-8645-B20E4A2056F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5200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DD5D20-8F2C-4DD5-AE70-A881BBC0AA8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22056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AE9C9D-1EC0-4BF1-9C08-0ED99A350A7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30274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5F71B1-7C88-4BC8-A518-24B159CE008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19740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43700" y="274638"/>
            <a:ext cx="1943100" cy="57451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914400" y="274638"/>
            <a:ext cx="5676900" cy="57451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36C93A-7BBE-44E5-BDAB-7156FDE321EE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71833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58D2B4-E862-438E-9790-CDD4659E5B5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701243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E358C2-AF4F-4DA6-BDBC-2C6B60C74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33744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73D52A-3251-4F2A-965A-68697340EB9C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050539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9144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768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E3BFBC-5F56-4283-B299-4DE386FC81A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474976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716F7E-6462-4EBB-AC7C-57D2A1527BC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08930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88F2A4-614B-4CDF-B57C-19AD2CC91C2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382124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78C1DE-C343-45A7-98A2-D4A0CA8D1B3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861438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8B438A-DA91-4030-A901-6756B18B2BA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750143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856F6-89E5-4EB4-8B94-2E384E0429E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43444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BC0EB8-BC90-40E1-8EEA-0FC09F0EB43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209001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43700" y="274638"/>
            <a:ext cx="1943100" cy="57451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914400" y="274638"/>
            <a:ext cx="5676900" cy="57451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D0B9F2-E97D-48AD-9AF0-363D7651E3C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345176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F4EAC2-EC43-4CA0-BCF9-B1DA03845B2C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37119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66F714-468D-45C8-A116-4CD3D030CEB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316385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110860-0040-4170-9093-2398FA10A3A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542381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9144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768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F01254-25D6-439E-BDBC-326C8D468B9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993328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7743E6-03A6-4062-A2F9-A8CB67EA79E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86670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756BC5-B4A1-4832-9556-DE3ECA9BC2E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061538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B2B0C5-6FC9-44D5-BF55-5F5C805708D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06634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502423-93F9-4C8F-A1C5-744BE3352F8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943204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7D2BA9-7A74-4D25-A98B-BA166E1C76F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274707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ED71CD-6FCB-48D1-A58B-126B35190EA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288459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43700" y="274638"/>
            <a:ext cx="1943100" cy="57451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914400" y="274638"/>
            <a:ext cx="5676900" cy="57451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0D375B-07BA-448A-B2BF-AAF8798B13D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28756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 useBgFill="1">
        <p:nvSpPr>
          <p:cNvPr id="11" name="圓角矩形 10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12" name="矩形 11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13" name="矩形 12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15" name="矩形 14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1031" name="標題版面配置區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32" name="文字版面配置區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6" name="日期版面配置區 27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" name="投影片編號版面配置區 28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</a:defRPr>
            </a:lvl1pPr>
          </a:lstStyle>
          <a:p>
            <a:fld id="{C5D98EF3-68B0-4BE5-A804-4F06DFD0AF0B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kumimoji="1" sz="26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kumimoji="1" sz="2400">
          <a:solidFill>
            <a:schemeClr val="tx1"/>
          </a:solidFill>
          <a:latin typeface="+mn-lt"/>
          <a:ea typeface="+mn-ea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kumimoji="1" sz="2000">
          <a:solidFill>
            <a:schemeClr val="tx1"/>
          </a:solidFill>
          <a:latin typeface="+mn-lt"/>
          <a:ea typeface="+mn-ea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kumimoji="1" sz="2000">
          <a:solidFill>
            <a:schemeClr val="tx1"/>
          </a:solidFill>
          <a:latin typeface="+mn-lt"/>
          <a:ea typeface="+mn-ea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kumimoji="1" sz="2000">
          <a:solidFill>
            <a:schemeClr val="tx1"/>
          </a:solidFill>
          <a:latin typeface="+mn-lt"/>
          <a:ea typeface="+mn-ea"/>
        </a:defRPr>
      </a:lvl5pPr>
      <a:lvl6pPr marL="1828800" indent="-228600" algn="l" rtl="0" fontAlgn="base">
        <a:spcBef>
          <a:spcPts val="375"/>
        </a:spcBef>
        <a:spcAft>
          <a:spcPct val="0"/>
        </a:spcAft>
        <a:buClr>
          <a:srgbClr val="A28E6A"/>
        </a:buClr>
        <a:buChar char="o"/>
        <a:defRPr kumimoji="1" sz="2000">
          <a:solidFill>
            <a:schemeClr val="tx1"/>
          </a:solidFill>
          <a:latin typeface="+mn-lt"/>
          <a:ea typeface="+mn-ea"/>
        </a:defRPr>
      </a:lvl6pPr>
      <a:lvl7pPr marL="2286000" indent="-228600" algn="l" rtl="0" fontAlgn="base">
        <a:spcBef>
          <a:spcPts val="375"/>
        </a:spcBef>
        <a:spcAft>
          <a:spcPct val="0"/>
        </a:spcAft>
        <a:buClr>
          <a:srgbClr val="A28E6A"/>
        </a:buClr>
        <a:buChar char="o"/>
        <a:defRPr kumimoji="1" sz="2000">
          <a:solidFill>
            <a:schemeClr val="tx1"/>
          </a:solidFill>
          <a:latin typeface="+mn-lt"/>
          <a:ea typeface="+mn-ea"/>
        </a:defRPr>
      </a:lvl7pPr>
      <a:lvl8pPr marL="2743200" indent="-228600" algn="l" rtl="0" fontAlgn="base">
        <a:spcBef>
          <a:spcPts val="375"/>
        </a:spcBef>
        <a:spcAft>
          <a:spcPct val="0"/>
        </a:spcAft>
        <a:buClr>
          <a:srgbClr val="A28E6A"/>
        </a:buClr>
        <a:buChar char="o"/>
        <a:defRPr kumimoji="1" sz="2000">
          <a:solidFill>
            <a:schemeClr val="tx1"/>
          </a:solidFill>
          <a:latin typeface="+mn-lt"/>
          <a:ea typeface="+mn-ea"/>
        </a:defRPr>
      </a:lvl8pPr>
      <a:lvl9pPr marL="3200400" indent="-228600" algn="l" rtl="0" fontAlgn="base">
        <a:spcBef>
          <a:spcPts val="375"/>
        </a:spcBef>
        <a:spcAft>
          <a:spcPct val="0"/>
        </a:spcAft>
        <a:buClr>
          <a:srgbClr val="A28E6A"/>
        </a:buClr>
        <a:buChar char="o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 useBgFill="1">
        <p:nvSpPr>
          <p:cNvPr id="11" name="圓角矩形 10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2054" name="矩形 11"/>
          <p:cNvSpPr>
            <a:spLocks noChangeArrowheads="1"/>
          </p:cNvSpPr>
          <p:nvPr/>
        </p:nvSpPr>
        <p:spPr bwMode="auto">
          <a:xfrm flipV="1">
            <a:off x="95250" y="1341438"/>
            <a:ext cx="9013825" cy="92075"/>
          </a:xfrm>
          <a:prstGeom prst="rect">
            <a:avLst/>
          </a:prstGeom>
          <a:solidFill>
            <a:schemeClr val="accent1"/>
          </a:solidFill>
          <a:ln w="19050" cap="sq" algn="ctr">
            <a:noFill/>
            <a:miter lim="800000"/>
            <a:headEnd/>
            <a:tailEnd/>
          </a:ln>
        </p:spPr>
        <p:txBody>
          <a:bodyPr rot="10800000" anchor="ctr"/>
          <a:lstStyle/>
          <a:p>
            <a:pPr algn="ctr" eaLnBrk="1" hangingPunct="1">
              <a:defRPr/>
            </a:pPr>
            <a:endParaRPr kumimoji="0" lang="en-US" altLang="zh-TW" sz="2400">
              <a:solidFill>
                <a:srgbClr val="FFFFFF"/>
              </a:solidFill>
              <a:latin typeface="Perpetua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9850" y="1341438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2056" name="標題版面配置區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2057" name="文字版面配置區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6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7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800100" y="6172200"/>
            <a:ext cx="4000500" cy="457200"/>
          </a:xfrm>
          <a:prstGeom prst="rect">
            <a:avLst/>
          </a:prstGeom>
        </p:spPr>
        <p:txBody>
          <a:bodyPr anchor="ctr" anchorCtr="0"/>
          <a:lstStyle>
            <a:lvl1pPr eaLnBrk="1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46050" y="6208713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</a:defRPr>
            </a:lvl1pPr>
          </a:lstStyle>
          <a:p>
            <a:fld id="{924F783D-3DC7-4B21-9FC9-06AEAAF25AF2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>
          <a:solidFill>
            <a:schemeClr val="tx1"/>
          </a:solidFill>
          <a:latin typeface="+mn-lt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>
          <a:solidFill>
            <a:schemeClr val="tx1"/>
          </a:solidFill>
          <a:latin typeface="+mn-lt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>
          <a:solidFill>
            <a:schemeClr val="tx1"/>
          </a:solidFill>
          <a:latin typeface="+mn-lt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5pPr>
      <a:lvl6pPr marL="18288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6pPr>
      <a:lvl7pPr marL="22860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7pPr>
      <a:lvl8pPr marL="27432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8pPr>
      <a:lvl9pPr marL="32004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 useBgFill="1">
        <p:nvSpPr>
          <p:cNvPr id="8" name="圓角矩形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3076" name="標題版面配置區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3077" name="文字版面配置區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</a:defRPr>
            </a:lvl1pPr>
          </a:lstStyle>
          <a:p>
            <a:fld id="{D3C4E825-B7C8-40C0-A68F-A0BB2DAA5038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>
          <a:solidFill>
            <a:schemeClr val="tx1"/>
          </a:solidFill>
          <a:latin typeface="+mn-lt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>
          <a:solidFill>
            <a:schemeClr val="tx1"/>
          </a:solidFill>
          <a:latin typeface="+mn-lt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>
          <a:solidFill>
            <a:schemeClr val="tx1"/>
          </a:solidFill>
          <a:latin typeface="+mn-lt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5pPr>
      <a:lvl6pPr marL="18288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6pPr>
      <a:lvl7pPr marL="22860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7pPr>
      <a:lvl8pPr marL="27432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8pPr>
      <a:lvl9pPr marL="32004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ctrTitle"/>
          </p:nvPr>
        </p:nvSpPr>
        <p:spPr>
          <a:xfrm>
            <a:off x="214313" y="1484313"/>
            <a:ext cx="8929687" cy="1470025"/>
          </a:xfrm>
        </p:spPr>
        <p:txBody>
          <a:bodyPr/>
          <a:lstStyle/>
          <a:p>
            <a:pPr algn="ctr" eaLnBrk="1" hangingPunct="1"/>
            <a:r>
              <a:rPr lang="en-US" altLang="zh-TW" dirty="0" smtClean="0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Operating Systems</a:t>
            </a:r>
            <a:r>
              <a:rPr lang="en-US" altLang="zh-TW" smtClean="0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/>
            </a:r>
            <a:br>
              <a:rPr lang="en-US" altLang="zh-TW" smtClean="0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mtClean="0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Multiprocessor </a:t>
            </a:r>
            <a:r>
              <a:rPr lang="en-US" altLang="zh-TW" dirty="0" smtClean="0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Systems</a:t>
            </a:r>
          </a:p>
        </p:txBody>
      </p:sp>
      <p:sp>
        <p:nvSpPr>
          <p:cNvPr id="4099" name="Rectangle 3"/>
          <p:cNvSpPr>
            <a:spLocks noGrp="1"/>
          </p:cNvSpPr>
          <p:nvPr>
            <p:ph type="subTitle" idx="1"/>
          </p:nvPr>
        </p:nvSpPr>
        <p:spPr>
          <a:xfrm>
            <a:off x="1331913" y="3644900"/>
            <a:ext cx="6400800" cy="1752600"/>
          </a:xfrm>
        </p:spPr>
        <p:txBody>
          <a:bodyPr/>
          <a:lstStyle/>
          <a:p>
            <a:pPr eaLnBrk="1" hangingPunct="1"/>
            <a:r>
              <a:rPr lang="en-US" altLang="zh-TW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Shyan-Ming Yuan</a:t>
            </a:r>
          </a:p>
          <a:p>
            <a:pPr eaLnBrk="1" hangingPunct="1"/>
            <a:r>
              <a:rPr lang="en-US" altLang="zh-TW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 Department, NCTU</a:t>
            </a:r>
          </a:p>
          <a:p>
            <a:pPr eaLnBrk="1" hangingPunct="1"/>
            <a:r>
              <a:rPr lang="en-US" altLang="zh-TW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smyuan@gmail.com</a:t>
            </a:r>
          </a:p>
          <a:p>
            <a:pPr eaLnBrk="1" hangingPunct="1"/>
            <a:endParaRPr lang="en-US" altLang="zh-TW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90636" y="163623"/>
            <a:ext cx="7772400" cy="1143000"/>
          </a:xfrm>
        </p:spPr>
        <p:txBody>
          <a:bodyPr/>
          <a:lstStyle/>
          <a:p>
            <a:pPr algn="ctr"/>
            <a:r>
              <a:rPr lang="en-US" altLang="zh-TW" dirty="0" smtClean="0"/>
              <a:t>Systems with Multiple CPUs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0" y="1769120"/>
            <a:ext cx="4032448" cy="101180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A common </a:t>
            </a:r>
            <a:r>
              <a:rPr lang="en-US" altLang="zh-TW" dirty="0"/>
              <a:t>main memory </a:t>
            </a:r>
            <a:r>
              <a:rPr lang="en-US" altLang="zh-TW" dirty="0" smtClean="0"/>
              <a:t>shared by multiple CPUs</a:t>
            </a:r>
          </a:p>
          <a:p>
            <a:pPr marL="0" indent="0">
              <a:buNone/>
            </a:pPr>
            <a:endParaRPr lang="zh-TW" altLang="en-US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1556792"/>
            <a:ext cx="1809750" cy="180975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514" y="3797914"/>
            <a:ext cx="2439398" cy="2439398"/>
          </a:xfrm>
          <a:prstGeom prst="rect">
            <a:avLst/>
          </a:prstGeom>
        </p:spPr>
      </p:pic>
      <p:sp>
        <p:nvSpPr>
          <p:cNvPr id="8" name="內容版面配置區 2"/>
          <p:cNvSpPr txBox="1">
            <a:spLocks/>
          </p:cNvSpPr>
          <p:nvPr/>
        </p:nvSpPr>
        <p:spPr bwMode="auto">
          <a:xfrm>
            <a:off x="323528" y="6210200"/>
            <a:ext cx="4536504" cy="531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+mn-lt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+mn-lt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+mn-lt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5pPr>
            <a:lvl6pPr marL="18288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6pPr>
            <a:lvl7pPr marL="22860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7pPr>
            <a:lvl8pPr marL="27432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8pPr>
            <a:lvl9pPr marL="32004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kumimoji="0" lang="en-US" altLang="zh-TW" kern="0" dirty="0" smtClean="0"/>
              <a:t>Interconnected multiple computers</a:t>
            </a:r>
            <a:endParaRPr kumimoji="0" lang="zh-TW" altLang="en-US" kern="0" dirty="0" smtClean="0"/>
          </a:p>
          <a:p>
            <a:endParaRPr kumimoji="0" lang="zh-TW" altLang="en-US" kern="0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3940720"/>
            <a:ext cx="1766661" cy="1809750"/>
          </a:xfrm>
          <a:prstGeom prst="rect">
            <a:avLst/>
          </a:prstGeom>
        </p:spPr>
      </p:pic>
      <p:sp>
        <p:nvSpPr>
          <p:cNvPr id="9" name="內容版面配置區 2"/>
          <p:cNvSpPr txBox="1">
            <a:spLocks/>
          </p:cNvSpPr>
          <p:nvPr/>
        </p:nvSpPr>
        <p:spPr bwMode="auto">
          <a:xfrm>
            <a:off x="5292080" y="5812928"/>
            <a:ext cx="3024336" cy="1000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+mn-lt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+mn-lt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+mn-lt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5pPr>
            <a:lvl6pPr marL="18288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6pPr>
            <a:lvl7pPr marL="22860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7pPr>
            <a:lvl8pPr marL="27432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8pPr>
            <a:lvl9pPr marL="32004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kumimoji="0" lang="en-US" altLang="zh-TW" kern="0" dirty="0" smtClean="0"/>
              <a:t>Wide area networked distributed system</a:t>
            </a:r>
          </a:p>
          <a:p>
            <a:pPr marL="0" indent="0">
              <a:buFont typeface="Wingdings 2" panose="05020102010507070707" pitchFamily="18" charset="2"/>
              <a:buNone/>
            </a:pPr>
            <a:endParaRPr kumimoji="0" lang="zh-TW" altLang="en-US" kern="0" dirty="0" smtClean="0"/>
          </a:p>
          <a:p>
            <a:endParaRPr kumimoji="0" lang="zh-TW" altLang="en-US" kern="0" dirty="0"/>
          </a:p>
        </p:txBody>
      </p:sp>
    </p:spTree>
    <p:extLst>
      <p:ext uri="{BB962C8B-B14F-4D97-AF65-F5344CB8AC3E}">
        <p14:creationId xmlns:p14="http://schemas.microsoft.com/office/powerpoint/2010/main" val="4060089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標題 1"/>
          <p:cNvSpPr>
            <a:spLocks noGrp="1"/>
          </p:cNvSpPr>
          <p:nvPr>
            <p:ph type="title"/>
          </p:nvPr>
        </p:nvSpPr>
        <p:spPr>
          <a:xfrm>
            <a:off x="323528" y="44624"/>
            <a:ext cx="8363272" cy="1143000"/>
          </a:xfrm>
        </p:spPr>
        <p:txBody>
          <a:bodyPr/>
          <a:lstStyle/>
          <a:p>
            <a:pPr algn="ctr"/>
            <a:r>
              <a:rPr lang="en-US" altLang="zh-TW" dirty="0" smtClean="0">
                <a:ea typeface="新細明體" panose="02020500000000000000" pitchFamily="18" charset="-120"/>
              </a:rPr>
              <a:t>Multiple CPUs with Shared Memory</a:t>
            </a:r>
            <a:endParaRPr lang="zh-TW" altLang="en-US" dirty="0" smtClean="0">
              <a:ea typeface="新細明體" panose="02020500000000000000" pitchFamily="18" charset="-120"/>
            </a:endParaRPr>
          </a:p>
        </p:txBody>
      </p:sp>
      <p:sp>
        <p:nvSpPr>
          <p:cNvPr id="5123" name="內容版面配置區 2"/>
          <p:cNvSpPr>
            <a:spLocks noGrp="1"/>
          </p:cNvSpPr>
          <p:nvPr>
            <p:ph sz="quarter" idx="1"/>
          </p:nvPr>
        </p:nvSpPr>
        <p:spPr>
          <a:xfrm>
            <a:off x="467544" y="1447800"/>
            <a:ext cx="8219256" cy="4572000"/>
          </a:xfrm>
        </p:spPr>
        <p:txBody>
          <a:bodyPr/>
          <a:lstStyle/>
          <a:p>
            <a:r>
              <a:rPr lang="en-US" altLang="zh-TW" dirty="0" smtClean="0">
                <a:ea typeface="新細明體" panose="02020500000000000000" pitchFamily="18" charset="-120"/>
              </a:rPr>
              <a:t>A shared-memory multiprocessor is a computer that has two or more CPUs </a:t>
            </a:r>
            <a:r>
              <a:rPr lang="en-US" altLang="zh-TW" dirty="0">
                <a:ea typeface="新細明體" panose="02020500000000000000" pitchFamily="18" charset="-120"/>
              </a:rPr>
              <a:t>with </a:t>
            </a:r>
            <a:r>
              <a:rPr lang="en-US" altLang="zh-TW" dirty="0" smtClean="0">
                <a:ea typeface="新細明體" panose="02020500000000000000" pitchFamily="18" charset="-120"/>
              </a:rPr>
              <a:t>a common shared RAM</a:t>
            </a:r>
          </a:p>
          <a:p>
            <a:pPr lvl="1"/>
            <a:r>
              <a:rPr lang="en-US" altLang="zh-TW" dirty="0" smtClean="0">
                <a:ea typeface="新細明體" panose="02020500000000000000" pitchFamily="18" charset="-120"/>
              </a:rPr>
              <a:t>All  CPUs have full access to the shared RAM</a:t>
            </a:r>
          </a:p>
          <a:p>
            <a:pPr lvl="1"/>
            <a:r>
              <a:rPr lang="en-US" altLang="zh-TW" dirty="0" smtClean="0">
                <a:ea typeface="新細明體" panose="02020500000000000000" pitchFamily="18" charset="-120"/>
              </a:rPr>
              <a:t>It is also called a </a:t>
            </a:r>
            <a:r>
              <a:rPr lang="en-US" altLang="zh-TW" dirty="0" smtClean="0">
                <a:solidFill>
                  <a:srgbClr val="FF0000"/>
                </a:solidFill>
                <a:ea typeface="新細明體" panose="02020500000000000000" pitchFamily="18" charset="-120"/>
              </a:rPr>
              <a:t>multiprocessor (MP)</a:t>
            </a:r>
          </a:p>
          <a:p>
            <a:r>
              <a:rPr lang="en-US" altLang="zh-TW" dirty="0">
                <a:ea typeface="新細明體" panose="02020500000000000000" pitchFamily="18" charset="-120"/>
              </a:rPr>
              <a:t>There are two major groups of multiprocessors</a:t>
            </a:r>
            <a:r>
              <a:rPr lang="en-US" altLang="zh-TW" dirty="0" smtClean="0">
                <a:ea typeface="新細明體" panose="02020500000000000000" pitchFamily="18" charset="-120"/>
              </a:rPr>
              <a:t>: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UMA</a:t>
            </a:r>
            <a:r>
              <a:rPr lang="en-US" altLang="zh-TW" dirty="0">
                <a:ea typeface="新細明體" panose="02020500000000000000" pitchFamily="18" charset="-120"/>
              </a:rPr>
              <a:t> (Uniform memory access</a:t>
            </a:r>
            <a:r>
              <a:rPr lang="en-US" altLang="zh-TW" dirty="0" smtClean="0">
                <a:ea typeface="新細明體" panose="02020500000000000000" pitchFamily="18" charset="-120"/>
              </a:rPr>
              <a:t>)</a:t>
            </a:r>
          </a:p>
          <a:p>
            <a:pPr lvl="2"/>
            <a:r>
              <a:rPr lang="en-US" altLang="zh-TW" dirty="0" smtClean="0">
                <a:ea typeface="新細明體" panose="02020500000000000000" pitchFamily="18" charset="-120"/>
              </a:rPr>
              <a:t>All memory </a:t>
            </a:r>
            <a:r>
              <a:rPr lang="en-US" altLang="zh-TW" dirty="0">
                <a:ea typeface="新細明體" panose="02020500000000000000" pitchFamily="18" charset="-120"/>
              </a:rPr>
              <a:t>word </a:t>
            </a:r>
            <a:r>
              <a:rPr lang="en-US" altLang="zh-TW" dirty="0" smtClean="0">
                <a:ea typeface="新細明體" panose="02020500000000000000" pitchFamily="18" charset="-120"/>
              </a:rPr>
              <a:t>can be accessed by any CPU with the same latency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NUMA</a:t>
            </a:r>
            <a:r>
              <a:rPr lang="en-US" altLang="zh-TW" dirty="0">
                <a:ea typeface="新細明體" panose="02020500000000000000" pitchFamily="18" charset="-120"/>
              </a:rPr>
              <a:t> (</a:t>
            </a:r>
            <a:r>
              <a:rPr lang="en-US" altLang="zh-TW" dirty="0" smtClean="0">
                <a:ea typeface="新細明體" panose="02020500000000000000" pitchFamily="18" charset="-120"/>
              </a:rPr>
              <a:t>Non-uniform </a:t>
            </a:r>
            <a:r>
              <a:rPr lang="en-US" altLang="zh-TW" dirty="0">
                <a:ea typeface="新細明體" panose="02020500000000000000" pitchFamily="18" charset="-120"/>
              </a:rPr>
              <a:t>memory access</a:t>
            </a:r>
            <a:r>
              <a:rPr lang="en-US" altLang="zh-TW" dirty="0" smtClean="0">
                <a:ea typeface="新細明體" panose="02020500000000000000" pitchFamily="18" charset="-120"/>
              </a:rPr>
              <a:t>)</a:t>
            </a:r>
          </a:p>
          <a:p>
            <a:pPr lvl="2"/>
            <a:r>
              <a:rPr lang="en-US" altLang="zh-TW" dirty="0" smtClean="0">
                <a:ea typeface="新細明體" panose="02020500000000000000" pitchFamily="18" charset="-120"/>
              </a:rPr>
              <a:t>Each CPU may have different access time to different memory word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32656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Bus Based UMA Multiprocessors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496" y="1412776"/>
            <a:ext cx="9073008" cy="2520280"/>
          </a:xfrm>
        </p:spPr>
        <p:txBody>
          <a:bodyPr/>
          <a:lstStyle/>
          <a:p>
            <a:r>
              <a:rPr lang="en-US" altLang="zh-TW" dirty="0" smtClean="0"/>
              <a:t>The simplest way is to connect all CPUs </a:t>
            </a:r>
            <a:r>
              <a:rPr lang="en-US" altLang="zh-TW" dirty="0"/>
              <a:t>and </a:t>
            </a:r>
            <a:r>
              <a:rPr lang="en-US" altLang="zh-TW" dirty="0" smtClean="0"/>
              <a:t>memory modules to the single system bus</a:t>
            </a:r>
          </a:p>
          <a:p>
            <a:pPr lvl="1"/>
            <a:r>
              <a:rPr lang="en-US" altLang="zh-TW" dirty="0"/>
              <a:t>All </a:t>
            </a:r>
            <a:r>
              <a:rPr lang="en-US" altLang="zh-TW" dirty="0" smtClean="0"/>
              <a:t>CPUs </a:t>
            </a:r>
            <a:r>
              <a:rPr lang="en-US" altLang="zh-TW" dirty="0"/>
              <a:t>and </a:t>
            </a:r>
            <a:r>
              <a:rPr lang="en-US" altLang="zh-TW" dirty="0" smtClean="0"/>
              <a:t>memory modules communicate through </a:t>
            </a:r>
            <a:r>
              <a:rPr lang="en-US" altLang="zh-TW" dirty="0"/>
              <a:t>the same </a:t>
            </a:r>
            <a:r>
              <a:rPr lang="en-US" altLang="zh-TW" dirty="0" smtClean="0"/>
              <a:t>bus</a:t>
            </a:r>
          </a:p>
          <a:p>
            <a:pPr lvl="2"/>
            <a:r>
              <a:rPr lang="en-US" altLang="zh-TW" dirty="0" smtClean="0"/>
              <a:t>To read a memory, a </a:t>
            </a:r>
            <a:r>
              <a:rPr lang="en-US" altLang="zh-TW" dirty="0"/>
              <a:t>CPU </a:t>
            </a:r>
            <a:r>
              <a:rPr lang="en-US" altLang="zh-TW" dirty="0" smtClean="0"/>
              <a:t>first waits </a:t>
            </a:r>
            <a:r>
              <a:rPr lang="en-US" altLang="zh-TW" dirty="0"/>
              <a:t>until the bus is </a:t>
            </a:r>
            <a:r>
              <a:rPr lang="en-US" altLang="zh-TW" dirty="0" smtClean="0"/>
              <a:t>idle, it then puts </a:t>
            </a:r>
            <a:r>
              <a:rPr lang="en-US" altLang="zh-TW" dirty="0"/>
              <a:t>the address </a:t>
            </a:r>
            <a:r>
              <a:rPr lang="en-US" altLang="zh-TW" dirty="0" smtClean="0"/>
              <a:t>on </a:t>
            </a:r>
            <a:r>
              <a:rPr lang="en-US" altLang="zh-TW" dirty="0"/>
              <a:t>the bus and waits until the memory puts the requested memory word on the </a:t>
            </a:r>
            <a:r>
              <a:rPr lang="en-US" altLang="zh-TW" dirty="0" smtClean="0"/>
              <a:t>bus.</a:t>
            </a:r>
            <a:endParaRPr lang="en-US" altLang="zh-TW" dirty="0"/>
          </a:p>
          <a:p>
            <a:pPr lvl="1"/>
            <a:r>
              <a:rPr lang="en-US" altLang="zh-TW" dirty="0"/>
              <a:t>The system </a:t>
            </a:r>
            <a:r>
              <a:rPr lang="en-US" altLang="zh-TW" dirty="0" smtClean="0"/>
              <a:t>performance is limited by the bus bandwidth.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774" y="3960710"/>
            <a:ext cx="5389514" cy="243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962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528" y="260648"/>
            <a:ext cx="8496944" cy="940966"/>
          </a:xfrm>
        </p:spPr>
        <p:txBody>
          <a:bodyPr/>
          <a:lstStyle/>
          <a:p>
            <a:pPr algn="ctr"/>
            <a:r>
              <a:rPr lang="en-US" altLang="zh-TW" dirty="0" smtClean="0"/>
              <a:t>Bused UMA Multiprocessor + Cache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496" y="1340769"/>
            <a:ext cx="9001000" cy="2808311"/>
          </a:xfrm>
        </p:spPr>
        <p:txBody>
          <a:bodyPr/>
          <a:lstStyle/>
          <a:p>
            <a:r>
              <a:rPr lang="en-US" altLang="zh-TW" dirty="0" smtClean="0"/>
              <a:t>A cache can be added to each CPU to improve performance.</a:t>
            </a:r>
          </a:p>
          <a:p>
            <a:pPr lvl="1"/>
            <a:r>
              <a:rPr lang="en-US" altLang="zh-TW" dirty="0" smtClean="0"/>
              <a:t>Thus, reads may be satisfied </a:t>
            </a:r>
            <a:r>
              <a:rPr lang="en-US" altLang="zh-TW" dirty="0"/>
              <a:t>over the </a:t>
            </a:r>
            <a:r>
              <a:rPr lang="en-US" altLang="zh-TW" dirty="0" smtClean="0"/>
              <a:t>cache to reduce </a:t>
            </a:r>
            <a:r>
              <a:rPr lang="en-US" altLang="zh-TW" dirty="0"/>
              <a:t>the </a:t>
            </a:r>
            <a:r>
              <a:rPr lang="en-US" altLang="zh-TW" dirty="0" smtClean="0"/>
              <a:t>bus traffic.</a:t>
            </a:r>
          </a:p>
          <a:p>
            <a:pPr lvl="1"/>
            <a:r>
              <a:rPr lang="en-US" altLang="zh-TW" dirty="0" smtClean="0"/>
              <a:t>In general, caching is done on the block of 64 bytes. </a:t>
            </a:r>
          </a:p>
          <a:p>
            <a:pPr lvl="2"/>
            <a:r>
              <a:rPr lang="en-US" altLang="zh-TW" dirty="0" smtClean="0"/>
              <a:t>When a word is referenced, the entire block (called </a:t>
            </a:r>
            <a:r>
              <a:rPr lang="en-US" altLang="zh-TW" dirty="0" smtClean="0">
                <a:solidFill>
                  <a:srgbClr val="FF0000"/>
                </a:solidFill>
              </a:rPr>
              <a:t>cache line</a:t>
            </a:r>
            <a:r>
              <a:rPr lang="en-US" altLang="zh-TW" dirty="0" smtClean="0"/>
              <a:t>) is fetched into the cache of the requesting CPU.</a:t>
            </a:r>
          </a:p>
          <a:p>
            <a:pPr lvl="2"/>
            <a:r>
              <a:rPr lang="en-US" altLang="zh-TW" dirty="0" smtClean="0"/>
              <a:t>A cache line is </a:t>
            </a:r>
            <a:r>
              <a:rPr lang="en-US" altLang="zh-TW" dirty="0"/>
              <a:t>marked as </a:t>
            </a:r>
            <a:r>
              <a:rPr lang="en-US" altLang="zh-TW" dirty="0" smtClean="0">
                <a:solidFill>
                  <a:srgbClr val="FF0000"/>
                </a:solidFill>
              </a:rPr>
              <a:t>read-only</a:t>
            </a:r>
            <a:r>
              <a:rPr lang="en-US" altLang="zh-TW" dirty="0" smtClean="0"/>
              <a:t> if it </a:t>
            </a:r>
            <a:r>
              <a:rPr lang="en-US" altLang="zh-TW" dirty="0"/>
              <a:t>is present in multiple </a:t>
            </a:r>
            <a:r>
              <a:rPr lang="en-US" altLang="zh-TW" dirty="0" smtClean="0"/>
              <a:t>caches.</a:t>
            </a:r>
          </a:p>
          <a:p>
            <a:pPr lvl="2"/>
            <a:r>
              <a:rPr lang="en-US" altLang="zh-TW" dirty="0" smtClean="0"/>
              <a:t>A cache line is marked as </a:t>
            </a:r>
            <a:r>
              <a:rPr lang="en-US" altLang="zh-TW" dirty="0">
                <a:solidFill>
                  <a:srgbClr val="FF0000"/>
                </a:solidFill>
              </a:rPr>
              <a:t>read-write</a:t>
            </a:r>
            <a:r>
              <a:rPr lang="en-US" altLang="zh-TW" dirty="0"/>
              <a:t> </a:t>
            </a:r>
            <a:r>
              <a:rPr lang="en-US" altLang="zh-TW" dirty="0" smtClean="0"/>
              <a:t>if it </a:t>
            </a:r>
            <a:r>
              <a:rPr lang="en-US" altLang="zh-TW" dirty="0"/>
              <a:t>is not present in any other </a:t>
            </a:r>
            <a:r>
              <a:rPr lang="en-US" altLang="zh-TW" dirty="0" smtClean="0"/>
              <a:t>caches.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4149080"/>
            <a:ext cx="5526931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258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32656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The Cache Coherence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591816"/>
            <a:ext cx="8712968" cy="3853408"/>
          </a:xfrm>
        </p:spPr>
        <p:txBody>
          <a:bodyPr/>
          <a:lstStyle/>
          <a:p>
            <a:r>
              <a:rPr lang="en-US" altLang="zh-TW" dirty="0" smtClean="0"/>
              <a:t>When </a:t>
            </a:r>
            <a:r>
              <a:rPr lang="en-US" altLang="zh-TW" dirty="0"/>
              <a:t>a CPU wants to write a word </a:t>
            </a:r>
            <a:r>
              <a:rPr lang="en-US" altLang="zh-TW" dirty="0" smtClean="0"/>
              <a:t>which </a:t>
            </a:r>
            <a:r>
              <a:rPr lang="en-US" altLang="zh-TW" dirty="0"/>
              <a:t>is in </a:t>
            </a:r>
            <a:r>
              <a:rPr lang="en-US" altLang="zh-TW" dirty="0" smtClean="0"/>
              <a:t>more than one caches, </a:t>
            </a:r>
            <a:r>
              <a:rPr lang="en-US" altLang="zh-TW" dirty="0"/>
              <a:t>the bus hardware </a:t>
            </a:r>
            <a:r>
              <a:rPr lang="en-US" altLang="zh-TW" dirty="0" smtClean="0"/>
              <a:t>must inform </a:t>
            </a:r>
            <a:r>
              <a:rPr lang="en-US" altLang="zh-TW" dirty="0"/>
              <a:t>all caches of the </a:t>
            </a:r>
            <a:r>
              <a:rPr lang="en-US" altLang="zh-TW" dirty="0" smtClean="0"/>
              <a:t>write request. </a:t>
            </a:r>
          </a:p>
          <a:p>
            <a:pPr lvl="1"/>
            <a:r>
              <a:rPr lang="en-US" altLang="zh-TW" dirty="0" smtClean="0"/>
              <a:t>If a cache has a clean copy, it can just discard the copy.</a:t>
            </a:r>
          </a:p>
          <a:p>
            <a:pPr lvl="1"/>
            <a:r>
              <a:rPr lang="en-US" altLang="zh-TW" dirty="0" smtClean="0"/>
              <a:t>If a cache </a:t>
            </a:r>
            <a:r>
              <a:rPr lang="en-US" altLang="zh-TW" dirty="0"/>
              <a:t>has a "</a:t>
            </a:r>
            <a:r>
              <a:rPr lang="en-US" altLang="zh-TW" dirty="0">
                <a:solidFill>
                  <a:srgbClr val="FF0000"/>
                </a:solidFill>
              </a:rPr>
              <a:t>dirty</a:t>
            </a:r>
            <a:r>
              <a:rPr lang="en-US" altLang="zh-TW" dirty="0"/>
              <a:t>" </a:t>
            </a:r>
            <a:r>
              <a:rPr lang="en-US" altLang="zh-TW" dirty="0" smtClean="0"/>
              <a:t>(</a:t>
            </a:r>
            <a:r>
              <a:rPr lang="en-US" altLang="zh-TW" dirty="0" smtClean="0">
                <a:solidFill>
                  <a:srgbClr val="FF0000"/>
                </a:solidFill>
              </a:rPr>
              <a:t>modified</a:t>
            </a:r>
            <a:r>
              <a:rPr lang="en-US" altLang="zh-TW" dirty="0" smtClean="0"/>
              <a:t>) copy, </a:t>
            </a:r>
            <a:r>
              <a:rPr lang="en-US" altLang="zh-TW" dirty="0"/>
              <a:t>the cache must </a:t>
            </a:r>
            <a:r>
              <a:rPr lang="en-US" altLang="zh-TW" dirty="0" smtClean="0"/>
              <a:t>either write </a:t>
            </a:r>
            <a:r>
              <a:rPr lang="en-US" altLang="zh-TW" dirty="0"/>
              <a:t>the modified copy back to the memory </a:t>
            </a:r>
            <a:r>
              <a:rPr lang="en-US" altLang="zh-TW" dirty="0" smtClean="0"/>
              <a:t>before </a:t>
            </a:r>
            <a:r>
              <a:rPr lang="en-US" altLang="zh-TW" dirty="0"/>
              <a:t>the </a:t>
            </a:r>
            <a:r>
              <a:rPr lang="en-US" altLang="zh-TW" dirty="0" smtClean="0"/>
              <a:t>write request can proceed or transfer the modified copy to the </a:t>
            </a:r>
            <a:r>
              <a:rPr lang="en-US" altLang="zh-TW" dirty="0" smtClean="0">
                <a:solidFill>
                  <a:srgbClr val="FF0000"/>
                </a:solidFill>
              </a:rPr>
              <a:t>writer</a:t>
            </a:r>
            <a:r>
              <a:rPr lang="en-US" altLang="zh-TW" dirty="0" smtClean="0"/>
              <a:t> directly.</a:t>
            </a:r>
          </a:p>
          <a:p>
            <a:r>
              <a:rPr lang="en-US" altLang="zh-TW" dirty="0" smtClean="0"/>
              <a:t>This set of rules for maintaining the </a:t>
            </a:r>
            <a:r>
              <a:rPr lang="en-US" altLang="zh-TW" dirty="0" smtClean="0">
                <a:solidFill>
                  <a:srgbClr val="FF0000"/>
                </a:solidFill>
              </a:rPr>
              <a:t>cache consistency </a:t>
            </a:r>
            <a:r>
              <a:rPr lang="en-US" altLang="zh-TW" dirty="0" smtClean="0"/>
              <a:t>is called </a:t>
            </a:r>
            <a:r>
              <a:rPr lang="en-US" altLang="zh-TW" dirty="0" smtClean="0">
                <a:solidFill>
                  <a:srgbClr val="FF0000"/>
                </a:solidFill>
              </a:rPr>
              <a:t>cache coherence protocol</a:t>
            </a:r>
            <a:r>
              <a:rPr lang="en-US" altLang="zh-TW" dirty="0" smtClean="0"/>
              <a:t>.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342752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528" y="332656"/>
            <a:ext cx="8496944" cy="926976"/>
          </a:xfrm>
        </p:spPr>
        <p:txBody>
          <a:bodyPr/>
          <a:lstStyle/>
          <a:p>
            <a:pPr algn="ctr"/>
            <a:r>
              <a:rPr lang="en-US" altLang="zh-TW" dirty="0" smtClean="0"/>
              <a:t>Bused UMA with Cache + Private RAM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556792"/>
            <a:ext cx="4392488" cy="4752528"/>
          </a:xfrm>
        </p:spPr>
        <p:txBody>
          <a:bodyPr/>
          <a:lstStyle/>
          <a:p>
            <a:r>
              <a:rPr lang="en-US" altLang="zh-TW" dirty="0" smtClean="0"/>
              <a:t>To further improve the performance, a cache and a private memory can be added to each CPU.</a:t>
            </a:r>
          </a:p>
          <a:p>
            <a:r>
              <a:rPr lang="en-US" altLang="zh-TW" dirty="0" smtClean="0"/>
              <a:t>A good compiler can put the program text, local variables, stack, and other read only data in the private memory.</a:t>
            </a:r>
          </a:p>
          <a:p>
            <a:r>
              <a:rPr lang="en-US" altLang="zh-TW" dirty="0" smtClean="0"/>
              <a:t>The shared memory is then only used for global and writeable shared variables.</a:t>
            </a:r>
          </a:p>
          <a:p>
            <a:endParaRPr lang="en-US" altLang="zh-TW" dirty="0" smtClean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700808"/>
            <a:ext cx="4327128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651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8032" y="332656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UMA MPs using Crossbar Switch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496" y="1484784"/>
            <a:ext cx="9001000" cy="5184576"/>
          </a:xfrm>
        </p:spPr>
        <p:txBody>
          <a:bodyPr/>
          <a:lstStyle/>
          <a:p>
            <a:r>
              <a:rPr lang="en-US" altLang="zh-TW" sz="2400" dirty="0"/>
              <a:t>Even with the best </a:t>
            </a:r>
            <a:r>
              <a:rPr lang="en-US" altLang="zh-TW" sz="2400" dirty="0" smtClean="0"/>
              <a:t>caching, </a:t>
            </a:r>
            <a:r>
              <a:rPr lang="en-US" altLang="zh-TW" sz="2400" dirty="0"/>
              <a:t>the </a:t>
            </a:r>
            <a:r>
              <a:rPr lang="en-US" altLang="zh-TW" sz="2400" dirty="0" smtClean="0"/>
              <a:t>number of CPUs of bus based UMA MPs  are </a:t>
            </a:r>
            <a:r>
              <a:rPr lang="en-US" altLang="zh-TW" sz="2400" dirty="0"/>
              <a:t>limited to </a:t>
            </a:r>
            <a:r>
              <a:rPr lang="en-US" altLang="zh-TW" sz="2400" dirty="0" smtClean="0"/>
              <a:t>under 100 (i.e. 32 or 64.)</a:t>
            </a:r>
          </a:p>
          <a:p>
            <a:r>
              <a:rPr lang="en-US" altLang="zh-TW" sz="2400" dirty="0" smtClean="0"/>
              <a:t>To connect more CPUs, an </a:t>
            </a:r>
            <a:r>
              <a:rPr lang="en-US" altLang="zh-TW" sz="2400" b="1" dirty="0" err="1" smtClean="0">
                <a:solidFill>
                  <a:srgbClr val="0070C0"/>
                </a:solidFill>
              </a:rPr>
              <a:t>nxk</a:t>
            </a:r>
            <a:r>
              <a:rPr lang="en-US" altLang="zh-TW" sz="2400" dirty="0" smtClean="0"/>
              <a:t> </a:t>
            </a:r>
            <a:r>
              <a:rPr lang="en-US" altLang="zh-TW" sz="2400" dirty="0" smtClean="0">
                <a:solidFill>
                  <a:srgbClr val="FF0000"/>
                </a:solidFill>
              </a:rPr>
              <a:t>crossbar switch </a:t>
            </a:r>
            <a:r>
              <a:rPr lang="en-US" altLang="zh-TW" sz="2400" dirty="0" smtClean="0"/>
              <a:t>can be used for connecting </a:t>
            </a:r>
            <a:r>
              <a:rPr lang="en-US" altLang="zh-TW" sz="2400" dirty="0" smtClean="0">
                <a:solidFill>
                  <a:srgbClr val="0070C0"/>
                </a:solidFill>
              </a:rPr>
              <a:t>n</a:t>
            </a:r>
            <a:r>
              <a:rPr lang="en-US" altLang="zh-TW" sz="2400" dirty="0" smtClean="0"/>
              <a:t> CPUs to </a:t>
            </a:r>
            <a:r>
              <a:rPr lang="en-US" altLang="zh-TW" sz="2400" dirty="0" smtClean="0">
                <a:solidFill>
                  <a:srgbClr val="0070C0"/>
                </a:solidFill>
              </a:rPr>
              <a:t>k</a:t>
            </a:r>
            <a:r>
              <a:rPr lang="en-US" altLang="zh-TW" sz="2400" dirty="0" smtClean="0"/>
              <a:t> memory modules. </a:t>
            </a:r>
          </a:p>
          <a:p>
            <a:r>
              <a:rPr lang="en-US" altLang="zh-TW" sz="2400" dirty="0"/>
              <a:t>A </a:t>
            </a:r>
            <a:r>
              <a:rPr lang="en-US" altLang="zh-TW" sz="2400" dirty="0" smtClean="0"/>
              <a:t>crosspoint is an </a:t>
            </a:r>
            <a:r>
              <a:rPr lang="en-US" altLang="zh-TW" sz="2400" dirty="0" smtClean="0">
                <a:solidFill>
                  <a:srgbClr val="FF0000"/>
                </a:solidFill>
              </a:rPr>
              <a:t>e-switch</a:t>
            </a:r>
            <a:r>
              <a:rPr lang="en-US" altLang="zh-TW" sz="2400" dirty="0" smtClean="0"/>
              <a:t> that can </a:t>
            </a:r>
            <a:r>
              <a:rPr lang="en-US" altLang="zh-TW" sz="2400" dirty="0"/>
              <a:t>be opened or closed. </a:t>
            </a:r>
            <a:endParaRPr lang="en-US" altLang="zh-TW" sz="2400" dirty="0" smtClean="0"/>
          </a:p>
          <a:p>
            <a:pPr lvl="1"/>
            <a:r>
              <a:rPr lang="en-US" altLang="zh-TW" sz="2000" dirty="0" smtClean="0"/>
              <a:t>If </a:t>
            </a:r>
            <a:r>
              <a:rPr lang="en-US" altLang="zh-TW" sz="2000" dirty="0"/>
              <a:t>the </a:t>
            </a:r>
            <a:r>
              <a:rPr lang="en-US" altLang="zh-TW" sz="2000" dirty="0" err="1"/>
              <a:t>crosspoint</a:t>
            </a:r>
            <a:r>
              <a:rPr lang="en-US" altLang="zh-TW" sz="2000" dirty="0"/>
              <a:t> (</a:t>
            </a:r>
            <a:r>
              <a:rPr lang="en-US" altLang="zh-TW" sz="2000" dirty="0" err="1"/>
              <a:t>i,j</a:t>
            </a:r>
            <a:r>
              <a:rPr lang="en-US" altLang="zh-TW" sz="2000" dirty="0"/>
              <a:t>) is </a:t>
            </a:r>
            <a:r>
              <a:rPr lang="en-US" altLang="zh-TW" sz="2000" dirty="0" smtClean="0"/>
              <a:t>closed, </a:t>
            </a:r>
            <a:r>
              <a:rPr lang="en-US" altLang="zh-TW" sz="2000" dirty="0"/>
              <a:t>the </a:t>
            </a:r>
            <a:r>
              <a:rPr lang="en-US" altLang="zh-TW" sz="2000" dirty="0" err="1" smtClean="0"/>
              <a:t>i</a:t>
            </a:r>
            <a:r>
              <a:rPr lang="en-US" altLang="zh-TW" sz="2000" baseline="30000" dirty="0" err="1" smtClean="0"/>
              <a:t>th</a:t>
            </a:r>
            <a:r>
              <a:rPr lang="en-US" altLang="zh-TW" sz="2000" dirty="0" smtClean="0"/>
              <a:t> </a:t>
            </a:r>
            <a:r>
              <a:rPr lang="en-US" altLang="zh-TW" sz="2000" dirty="0"/>
              <a:t>CPU is connected to the </a:t>
            </a:r>
            <a:r>
              <a:rPr lang="en-US" altLang="zh-TW" sz="2000" dirty="0" err="1" smtClean="0"/>
              <a:t>j</a:t>
            </a:r>
            <a:r>
              <a:rPr lang="en-US" altLang="zh-TW" sz="2000" baseline="30000" dirty="0" err="1" smtClean="0"/>
              <a:t>th</a:t>
            </a:r>
            <a:r>
              <a:rPr lang="en-US" altLang="zh-TW" sz="2000" dirty="0" smtClean="0"/>
              <a:t> </a:t>
            </a:r>
            <a:r>
              <a:rPr lang="en-US" altLang="zh-TW" sz="2000" dirty="0"/>
              <a:t>memory </a:t>
            </a:r>
            <a:r>
              <a:rPr lang="en-US" altLang="zh-TW" sz="2000" dirty="0" smtClean="0"/>
              <a:t>modules.</a:t>
            </a:r>
          </a:p>
          <a:p>
            <a:r>
              <a:rPr lang="en-US" altLang="zh-TW" sz="2400" dirty="0" smtClean="0"/>
              <a:t>The </a:t>
            </a:r>
            <a:r>
              <a:rPr lang="en-US" altLang="zh-TW" sz="2400" dirty="0"/>
              <a:t>crossbar switch is a </a:t>
            </a:r>
            <a:r>
              <a:rPr lang="en-US" altLang="zh-TW" sz="2400" dirty="0">
                <a:solidFill>
                  <a:srgbClr val="FF0000"/>
                </a:solidFill>
              </a:rPr>
              <a:t>non-blocking network</a:t>
            </a:r>
            <a:r>
              <a:rPr lang="en-US" altLang="zh-TW" sz="2400" dirty="0"/>
              <a:t>. </a:t>
            </a:r>
            <a:endParaRPr lang="en-US" altLang="zh-TW" sz="2400" dirty="0" smtClean="0"/>
          </a:p>
          <a:p>
            <a:pPr lvl="1"/>
            <a:r>
              <a:rPr lang="en-US" altLang="zh-TW" sz="2000" dirty="0" smtClean="0"/>
              <a:t>CPUs </a:t>
            </a:r>
            <a:r>
              <a:rPr lang="en-US" altLang="zh-TW" sz="2000" dirty="0"/>
              <a:t>can access different memory </a:t>
            </a:r>
            <a:r>
              <a:rPr lang="en-US" altLang="zh-TW" sz="2000" dirty="0" smtClean="0"/>
              <a:t>modules </a:t>
            </a:r>
            <a:r>
              <a:rPr lang="en-US" altLang="zh-TW" sz="2000" dirty="0"/>
              <a:t>at the same </a:t>
            </a:r>
            <a:r>
              <a:rPr lang="en-US" altLang="zh-TW" sz="2000" dirty="0" smtClean="0"/>
              <a:t>time.</a:t>
            </a:r>
          </a:p>
          <a:p>
            <a:pPr lvl="1"/>
            <a:r>
              <a:rPr lang="en-US" altLang="zh-TW" sz="2000" dirty="0" smtClean="0"/>
              <a:t>However, If </a:t>
            </a:r>
            <a:r>
              <a:rPr lang="en-US" altLang="zh-TW" sz="2000" dirty="0"/>
              <a:t>a CPU P</a:t>
            </a:r>
            <a:r>
              <a:rPr lang="en-US" altLang="zh-TW" sz="2000" baseline="-25000" dirty="0" smtClean="0"/>
              <a:t>i</a:t>
            </a:r>
            <a:r>
              <a:rPr lang="en-US" altLang="zh-TW" sz="2000" dirty="0" smtClean="0"/>
              <a:t> tries </a:t>
            </a:r>
            <a:r>
              <a:rPr lang="en-US" altLang="zh-TW" sz="2000" dirty="0"/>
              <a:t>to access a memory </a:t>
            </a:r>
            <a:r>
              <a:rPr lang="en-US" altLang="zh-TW" sz="2000" dirty="0" err="1"/>
              <a:t>M</a:t>
            </a:r>
            <a:r>
              <a:rPr lang="en-US" altLang="zh-TW" sz="2000" baseline="-25000" dirty="0" err="1" smtClean="0"/>
              <a:t>j</a:t>
            </a:r>
            <a:r>
              <a:rPr lang="en-US" altLang="zh-TW" sz="2000" dirty="0" smtClean="0"/>
              <a:t> that is currently </a:t>
            </a:r>
            <a:r>
              <a:rPr lang="en-US" altLang="zh-TW" sz="2000" dirty="0"/>
              <a:t>accessed by an other </a:t>
            </a:r>
            <a:r>
              <a:rPr lang="en-US" altLang="zh-TW" sz="2000" dirty="0" smtClean="0"/>
              <a:t>CPU, </a:t>
            </a:r>
            <a:r>
              <a:rPr lang="en-US" altLang="zh-TW" sz="2000" dirty="0"/>
              <a:t>the CPU </a:t>
            </a:r>
            <a:r>
              <a:rPr lang="en-US" altLang="zh-TW" sz="2000" dirty="0" smtClean="0"/>
              <a:t>P</a:t>
            </a:r>
            <a:r>
              <a:rPr lang="en-US" altLang="zh-TW" sz="2000" baseline="-25000" dirty="0" smtClean="0"/>
              <a:t>i</a:t>
            </a:r>
            <a:r>
              <a:rPr lang="en-US" altLang="zh-TW" sz="2000" dirty="0" smtClean="0"/>
              <a:t> has </a:t>
            </a:r>
            <a:r>
              <a:rPr lang="en-US" altLang="zh-TW" sz="2000" dirty="0"/>
              <a:t>to </a:t>
            </a:r>
            <a:r>
              <a:rPr lang="en-US" altLang="zh-TW" sz="2000" dirty="0" smtClean="0"/>
              <a:t>wait.</a:t>
            </a:r>
          </a:p>
          <a:p>
            <a:r>
              <a:rPr lang="en-US" altLang="zh-TW" sz="2400" dirty="0" smtClean="0"/>
              <a:t>The size of a crossbar </a:t>
            </a:r>
            <a:r>
              <a:rPr lang="en-US" altLang="zh-TW" sz="2400" dirty="0"/>
              <a:t>grows as </a:t>
            </a:r>
            <a:r>
              <a:rPr lang="en-US" altLang="zh-TW" sz="2400" dirty="0" smtClean="0"/>
              <a:t>O(n</a:t>
            </a:r>
            <a:r>
              <a:rPr lang="en-US" altLang="zh-TW" sz="2400" baseline="30000" dirty="0" smtClean="0"/>
              <a:t>2</a:t>
            </a:r>
            <a:r>
              <a:rPr lang="en-US" altLang="zh-TW" sz="2400" dirty="0" smtClean="0"/>
              <a:t>).</a:t>
            </a:r>
          </a:p>
          <a:p>
            <a:pPr lvl="1"/>
            <a:r>
              <a:rPr lang="en-US" altLang="zh-TW" sz="2000" dirty="0" smtClean="0"/>
              <a:t>This limits the size of MPs to around 1000.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02551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116632"/>
            <a:ext cx="7772400" cy="1143000"/>
          </a:xfrm>
        </p:spPr>
        <p:txBody>
          <a:bodyPr/>
          <a:lstStyle/>
          <a:p>
            <a:pPr algn="ctr"/>
            <a:r>
              <a:rPr lang="en-US" altLang="zh-TW" dirty="0" smtClean="0"/>
              <a:t>An 8x8 Crossbar Switch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165" y="1500342"/>
            <a:ext cx="5786870" cy="4232914"/>
          </a:xfrm>
        </p:spPr>
      </p:pic>
      <p:sp>
        <p:nvSpPr>
          <p:cNvPr id="6" name="文字方塊 5"/>
          <p:cNvSpPr txBox="1"/>
          <p:nvPr/>
        </p:nvSpPr>
        <p:spPr>
          <a:xfrm>
            <a:off x="611560" y="5951021"/>
            <a:ext cx="8136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/>
              <a:t>Figure </a:t>
            </a:r>
            <a:r>
              <a:rPr lang="en-US" altLang="en-US" dirty="0" smtClean="0"/>
              <a:t>8-3 of . </a:t>
            </a:r>
            <a:r>
              <a:rPr lang="en-US" altLang="zh-TW" dirty="0" err="1"/>
              <a:t>Tanenbaum</a:t>
            </a:r>
            <a:r>
              <a:rPr lang="en-US" altLang="zh-TW" dirty="0"/>
              <a:t> &amp; </a:t>
            </a:r>
            <a:r>
              <a:rPr lang="en-US" altLang="zh-TW" dirty="0" err="1"/>
              <a:t>Bos</a:t>
            </a:r>
            <a:r>
              <a:rPr lang="en-US" altLang="zh-TW" dirty="0"/>
              <a:t>, Modern  Operating Systems: 4th ed</a:t>
            </a:r>
            <a:r>
              <a:rPr lang="en-US" altLang="zh-TW" dirty="0" smtClean="0"/>
              <a:t>. </a:t>
            </a:r>
            <a:endParaRPr lang="en-US" altLang="en-US" dirty="0" smtClean="0"/>
          </a:p>
          <a:p>
            <a:r>
              <a:rPr lang="en-US" altLang="en-US" dirty="0" smtClean="0"/>
              <a:t>(</a:t>
            </a:r>
            <a:r>
              <a:rPr lang="en-US" altLang="en-US" dirty="0"/>
              <a:t>a) An 8 × 8 crossbar switch. (b) An open crosspoint. (c) A closed </a:t>
            </a:r>
            <a:r>
              <a:rPr lang="en-US" altLang="en-US" dirty="0" smtClean="0"/>
              <a:t>crosspoint.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0503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27794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UMA MPs using Multistage Switch</a:t>
            </a:r>
            <a:endParaRPr lang="zh-TW" altLang="en-US" dirty="0"/>
          </a:p>
        </p:txBody>
      </p:sp>
      <p:sp>
        <p:nvSpPr>
          <p:cNvPr id="8" name="內容版面配置區 2"/>
          <p:cNvSpPr txBox="1">
            <a:spLocks/>
          </p:cNvSpPr>
          <p:nvPr/>
        </p:nvSpPr>
        <p:spPr bwMode="auto">
          <a:xfrm>
            <a:off x="107504" y="1369296"/>
            <a:ext cx="8856984" cy="436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+mn-lt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+mn-lt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+mn-lt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5pPr>
            <a:lvl6pPr marL="18288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6pPr>
            <a:lvl7pPr marL="22860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7pPr>
            <a:lvl8pPr marL="27432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8pPr>
            <a:lvl9pPr marL="32004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kumimoji="0" lang="en-US" altLang="zh-TW" kern="0" smtClean="0"/>
              <a:t>A different MP architecture can be achieved by using the simple 2x2 switches.</a:t>
            </a:r>
          </a:p>
          <a:p>
            <a:r>
              <a:rPr kumimoji="0" lang="en-US" altLang="zh-TW" kern="0" smtClean="0"/>
              <a:t>The message arrives either on input A or B and is routed according to some header information to the output X or Y. </a:t>
            </a:r>
          </a:p>
          <a:p>
            <a:pPr lvl="1"/>
            <a:r>
              <a:rPr kumimoji="0" lang="en-US" altLang="zh-TW" kern="0" smtClean="0"/>
              <a:t>The message header is composed by 4 fields:</a:t>
            </a:r>
          </a:p>
          <a:p>
            <a:pPr lvl="2"/>
            <a:r>
              <a:rPr kumimoji="0" lang="en-US" altLang="zh-TW" kern="0" smtClean="0"/>
              <a:t>Module: Tells which memory to use</a:t>
            </a:r>
          </a:p>
          <a:p>
            <a:pPr lvl="2"/>
            <a:r>
              <a:rPr kumimoji="0" lang="en-US" altLang="zh-TW" kern="0" smtClean="0"/>
              <a:t>Address: Specifies an address within the module</a:t>
            </a:r>
          </a:p>
          <a:p>
            <a:pPr lvl="2"/>
            <a:r>
              <a:rPr kumimoji="0" lang="en-US" altLang="zh-TW" kern="0" smtClean="0"/>
              <a:t>Opcode: Operation (read or write)</a:t>
            </a:r>
          </a:p>
          <a:p>
            <a:pPr lvl="2"/>
            <a:r>
              <a:rPr kumimoji="0" lang="en-US" altLang="zh-TW" kern="0" smtClean="0"/>
              <a:t>Value (optional): for write operation only</a:t>
            </a:r>
          </a:p>
          <a:p>
            <a:pPr lvl="1"/>
            <a:r>
              <a:rPr kumimoji="0" lang="en-US" altLang="zh-TW" kern="0" smtClean="0"/>
              <a:t>The switch looks at the Module-field and decides if the message should be sent to output X (for 0) or Y (for 1.)</a:t>
            </a:r>
            <a:endParaRPr kumimoji="0" lang="zh-TW" altLang="en-US" kern="0" dirty="0"/>
          </a:p>
        </p:txBody>
      </p:sp>
      <p:grpSp>
        <p:nvGrpSpPr>
          <p:cNvPr id="10" name="群組 9"/>
          <p:cNvGrpSpPr/>
          <p:nvPr/>
        </p:nvGrpSpPr>
        <p:grpSpPr>
          <a:xfrm>
            <a:off x="683568" y="5877272"/>
            <a:ext cx="2160240" cy="633685"/>
            <a:chOff x="467544" y="5877272"/>
            <a:chExt cx="2160240" cy="633685"/>
          </a:xfrm>
        </p:grpSpPr>
        <p:sp>
          <p:nvSpPr>
            <p:cNvPr id="11" name="矩形 10"/>
            <p:cNvSpPr/>
            <p:nvPr/>
          </p:nvSpPr>
          <p:spPr>
            <a:xfrm>
              <a:off x="1043608" y="5949280"/>
              <a:ext cx="1080120" cy="50405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" name="直線接點 11"/>
            <p:cNvCxnSpPr/>
            <p:nvPr/>
          </p:nvCxnSpPr>
          <p:spPr>
            <a:xfrm>
              <a:off x="760040" y="6093296"/>
              <a:ext cx="28356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>
            <a:xfrm>
              <a:off x="2128192" y="6093296"/>
              <a:ext cx="28356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>
              <a:off x="2128192" y="6309320"/>
              <a:ext cx="28356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/>
            <p:cNvCxnSpPr/>
            <p:nvPr/>
          </p:nvCxnSpPr>
          <p:spPr>
            <a:xfrm>
              <a:off x="755576" y="6309320"/>
              <a:ext cx="28356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/>
            <p:cNvSpPr txBox="1"/>
            <p:nvPr/>
          </p:nvSpPr>
          <p:spPr>
            <a:xfrm>
              <a:off x="467544" y="5877272"/>
              <a:ext cx="2880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 smtClean="0"/>
                <a:t>A</a:t>
              </a:r>
              <a:endParaRPr lang="zh-TW" altLang="en-US" sz="1600" dirty="0"/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467544" y="6114782"/>
              <a:ext cx="2880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 smtClean="0"/>
                <a:t>B</a:t>
              </a:r>
              <a:endParaRPr lang="zh-TW" altLang="en-US" sz="1600" dirty="0"/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2339752" y="6165304"/>
              <a:ext cx="241447" cy="3456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 smtClean="0"/>
                <a:t>Y</a:t>
              </a:r>
              <a:endParaRPr lang="zh-TW" altLang="en-US" sz="1600" dirty="0"/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2339752" y="5898758"/>
              <a:ext cx="2880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 smtClean="0"/>
                <a:t>X</a:t>
              </a:r>
              <a:endParaRPr lang="zh-TW" altLang="en-US" sz="1600" dirty="0"/>
            </a:p>
          </p:txBody>
        </p:sp>
      </p:grp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242531"/>
              </p:ext>
            </p:extLst>
          </p:nvPr>
        </p:nvGraphicFramePr>
        <p:xfrm>
          <a:off x="3516560" y="6015888"/>
          <a:ext cx="4727848" cy="37084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181962">
                  <a:extLst>
                    <a:ext uri="{9D8B030D-6E8A-4147-A177-3AD203B41FA5}">
                      <a16:colId xmlns:a16="http://schemas.microsoft.com/office/drawing/2014/main" val="2916143366"/>
                    </a:ext>
                  </a:extLst>
                </a:gridCol>
                <a:gridCol w="1181962">
                  <a:extLst>
                    <a:ext uri="{9D8B030D-6E8A-4147-A177-3AD203B41FA5}">
                      <a16:colId xmlns:a16="http://schemas.microsoft.com/office/drawing/2014/main" val="4269195288"/>
                    </a:ext>
                  </a:extLst>
                </a:gridCol>
                <a:gridCol w="1181962">
                  <a:extLst>
                    <a:ext uri="{9D8B030D-6E8A-4147-A177-3AD203B41FA5}">
                      <a16:colId xmlns:a16="http://schemas.microsoft.com/office/drawing/2014/main" val="1085127788"/>
                    </a:ext>
                  </a:extLst>
                </a:gridCol>
                <a:gridCol w="1181962">
                  <a:extLst>
                    <a:ext uri="{9D8B030D-6E8A-4147-A177-3AD203B41FA5}">
                      <a16:colId xmlns:a16="http://schemas.microsoft.com/office/drawing/2014/main" val="16808439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Module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Address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Opcode</a:t>
                      </a:r>
                      <a:endParaRPr lang="zh-TW" altLang="en-US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Value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9056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9886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404664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The Omega Network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35496" y="1447800"/>
                <a:ext cx="9108504" cy="2917304"/>
              </a:xfrm>
            </p:spPr>
            <p:txBody>
              <a:bodyPr/>
              <a:lstStyle/>
              <a:p>
                <a:r>
                  <a:rPr lang="en-US" altLang="zh-TW" dirty="0" smtClean="0"/>
                  <a:t>Larger switch networks </a:t>
                </a:r>
                <a:r>
                  <a:rPr lang="en-US" altLang="zh-TW" dirty="0"/>
                  <a:t>can be </a:t>
                </a:r>
                <a:r>
                  <a:rPr lang="en-US" altLang="zh-TW" dirty="0" smtClean="0"/>
                  <a:t>built by using </a:t>
                </a:r>
                <a:r>
                  <a:rPr lang="en-US" altLang="zh-TW" dirty="0"/>
                  <a:t>the 2x2 </a:t>
                </a:r>
                <a:r>
                  <a:rPr lang="en-US" altLang="zh-TW" dirty="0" smtClean="0"/>
                  <a:t>switches. </a:t>
                </a:r>
              </a:p>
              <a:p>
                <a:pPr lvl="1"/>
                <a:r>
                  <a:rPr lang="en-US" altLang="zh-TW" dirty="0" smtClean="0"/>
                  <a:t>An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omega network </a:t>
                </a:r>
                <a:r>
                  <a:rPr lang="en-US" altLang="zh-TW" dirty="0"/>
                  <a:t>(also called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perfect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shuffle</a:t>
                </a:r>
                <a:r>
                  <a:rPr lang="en-US" altLang="zh-TW" dirty="0" smtClean="0"/>
                  <a:t>) is a good example.</a:t>
                </a:r>
              </a:p>
              <a:p>
                <a:r>
                  <a:rPr lang="en-US" altLang="zh-TW" dirty="0" smtClean="0"/>
                  <a:t>An </a:t>
                </a:r>
                <a:r>
                  <a:rPr lang="en-US" altLang="zh-TW" dirty="0" err="1" smtClean="0">
                    <a:solidFill>
                      <a:srgbClr val="0070C0"/>
                    </a:solidFill>
                  </a:rPr>
                  <a:t>nxn</a:t>
                </a:r>
                <a:r>
                  <a:rPr lang="en-US" altLang="zh-TW" dirty="0" smtClean="0"/>
                  <a:t> omega </a:t>
                </a:r>
                <a:r>
                  <a:rPr lang="en-US" altLang="zh-TW" dirty="0"/>
                  <a:t>network </a:t>
                </a:r>
                <a:r>
                  <a:rPr lang="en-US" altLang="zh-TW" dirty="0" smtClean="0"/>
                  <a:t>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TW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TW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dirty="0"/>
                  <a:t> </a:t>
                </a:r>
                <a:r>
                  <a:rPr lang="en-US" altLang="zh-TW" dirty="0" smtClean="0"/>
                  <a:t>stages.</a:t>
                </a:r>
              </a:p>
              <a:p>
                <a:pPr lvl="1"/>
                <a:r>
                  <a:rPr lang="en-US" altLang="zh-TW" dirty="0" smtClean="0"/>
                  <a:t>Each stage needs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dirty="0"/>
                  <a:t> </a:t>
                </a:r>
                <a:r>
                  <a:rPr lang="en-US" altLang="zh-TW" dirty="0" smtClean="0"/>
                  <a:t>2x2 switches. </a:t>
                </a:r>
              </a:p>
              <a:p>
                <a:pPr lvl="1"/>
                <a:r>
                  <a:rPr lang="en-US" altLang="zh-TW" dirty="0" smtClean="0"/>
                  <a:t>Instead </a:t>
                </a:r>
                <a:r>
                  <a:rPr lang="en-US" altLang="zh-TW" dirty="0"/>
                  <a:t>of n</a:t>
                </a:r>
                <a:r>
                  <a:rPr lang="en-US" altLang="zh-TW" baseline="30000" dirty="0"/>
                  <a:t>2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crosspoints </a:t>
                </a:r>
                <a:r>
                  <a:rPr lang="en-US" altLang="zh-TW" dirty="0"/>
                  <a:t>(for crossbar </a:t>
                </a:r>
                <a:r>
                  <a:rPr lang="en-US" altLang="zh-TW" dirty="0" smtClean="0"/>
                  <a:t>switch) </a:t>
                </a:r>
                <a:r>
                  <a:rPr lang="en-US" altLang="zh-TW" dirty="0"/>
                  <a:t>only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altLang="zh-TW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TW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 smtClean="0"/>
                  <a:t>2x2 switches </a:t>
                </a:r>
                <a:r>
                  <a:rPr lang="en-US" altLang="zh-TW" dirty="0"/>
                  <a:t>are needed to build the omega network.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96" y="1447800"/>
                <a:ext cx="9108504" cy="2917304"/>
              </a:xfrm>
              <a:blipFill>
                <a:blip r:embed="rId2"/>
                <a:stretch>
                  <a:fillRect l="-669" t="-2092" b="-12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3900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260648"/>
            <a:ext cx="7772400" cy="1012974"/>
          </a:xfrm>
        </p:spPr>
        <p:txBody>
          <a:bodyPr/>
          <a:lstStyle/>
          <a:p>
            <a:pPr algn="ctr"/>
            <a:r>
              <a:rPr lang="en-US" altLang="zh-TW" dirty="0"/>
              <a:t>An 8x8 Omega Network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3608" y="2170590"/>
            <a:ext cx="6984170" cy="3499950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899592" y="1638092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CPUs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6804248" y="1628800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Memory modules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3707904" y="1412776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3 (log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8) stages</a:t>
            </a:r>
            <a:endParaRPr lang="zh-TW" altLang="en-US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518" y="1854116"/>
            <a:ext cx="3344963" cy="241200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35496" y="5766355"/>
            <a:ext cx="9036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 smtClean="0"/>
              <a:t>CPU P</a:t>
            </a:r>
            <a:r>
              <a:rPr lang="en-US" altLang="zh-TW" sz="1600" baseline="-25000" dirty="0" smtClean="0"/>
              <a:t>001</a:t>
            </a:r>
            <a:r>
              <a:rPr lang="en-US" altLang="zh-TW" sz="1600" dirty="0" smtClean="0"/>
              <a:t> requests memory M</a:t>
            </a:r>
            <a:r>
              <a:rPr lang="en-US" altLang="zh-TW" sz="1600" baseline="-25000" dirty="0" smtClean="0"/>
              <a:t>001</a:t>
            </a:r>
            <a:r>
              <a:rPr lang="en-US" altLang="zh-TW" sz="1600" dirty="0" smtClean="0"/>
              <a:t> through the </a:t>
            </a:r>
            <a:r>
              <a:rPr lang="en-US" altLang="zh-TW" sz="1600" b="1" dirty="0" smtClean="0">
                <a:solidFill>
                  <a:srgbClr val="3333CC"/>
                </a:solidFill>
              </a:rPr>
              <a:t>blue line</a:t>
            </a:r>
          </a:p>
          <a:p>
            <a:r>
              <a:rPr lang="en-US" altLang="zh-TW" sz="1600" dirty="0" smtClean="0"/>
              <a:t>CPU P</a:t>
            </a:r>
            <a:r>
              <a:rPr lang="en-US" altLang="zh-TW" sz="1600" baseline="-25000" dirty="0" smtClean="0"/>
              <a:t>011</a:t>
            </a:r>
            <a:r>
              <a:rPr lang="en-US" altLang="zh-TW" sz="1600" dirty="0" smtClean="0"/>
              <a:t> requests memory M</a:t>
            </a:r>
            <a:r>
              <a:rPr lang="en-US" altLang="zh-TW" sz="1600" baseline="-25000" dirty="0" smtClean="0"/>
              <a:t>110</a:t>
            </a:r>
            <a:r>
              <a:rPr lang="en-US" altLang="zh-TW" sz="1600" dirty="0" smtClean="0"/>
              <a:t> through the </a:t>
            </a:r>
            <a:r>
              <a:rPr lang="en-US" altLang="zh-TW" sz="1600" b="1" dirty="0" smtClean="0">
                <a:solidFill>
                  <a:srgbClr val="FF0000"/>
                </a:solidFill>
              </a:rPr>
              <a:t>red line</a:t>
            </a:r>
            <a:endParaRPr lang="en-US" altLang="zh-TW" sz="1600" dirty="0" smtClean="0"/>
          </a:p>
          <a:p>
            <a:r>
              <a:rPr lang="en-US" altLang="zh-TW" sz="1600" dirty="0" smtClean="0"/>
              <a:t>CPU P</a:t>
            </a:r>
            <a:r>
              <a:rPr lang="en-US" altLang="zh-TW" sz="1600" baseline="-25000" dirty="0" smtClean="0"/>
              <a:t>111</a:t>
            </a:r>
            <a:r>
              <a:rPr lang="en-US" altLang="zh-TW" sz="1600" dirty="0" smtClean="0"/>
              <a:t> requests memory M</a:t>
            </a:r>
            <a:r>
              <a:rPr lang="en-US" altLang="zh-TW" sz="1600" baseline="-25000" dirty="0" smtClean="0"/>
              <a:t>101</a:t>
            </a:r>
            <a:r>
              <a:rPr lang="en-US" altLang="zh-TW" sz="1600" dirty="0" smtClean="0"/>
              <a:t> through the </a:t>
            </a:r>
            <a:r>
              <a:rPr lang="en-US" altLang="zh-TW" sz="1600" b="1" dirty="0" smtClean="0">
                <a:solidFill>
                  <a:srgbClr val="00B050"/>
                </a:solidFill>
              </a:rPr>
              <a:t>green line</a:t>
            </a:r>
            <a:r>
              <a:rPr lang="en-US" altLang="zh-TW" sz="1600" dirty="0"/>
              <a:t> </a:t>
            </a:r>
            <a:r>
              <a:rPr lang="en-US" altLang="zh-TW" sz="1600" dirty="0" smtClean="0"/>
              <a:t>but conflicts with the </a:t>
            </a:r>
            <a:r>
              <a:rPr lang="en-US" altLang="zh-TW" sz="1600" b="1" dirty="0" smtClean="0">
                <a:solidFill>
                  <a:srgbClr val="FF0000"/>
                </a:solidFill>
              </a:rPr>
              <a:t>red line </a:t>
            </a:r>
            <a:r>
              <a:rPr lang="en-US" altLang="zh-TW" sz="1600" dirty="0" smtClean="0"/>
              <a:t>in switch 1D</a:t>
            </a:r>
            <a:endParaRPr lang="zh-TW" altLang="en-US" sz="1600" b="1" dirty="0">
              <a:solidFill>
                <a:srgbClr val="00B050"/>
              </a:solidFill>
            </a:endParaRPr>
          </a:p>
        </p:txBody>
      </p:sp>
      <p:cxnSp>
        <p:nvCxnSpPr>
          <p:cNvPr id="10" name="直線接點 9"/>
          <p:cNvCxnSpPr/>
          <p:nvPr/>
        </p:nvCxnSpPr>
        <p:spPr>
          <a:xfrm>
            <a:off x="1547664" y="5517232"/>
            <a:ext cx="1152128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3131840" y="5517232"/>
            <a:ext cx="1152128" cy="0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 flipV="1">
            <a:off x="4788024" y="4581128"/>
            <a:ext cx="1080120" cy="720080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6372200" y="4581128"/>
            <a:ext cx="1152128" cy="0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2555776" y="5085184"/>
            <a:ext cx="720080" cy="66062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3131840" y="2924944"/>
            <a:ext cx="360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smtClean="0">
                <a:solidFill>
                  <a:srgbClr val="00B0F0"/>
                </a:solidFill>
                <a:latin typeface="+mn-ea"/>
                <a:ea typeface="+mn-ea"/>
              </a:rPr>
              <a:t>0</a:t>
            </a:r>
            <a:endParaRPr lang="en-US" sz="1400">
              <a:solidFill>
                <a:srgbClr val="00B0F0"/>
              </a:solidFill>
              <a:latin typeface="+mn-ea"/>
              <a:ea typeface="+mn-ea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4716016" y="4077072"/>
            <a:ext cx="360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smtClean="0">
                <a:solidFill>
                  <a:srgbClr val="00B0F0"/>
                </a:solidFill>
                <a:latin typeface="+mn-ea"/>
                <a:ea typeface="+mn-ea"/>
              </a:rPr>
              <a:t>0</a:t>
            </a:r>
            <a:endParaRPr lang="en-US" sz="1400">
              <a:solidFill>
                <a:srgbClr val="00B0F0"/>
              </a:solidFill>
              <a:latin typeface="+mn-ea"/>
              <a:ea typeface="+mn-ea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6372200" y="2492896"/>
            <a:ext cx="360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>
                <a:solidFill>
                  <a:srgbClr val="00B0F0"/>
                </a:solidFill>
                <a:latin typeface="+mn-ea"/>
                <a:ea typeface="+mn-ea"/>
              </a:rPr>
              <a:t>1</a:t>
            </a:r>
            <a:endParaRPr lang="en-US" sz="1400" dirty="0">
              <a:solidFill>
                <a:srgbClr val="00B0F0"/>
              </a:solidFill>
              <a:latin typeface="+mn-ea"/>
              <a:ea typeface="+mn-ea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3275856" y="5517232"/>
            <a:ext cx="360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>
                <a:solidFill>
                  <a:srgbClr val="FF0000"/>
                </a:solidFill>
                <a:latin typeface="+mn-ea"/>
                <a:ea typeface="+mn-ea"/>
              </a:rPr>
              <a:t>1</a:t>
            </a:r>
            <a:endParaRPr lang="en-US" sz="1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4788024" y="5517232"/>
            <a:ext cx="360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>
                <a:solidFill>
                  <a:srgbClr val="FF0000"/>
                </a:solidFill>
                <a:latin typeface="+mn-ea"/>
                <a:ea typeface="+mn-ea"/>
              </a:rPr>
              <a:t>1</a:t>
            </a:r>
            <a:endParaRPr lang="en-US" sz="1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6372200" y="5065439"/>
            <a:ext cx="360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>
                <a:solidFill>
                  <a:srgbClr val="FF0000"/>
                </a:solidFill>
                <a:latin typeface="+mn-ea"/>
                <a:ea typeface="+mn-ea"/>
              </a:rPr>
              <a:t>0</a:t>
            </a:r>
            <a:endParaRPr lang="en-US" sz="1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3275856" y="5229200"/>
            <a:ext cx="360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>
                <a:solidFill>
                  <a:srgbClr val="00B050"/>
                </a:solidFill>
                <a:latin typeface="+mn-ea"/>
                <a:ea typeface="+mn-ea"/>
              </a:rPr>
              <a:t>1</a:t>
            </a:r>
            <a:endParaRPr lang="en-US" sz="1400" dirty="0">
              <a:solidFill>
                <a:srgbClr val="00B05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24141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32656"/>
            <a:ext cx="7772400" cy="1012974"/>
          </a:xfrm>
        </p:spPr>
        <p:txBody>
          <a:bodyPr/>
          <a:lstStyle/>
          <a:p>
            <a:pPr algn="ctr"/>
            <a:r>
              <a:rPr lang="en-US" altLang="zh-TW" dirty="0" smtClean="0"/>
              <a:t>The routing of Omega network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107504" y="1447800"/>
            <a:ext cx="8928992" cy="5077544"/>
          </a:xfrm>
        </p:spPr>
        <p:txBody>
          <a:bodyPr/>
          <a:lstStyle/>
          <a:p>
            <a:r>
              <a:rPr lang="en-US" altLang="zh-TW" dirty="0" smtClean="0"/>
              <a:t>The </a:t>
            </a:r>
            <a:r>
              <a:rPr lang="en-US" altLang="zh-TW" dirty="0" smtClean="0">
                <a:solidFill>
                  <a:srgbClr val="00B0F0"/>
                </a:solidFill>
              </a:rPr>
              <a:t>P</a:t>
            </a:r>
            <a:r>
              <a:rPr lang="en-US" altLang="zh-TW" baseline="-25000" dirty="0" smtClean="0">
                <a:solidFill>
                  <a:srgbClr val="00B0F0"/>
                </a:solidFill>
              </a:rPr>
              <a:t>001</a:t>
            </a:r>
            <a:r>
              <a:rPr lang="en-US" altLang="zh-TW" dirty="0" smtClean="0"/>
              <a:t> </a:t>
            </a:r>
            <a:r>
              <a:rPr lang="en-US" altLang="zh-TW" dirty="0"/>
              <a:t>and </a:t>
            </a:r>
            <a:r>
              <a:rPr lang="en-US" altLang="zh-TW" dirty="0" smtClean="0">
                <a:solidFill>
                  <a:srgbClr val="FF0000"/>
                </a:solidFill>
              </a:rPr>
              <a:t>P</a:t>
            </a:r>
            <a:r>
              <a:rPr lang="en-US" altLang="zh-TW" baseline="-25000" dirty="0" smtClean="0">
                <a:solidFill>
                  <a:srgbClr val="FF0000"/>
                </a:solidFill>
              </a:rPr>
              <a:t>011</a:t>
            </a:r>
            <a:r>
              <a:rPr lang="en-US" altLang="zh-TW" dirty="0" smtClean="0"/>
              <a:t> </a:t>
            </a:r>
            <a:r>
              <a:rPr lang="en-US" altLang="zh-TW" dirty="0" smtClean="0"/>
              <a:t>can accesses </a:t>
            </a:r>
            <a:r>
              <a:rPr lang="en-US" altLang="zh-TW" dirty="0"/>
              <a:t>two different memory </a:t>
            </a:r>
            <a:r>
              <a:rPr lang="en-US" altLang="zh-TW" dirty="0" smtClean="0"/>
              <a:t>modules </a:t>
            </a:r>
            <a:r>
              <a:rPr lang="en-US" altLang="zh-TW" dirty="0" smtClean="0">
                <a:solidFill>
                  <a:srgbClr val="00B0F0"/>
                </a:solidFill>
              </a:rPr>
              <a:t>M</a:t>
            </a:r>
            <a:r>
              <a:rPr lang="en-US" altLang="zh-TW" baseline="-25000" dirty="0" smtClean="0">
                <a:solidFill>
                  <a:srgbClr val="00B0F0"/>
                </a:solidFill>
              </a:rPr>
              <a:t>001</a:t>
            </a:r>
            <a:r>
              <a:rPr lang="en-US" altLang="zh-TW" dirty="0" smtClean="0">
                <a:solidFill>
                  <a:srgbClr val="00B0F0"/>
                </a:solidFill>
              </a:rPr>
              <a:t> </a:t>
            </a:r>
            <a:r>
              <a:rPr lang="en-US" altLang="zh-TW" dirty="0"/>
              <a:t>and </a:t>
            </a:r>
            <a:r>
              <a:rPr lang="en-US" altLang="zh-TW" dirty="0" smtClean="0">
                <a:solidFill>
                  <a:srgbClr val="FF0000"/>
                </a:solidFill>
              </a:rPr>
              <a:t>M</a:t>
            </a:r>
            <a:r>
              <a:rPr lang="en-US" altLang="zh-TW" baseline="-25000" dirty="0" smtClean="0">
                <a:solidFill>
                  <a:srgbClr val="FF0000"/>
                </a:solidFill>
              </a:rPr>
              <a:t>110</a:t>
            </a:r>
            <a:r>
              <a:rPr lang="en-US" altLang="zh-TW" dirty="0"/>
              <a:t> </a:t>
            </a:r>
            <a:r>
              <a:rPr lang="en-US" altLang="zh-TW" dirty="0" smtClean="0"/>
              <a:t>in the same time.</a:t>
            </a:r>
          </a:p>
          <a:p>
            <a:pPr lvl="1"/>
            <a:r>
              <a:rPr lang="en-US" altLang="zh-TW" dirty="0" smtClean="0"/>
              <a:t>In the </a:t>
            </a:r>
            <a:r>
              <a:rPr lang="en-US" altLang="zh-TW" dirty="0"/>
              <a:t>first </a:t>
            </a:r>
            <a:r>
              <a:rPr lang="en-US" altLang="zh-TW" dirty="0" smtClean="0"/>
              <a:t>stage, the switch 1B (</a:t>
            </a:r>
            <a:r>
              <a:rPr lang="en-US" altLang="zh-TW" dirty="0" smtClean="0">
                <a:solidFill>
                  <a:srgbClr val="00B0F0"/>
                </a:solidFill>
              </a:rPr>
              <a:t>P</a:t>
            </a:r>
            <a:r>
              <a:rPr lang="en-US" altLang="zh-TW" baseline="-25000" dirty="0" smtClean="0">
                <a:solidFill>
                  <a:srgbClr val="00B0F0"/>
                </a:solidFill>
              </a:rPr>
              <a:t>001</a:t>
            </a:r>
            <a:r>
              <a:rPr lang="en-US" altLang="zh-TW" dirty="0" smtClean="0"/>
              <a:t>) looks </a:t>
            </a:r>
            <a:r>
              <a:rPr lang="en-US" altLang="zh-TW" dirty="0"/>
              <a:t>at the </a:t>
            </a:r>
            <a:r>
              <a:rPr lang="en-US" altLang="zh-TW" dirty="0" smtClean="0"/>
              <a:t>1st </a:t>
            </a:r>
            <a:r>
              <a:rPr lang="en-US" altLang="zh-TW" dirty="0"/>
              <a:t>bit </a:t>
            </a:r>
            <a:r>
              <a:rPr lang="en-US" altLang="zh-TW" dirty="0" smtClean="0"/>
              <a:t>of the address of </a:t>
            </a:r>
            <a:r>
              <a:rPr lang="en-US" altLang="zh-TW" sz="2600" dirty="0" smtClean="0">
                <a:solidFill>
                  <a:srgbClr val="000000"/>
                </a:solidFill>
                <a:ea typeface="+mn-ea"/>
                <a:cs typeface="+mn-cs"/>
              </a:rPr>
              <a:t>M</a:t>
            </a:r>
            <a:r>
              <a:rPr lang="en-US" altLang="zh-TW" sz="2600" baseline="-25000" dirty="0" smtClean="0">
                <a:solidFill>
                  <a:srgbClr val="000000"/>
                </a:solidFill>
                <a:ea typeface="+mn-ea"/>
                <a:cs typeface="+mn-cs"/>
              </a:rPr>
              <a:t>001</a:t>
            </a:r>
            <a:r>
              <a:rPr lang="en-US" altLang="zh-TW" dirty="0" smtClean="0"/>
              <a:t> which is </a:t>
            </a:r>
            <a:r>
              <a:rPr lang="en-US" altLang="zh-TW" dirty="0"/>
              <a:t>0 and activates the </a:t>
            </a:r>
            <a:r>
              <a:rPr lang="en-US" altLang="zh-TW" dirty="0" smtClean="0"/>
              <a:t>upper output </a:t>
            </a:r>
            <a:r>
              <a:rPr lang="en-US" altLang="zh-TW" dirty="0"/>
              <a:t>line </a:t>
            </a:r>
            <a:r>
              <a:rPr lang="en-US" altLang="zh-TW" dirty="0" smtClean="0"/>
              <a:t>of 1B.</a:t>
            </a:r>
          </a:p>
          <a:p>
            <a:pPr lvl="1"/>
            <a:r>
              <a:rPr lang="en-US" altLang="zh-TW" dirty="0" smtClean="0"/>
              <a:t>In the </a:t>
            </a:r>
            <a:r>
              <a:rPr lang="en-US" altLang="zh-TW" dirty="0"/>
              <a:t>second </a:t>
            </a:r>
            <a:r>
              <a:rPr lang="en-US" altLang="zh-TW" dirty="0" smtClean="0"/>
              <a:t>stage, the switch </a:t>
            </a:r>
            <a:r>
              <a:rPr lang="en-US" altLang="zh-TW" dirty="0"/>
              <a:t>2C </a:t>
            </a:r>
            <a:r>
              <a:rPr lang="en-US" altLang="zh-TW" dirty="0"/>
              <a:t>(</a:t>
            </a:r>
            <a:r>
              <a:rPr lang="en-US" altLang="zh-TW" dirty="0">
                <a:solidFill>
                  <a:srgbClr val="00B0F0"/>
                </a:solidFill>
              </a:rPr>
              <a:t>P</a:t>
            </a:r>
            <a:r>
              <a:rPr lang="en-US" altLang="zh-TW" baseline="-25000" dirty="0">
                <a:solidFill>
                  <a:srgbClr val="00B0F0"/>
                </a:solidFill>
              </a:rPr>
              <a:t>001</a:t>
            </a:r>
            <a:r>
              <a:rPr lang="en-US" altLang="zh-TW" dirty="0"/>
              <a:t>) looks </a:t>
            </a:r>
            <a:r>
              <a:rPr lang="en-US" altLang="zh-TW" dirty="0"/>
              <a:t>the 2nd bit </a:t>
            </a:r>
            <a:r>
              <a:rPr lang="en-US" altLang="zh-TW" dirty="0" smtClean="0"/>
              <a:t>which </a:t>
            </a:r>
            <a:r>
              <a:rPr lang="en-US" altLang="zh-TW" dirty="0"/>
              <a:t>is also 0 and activates the </a:t>
            </a:r>
            <a:r>
              <a:rPr lang="en-US" altLang="zh-TW" dirty="0" smtClean="0"/>
              <a:t>upper output </a:t>
            </a:r>
            <a:r>
              <a:rPr lang="en-US" altLang="zh-TW" dirty="0"/>
              <a:t>line </a:t>
            </a:r>
            <a:r>
              <a:rPr lang="en-US" altLang="zh-TW" dirty="0" smtClean="0"/>
              <a:t>of 2C. </a:t>
            </a:r>
          </a:p>
          <a:p>
            <a:pPr lvl="1"/>
            <a:r>
              <a:rPr lang="en-US" altLang="zh-TW" dirty="0" smtClean="0"/>
              <a:t>In the last stage, the switch 3A </a:t>
            </a:r>
            <a:r>
              <a:rPr lang="en-US" altLang="zh-TW" dirty="0"/>
              <a:t>(</a:t>
            </a:r>
            <a:r>
              <a:rPr lang="en-US" altLang="zh-TW" dirty="0">
                <a:solidFill>
                  <a:srgbClr val="00B0F0"/>
                </a:solidFill>
              </a:rPr>
              <a:t>P</a:t>
            </a:r>
            <a:r>
              <a:rPr lang="en-US" altLang="zh-TW" baseline="-25000" dirty="0">
                <a:solidFill>
                  <a:srgbClr val="00B0F0"/>
                </a:solidFill>
              </a:rPr>
              <a:t>001</a:t>
            </a:r>
            <a:r>
              <a:rPr lang="en-US" altLang="zh-TW" dirty="0"/>
              <a:t>) finds </a:t>
            </a:r>
            <a:r>
              <a:rPr lang="en-US" altLang="zh-TW" dirty="0" smtClean="0"/>
              <a:t>the bit 1 and then </a:t>
            </a:r>
            <a:r>
              <a:rPr lang="en-US" altLang="zh-TW" dirty="0"/>
              <a:t>activates the </a:t>
            </a:r>
            <a:r>
              <a:rPr lang="en-US" altLang="zh-TW" dirty="0" smtClean="0"/>
              <a:t>lower output line of 3A.</a:t>
            </a:r>
          </a:p>
          <a:p>
            <a:r>
              <a:rPr lang="en-US" altLang="zh-TW" dirty="0" smtClean="0"/>
              <a:t>The omega network is a </a:t>
            </a:r>
            <a:r>
              <a:rPr lang="en-US" altLang="zh-TW" dirty="0" smtClean="0">
                <a:solidFill>
                  <a:srgbClr val="FF0000"/>
                </a:solidFill>
              </a:rPr>
              <a:t>blocking network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If </a:t>
            </a:r>
            <a:r>
              <a:rPr lang="en-US" altLang="zh-TW" dirty="0" smtClean="0">
                <a:solidFill>
                  <a:srgbClr val="00B050"/>
                </a:solidFill>
              </a:rPr>
              <a:t>P</a:t>
            </a:r>
            <a:r>
              <a:rPr lang="en-US" altLang="zh-TW" baseline="-25000" dirty="0" smtClean="0">
                <a:solidFill>
                  <a:srgbClr val="00B050"/>
                </a:solidFill>
              </a:rPr>
              <a:t>111</a:t>
            </a:r>
            <a:r>
              <a:rPr lang="en-US" altLang="zh-TW" dirty="0" smtClean="0"/>
              <a:t> wants to access module </a:t>
            </a:r>
            <a:r>
              <a:rPr lang="en-US" altLang="zh-TW" dirty="0" smtClean="0">
                <a:solidFill>
                  <a:srgbClr val="00B050"/>
                </a:solidFill>
              </a:rPr>
              <a:t>M</a:t>
            </a:r>
            <a:r>
              <a:rPr lang="en-US" altLang="zh-TW" baseline="-25000" dirty="0" smtClean="0">
                <a:solidFill>
                  <a:srgbClr val="00B050"/>
                </a:solidFill>
              </a:rPr>
              <a:t>101</a:t>
            </a:r>
            <a:r>
              <a:rPr lang="en-US" altLang="zh-TW" dirty="0" smtClean="0"/>
              <a:t> in the same time, then the request of P</a:t>
            </a:r>
            <a:r>
              <a:rPr lang="en-US" altLang="zh-TW" baseline="-25000" dirty="0" smtClean="0"/>
              <a:t>111</a:t>
            </a:r>
            <a:r>
              <a:rPr lang="en-US" altLang="zh-TW" dirty="0" smtClean="0"/>
              <a:t> will conflict with the request of P</a:t>
            </a:r>
            <a:r>
              <a:rPr lang="en-US" altLang="zh-TW" baseline="-25000" dirty="0" smtClean="0"/>
              <a:t>011</a:t>
            </a:r>
            <a:r>
              <a:rPr lang="en-US" altLang="zh-TW" dirty="0" smtClean="0"/>
              <a:t> in the switch </a:t>
            </a:r>
            <a:r>
              <a:rPr lang="en-US" altLang="zh-TW" dirty="0" smtClean="0">
                <a:solidFill>
                  <a:srgbClr val="FF0000"/>
                </a:solidFill>
              </a:rPr>
              <a:t>1D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7842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27794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Interleaved Addressing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447800"/>
            <a:ext cx="8712968" cy="4717504"/>
          </a:xfrm>
        </p:spPr>
        <p:txBody>
          <a:bodyPr/>
          <a:lstStyle/>
          <a:p>
            <a:r>
              <a:rPr lang="en-US" altLang="zh-TW" dirty="0" smtClean="0"/>
              <a:t>To reduce conflict and blocking possibility, it is desirable to spread the memory reference uniformly across all modules.</a:t>
            </a:r>
          </a:p>
          <a:p>
            <a:r>
              <a:rPr lang="en-US" altLang="zh-TW" dirty="0" smtClean="0"/>
              <a:t>It is very common to use the lower order bits as memory module number.</a:t>
            </a:r>
          </a:p>
          <a:p>
            <a:pPr lvl="1"/>
            <a:r>
              <a:rPr lang="en-US" altLang="zh-TW" dirty="0" smtClean="0"/>
              <a:t>For example, in a </a:t>
            </a:r>
            <a:r>
              <a:rPr lang="en-US" altLang="zh-TW" dirty="0"/>
              <a:t>byte addressable </a:t>
            </a:r>
            <a:r>
              <a:rPr lang="en-US" altLang="zh-TW" dirty="0" smtClean="0"/>
              <a:t>4-byte word system, the last 2 lower order bits are always 00. Thus, the next 3 lower order bits can be used as the memory module number.</a:t>
            </a:r>
          </a:p>
          <a:p>
            <a:pPr lvl="1"/>
            <a:r>
              <a:rPr lang="en-US" altLang="zh-TW" dirty="0" smtClean="0"/>
              <a:t>Therefore, consecutive words will be in different modules.</a:t>
            </a:r>
          </a:p>
          <a:p>
            <a:pPr lvl="1"/>
            <a:r>
              <a:rPr lang="en-US" altLang="zh-TW" dirty="0" smtClean="0"/>
              <a:t>It is called </a:t>
            </a:r>
            <a:r>
              <a:rPr lang="en-US" altLang="zh-TW" dirty="0" smtClean="0">
                <a:solidFill>
                  <a:srgbClr val="FF0000"/>
                </a:solidFill>
              </a:rPr>
              <a:t>interleaved addressing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Interleaved memories may maximize parallelism because most memory references are to consecutive addresses.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29046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32656"/>
            <a:ext cx="7772400" cy="940966"/>
          </a:xfrm>
        </p:spPr>
        <p:txBody>
          <a:bodyPr/>
          <a:lstStyle/>
          <a:p>
            <a:pPr algn="ctr"/>
            <a:r>
              <a:rPr lang="en-US" altLang="zh-TW" dirty="0"/>
              <a:t>NUMA Multiprocessors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856984" cy="5221560"/>
          </a:xfrm>
        </p:spPr>
        <p:txBody>
          <a:bodyPr/>
          <a:lstStyle/>
          <a:p>
            <a:r>
              <a:rPr lang="en-US" altLang="zh-TW" dirty="0" smtClean="0"/>
              <a:t>The NUMA </a:t>
            </a:r>
            <a:r>
              <a:rPr lang="en-US" altLang="zh-TW" dirty="0" smtClean="0"/>
              <a:t>MPs </a:t>
            </a:r>
            <a:r>
              <a:rPr lang="en-US" altLang="zh-TW" dirty="0" smtClean="0"/>
              <a:t>have the following characteristics </a:t>
            </a:r>
            <a:r>
              <a:rPr lang="en-US" altLang="zh-TW" dirty="0" smtClean="0"/>
              <a:t>:</a:t>
            </a:r>
            <a:endParaRPr lang="en-US" altLang="zh-TW" dirty="0"/>
          </a:p>
          <a:p>
            <a:pPr lvl="1"/>
            <a:r>
              <a:rPr lang="en-US" altLang="zh-TW" dirty="0"/>
              <a:t>There is a single address space visible to all CPUs.</a:t>
            </a:r>
          </a:p>
          <a:p>
            <a:pPr lvl="1"/>
            <a:r>
              <a:rPr lang="en-US" altLang="zh-TW" dirty="0"/>
              <a:t>Access to remote memory is via LOAD and STORE instructions.</a:t>
            </a:r>
          </a:p>
          <a:p>
            <a:pPr lvl="1"/>
            <a:r>
              <a:rPr lang="en-US" altLang="zh-TW" dirty="0"/>
              <a:t>Access to remote memory is slower than access to local memory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There are two types of NUMA architectures: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NC-NUMA (no-cache NUMA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CC-NUMA (cache-coherent NUMA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In general, the CC-NUMA is </a:t>
            </a:r>
            <a:r>
              <a:rPr lang="en-US" altLang="zh-TW" dirty="0" smtClean="0"/>
              <a:t>using </a:t>
            </a:r>
            <a:r>
              <a:rPr lang="en-US" altLang="zh-TW" dirty="0"/>
              <a:t>a directory based architecture.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idea is to maintain a </a:t>
            </a:r>
            <a:r>
              <a:rPr lang="en-US" altLang="zh-TW" dirty="0" smtClean="0"/>
              <a:t>directory database to record </a:t>
            </a:r>
            <a:r>
              <a:rPr lang="en-US" altLang="zh-TW" dirty="0"/>
              <a:t>where each cache line is and what status it has.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45048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260648"/>
            <a:ext cx="7772400" cy="1012974"/>
          </a:xfrm>
        </p:spPr>
        <p:txBody>
          <a:bodyPr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Directory Based CC-NUMA</a:t>
            </a:r>
            <a:endParaRPr lang="zh-TW" altLang="en-US" dirty="0">
              <a:solidFill>
                <a:schemeClr val="tx1"/>
              </a:solidFill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337" y="1484784"/>
            <a:ext cx="5724525" cy="4019550"/>
          </a:xfrm>
        </p:spPr>
      </p:pic>
      <p:sp>
        <p:nvSpPr>
          <p:cNvPr id="5" name="文字方塊 4"/>
          <p:cNvSpPr txBox="1"/>
          <p:nvPr/>
        </p:nvSpPr>
        <p:spPr>
          <a:xfrm>
            <a:off x="1259632" y="5589240"/>
            <a:ext cx="73448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Figure 8-6. of </a:t>
            </a:r>
            <a:r>
              <a:rPr lang="en-US" altLang="zh-TW" dirty="0" err="1"/>
              <a:t>Tanenbaum</a:t>
            </a:r>
            <a:r>
              <a:rPr lang="en-US" altLang="zh-TW" dirty="0"/>
              <a:t> &amp; </a:t>
            </a:r>
            <a:r>
              <a:rPr lang="en-US" altLang="zh-TW" dirty="0" err="1"/>
              <a:t>Bos</a:t>
            </a:r>
            <a:r>
              <a:rPr lang="en-US" altLang="zh-TW" dirty="0"/>
              <a:t>, Modern  Operating Systems: 4th ed. </a:t>
            </a:r>
          </a:p>
          <a:p>
            <a:pPr marL="342900" indent="-342900">
              <a:buAutoNum type="alphaLcParenBoth"/>
            </a:pPr>
            <a:r>
              <a:rPr lang="en-US" altLang="zh-TW" dirty="0" smtClean="0"/>
              <a:t>A </a:t>
            </a:r>
            <a:r>
              <a:rPr lang="en-US" altLang="zh-TW" dirty="0"/>
              <a:t>256-node directory-based multiprocessor. </a:t>
            </a:r>
          </a:p>
          <a:p>
            <a:pPr marL="342900" indent="-342900">
              <a:buAutoNum type="alphaLcParenBoth"/>
            </a:pPr>
            <a:r>
              <a:rPr lang="en-US" altLang="zh-TW" dirty="0" smtClean="0"/>
              <a:t>Division </a:t>
            </a:r>
            <a:r>
              <a:rPr lang="en-US" altLang="zh-TW" dirty="0"/>
              <a:t>of a 32-bit memory address into fields. </a:t>
            </a:r>
            <a:endParaRPr lang="en-US" altLang="zh-TW" dirty="0" smtClean="0"/>
          </a:p>
          <a:p>
            <a:pPr marL="342900" indent="-342900">
              <a:buAutoNum type="alphaLcParenBoth"/>
            </a:pPr>
            <a:r>
              <a:rPr lang="en-US" altLang="zh-TW" dirty="0" smtClean="0"/>
              <a:t>The </a:t>
            </a:r>
            <a:r>
              <a:rPr lang="en-US" altLang="zh-TW" dirty="0"/>
              <a:t>directory at node 36.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54044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512" y="260648"/>
            <a:ext cx="8856984" cy="1012974"/>
          </a:xfrm>
        </p:spPr>
        <p:txBody>
          <a:bodyPr/>
          <a:lstStyle/>
          <a:p>
            <a:pPr algn="ctr"/>
            <a:r>
              <a:rPr lang="en-US" altLang="zh-TW" dirty="0" smtClean="0"/>
              <a:t>The Directory Cache Coherence Protocol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928992" cy="5149552"/>
          </a:xfrm>
        </p:spPr>
        <p:txBody>
          <a:bodyPr/>
          <a:lstStyle/>
          <a:p>
            <a:r>
              <a:rPr lang="en-US" altLang="zh-TW" dirty="0" smtClean="0"/>
              <a:t>Considering a </a:t>
            </a:r>
            <a:r>
              <a:rPr lang="en-US" altLang="zh-TW" dirty="0"/>
              <a:t>256-node </a:t>
            </a:r>
            <a:r>
              <a:rPr lang="en-US" altLang="zh-TW" dirty="0" smtClean="0"/>
              <a:t>CC-NUMA system,</a:t>
            </a:r>
          </a:p>
          <a:p>
            <a:pPr lvl="1"/>
            <a:r>
              <a:rPr lang="en-US" altLang="zh-TW" dirty="0" smtClean="0"/>
              <a:t>Each </a:t>
            </a:r>
            <a:r>
              <a:rPr lang="en-US" altLang="zh-TW" dirty="0"/>
              <a:t>node </a:t>
            </a:r>
            <a:r>
              <a:rPr lang="en-US" altLang="zh-TW" dirty="0" smtClean="0"/>
              <a:t>has 1 CPU</a:t>
            </a:r>
            <a:r>
              <a:rPr lang="zh-TW" altLang="en-US" dirty="0"/>
              <a:t> </a:t>
            </a:r>
            <a:r>
              <a:rPr lang="en-US" altLang="zh-TW" dirty="0" smtClean="0"/>
              <a:t>and 16 </a:t>
            </a:r>
            <a:r>
              <a:rPr lang="en-US" altLang="zh-TW" dirty="0" smtClean="0"/>
              <a:t>MB (2</a:t>
            </a:r>
            <a:r>
              <a:rPr lang="en-US" altLang="zh-TW" baseline="30000" dirty="0" smtClean="0"/>
              <a:t>24</a:t>
            </a:r>
            <a:r>
              <a:rPr lang="en-US" altLang="zh-TW" dirty="0"/>
              <a:t> </a:t>
            </a:r>
            <a:r>
              <a:rPr lang="en-US" altLang="zh-TW" dirty="0" smtClean="0"/>
              <a:t>bytes) </a:t>
            </a:r>
            <a:r>
              <a:rPr lang="en-US" altLang="zh-TW" dirty="0" smtClean="0"/>
              <a:t>local RAM.</a:t>
            </a:r>
          </a:p>
          <a:p>
            <a:pPr lvl="1"/>
            <a:r>
              <a:rPr lang="en-US" altLang="zh-TW" dirty="0" smtClean="0"/>
              <a:t>Each node also holds a directory of </a:t>
            </a:r>
            <a:r>
              <a:rPr lang="en-US" altLang="zh-TW" dirty="0"/>
              <a:t>2</a:t>
            </a:r>
            <a:r>
              <a:rPr lang="en-US" altLang="zh-TW" baseline="30000" dirty="0"/>
              <a:t>18</a:t>
            </a:r>
            <a:r>
              <a:rPr lang="en-US" altLang="zh-TW" dirty="0"/>
              <a:t> </a:t>
            </a:r>
            <a:r>
              <a:rPr lang="en-US" altLang="zh-TW" dirty="0" smtClean="0"/>
              <a:t>entries where each entry has 9-bits.</a:t>
            </a:r>
          </a:p>
          <a:p>
            <a:pPr lvl="2"/>
            <a:r>
              <a:rPr lang="en-US" altLang="zh-TW" dirty="0" smtClean="0"/>
              <a:t>The overhead is 9x2</a:t>
            </a:r>
            <a:r>
              <a:rPr lang="en-US" altLang="zh-TW" baseline="30000" dirty="0" smtClean="0"/>
              <a:t>18</a:t>
            </a:r>
            <a:r>
              <a:rPr lang="en-US" altLang="zh-TW" dirty="0" smtClean="0"/>
              <a:t>/2</a:t>
            </a:r>
            <a:r>
              <a:rPr lang="en-US" altLang="zh-TW" baseline="30000" dirty="0" smtClean="0"/>
              <a:t>27</a:t>
            </a:r>
            <a:r>
              <a:rPr lang="en-US" altLang="zh-TW" dirty="0" smtClean="0"/>
              <a:t>=1.76%</a:t>
            </a:r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total memory is 2</a:t>
            </a:r>
            <a:r>
              <a:rPr lang="en-US" altLang="zh-TW" baseline="30000" dirty="0"/>
              <a:t>32</a:t>
            </a:r>
            <a:r>
              <a:rPr lang="en-US" altLang="zh-TW" dirty="0"/>
              <a:t> </a:t>
            </a:r>
            <a:r>
              <a:rPr lang="en-US" altLang="zh-TW" dirty="0" smtClean="0"/>
              <a:t>bytes.</a:t>
            </a:r>
          </a:p>
          <a:p>
            <a:pPr lvl="2"/>
            <a:r>
              <a:rPr lang="en-US" altLang="zh-TW" dirty="0" smtClean="0"/>
              <a:t>It is </a:t>
            </a:r>
            <a:r>
              <a:rPr lang="en-US" altLang="zh-TW" dirty="0"/>
              <a:t>divided </a:t>
            </a:r>
            <a:r>
              <a:rPr lang="en-US" altLang="zh-TW" dirty="0" smtClean="0"/>
              <a:t>into </a:t>
            </a:r>
            <a:r>
              <a:rPr lang="en-US" altLang="zh-TW" dirty="0"/>
              <a:t>2</a:t>
            </a:r>
            <a:r>
              <a:rPr lang="en-US" altLang="zh-TW" baseline="30000" dirty="0"/>
              <a:t>26</a:t>
            </a:r>
            <a:r>
              <a:rPr lang="en-US" altLang="zh-TW" dirty="0"/>
              <a:t> cache lines of 64 bytes each. </a:t>
            </a:r>
          </a:p>
          <a:p>
            <a:r>
              <a:rPr lang="en-US" altLang="zh-TW" dirty="0" smtClean="0"/>
              <a:t>The following example traces </a:t>
            </a:r>
            <a:r>
              <a:rPr lang="en-US" altLang="zh-TW" dirty="0"/>
              <a:t>a LOAD instruction from CPU 20 that references a cached line.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The CPU </a:t>
            </a:r>
            <a:r>
              <a:rPr lang="en-US" altLang="zh-TW" dirty="0" smtClean="0"/>
              <a:t>20 </a:t>
            </a:r>
            <a:r>
              <a:rPr lang="en-US" altLang="zh-TW" dirty="0"/>
              <a:t>issuing </a:t>
            </a:r>
            <a:r>
              <a:rPr lang="en-US" altLang="zh-TW" dirty="0" smtClean="0"/>
              <a:t>an </a:t>
            </a:r>
            <a:r>
              <a:rPr lang="en-US" altLang="zh-TW" dirty="0"/>
              <a:t>instruction </a:t>
            </a:r>
            <a:r>
              <a:rPr lang="en-US" altLang="zh-TW" dirty="0" smtClean="0"/>
              <a:t>to </a:t>
            </a:r>
            <a:r>
              <a:rPr lang="en-US" altLang="zh-TW" dirty="0"/>
              <a:t>its MMU, which translates it to a physical address, say, </a:t>
            </a:r>
            <a:r>
              <a:rPr lang="en-US" altLang="zh-TW" dirty="0" smtClean="0"/>
              <a:t>0x24000108. </a:t>
            </a:r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MMU splits this address into the three </a:t>
            </a:r>
            <a:r>
              <a:rPr lang="en-US" altLang="zh-TW" dirty="0" smtClean="0"/>
              <a:t>parts: </a:t>
            </a:r>
            <a:r>
              <a:rPr lang="en-US" altLang="zh-TW" dirty="0" smtClean="0">
                <a:solidFill>
                  <a:srgbClr val="FF0000"/>
                </a:solidFill>
              </a:rPr>
              <a:t>36</a:t>
            </a:r>
            <a:r>
              <a:rPr lang="en-US" altLang="zh-TW" dirty="0" smtClean="0"/>
              <a:t> for node, </a:t>
            </a:r>
            <a:r>
              <a:rPr lang="en-US" altLang="zh-TW" dirty="0" smtClean="0">
                <a:solidFill>
                  <a:srgbClr val="FF0000"/>
                </a:solidFill>
              </a:rPr>
              <a:t>4</a:t>
            </a:r>
            <a:r>
              <a:rPr lang="en-US" altLang="zh-TW" dirty="0" smtClean="0"/>
              <a:t> for cache line, </a:t>
            </a:r>
            <a:r>
              <a:rPr lang="en-US" altLang="zh-TW" dirty="0"/>
              <a:t>and </a:t>
            </a:r>
            <a:r>
              <a:rPr lang="en-US" altLang="zh-TW" dirty="0" smtClean="0">
                <a:solidFill>
                  <a:srgbClr val="FF0000"/>
                </a:solidFill>
              </a:rPr>
              <a:t>8</a:t>
            </a:r>
            <a:r>
              <a:rPr lang="en-US" altLang="zh-TW" dirty="0" smtClean="0"/>
              <a:t> for offset. </a:t>
            </a:r>
          </a:p>
        </p:txBody>
      </p:sp>
    </p:spTree>
    <p:extLst>
      <p:ext uri="{BB962C8B-B14F-4D97-AF65-F5344CB8AC3E}">
        <p14:creationId xmlns:p14="http://schemas.microsoft.com/office/powerpoint/2010/main" val="1946894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99592" y="260648"/>
            <a:ext cx="7776864" cy="1084982"/>
          </a:xfrm>
        </p:spPr>
        <p:txBody>
          <a:bodyPr/>
          <a:lstStyle/>
          <a:p>
            <a:r>
              <a:rPr lang="en-US" altLang="zh-TW" dirty="0" smtClean="0"/>
              <a:t>                   The DCCP               -</a:t>
            </a:r>
            <a:r>
              <a:rPr lang="en-US" altLang="zh-TW" dirty="0" err="1" smtClean="0"/>
              <a:t>cont</a:t>
            </a:r>
            <a:r>
              <a:rPr lang="en-US" altLang="zh-TW" dirty="0" smtClean="0"/>
              <a:t>            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536" y="1447800"/>
            <a:ext cx="8568952" cy="5005536"/>
          </a:xfrm>
        </p:spPr>
        <p:txBody>
          <a:bodyPr/>
          <a:lstStyle/>
          <a:p>
            <a:r>
              <a:rPr lang="en-US" altLang="zh-TW" dirty="0" smtClean="0"/>
              <a:t>Since the node 36 is not local, the </a:t>
            </a:r>
            <a:r>
              <a:rPr lang="en-US" altLang="zh-TW" dirty="0"/>
              <a:t>MMU </a:t>
            </a:r>
            <a:r>
              <a:rPr lang="en-US" altLang="zh-TW" dirty="0" smtClean="0"/>
              <a:t>20 sends </a:t>
            </a:r>
            <a:r>
              <a:rPr lang="en-US" altLang="zh-TW" dirty="0"/>
              <a:t>a request message </a:t>
            </a:r>
            <a:r>
              <a:rPr lang="en-US" altLang="zh-TW" dirty="0" smtClean="0"/>
              <a:t>to </a:t>
            </a:r>
            <a:r>
              <a:rPr lang="en-US" altLang="zh-TW" dirty="0"/>
              <a:t>the </a:t>
            </a:r>
            <a:r>
              <a:rPr lang="en-US" altLang="zh-TW" dirty="0" smtClean="0"/>
              <a:t>node 36 to check the status of its cache line 4.</a:t>
            </a:r>
          </a:p>
          <a:p>
            <a:pPr lvl="1"/>
            <a:r>
              <a:rPr lang="en-US" altLang="zh-TW" dirty="0" smtClean="0"/>
              <a:t>On receiving the request, the MMU 36 routes it </a:t>
            </a:r>
            <a:r>
              <a:rPr lang="en-US" altLang="zh-TW" dirty="0"/>
              <a:t>to </a:t>
            </a:r>
            <a:r>
              <a:rPr lang="en-US" altLang="zh-TW" dirty="0" smtClean="0"/>
              <a:t>the directory.</a:t>
            </a:r>
          </a:p>
          <a:p>
            <a:pPr lvl="1"/>
            <a:r>
              <a:rPr lang="en-US" altLang="zh-TW" dirty="0" smtClean="0"/>
              <a:t>Since the cache line 4 is </a:t>
            </a:r>
            <a:r>
              <a:rPr lang="en-US" altLang="zh-TW" dirty="0"/>
              <a:t>not cached, </a:t>
            </a:r>
            <a:r>
              <a:rPr lang="en-US" altLang="zh-TW" dirty="0" smtClean="0"/>
              <a:t>it is fetched </a:t>
            </a:r>
            <a:r>
              <a:rPr lang="en-US" altLang="zh-TW" dirty="0"/>
              <a:t>from the local </a:t>
            </a:r>
            <a:r>
              <a:rPr lang="en-US" altLang="zh-TW" dirty="0" smtClean="0"/>
              <a:t>RAM and is sent </a:t>
            </a:r>
            <a:r>
              <a:rPr lang="en-US" altLang="zh-TW" dirty="0"/>
              <a:t>back to node </a:t>
            </a:r>
            <a:r>
              <a:rPr lang="en-US" altLang="zh-TW" dirty="0" smtClean="0"/>
              <a:t>20.</a:t>
            </a:r>
          </a:p>
          <a:p>
            <a:pPr lvl="2"/>
            <a:r>
              <a:rPr lang="en-US" altLang="zh-TW" dirty="0" smtClean="0"/>
              <a:t>The entry </a:t>
            </a:r>
            <a:r>
              <a:rPr lang="en-US" altLang="zh-TW" dirty="0"/>
              <a:t>4 </a:t>
            </a:r>
            <a:r>
              <a:rPr lang="en-US" altLang="zh-TW" dirty="0" smtClean="0"/>
              <a:t>of directory 36 is then updated as cached at </a:t>
            </a:r>
            <a:r>
              <a:rPr lang="en-US" altLang="zh-TW" dirty="0"/>
              <a:t>node 20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Assume that the </a:t>
            </a:r>
            <a:r>
              <a:rPr lang="en-US" altLang="zh-TW" dirty="0" smtClean="0"/>
              <a:t>CPU </a:t>
            </a:r>
            <a:r>
              <a:rPr lang="en-US" altLang="zh-TW" dirty="0" smtClean="0"/>
              <a:t>20 asks for cache line 2 of node 36 later.</a:t>
            </a:r>
          </a:p>
          <a:p>
            <a:pPr lvl="1"/>
            <a:r>
              <a:rPr lang="en-US" altLang="zh-TW" dirty="0" smtClean="0"/>
              <a:t>Since the cache line 2 of node 36 was cached </a:t>
            </a:r>
            <a:r>
              <a:rPr lang="en-US" altLang="zh-TW" dirty="0"/>
              <a:t>at node 82.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The entry </a:t>
            </a:r>
            <a:r>
              <a:rPr lang="en-US" altLang="zh-TW" dirty="0"/>
              <a:t>2 </a:t>
            </a:r>
            <a:r>
              <a:rPr lang="en-US" altLang="zh-TW" dirty="0" smtClean="0"/>
              <a:t>of directory 36 is first updated as cached at node 20.</a:t>
            </a:r>
          </a:p>
          <a:p>
            <a:pPr lvl="2"/>
            <a:r>
              <a:rPr lang="en-US" altLang="zh-TW" dirty="0" smtClean="0"/>
              <a:t>A </a:t>
            </a:r>
            <a:r>
              <a:rPr lang="en-US" altLang="zh-TW" dirty="0"/>
              <a:t>message </a:t>
            </a:r>
            <a:r>
              <a:rPr lang="en-US" altLang="zh-TW" dirty="0" smtClean="0"/>
              <a:t>is then sent to </a:t>
            </a:r>
            <a:r>
              <a:rPr lang="en-US" altLang="zh-TW" dirty="0"/>
              <a:t>node 82 </a:t>
            </a:r>
            <a:r>
              <a:rPr lang="en-US" altLang="zh-TW" dirty="0" smtClean="0"/>
              <a:t>to ask </a:t>
            </a:r>
            <a:r>
              <a:rPr lang="en-US" altLang="zh-TW" dirty="0"/>
              <a:t>it to pass the </a:t>
            </a:r>
            <a:r>
              <a:rPr lang="en-US" altLang="zh-TW" dirty="0" smtClean="0"/>
              <a:t>cached line 2 of node 36 to </a:t>
            </a:r>
            <a:r>
              <a:rPr lang="en-US" altLang="zh-TW" dirty="0"/>
              <a:t>node 20 and invalidate its cache. </a:t>
            </a:r>
            <a:endParaRPr lang="en-US" altLang="zh-TW" dirty="0" smtClean="0"/>
          </a:p>
          <a:p>
            <a:r>
              <a:rPr lang="en-US" altLang="zh-TW" dirty="0" smtClean="0">
                <a:solidFill>
                  <a:srgbClr val="FF0000"/>
                </a:solidFill>
              </a:rPr>
              <a:t>How about caching a line in multiple nodes?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751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260648"/>
            <a:ext cx="7772400" cy="1012974"/>
          </a:xfrm>
        </p:spPr>
        <p:txBody>
          <a:bodyPr/>
          <a:lstStyle/>
          <a:p>
            <a:pPr algn="ctr"/>
            <a:r>
              <a:rPr lang="en-US" altLang="zh-TW" dirty="0" smtClean="0"/>
              <a:t>Multicore Chips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799"/>
            <a:ext cx="9036496" cy="1909193"/>
          </a:xfrm>
        </p:spPr>
        <p:txBody>
          <a:bodyPr/>
          <a:lstStyle/>
          <a:p>
            <a:r>
              <a:rPr lang="en-US" altLang="zh-TW" dirty="0" smtClean="0"/>
              <a:t>Due to IC manufacture technology, more gates can be put in a chip.</a:t>
            </a:r>
          </a:p>
          <a:p>
            <a:pPr lvl="1"/>
            <a:r>
              <a:rPr lang="en-US" altLang="zh-TW" dirty="0" smtClean="0"/>
              <a:t>It is very common to have multiple CPUs inside a chip.</a:t>
            </a:r>
          </a:p>
          <a:p>
            <a:r>
              <a:rPr lang="en-US" altLang="zh-TW" dirty="0" smtClean="0"/>
              <a:t>In general, each core has its own private L1 cache.</a:t>
            </a:r>
          </a:p>
          <a:p>
            <a:r>
              <a:rPr lang="en-US" altLang="zh-TW" dirty="0" smtClean="0"/>
              <a:t>However, L2 cache may be shared by cores in the same chip.</a:t>
            </a:r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3299776"/>
            <a:ext cx="5074660" cy="322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7108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Chip Level Multiprocessors </a:t>
            </a:r>
            <a:r>
              <a:rPr lang="en-US" altLang="zh-TW" dirty="0" smtClean="0"/>
              <a:t>(</a:t>
            </a:r>
            <a:r>
              <a:rPr lang="en-US" altLang="zh-TW" dirty="0" smtClean="0">
                <a:solidFill>
                  <a:srgbClr val="FF0000"/>
                </a:solidFill>
              </a:rPr>
              <a:t>CMP</a:t>
            </a:r>
            <a:r>
              <a:rPr lang="en-US" altLang="zh-TW" dirty="0" smtClean="0"/>
              <a:t>s)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521296"/>
            <a:ext cx="8856984" cy="4572000"/>
          </a:xfrm>
        </p:spPr>
        <p:txBody>
          <a:bodyPr/>
          <a:lstStyle/>
          <a:p>
            <a:r>
              <a:rPr lang="en-US" altLang="zh-TW" dirty="0" smtClean="0"/>
              <a:t>Since CPUs in a multicore chip always share memory, a computer built by a multicore chip is simply a small MPs. </a:t>
            </a:r>
          </a:p>
          <a:p>
            <a:pPr lvl="1"/>
            <a:r>
              <a:rPr lang="en-US" altLang="zh-TW" dirty="0" smtClean="0"/>
              <a:t>It is also called </a:t>
            </a:r>
            <a:r>
              <a:rPr lang="en-US" altLang="zh-TW" dirty="0" smtClean="0">
                <a:solidFill>
                  <a:srgbClr val="FF0000"/>
                </a:solidFill>
              </a:rPr>
              <a:t>CMPs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There are some differences between MPs and CMPs.</a:t>
            </a:r>
          </a:p>
          <a:p>
            <a:pPr lvl="1"/>
            <a:r>
              <a:rPr lang="en-US" altLang="zh-TW" dirty="0" smtClean="0"/>
              <a:t>The shared L2 cache can affect performance.</a:t>
            </a:r>
          </a:p>
          <a:p>
            <a:pPr lvl="2"/>
            <a:r>
              <a:rPr lang="en-US" altLang="zh-TW" dirty="0" smtClean="0"/>
              <a:t>A greedy core may hold a lot of shared cache to hurt performance of other cores.</a:t>
            </a:r>
          </a:p>
          <a:p>
            <a:pPr lvl="1"/>
            <a:r>
              <a:rPr lang="en-US" altLang="zh-TW" dirty="0" smtClean="0"/>
              <a:t>All CPUs of CMPs are so closely connected, shared component failures may bring down multiple CPUs at once.</a:t>
            </a:r>
          </a:p>
          <a:p>
            <a:pPr lvl="2"/>
            <a:r>
              <a:rPr lang="en-US" altLang="zh-TW" dirty="0" smtClean="0"/>
              <a:t>It is unlikely to happen in a normal MPs.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742245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32656"/>
            <a:ext cx="7772400" cy="940966"/>
          </a:xfrm>
        </p:spPr>
        <p:txBody>
          <a:bodyPr/>
          <a:lstStyle/>
          <a:p>
            <a:pPr algn="ctr"/>
            <a:r>
              <a:rPr lang="en-US" altLang="zh-TW" dirty="0"/>
              <a:t>Multiprocessor Operating </a:t>
            </a:r>
            <a:r>
              <a:rPr lang="en-US" altLang="zh-TW" dirty="0" smtClean="0"/>
              <a:t>Systems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14400" y="1447800"/>
            <a:ext cx="7772400" cy="5077544"/>
          </a:xfrm>
        </p:spPr>
        <p:txBody>
          <a:bodyPr/>
          <a:lstStyle/>
          <a:p>
            <a:r>
              <a:rPr lang="en-US" altLang="zh-TW" dirty="0" smtClean="0"/>
              <a:t>There are 3 basic approaches for MP operating systems</a:t>
            </a:r>
          </a:p>
          <a:p>
            <a:pPr lvl="1"/>
            <a:r>
              <a:rPr lang="en-US" altLang="zh-TW" dirty="0"/>
              <a:t>Each CPU Has Its Own Operating </a:t>
            </a:r>
            <a:r>
              <a:rPr lang="en-US" altLang="zh-TW" dirty="0" smtClean="0"/>
              <a:t>System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/>
              <a:t>Master-Slave </a:t>
            </a:r>
            <a:r>
              <a:rPr lang="en-US" altLang="zh-TW" dirty="0" smtClean="0"/>
              <a:t>Multiprocessors (</a:t>
            </a:r>
            <a:r>
              <a:rPr lang="en-US" altLang="zh-TW" dirty="0" smtClean="0">
                <a:solidFill>
                  <a:srgbClr val="FF0000"/>
                </a:solidFill>
              </a:rPr>
              <a:t>MS-MP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/>
              <a:t>Symmetric </a:t>
            </a:r>
            <a:r>
              <a:rPr lang="en-US" altLang="zh-TW" dirty="0" smtClean="0"/>
              <a:t>Multiprocessors (</a:t>
            </a:r>
            <a:r>
              <a:rPr lang="en-US" altLang="zh-TW" dirty="0" smtClean="0">
                <a:solidFill>
                  <a:srgbClr val="FF0000"/>
                </a:solidFill>
              </a:rPr>
              <a:t>SMP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13" y="2404649"/>
            <a:ext cx="6910374" cy="2032463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395536" y="4460919"/>
            <a:ext cx="84969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Figure </a:t>
            </a:r>
            <a:r>
              <a:rPr lang="en-US" altLang="zh-TW" dirty="0" smtClean="0"/>
              <a:t>8-7. </a:t>
            </a:r>
            <a:r>
              <a:rPr lang="en-US" altLang="zh-TW" dirty="0"/>
              <a:t>of </a:t>
            </a:r>
            <a:r>
              <a:rPr lang="en-US" altLang="zh-TW" dirty="0" err="1"/>
              <a:t>Tanenbaum</a:t>
            </a:r>
            <a:r>
              <a:rPr lang="en-US" altLang="zh-TW" dirty="0"/>
              <a:t> &amp; </a:t>
            </a:r>
            <a:r>
              <a:rPr lang="en-US" altLang="zh-TW" dirty="0" err="1"/>
              <a:t>Bos</a:t>
            </a:r>
            <a:r>
              <a:rPr lang="en-US" altLang="zh-TW" dirty="0"/>
              <a:t>, Modern  Operating Systems: 4th ed. </a:t>
            </a:r>
            <a:endParaRPr lang="en-US" altLang="zh-TW" dirty="0" smtClean="0"/>
          </a:p>
          <a:p>
            <a:pPr marL="342900" indent="-342900">
              <a:buAutoNum type="arabicPeriod"/>
            </a:pPr>
            <a:r>
              <a:rPr lang="en-US" altLang="zh-TW" dirty="0" smtClean="0"/>
              <a:t>Partitioning </a:t>
            </a:r>
            <a:r>
              <a:rPr lang="en-US" altLang="zh-TW" dirty="0"/>
              <a:t>multiprocessor memory among four CPUs, but sharing a single copy of the operating system code. </a:t>
            </a:r>
            <a:endParaRPr lang="en-US" altLang="zh-TW" dirty="0" smtClean="0"/>
          </a:p>
          <a:p>
            <a:pPr marL="342900" indent="-342900">
              <a:buAutoNum type="arabicPeriod"/>
            </a:pPr>
            <a:r>
              <a:rPr lang="en-US" altLang="zh-TW" dirty="0" smtClean="0"/>
              <a:t>The </a:t>
            </a:r>
            <a:r>
              <a:rPr lang="en-US" altLang="zh-TW" dirty="0"/>
              <a:t>boxes marked Data are the operating system’s private data for each CPU.</a:t>
            </a:r>
          </a:p>
        </p:txBody>
      </p:sp>
    </p:spTree>
    <p:extLst>
      <p:ext uri="{BB962C8B-B14F-4D97-AF65-F5344CB8AC3E}">
        <p14:creationId xmlns:p14="http://schemas.microsoft.com/office/powerpoint/2010/main" val="33030282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9552" y="471810"/>
            <a:ext cx="8136904" cy="796950"/>
          </a:xfrm>
        </p:spPr>
        <p:txBody>
          <a:bodyPr/>
          <a:lstStyle/>
          <a:p>
            <a:pPr lvl="1" algn="ctr"/>
            <a:r>
              <a:rPr lang="en-US" altLang="zh-TW" dirty="0"/>
              <a:t>Each CPU Has Its Own </a:t>
            </a:r>
            <a:r>
              <a:rPr lang="en-US" altLang="zh-TW" dirty="0" smtClean="0"/>
              <a:t>OS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447800"/>
            <a:ext cx="8640960" cy="5077544"/>
          </a:xfrm>
        </p:spPr>
        <p:txBody>
          <a:bodyPr/>
          <a:lstStyle/>
          <a:p>
            <a:r>
              <a:rPr lang="en-US" altLang="zh-TW" dirty="0" smtClean="0"/>
              <a:t>There are the following interesting properties.</a:t>
            </a:r>
          </a:p>
          <a:p>
            <a:pPr lvl="1"/>
            <a:r>
              <a:rPr lang="en-US" altLang="zh-TW" dirty="0" smtClean="0"/>
              <a:t>A system call can only be </a:t>
            </a:r>
            <a:r>
              <a:rPr lang="en-US" altLang="zh-TW" dirty="0"/>
              <a:t>caught and handled </a:t>
            </a:r>
            <a:r>
              <a:rPr lang="en-US" altLang="zh-TW" dirty="0" smtClean="0"/>
              <a:t>by the same </a:t>
            </a:r>
            <a:r>
              <a:rPr lang="en-US" altLang="zh-TW" dirty="0"/>
              <a:t>CPU </a:t>
            </a:r>
            <a:r>
              <a:rPr lang="en-US" altLang="zh-TW" dirty="0" smtClean="0"/>
              <a:t>of which </a:t>
            </a:r>
            <a:r>
              <a:rPr lang="en-US" altLang="zh-TW" dirty="0"/>
              <a:t>the process </a:t>
            </a:r>
            <a:r>
              <a:rPr lang="en-US" altLang="zh-TW" dirty="0" smtClean="0"/>
              <a:t>is running. </a:t>
            </a:r>
          </a:p>
          <a:p>
            <a:pPr lvl="1"/>
            <a:r>
              <a:rPr lang="en-US" altLang="zh-TW" dirty="0" smtClean="0"/>
              <a:t>Each OS has </a:t>
            </a:r>
            <a:r>
              <a:rPr lang="en-US" altLang="zh-TW" dirty="0"/>
              <a:t>its own </a:t>
            </a:r>
            <a:r>
              <a:rPr lang="en-US" altLang="zh-TW" dirty="0" smtClean="0"/>
              <a:t>tables and </a:t>
            </a:r>
            <a:r>
              <a:rPr lang="en-US" altLang="zh-TW" dirty="0"/>
              <a:t>own set of </a:t>
            </a:r>
            <a:r>
              <a:rPr lang="en-US" altLang="zh-TW" dirty="0" smtClean="0"/>
              <a:t>processes. </a:t>
            </a:r>
          </a:p>
          <a:p>
            <a:pPr lvl="2"/>
            <a:r>
              <a:rPr lang="en-US" altLang="zh-TW" dirty="0" smtClean="0"/>
              <a:t>There </a:t>
            </a:r>
            <a:r>
              <a:rPr lang="en-US" altLang="zh-TW" dirty="0"/>
              <a:t>is no sharing of processes. 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Unbalanced workload can happened</a:t>
            </a:r>
          </a:p>
          <a:p>
            <a:pPr lvl="3"/>
            <a:r>
              <a:rPr lang="en-US" altLang="zh-TW" dirty="0"/>
              <a:t>A</a:t>
            </a:r>
            <a:r>
              <a:rPr lang="en-US" altLang="zh-TW" dirty="0" smtClean="0"/>
              <a:t> </a:t>
            </a:r>
            <a:r>
              <a:rPr lang="en-US" altLang="zh-TW" dirty="0" smtClean="0"/>
              <a:t>CPU is </a:t>
            </a:r>
            <a:r>
              <a:rPr lang="en-US" altLang="zh-TW" dirty="0"/>
              <a:t>idle while </a:t>
            </a:r>
            <a:r>
              <a:rPr lang="en-US" altLang="zh-TW" dirty="0" smtClean="0"/>
              <a:t>another CPU is heavily loaded.</a:t>
            </a:r>
          </a:p>
          <a:p>
            <a:pPr lvl="1"/>
            <a:r>
              <a:rPr lang="en-US" altLang="zh-TW" dirty="0" smtClean="0"/>
              <a:t>There </a:t>
            </a:r>
            <a:r>
              <a:rPr lang="en-US" altLang="zh-TW" dirty="0"/>
              <a:t>is no sharing of pages. </a:t>
            </a:r>
            <a:endParaRPr lang="en-US" altLang="zh-TW" dirty="0" smtClean="0"/>
          </a:p>
          <a:p>
            <a:pPr lvl="2"/>
            <a:r>
              <a:rPr lang="en-US" altLang="zh-TW" dirty="0"/>
              <a:t>A</a:t>
            </a:r>
            <a:r>
              <a:rPr lang="en-US" altLang="zh-TW" dirty="0" smtClean="0"/>
              <a:t> </a:t>
            </a:r>
            <a:r>
              <a:rPr lang="en-US" altLang="zh-TW" dirty="0" smtClean="0"/>
              <a:t>CPU has </a:t>
            </a:r>
            <a:r>
              <a:rPr lang="en-US" altLang="zh-TW" dirty="0"/>
              <a:t>pages to spare while </a:t>
            </a:r>
            <a:r>
              <a:rPr lang="en-US" altLang="zh-TW" dirty="0" smtClean="0"/>
              <a:t>another CPU is </a:t>
            </a:r>
            <a:r>
              <a:rPr lang="en-US" altLang="zh-TW" dirty="0"/>
              <a:t>paging </a:t>
            </a:r>
            <a:r>
              <a:rPr lang="en-US" altLang="zh-TW" dirty="0" smtClean="0"/>
              <a:t>continuously.</a:t>
            </a:r>
          </a:p>
          <a:p>
            <a:pPr lvl="1"/>
            <a:r>
              <a:rPr lang="en-US" altLang="zh-TW" dirty="0" smtClean="0"/>
              <a:t>There is no sharing of I/O buffer cache for disk blocks.</a:t>
            </a:r>
          </a:p>
          <a:p>
            <a:pPr lvl="2"/>
            <a:r>
              <a:rPr lang="en-US" altLang="zh-TW" dirty="0" smtClean="0"/>
              <a:t>It can </a:t>
            </a:r>
            <a:r>
              <a:rPr lang="en-US" altLang="zh-TW" dirty="0"/>
              <a:t>happen that a </a:t>
            </a:r>
            <a:r>
              <a:rPr lang="en-US" altLang="zh-TW" dirty="0" smtClean="0"/>
              <a:t>disk </a:t>
            </a:r>
            <a:r>
              <a:rPr lang="en-US" altLang="zh-TW" dirty="0"/>
              <a:t>block is present and dirty in multiple buffer caches at the same </a:t>
            </a:r>
            <a:r>
              <a:rPr lang="en-US" altLang="zh-TW" dirty="0" smtClean="0"/>
              <a:t>time. This may lead to </a:t>
            </a:r>
            <a:r>
              <a:rPr lang="en-US" altLang="zh-TW" dirty="0"/>
              <a:t>inconsistent results. 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Some coherence protocols are needed for buffer </a:t>
            </a:r>
            <a:r>
              <a:rPr lang="en-US" altLang="zh-TW" dirty="0" smtClean="0"/>
              <a:t>caches.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29005007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1520" y="404664"/>
            <a:ext cx="8640960" cy="792088"/>
          </a:xfrm>
        </p:spPr>
        <p:txBody>
          <a:bodyPr/>
          <a:lstStyle/>
          <a:p>
            <a:pPr lvl="1" algn="ctr"/>
            <a:r>
              <a:rPr lang="en-US" altLang="zh-TW" dirty="0"/>
              <a:t>Master-Slave </a:t>
            </a:r>
            <a:r>
              <a:rPr lang="en-US" altLang="zh-TW" dirty="0" smtClean="0"/>
              <a:t>MP (</a:t>
            </a:r>
            <a:r>
              <a:rPr lang="en-US" altLang="zh-TW" dirty="0" smtClean="0">
                <a:solidFill>
                  <a:srgbClr val="FF0000"/>
                </a:solidFill>
              </a:rPr>
              <a:t>MS-MP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447800"/>
            <a:ext cx="8892480" cy="1837184"/>
          </a:xfrm>
        </p:spPr>
        <p:txBody>
          <a:bodyPr/>
          <a:lstStyle/>
          <a:p>
            <a:r>
              <a:rPr lang="en-US" altLang="zh-TW" dirty="0" smtClean="0"/>
              <a:t>It is an </a:t>
            </a:r>
            <a:r>
              <a:rPr lang="en-US" altLang="zh-TW" dirty="0"/>
              <a:t>asymmetric multiprocessing </a:t>
            </a:r>
            <a:r>
              <a:rPr lang="en-US" altLang="zh-TW" dirty="0" smtClean="0"/>
              <a:t>model</a:t>
            </a:r>
          </a:p>
          <a:p>
            <a:pPr lvl="1"/>
            <a:r>
              <a:rPr lang="en-US" altLang="zh-TW" dirty="0" smtClean="0"/>
              <a:t>A master CPU is running the OS and manage all system data structures.</a:t>
            </a:r>
          </a:p>
          <a:p>
            <a:pPr lvl="1"/>
            <a:r>
              <a:rPr lang="en-US" altLang="zh-TW" dirty="0"/>
              <a:t>All system calls are handled by the master processor.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Other slave CPUs are running user processes only. 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61" y="3573016"/>
            <a:ext cx="7643263" cy="2248019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899592" y="6093296"/>
            <a:ext cx="756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Figure </a:t>
            </a:r>
            <a:r>
              <a:rPr lang="en-US" altLang="zh-TW" dirty="0" smtClean="0"/>
              <a:t>8-8. </a:t>
            </a:r>
            <a:r>
              <a:rPr lang="en-US" altLang="zh-TW" dirty="0"/>
              <a:t>of </a:t>
            </a:r>
            <a:r>
              <a:rPr lang="en-US" altLang="zh-TW" dirty="0" err="1"/>
              <a:t>Tanenbaum</a:t>
            </a:r>
            <a:r>
              <a:rPr lang="en-US" altLang="zh-TW" dirty="0"/>
              <a:t> &amp; </a:t>
            </a:r>
            <a:r>
              <a:rPr lang="en-US" altLang="zh-TW" dirty="0" err="1"/>
              <a:t>Bos</a:t>
            </a:r>
            <a:r>
              <a:rPr lang="en-US" altLang="zh-TW" dirty="0"/>
              <a:t>, Modern  Operating Systems: 4th ed. 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22355634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The MS-MP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519808"/>
            <a:ext cx="4392488" cy="4717504"/>
          </a:xfrm>
        </p:spPr>
        <p:txBody>
          <a:bodyPr/>
          <a:lstStyle/>
          <a:p>
            <a:r>
              <a:rPr lang="en-US" altLang="zh-TW" dirty="0" smtClean="0"/>
              <a:t>Advantages:</a:t>
            </a:r>
          </a:p>
          <a:p>
            <a:pPr lvl="1"/>
            <a:r>
              <a:rPr lang="en-US" altLang="zh-TW" dirty="0" smtClean="0"/>
              <a:t>Single OS copy makes it simple</a:t>
            </a:r>
          </a:p>
          <a:p>
            <a:pPr lvl="1"/>
            <a:r>
              <a:rPr lang="en-US" altLang="zh-TW" dirty="0" smtClean="0"/>
              <a:t>No unbalanced workload</a:t>
            </a:r>
          </a:p>
          <a:p>
            <a:r>
              <a:rPr lang="en-US" altLang="zh-TW" dirty="0" smtClean="0"/>
              <a:t>Disadvantages: </a:t>
            </a:r>
          </a:p>
          <a:p>
            <a:pPr lvl="1"/>
            <a:r>
              <a:rPr lang="en-US" altLang="zh-TW" dirty="0" smtClean="0"/>
              <a:t>Failure </a:t>
            </a:r>
            <a:r>
              <a:rPr lang="en-US" altLang="zh-TW" dirty="0"/>
              <a:t>of master </a:t>
            </a:r>
            <a:r>
              <a:rPr lang="en-US" altLang="zh-TW" dirty="0" smtClean="0"/>
              <a:t>CPU brings </a:t>
            </a:r>
            <a:r>
              <a:rPr lang="en-US" altLang="zh-TW" dirty="0"/>
              <a:t>down </a:t>
            </a:r>
            <a:r>
              <a:rPr lang="en-US" altLang="zh-TW" dirty="0" smtClean="0"/>
              <a:t>the whole system</a:t>
            </a:r>
            <a:endParaRPr lang="en-US" altLang="zh-TW" dirty="0"/>
          </a:p>
          <a:p>
            <a:pPr lvl="1"/>
            <a:r>
              <a:rPr lang="en-US" altLang="zh-TW" dirty="0"/>
              <a:t>Master can become a performance </a:t>
            </a:r>
            <a:r>
              <a:rPr lang="en-US" altLang="zh-TW" dirty="0" smtClean="0"/>
              <a:t>bottleneck</a:t>
            </a:r>
          </a:p>
          <a:p>
            <a:pPr lvl="1"/>
            <a:r>
              <a:rPr lang="en-US" altLang="zh-TW" dirty="0" smtClean="0"/>
              <a:t>It works only for </a:t>
            </a:r>
            <a:r>
              <a:rPr lang="en-US" altLang="zh-TW" dirty="0"/>
              <a:t>small </a:t>
            </a:r>
            <a:r>
              <a:rPr lang="en-US" altLang="zh-TW" dirty="0" smtClean="0"/>
              <a:t>MPs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355976" y="3212976"/>
            <a:ext cx="936104" cy="1440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Main Memory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8172400" y="3266492"/>
            <a:ext cx="792088" cy="13146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I/O Device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724128" y="3607938"/>
            <a:ext cx="1872208" cy="6480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</a:rPr>
              <a:t>Master CPU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012160" y="2348880"/>
            <a:ext cx="1800200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Slave CPU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084168" y="5013176"/>
            <a:ext cx="1800200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Slave CPU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" name="直線單箭頭接點 13"/>
          <p:cNvCxnSpPr>
            <a:stCxn id="12" idx="2"/>
            <a:endCxn id="10" idx="0"/>
          </p:cNvCxnSpPr>
          <p:nvPr/>
        </p:nvCxnSpPr>
        <p:spPr>
          <a:xfrm flipH="1">
            <a:off x="6660232" y="2852936"/>
            <a:ext cx="252028" cy="755002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stCxn id="9" idx="1"/>
          </p:cNvCxnSpPr>
          <p:nvPr/>
        </p:nvCxnSpPr>
        <p:spPr>
          <a:xfrm flipH="1">
            <a:off x="7596336" y="3923810"/>
            <a:ext cx="576064" cy="9246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10" idx="2"/>
          </p:cNvCxnSpPr>
          <p:nvPr/>
        </p:nvCxnSpPr>
        <p:spPr>
          <a:xfrm>
            <a:off x="6660232" y="4256010"/>
            <a:ext cx="457200" cy="757166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10" idx="1"/>
          </p:cNvCxnSpPr>
          <p:nvPr/>
        </p:nvCxnSpPr>
        <p:spPr>
          <a:xfrm flipH="1">
            <a:off x="5292080" y="3931974"/>
            <a:ext cx="432048" cy="82336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12" idx="1"/>
          </p:cNvCxnSpPr>
          <p:nvPr/>
        </p:nvCxnSpPr>
        <p:spPr>
          <a:xfrm flipH="1">
            <a:off x="5292080" y="2600908"/>
            <a:ext cx="720080" cy="612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13" idx="1"/>
          </p:cNvCxnSpPr>
          <p:nvPr/>
        </p:nvCxnSpPr>
        <p:spPr>
          <a:xfrm flipH="1" flipV="1">
            <a:off x="5292080" y="4653136"/>
            <a:ext cx="792088" cy="612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27505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560" y="260648"/>
            <a:ext cx="8075240" cy="1070992"/>
          </a:xfrm>
        </p:spPr>
        <p:txBody>
          <a:bodyPr/>
          <a:lstStyle/>
          <a:p>
            <a:pPr algn="ctr"/>
            <a:r>
              <a:rPr lang="en-US" altLang="zh-TW" dirty="0"/>
              <a:t>Symmetric </a:t>
            </a:r>
            <a:r>
              <a:rPr lang="en-US" altLang="zh-TW" dirty="0" smtClean="0"/>
              <a:t>Multiprocessors (</a:t>
            </a:r>
            <a:r>
              <a:rPr lang="en-US" altLang="zh-TW" dirty="0" smtClean="0">
                <a:solidFill>
                  <a:srgbClr val="FF0000"/>
                </a:solidFill>
              </a:rPr>
              <a:t>SMP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340768"/>
            <a:ext cx="8928992" cy="2475477"/>
          </a:xfrm>
        </p:spPr>
        <p:txBody>
          <a:bodyPr/>
          <a:lstStyle/>
          <a:p>
            <a:r>
              <a:rPr lang="en-US" altLang="zh-TW" dirty="0" smtClean="0"/>
              <a:t>Only one OS copy is in the memory but all CPUs can execute the OS functions.</a:t>
            </a:r>
          </a:p>
          <a:p>
            <a:pPr lvl="1"/>
            <a:r>
              <a:rPr lang="en-US" altLang="zh-TW" dirty="0" smtClean="0"/>
              <a:t>A system call is caught and handled by the CPU which made it.</a:t>
            </a:r>
          </a:p>
          <a:p>
            <a:pPr lvl="1"/>
            <a:r>
              <a:rPr lang="en-US" altLang="zh-TW" dirty="0" smtClean="0"/>
              <a:t>Each OS data structure must be associated to a lock.</a:t>
            </a:r>
          </a:p>
          <a:p>
            <a:pPr lvl="1"/>
            <a:r>
              <a:rPr lang="en-US" altLang="zh-TW" dirty="0" smtClean="0"/>
              <a:t>OS functions can be split into independent critical regions (CR).</a:t>
            </a:r>
          </a:p>
          <a:p>
            <a:pPr lvl="2"/>
            <a:r>
              <a:rPr lang="en-US" altLang="zh-TW" dirty="0" smtClean="0"/>
              <a:t>Each CR is also associated to a lock.</a:t>
            </a:r>
          </a:p>
          <a:p>
            <a:pPr lvl="1"/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820" y="3861048"/>
            <a:ext cx="7096359" cy="2530059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1043608" y="6444044"/>
            <a:ext cx="756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Figure </a:t>
            </a:r>
            <a:r>
              <a:rPr lang="en-US" altLang="zh-TW" dirty="0" smtClean="0"/>
              <a:t>8-9. </a:t>
            </a:r>
            <a:r>
              <a:rPr lang="en-US" altLang="zh-TW" dirty="0"/>
              <a:t>of </a:t>
            </a:r>
            <a:r>
              <a:rPr lang="en-US" altLang="zh-TW" dirty="0" err="1"/>
              <a:t>Tanenbaum</a:t>
            </a:r>
            <a:r>
              <a:rPr lang="en-US" altLang="zh-TW" dirty="0"/>
              <a:t> &amp; </a:t>
            </a:r>
            <a:r>
              <a:rPr lang="en-US" altLang="zh-TW" dirty="0" err="1"/>
              <a:t>Bos</a:t>
            </a:r>
            <a:r>
              <a:rPr lang="en-US" altLang="zh-TW" dirty="0"/>
              <a:t>, Modern  Operating Systems: 4th ed. 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7206009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41784"/>
            <a:ext cx="7772400" cy="926976"/>
          </a:xfrm>
        </p:spPr>
        <p:txBody>
          <a:bodyPr/>
          <a:lstStyle/>
          <a:p>
            <a:pPr algn="ctr"/>
            <a:r>
              <a:rPr lang="en-US" altLang="zh-TW" dirty="0" smtClean="0"/>
              <a:t>The SMP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856984" cy="3493368"/>
          </a:xfrm>
        </p:spPr>
        <p:txBody>
          <a:bodyPr/>
          <a:lstStyle/>
          <a:p>
            <a:r>
              <a:rPr lang="en-US" altLang="zh-TW" dirty="0" smtClean="0"/>
              <a:t>Most modern MPs use the SMP model.</a:t>
            </a:r>
          </a:p>
          <a:p>
            <a:r>
              <a:rPr lang="en-US" altLang="zh-TW" dirty="0" smtClean="0"/>
              <a:t>There are following difficulties for the SMP model.</a:t>
            </a:r>
          </a:p>
          <a:p>
            <a:pPr lvl="1"/>
            <a:r>
              <a:rPr lang="en-US" altLang="zh-TW" dirty="0" smtClean="0"/>
              <a:t>Special care must be taken for splitting OS functions into independent CRs such that each CR can be executed by different CPUs simultaneously.</a:t>
            </a:r>
          </a:p>
          <a:p>
            <a:pPr lvl="1"/>
            <a:r>
              <a:rPr lang="en-US" altLang="zh-TW" dirty="0" smtClean="0"/>
              <a:t>Deadlocks must be handled with care for OS DSs that may be accessed by more than one CRs.</a:t>
            </a:r>
          </a:p>
          <a:p>
            <a:pPr lvl="2"/>
            <a:r>
              <a:rPr lang="en-US" altLang="zh-TW" dirty="0" smtClean="0"/>
              <a:t>Accessing OS DSs must follow a predefined order to prevent deadlock.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765407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404664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Multi-Processor Synchronization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1519808"/>
            <a:ext cx="8568952" cy="3205336"/>
          </a:xfrm>
        </p:spPr>
        <p:txBody>
          <a:bodyPr/>
          <a:lstStyle/>
          <a:p>
            <a:r>
              <a:rPr lang="en-US" altLang="zh-TW" dirty="0" smtClean="0"/>
              <a:t>Since interrupt disabling can not preserve mutual exclusion access to shared DS in MP system, other HW mechanisms must be used to implement </a:t>
            </a:r>
            <a:r>
              <a:rPr lang="en-US" altLang="zh-TW" dirty="0" err="1" smtClean="0">
                <a:solidFill>
                  <a:srgbClr val="FF0000"/>
                </a:solidFill>
              </a:rPr>
              <a:t>mutex</a:t>
            </a:r>
            <a:r>
              <a:rPr lang="en-US" altLang="zh-TW" dirty="0" smtClean="0">
                <a:solidFill>
                  <a:srgbClr val="FF0000"/>
                </a:solidFill>
              </a:rPr>
              <a:t> locks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Test-and-Set-Lock (TSL) instruction</a:t>
            </a:r>
          </a:p>
          <a:p>
            <a:pPr lvl="1"/>
            <a:r>
              <a:rPr lang="en-US" altLang="zh-TW" dirty="0" smtClean="0"/>
              <a:t>Compare-and-Exchange instruction</a:t>
            </a:r>
          </a:p>
          <a:p>
            <a:pPr lvl="1"/>
            <a:r>
              <a:rPr lang="en-US" altLang="zh-TW" dirty="0"/>
              <a:t>Atomic </a:t>
            </a:r>
            <a:r>
              <a:rPr lang="en-US" altLang="zh-TW" dirty="0" smtClean="0"/>
              <a:t>Add/Subtract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5583349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260648"/>
            <a:ext cx="7772400" cy="1012974"/>
          </a:xfrm>
        </p:spPr>
        <p:txBody>
          <a:bodyPr/>
          <a:lstStyle/>
          <a:p>
            <a:pPr algn="ctr"/>
            <a:r>
              <a:rPr lang="en-US" altLang="zh-TW" dirty="0" smtClean="0"/>
              <a:t>TSL on SMP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340768"/>
            <a:ext cx="8712968" cy="2629272"/>
          </a:xfrm>
        </p:spPr>
        <p:txBody>
          <a:bodyPr/>
          <a:lstStyle/>
          <a:p>
            <a:r>
              <a:rPr lang="en-US" altLang="zh-TW" dirty="0"/>
              <a:t>Hardware guarantees that the </a:t>
            </a:r>
            <a:r>
              <a:rPr lang="en-US" altLang="zh-TW" dirty="0" smtClean="0"/>
              <a:t>TSL </a:t>
            </a:r>
            <a:r>
              <a:rPr lang="en-US" altLang="zh-TW" dirty="0"/>
              <a:t>executes </a:t>
            </a:r>
            <a:r>
              <a:rPr lang="en-US" altLang="zh-TW" dirty="0" smtClean="0"/>
              <a:t>atomically.</a:t>
            </a:r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instruction can not stop half way </a:t>
            </a:r>
            <a:r>
              <a:rPr lang="en-US" altLang="zh-TW" dirty="0" smtClean="0"/>
              <a:t>through.</a:t>
            </a:r>
          </a:p>
          <a:p>
            <a:pPr lvl="1"/>
            <a:r>
              <a:rPr lang="en-US" altLang="zh-TW" dirty="0" smtClean="0"/>
              <a:t>It is only work in uniprocessor.</a:t>
            </a:r>
          </a:p>
          <a:p>
            <a:r>
              <a:rPr lang="en-US" altLang="zh-TW" dirty="0"/>
              <a:t>It does not work </a:t>
            </a:r>
            <a:r>
              <a:rPr lang="en-US" altLang="zh-TW" dirty="0" smtClean="0"/>
              <a:t>in SMP without some extra HW support.</a:t>
            </a:r>
          </a:p>
          <a:p>
            <a:pPr lvl="1"/>
            <a:r>
              <a:rPr lang="en-US" altLang="zh-TW" dirty="0"/>
              <a:t>Hardware locks the bus during the TSL instruction to prevent memory accesses by </a:t>
            </a:r>
            <a:r>
              <a:rPr lang="en-US" altLang="zh-TW" dirty="0" smtClean="0"/>
              <a:t>other CPUs.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3970040"/>
            <a:ext cx="6527864" cy="2358232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1115616" y="6372036"/>
            <a:ext cx="756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Figure </a:t>
            </a:r>
            <a:r>
              <a:rPr lang="en-US" altLang="zh-TW" dirty="0" smtClean="0"/>
              <a:t>8-10. </a:t>
            </a:r>
            <a:r>
              <a:rPr lang="en-US" altLang="zh-TW" dirty="0"/>
              <a:t>of </a:t>
            </a:r>
            <a:r>
              <a:rPr lang="en-US" altLang="zh-TW" dirty="0" err="1"/>
              <a:t>Tanenbaum</a:t>
            </a:r>
            <a:r>
              <a:rPr lang="en-US" altLang="zh-TW" dirty="0"/>
              <a:t> &amp; </a:t>
            </a:r>
            <a:r>
              <a:rPr lang="en-US" altLang="zh-TW" dirty="0" err="1"/>
              <a:t>Bos</a:t>
            </a:r>
            <a:r>
              <a:rPr lang="en-US" altLang="zh-TW" dirty="0"/>
              <a:t>, Modern  Operating Systems: 4th ed. 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4290277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260648"/>
            <a:ext cx="7772400" cy="1012974"/>
          </a:xfrm>
        </p:spPr>
        <p:txBody>
          <a:bodyPr/>
          <a:lstStyle/>
          <a:p>
            <a:pPr algn="ctr"/>
            <a:r>
              <a:rPr lang="en-US" altLang="zh-TW" dirty="0" smtClean="0"/>
              <a:t>TSL is a Spinlock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1447800"/>
            <a:ext cx="8496944" cy="3565376"/>
          </a:xfrm>
        </p:spPr>
        <p:txBody>
          <a:bodyPr/>
          <a:lstStyle/>
          <a:p>
            <a:r>
              <a:rPr lang="en-US" altLang="zh-TW" dirty="0" smtClean="0"/>
              <a:t>TSL </a:t>
            </a:r>
            <a:r>
              <a:rPr lang="en-US" altLang="zh-TW" dirty="0"/>
              <a:t>is a </a:t>
            </a:r>
            <a:r>
              <a:rPr lang="en-US" altLang="zh-TW" dirty="0" smtClean="0"/>
              <a:t>busy-waiting synchronization primitive.</a:t>
            </a:r>
          </a:p>
          <a:p>
            <a:pPr lvl="1"/>
            <a:r>
              <a:rPr lang="en-US" altLang="zh-TW" dirty="0" smtClean="0"/>
              <a:t> It is also called </a:t>
            </a:r>
            <a:r>
              <a:rPr lang="en-US" altLang="zh-TW" dirty="0"/>
              <a:t>a </a:t>
            </a:r>
            <a:r>
              <a:rPr lang="en-US" altLang="zh-TW" dirty="0" smtClean="0">
                <a:solidFill>
                  <a:srgbClr val="FF0000"/>
                </a:solidFill>
              </a:rPr>
              <a:t>spinlock.</a:t>
            </a:r>
          </a:p>
          <a:p>
            <a:r>
              <a:rPr lang="en-US" altLang="zh-TW" dirty="0" smtClean="0"/>
              <a:t>Issues of spinlock on SMP:</a:t>
            </a:r>
          </a:p>
          <a:p>
            <a:pPr lvl="1"/>
            <a:r>
              <a:rPr lang="en-US" altLang="zh-TW" dirty="0" smtClean="0"/>
              <a:t>Lock </a:t>
            </a:r>
            <a:r>
              <a:rPr lang="en-US" altLang="zh-TW" dirty="0"/>
              <a:t>contention leads to spinning on the </a:t>
            </a:r>
            <a:r>
              <a:rPr lang="en-US" altLang="zh-TW" dirty="0" smtClean="0"/>
              <a:t>lock.</a:t>
            </a:r>
          </a:p>
          <a:p>
            <a:pPr lvl="1"/>
            <a:r>
              <a:rPr lang="en-US" altLang="zh-TW" dirty="0" smtClean="0"/>
              <a:t>Spinning </a:t>
            </a:r>
            <a:r>
              <a:rPr lang="en-US" altLang="zh-TW" dirty="0"/>
              <a:t>on a lock </a:t>
            </a:r>
            <a:r>
              <a:rPr lang="en-US" altLang="zh-TW" dirty="0" smtClean="0"/>
              <a:t>needs to lock the bus.</a:t>
            </a:r>
          </a:p>
          <a:p>
            <a:pPr lvl="2"/>
            <a:r>
              <a:rPr lang="en-US" altLang="zh-TW" dirty="0" smtClean="0"/>
              <a:t>This action </a:t>
            </a:r>
            <a:r>
              <a:rPr lang="en-US" altLang="zh-TW" dirty="0"/>
              <a:t>causes bus </a:t>
            </a:r>
            <a:r>
              <a:rPr lang="en-US" altLang="zh-TW" dirty="0" smtClean="0"/>
              <a:t>contention.</a:t>
            </a:r>
          </a:p>
          <a:p>
            <a:pPr lvl="2"/>
            <a:r>
              <a:rPr lang="en-US" altLang="zh-TW" dirty="0" smtClean="0"/>
              <a:t>It slows </a:t>
            </a:r>
            <a:r>
              <a:rPr lang="en-US" altLang="zh-TW" dirty="0"/>
              <a:t>all other CPUs </a:t>
            </a:r>
            <a:r>
              <a:rPr lang="en-US" altLang="zh-TW" dirty="0" smtClean="0"/>
              <a:t>down.</a:t>
            </a:r>
          </a:p>
          <a:p>
            <a:pPr lvl="3"/>
            <a:r>
              <a:rPr lang="en-US" altLang="zh-TW" dirty="0" smtClean="0"/>
              <a:t>It is independent </a:t>
            </a:r>
            <a:r>
              <a:rPr lang="en-US" altLang="zh-TW" dirty="0"/>
              <a:t>of whether other CPUs need a lock or </a:t>
            </a:r>
            <a:r>
              <a:rPr lang="en-US" altLang="zh-TW" dirty="0" smtClean="0"/>
              <a:t>not.</a:t>
            </a:r>
          </a:p>
        </p:txBody>
      </p:sp>
    </p:spTree>
    <p:extLst>
      <p:ext uri="{BB962C8B-B14F-4D97-AF65-F5344CB8AC3E}">
        <p14:creationId xmlns:p14="http://schemas.microsoft.com/office/powerpoint/2010/main" val="22438271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TSL + Cache on SMP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12776"/>
            <a:ext cx="8856984" cy="3456384"/>
          </a:xfrm>
        </p:spPr>
        <p:txBody>
          <a:bodyPr/>
          <a:lstStyle/>
          <a:p>
            <a:r>
              <a:rPr lang="en-US" altLang="zh-TW" dirty="0"/>
              <a:t>Caching does not help reduce bus </a:t>
            </a:r>
            <a:r>
              <a:rPr lang="en-US" altLang="zh-TW" dirty="0" smtClean="0"/>
              <a:t>contention.</a:t>
            </a:r>
          </a:p>
          <a:p>
            <a:pPr lvl="1"/>
            <a:r>
              <a:rPr lang="en-US" altLang="zh-TW" dirty="0" smtClean="0"/>
              <a:t>TSL needs to lock </a:t>
            </a:r>
            <a:r>
              <a:rPr lang="en-US" altLang="zh-TW" dirty="0"/>
              <a:t>the </a:t>
            </a:r>
            <a:r>
              <a:rPr lang="en-US" altLang="zh-TW" dirty="0" smtClean="0"/>
              <a:t>bus or require </a:t>
            </a:r>
            <a:r>
              <a:rPr lang="en-US" altLang="zh-TW" dirty="0"/>
              <a:t>exclusive access to </a:t>
            </a:r>
            <a:r>
              <a:rPr lang="en-US" altLang="zh-TW" dirty="0" smtClean="0"/>
              <a:t>the lock</a:t>
            </a:r>
          </a:p>
          <a:p>
            <a:pPr lvl="2"/>
            <a:r>
              <a:rPr lang="en-US" altLang="zh-TW" dirty="0" smtClean="0"/>
              <a:t>The cache line in the cache of the lock holder needs to be invalidated first.</a:t>
            </a:r>
          </a:p>
          <a:p>
            <a:pPr lvl="2"/>
            <a:r>
              <a:rPr lang="en-US" altLang="zh-TW" dirty="0" smtClean="0"/>
              <a:t>Then the cache line can be loaded into the local cache of the TSL requester.</a:t>
            </a:r>
          </a:p>
          <a:p>
            <a:pPr lvl="1"/>
            <a:r>
              <a:rPr lang="en-US" altLang="zh-TW" dirty="0" smtClean="0"/>
              <a:t>Each time the lock holder access a word in the cache line, the entire block must be moved back to the lock holder.</a:t>
            </a:r>
          </a:p>
          <a:p>
            <a:pPr lvl="2"/>
            <a:r>
              <a:rPr lang="en-US" altLang="zh-TW" dirty="0" smtClean="0"/>
              <a:t>Therefore, the cache line containing the lock will be bounced between the lock holder and lock requesters.</a:t>
            </a:r>
          </a:p>
          <a:p>
            <a:pPr lvl="2"/>
            <a:r>
              <a:rPr lang="en-US" altLang="zh-TW" dirty="0" smtClean="0"/>
              <a:t>This generates even more bus traffic than without caching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415" y="4869160"/>
            <a:ext cx="5790897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4154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27794"/>
            <a:ext cx="7772400" cy="1012974"/>
          </a:xfrm>
        </p:spPr>
        <p:txBody>
          <a:bodyPr/>
          <a:lstStyle/>
          <a:p>
            <a:pPr algn="ctr"/>
            <a:r>
              <a:rPr lang="en-US" altLang="zh-TW" dirty="0" smtClean="0"/>
              <a:t>Read before TSL on SMP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375792"/>
            <a:ext cx="8928992" cy="3853408"/>
          </a:xfrm>
        </p:spPr>
        <p:txBody>
          <a:bodyPr/>
          <a:lstStyle/>
          <a:p>
            <a:r>
              <a:rPr lang="en-US" altLang="zh-TW" dirty="0" smtClean="0"/>
              <a:t>One possible way to reduce bus contention is by requesting TSL after checking the status of the lock.</a:t>
            </a:r>
          </a:p>
          <a:p>
            <a:pPr lvl="1"/>
            <a:r>
              <a:rPr lang="en-US" altLang="zh-TW" dirty="0" smtClean="0"/>
              <a:t>Spin </a:t>
            </a:r>
            <a:r>
              <a:rPr lang="en-US" altLang="zh-TW" dirty="0"/>
              <a:t>reading the lock </a:t>
            </a:r>
            <a:r>
              <a:rPr lang="en-US" altLang="zh-TW" dirty="0" smtClean="0"/>
              <a:t>variable until it is unlocked.</a:t>
            </a:r>
          </a:p>
          <a:p>
            <a:pPr lvl="1"/>
            <a:r>
              <a:rPr lang="en-US" altLang="zh-TW" dirty="0" smtClean="0"/>
              <a:t>Then acquire the lock by the TSL.</a:t>
            </a:r>
          </a:p>
          <a:p>
            <a:r>
              <a:rPr lang="en-US" altLang="zh-TW" dirty="0" smtClean="0"/>
              <a:t>The cache line containing the lock is shared (read-only) in </a:t>
            </a:r>
            <a:r>
              <a:rPr lang="en-US" altLang="zh-TW" dirty="0"/>
              <a:t>all caches until </a:t>
            </a:r>
            <a:r>
              <a:rPr lang="en-US" altLang="zh-TW" dirty="0" smtClean="0"/>
              <a:t>the lock is released or the lock holder updates a word of the cache line.</a:t>
            </a:r>
          </a:p>
          <a:p>
            <a:pPr lvl="1"/>
            <a:r>
              <a:rPr lang="en-US" altLang="zh-TW" dirty="0" smtClean="0"/>
              <a:t>No </a:t>
            </a:r>
            <a:r>
              <a:rPr lang="en-US" altLang="zh-TW" dirty="0"/>
              <a:t>bus traffic </a:t>
            </a:r>
            <a:r>
              <a:rPr lang="en-US" altLang="zh-TW" dirty="0" smtClean="0"/>
              <a:t>occurs until lock released or cache line updated.</a:t>
            </a:r>
          </a:p>
          <a:p>
            <a:pPr lvl="1"/>
            <a:r>
              <a:rPr lang="en-US" altLang="zh-TW" dirty="0"/>
              <a:t>No race conditions, </a:t>
            </a:r>
            <a:r>
              <a:rPr lang="en-US" altLang="zh-TW" dirty="0" smtClean="0"/>
              <a:t>since acquisition is </a:t>
            </a:r>
            <a:r>
              <a:rPr lang="en-US" altLang="zh-TW" dirty="0"/>
              <a:t>still with </a:t>
            </a:r>
            <a:r>
              <a:rPr lang="en-US" altLang="zh-TW" dirty="0" smtClean="0"/>
              <a:t>TSL.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2555776" y="5373216"/>
            <a:ext cx="4320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/>
              <a:t>Repeat {</a:t>
            </a:r>
          </a:p>
          <a:p>
            <a:r>
              <a:rPr lang="en-US" altLang="zh-TW" b="1" dirty="0"/>
              <a:t> </a:t>
            </a:r>
            <a:r>
              <a:rPr lang="en-US" altLang="zh-TW" b="1" dirty="0" smtClean="0"/>
              <a:t>      </a:t>
            </a:r>
            <a:r>
              <a:rPr lang="en-US" altLang="zh-TW" b="1" dirty="0" smtClean="0">
                <a:solidFill>
                  <a:srgbClr val="FF0000"/>
                </a:solidFill>
              </a:rPr>
              <a:t>While (lock == 1);</a:t>
            </a:r>
          </a:p>
          <a:p>
            <a:r>
              <a:rPr lang="en-US" altLang="zh-TW" b="1" dirty="0" smtClean="0"/>
              <a:t>       </a:t>
            </a:r>
            <a:r>
              <a:rPr lang="en-US" altLang="zh-TW" b="1" dirty="0" err="1" smtClean="0"/>
              <a:t>tmp</a:t>
            </a:r>
            <a:r>
              <a:rPr lang="en-US" altLang="zh-TW" b="1" dirty="0" smtClean="0"/>
              <a:t> = TSL (lock);</a:t>
            </a:r>
          </a:p>
          <a:p>
            <a:r>
              <a:rPr lang="en-US" altLang="zh-TW" b="1" dirty="0" smtClean="0"/>
              <a:t>} Until (</a:t>
            </a:r>
            <a:r>
              <a:rPr lang="en-US" altLang="zh-TW" b="1" dirty="0" err="1" smtClean="0"/>
              <a:t>tmp</a:t>
            </a:r>
            <a:r>
              <a:rPr lang="en-US" altLang="zh-TW" b="1" dirty="0" smtClean="0"/>
              <a:t> == 0)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42565260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72400" cy="1012974"/>
          </a:xfrm>
        </p:spPr>
        <p:txBody>
          <a:bodyPr/>
          <a:lstStyle/>
          <a:p>
            <a:pPr algn="ctr"/>
            <a:r>
              <a:rPr lang="en-US" altLang="zh-TW" dirty="0" smtClean="0"/>
              <a:t>TSL with backoff on SMP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447800"/>
            <a:ext cx="8640960" cy="4213448"/>
          </a:xfrm>
        </p:spPr>
        <p:txBody>
          <a:bodyPr/>
          <a:lstStyle/>
          <a:p>
            <a:r>
              <a:rPr lang="en-US" altLang="zh-TW" dirty="0" smtClean="0"/>
              <a:t>Another way to reduce bus contention is by inserting backoff intervals between TSL requests.</a:t>
            </a:r>
          </a:p>
          <a:p>
            <a:pPr lvl="1"/>
            <a:r>
              <a:rPr lang="en-US" altLang="zh-TW" dirty="0" smtClean="0"/>
              <a:t>A delay loop is inserted between polls.</a:t>
            </a:r>
          </a:p>
          <a:p>
            <a:pPr lvl="1"/>
            <a:r>
              <a:rPr lang="en-US" altLang="zh-TW" dirty="0" smtClean="0"/>
              <a:t>Initially, the delay loop is one instruction.</a:t>
            </a:r>
          </a:p>
          <a:p>
            <a:pPr lvl="1"/>
            <a:r>
              <a:rPr lang="en-US" altLang="zh-TW" dirty="0" smtClean="0"/>
              <a:t>If the lock is still busy, the loop is doubled to 2 instructions, then 4 instruction, and so on until a maximum.</a:t>
            </a:r>
          </a:p>
          <a:p>
            <a:pPr lvl="2"/>
            <a:r>
              <a:rPr lang="en-US" altLang="zh-TW" dirty="0" smtClean="0"/>
              <a:t>Low maximum gives fast response when lock is released.</a:t>
            </a:r>
          </a:p>
          <a:p>
            <a:pPr lvl="2"/>
            <a:r>
              <a:rPr lang="en-US" altLang="zh-TW" dirty="0" smtClean="0"/>
              <a:t>High maximum reduces the cache thrashing.</a:t>
            </a:r>
          </a:p>
          <a:p>
            <a:r>
              <a:rPr lang="en-US" altLang="zh-TW" dirty="0" smtClean="0"/>
              <a:t>In general, the binary exponential backoff can be used with or without read before TSL.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196285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1520" y="404664"/>
            <a:ext cx="8640960" cy="868958"/>
          </a:xfrm>
        </p:spPr>
        <p:txBody>
          <a:bodyPr/>
          <a:lstStyle/>
          <a:p>
            <a:pPr algn="ctr"/>
            <a:r>
              <a:rPr lang="en-US" altLang="zh-TW" dirty="0"/>
              <a:t>(Mellor-</a:t>
            </a:r>
            <a:r>
              <a:rPr lang="en-US" altLang="zh-TW" dirty="0" err="1"/>
              <a:t>Crummey</a:t>
            </a:r>
            <a:r>
              <a:rPr lang="en-US" altLang="zh-TW" dirty="0"/>
              <a:t> </a:t>
            </a:r>
            <a:r>
              <a:rPr lang="en-US" altLang="zh-TW" dirty="0" smtClean="0"/>
              <a:t>&amp; Scott) </a:t>
            </a:r>
            <a:r>
              <a:rPr lang="en-US" altLang="zh-TW" dirty="0" smtClean="0">
                <a:solidFill>
                  <a:srgbClr val="FF0000"/>
                </a:solidFill>
              </a:rPr>
              <a:t>MCS</a:t>
            </a:r>
            <a:r>
              <a:rPr lang="en-US" altLang="zh-TW" dirty="0" smtClean="0"/>
              <a:t> locking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12776"/>
            <a:ext cx="8856984" cy="2557264"/>
          </a:xfrm>
        </p:spPr>
        <p:txBody>
          <a:bodyPr/>
          <a:lstStyle/>
          <a:p>
            <a:r>
              <a:rPr lang="en-US" altLang="zh-TW" dirty="0"/>
              <a:t>Each CPU enqueues its own private lock variable into a </a:t>
            </a:r>
            <a:r>
              <a:rPr lang="en-US" altLang="zh-TW" dirty="0" smtClean="0"/>
              <a:t>shared queue </a:t>
            </a:r>
            <a:r>
              <a:rPr lang="en-US" altLang="zh-TW" dirty="0"/>
              <a:t>and spins on </a:t>
            </a:r>
            <a:r>
              <a:rPr lang="en-US" altLang="zh-TW" dirty="0" smtClean="0"/>
              <a:t>its private lock.</a:t>
            </a:r>
          </a:p>
          <a:p>
            <a:r>
              <a:rPr lang="en-US" altLang="zh-TW" dirty="0" smtClean="0"/>
              <a:t>On </a:t>
            </a:r>
            <a:r>
              <a:rPr lang="en-US" altLang="zh-TW" dirty="0"/>
              <a:t>lock release, the releaser unlocks the </a:t>
            </a:r>
            <a:r>
              <a:rPr lang="en-US" altLang="zh-TW" dirty="0" smtClean="0"/>
              <a:t>private lock waiting next in </a:t>
            </a:r>
            <a:r>
              <a:rPr lang="en-US" altLang="zh-TW" dirty="0"/>
              <a:t>the </a:t>
            </a:r>
            <a:r>
              <a:rPr lang="en-US" altLang="zh-TW" dirty="0" smtClean="0"/>
              <a:t>shared queue.</a:t>
            </a:r>
          </a:p>
          <a:p>
            <a:pPr lvl="1"/>
            <a:r>
              <a:rPr lang="en-US" altLang="zh-TW" dirty="0" smtClean="0"/>
              <a:t>Bus </a:t>
            </a:r>
            <a:r>
              <a:rPr lang="en-US" altLang="zh-TW" dirty="0"/>
              <a:t>contention </a:t>
            </a:r>
            <a:r>
              <a:rPr lang="en-US" altLang="zh-TW" dirty="0" smtClean="0"/>
              <a:t>only occurs on </a:t>
            </a:r>
            <a:r>
              <a:rPr lang="en-US" altLang="zh-TW" dirty="0"/>
              <a:t>actual </a:t>
            </a:r>
            <a:r>
              <a:rPr lang="en-US" altLang="zh-TW" dirty="0" smtClean="0"/>
              <a:t>unlock.</a:t>
            </a:r>
          </a:p>
          <a:p>
            <a:pPr lvl="1"/>
            <a:r>
              <a:rPr lang="en-US" altLang="zh-TW" dirty="0" smtClean="0"/>
              <a:t>No starvation: the shared queue defines the order </a:t>
            </a:r>
            <a:r>
              <a:rPr lang="en-US" altLang="zh-TW" dirty="0"/>
              <a:t>of lock </a:t>
            </a:r>
            <a:r>
              <a:rPr lang="en-US" altLang="zh-TW" dirty="0" smtClean="0"/>
              <a:t>acquisitions.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012" y="4077072"/>
            <a:ext cx="6045976" cy="257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5337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/>
              <a:t>MCS Locking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John Mellor-</a:t>
            </a:r>
            <a:r>
              <a:rPr lang="en-US" altLang="zh-TW" dirty="0" err="1"/>
              <a:t>Crummey</a:t>
            </a:r>
            <a:r>
              <a:rPr lang="en-US" altLang="zh-TW" dirty="0"/>
              <a:t> and Michael Scott, </a:t>
            </a:r>
            <a:r>
              <a:rPr lang="en-US" altLang="zh-TW" b="1" dirty="0" smtClean="0"/>
              <a:t>Algorithms </a:t>
            </a:r>
            <a:r>
              <a:rPr lang="en-US" altLang="zh-TW" b="1" dirty="0"/>
              <a:t>for Scalable </a:t>
            </a:r>
            <a:r>
              <a:rPr lang="en-US" altLang="zh-TW" b="1" dirty="0" err="1"/>
              <a:t>Synchronisation</a:t>
            </a:r>
            <a:r>
              <a:rPr lang="en-US" altLang="zh-TW" b="1" dirty="0"/>
              <a:t> on Shared-Memory </a:t>
            </a:r>
            <a:r>
              <a:rPr lang="en-US" altLang="zh-TW" b="1" dirty="0" smtClean="0"/>
              <a:t>Multiprocessors</a:t>
            </a:r>
            <a:r>
              <a:rPr lang="en-US" altLang="zh-TW" dirty="0" smtClean="0"/>
              <a:t>, </a:t>
            </a:r>
            <a:r>
              <a:rPr lang="en-US" altLang="zh-TW" i="1" dirty="0"/>
              <a:t>ACM Transactions on Computer Systems, Vol. 9, No. 1, </a:t>
            </a:r>
            <a:r>
              <a:rPr lang="en-US" altLang="zh-TW" i="1" dirty="0" smtClean="0"/>
              <a:t>21-65, 1991</a:t>
            </a:r>
            <a:endParaRPr lang="zh-TW" altLang="en-US" i="1" dirty="0"/>
          </a:p>
        </p:txBody>
      </p:sp>
    </p:spTree>
    <p:extLst>
      <p:ext uri="{BB962C8B-B14F-4D97-AF65-F5344CB8AC3E}">
        <p14:creationId xmlns:p14="http://schemas.microsoft.com/office/powerpoint/2010/main" val="40325170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32656"/>
            <a:ext cx="7772400" cy="1012974"/>
          </a:xfrm>
        </p:spPr>
        <p:txBody>
          <a:bodyPr/>
          <a:lstStyle/>
          <a:p>
            <a:pPr algn="ctr"/>
            <a:r>
              <a:rPr lang="en-US" altLang="zh-TW" dirty="0"/>
              <a:t>Spinning versus Switching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496" y="1447800"/>
            <a:ext cx="9036496" cy="5149552"/>
          </a:xfrm>
        </p:spPr>
        <p:txBody>
          <a:bodyPr/>
          <a:lstStyle/>
          <a:p>
            <a:r>
              <a:rPr lang="en-US" altLang="zh-TW" dirty="0" smtClean="0"/>
              <a:t>Spinning on </a:t>
            </a:r>
            <a:r>
              <a:rPr lang="en-US" altLang="zh-TW" dirty="0"/>
              <a:t>a lock made </a:t>
            </a:r>
            <a:r>
              <a:rPr lang="en-US" altLang="zh-TW" dirty="0" smtClean="0"/>
              <a:t>no sense for a uniprocessor system.</a:t>
            </a:r>
          </a:p>
          <a:p>
            <a:pPr lvl="1"/>
            <a:r>
              <a:rPr lang="en-US" altLang="zh-TW" dirty="0" smtClean="0"/>
              <a:t>There was </a:t>
            </a:r>
            <a:r>
              <a:rPr lang="en-US" altLang="zh-TW" dirty="0"/>
              <a:t>no other running process to release the </a:t>
            </a:r>
            <a:r>
              <a:rPr lang="en-US" altLang="zh-TW" dirty="0" smtClean="0"/>
              <a:t>lock.</a:t>
            </a:r>
          </a:p>
          <a:p>
            <a:pPr lvl="2"/>
            <a:r>
              <a:rPr lang="en-US" altLang="zh-TW" dirty="0"/>
              <a:t>Blocking and </a:t>
            </a:r>
            <a:r>
              <a:rPr lang="en-US" altLang="zh-TW" dirty="0" smtClean="0"/>
              <a:t>eventually </a:t>
            </a:r>
            <a:r>
              <a:rPr lang="en-US" altLang="zh-TW" dirty="0"/>
              <a:t>switching to the lock holder is the only option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On SMP systems, the decision to spin or block is not </a:t>
            </a:r>
            <a:r>
              <a:rPr lang="en-US" altLang="zh-TW" dirty="0" smtClean="0"/>
              <a:t>trivial.</a:t>
            </a:r>
          </a:p>
          <a:p>
            <a:pPr lvl="1"/>
            <a:r>
              <a:rPr lang="en-US" altLang="zh-TW" dirty="0" smtClean="0"/>
              <a:t>If the lock is </a:t>
            </a:r>
            <a:r>
              <a:rPr lang="en-US" altLang="zh-TW" dirty="0" smtClean="0"/>
              <a:t>for the </a:t>
            </a:r>
            <a:r>
              <a:rPr lang="en-US" altLang="zh-TW" dirty="0" smtClean="0">
                <a:solidFill>
                  <a:srgbClr val="FF0000"/>
                </a:solidFill>
              </a:rPr>
              <a:t>ready list</a:t>
            </a:r>
            <a:r>
              <a:rPr lang="en-US" altLang="zh-TW" dirty="0" smtClean="0"/>
              <a:t>, then the requesting CPU must </a:t>
            </a:r>
            <a:r>
              <a:rPr lang="en-US" altLang="zh-TW" dirty="0" smtClean="0">
                <a:solidFill>
                  <a:srgbClr val="FF0000"/>
                </a:solidFill>
              </a:rPr>
              <a:t>spin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If the lock is for a </a:t>
            </a:r>
            <a:r>
              <a:rPr lang="en-US" altLang="zh-TW" dirty="0" smtClean="0">
                <a:solidFill>
                  <a:srgbClr val="FF0000"/>
                </a:solidFill>
              </a:rPr>
              <a:t>disk buffer</a:t>
            </a:r>
            <a:r>
              <a:rPr lang="en-US" altLang="zh-TW" dirty="0" smtClean="0"/>
              <a:t>, then the CPU can </a:t>
            </a:r>
            <a:r>
              <a:rPr lang="en-US" altLang="zh-TW" dirty="0" smtClean="0">
                <a:solidFill>
                  <a:srgbClr val="FF0000"/>
                </a:solidFill>
              </a:rPr>
              <a:t>spin or block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Spinlocks expect critical sections to be short.</a:t>
            </a:r>
          </a:p>
          <a:p>
            <a:pPr lvl="1"/>
            <a:r>
              <a:rPr lang="en-US" altLang="zh-TW" dirty="0" smtClean="0"/>
              <a:t>If </a:t>
            </a:r>
            <a:r>
              <a:rPr lang="en-US" altLang="zh-TW" dirty="0"/>
              <a:t>lock is held for less time than the overhead of </a:t>
            </a:r>
            <a:r>
              <a:rPr lang="en-US" altLang="zh-TW" dirty="0" err="1" smtClean="0"/>
              <a:t>blocking+switching</a:t>
            </a:r>
            <a:r>
              <a:rPr lang="en-US" altLang="zh-TW" dirty="0" smtClean="0"/>
              <a:t>, </a:t>
            </a:r>
            <a:r>
              <a:rPr lang="en-US" altLang="zh-TW" dirty="0"/>
              <a:t>then it is more efficient to spin.</a:t>
            </a:r>
          </a:p>
          <a:p>
            <a:r>
              <a:rPr lang="en-US" altLang="zh-TW" dirty="0" smtClean="0"/>
              <a:t>Blocking </a:t>
            </a:r>
            <a:r>
              <a:rPr lang="en-US" altLang="zh-TW" dirty="0"/>
              <a:t>and switching </a:t>
            </a:r>
            <a:r>
              <a:rPr lang="en-US" altLang="zh-TW" dirty="0" smtClean="0"/>
              <a:t>require twice of the following overheads.</a:t>
            </a:r>
            <a:endParaRPr lang="en-US" altLang="zh-TW" dirty="0"/>
          </a:p>
          <a:p>
            <a:pPr lvl="1"/>
            <a:r>
              <a:rPr lang="en-US" altLang="zh-TW" dirty="0" smtClean="0"/>
              <a:t>context switch, lock acquisition of </a:t>
            </a:r>
            <a:r>
              <a:rPr lang="en-US" altLang="zh-TW" dirty="0"/>
              <a:t>the ready </a:t>
            </a:r>
            <a:r>
              <a:rPr lang="en-US" altLang="zh-TW" dirty="0" smtClean="0"/>
              <a:t>list, invocation of the CPU scheduler, the </a:t>
            </a:r>
            <a:r>
              <a:rPr lang="en-US" altLang="zh-TW" dirty="0"/>
              <a:t>sudden increase of cache </a:t>
            </a:r>
            <a:r>
              <a:rPr lang="en-US" altLang="zh-TW" dirty="0" smtClean="0"/>
              <a:t>miss, </a:t>
            </a:r>
            <a:r>
              <a:rPr lang="en-US" altLang="zh-TW" dirty="0"/>
              <a:t>and TLB </a:t>
            </a:r>
            <a:r>
              <a:rPr lang="en-US" altLang="zh-TW" dirty="0" smtClean="0"/>
              <a:t>rebuild.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20373888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260648"/>
            <a:ext cx="7772400" cy="1012974"/>
          </a:xfrm>
        </p:spPr>
        <p:txBody>
          <a:bodyPr/>
          <a:lstStyle/>
          <a:p>
            <a:pPr algn="ctr"/>
            <a:r>
              <a:rPr lang="en-US" altLang="zh-TW" dirty="0"/>
              <a:t>Spinning </a:t>
            </a:r>
            <a:r>
              <a:rPr lang="en-US" altLang="zh-TW" dirty="0" smtClean="0"/>
              <a:t>vs </a:t>
            </a:r>
            <a:r>
              <a:rPr lang="en-US" altLang="zh-TW" dirty="0"/>
              <a:t>Switching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928992" cy="5077544"/>
          </a:xfrm>
        </p:spPr>
        <p:txBody>
          <a:bodyPr/>
          <a:lstStyle/>
          <a:p>
            <a:r>
              <a:rPr lang="en-US" altLang="zh-TW" dirty="0" smtClean="0"/>
              <a:t>There are three basic design options.</a:t>
            </a:r>
          </a:p>
          <a:p>
            <a:pPr lvl="1"/>
            <a:r>
              <a:rPr lang="en-US" altLang="zh-TW" dirty="0" smtClean="0"/>
              <a:t>On lock failure, a CPU always spins.</a:t>
            </a:r>
          </a:p>
          <a:p>
            <a:pPr lvl="2"/>
            <a:r>
              <a:rPr lang="en-US" altLang="zh-TW" dirty="0" smtClean="0"/>
              <a:t>It is assumed that all CRs are short.</a:t>
            </a:r>
          </a:p>
          <a:p>
            <a:pPr lvl="1"/>
            <a:r>
              <a:rPr lang="en-US" altLang="zh-TW" dirty="0" smtClean="0"/>
              <a:t>On lock failure, a CPU always blocks.</a:t>
            </a:r>
          </a:p>
          <a:p>
            <a:pPr lvl="2"/>
            <a:r>
              <a:rPr lang="en-US" altLang="zh-TW" dirty="0" smtClean="0"/>
              <a:t>It is assumed that most CRs are long.</a:t>
            </a:r>
          </a:p>
          <a:p>
            <a:pPr lvl="1"/>
            <a:r>
              <a:rPr lang="en-US" altLang="zh-TW" dirty="0" smtClean="0"/>
              <a:t>On lock failure, a CPU first spins a predefined amount of time then blocks.</a:t>
            </a:r>
          </a:p>
          <a:p>
            <a:r>
              <a:rPr lang="en-US" altLang="zh-TW" dirty="0" smtClean="0"/>
              <a:t>The best practice of the 3</a:t>
            </a:r>
            <a:r>
              <a:rPr lang="en-US" altLang="zh-TW" baseline="30000" dirty="0" smtClean="0"/>
              <a:t>rd</a:t>
            </a:r>
            <a:r>
              <a:rPr lang="en-US" altLang="zh-TW" dirty="0" smtClean="0"/>
              <a:t> option is as follows.</a:t>
            </a:r>
          </a:p>
          <a:p>
            <a:pPr lvl="1"/>
            <a:r>
              <a:rPr lang="en-US" altLang="zh-TW" dirty="0" smtClean="0"/>
              <a:t>Uses the history data to select a </a:t>
            </a:r>
            <a:r>
              <a:rPr lang="en-US" altLang="zh-TW" dirty="0" smtClean="0">
                <a:solidFill>
                  <a:srgbClr val="FF0000"/>
                </a:solidFill>
              </a:rPr>
              <a:t>time quantum </a:t>
            </a:r>
            <a:r>
              <a:rPr lang="en-US" altLang="zh-TW" dirty="0" smtClean="0"/>
              <a:t>as the spin threshold.</a:t>
            </a:r>
          </a:p>
          <a:p>
            <a:pPr lvl="1"/>
            <a:r>
              <a:rPr lang="en-US" altLang="zh-TW" dirty="0" smtClean="0"/>
              <a:t>On lock failure, If the </a:t>
            </a:r>
            <a:r>
              <a:rPr lang="en-US" altLang="zh-TW" dirty="0"/>
              <a:t>spin threshold </a:t>
            </a:r>
            <a:r>
              <a:rPr lang="en-US" altLang="zh-TW" dirty="0" smtClean="0"/>
              <a:t>was reached in the last </a:t>
            </a:r>
            <a:r>
              <a:rPr lang="en-US" altLang="zh-TW" dirty="0" smtClean="0">
                <a:solidFill>
                  <a:srgbClr val="FF0000"/>
                </a:solidFill>
              </a:rPr>
              <a:t>k</a:t>
            </a:r>
            <a:r>
              <a:rPr lang="en-US" altLang="zh-TW" dirty="0" smtClean="0"/>
              <a:t> contiguous times, then a CPU blocks immediately.</a:t>
            </a:r>
          </a:p>
          <a:p>
            <a:pPr lvl="1"/>
            <a:r>
              <a:rPr lang="en-US" altLang="zh-TW" dirty="0" smtClean="0"/>
              <a:t>Otherwise, a CPU spins </a:t>
            </a:r>
            <a:r>
              <a:rPr lang="en-US" altLang="zh-TW" dirty="0"/>
              <a:t>until the threshold then </a:t>
            </a:r>
            <a:r>
              <a:rPr lang="en-US" altLang="zh-TW" dirty="0" smtClean="0"/>
              <a:t>blocks.</a:t>
            </a:r>
            <a:endParaRPr lang="en-US" altLang="zh-TW" dirty="0"/>
          </a:p>
          <a:p>
            <a:pPr lvl="2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268465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32656"/>
            <a:ext cx="7772400" cy="940966"/>
          </a:xfrm>
        </p:spPr>
        <p:txBody>
          <a:bodyPr/>
          <a:lstStyle/>
          <a:p>
            <a:pPr algn="ctr"/>
            <a:r>
              <a:rPr lang="en-US" altLang="zh-TW" dirty="0"/>
              <a:t>Multiprocessor Scheduling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447800"/>
            <a:ext cx="8784976" cy="3349352"/>
          </a:xfrm>
        </p:spPr>
        <p:txBody>
          <a:bodyPr/>
          <a:lstStyle/>
          <a:p>
            <a:r>
              <a:rPr lang="en-US" altLang="zh-TW" dirty="0" smtClean="0"/>
              <a:t>On a MP system, scheduling has two dimensions.</a:t>
            </a:r>
          </a:p>
          <a:p>
            <a:r>
              <a:rPr lang="en-US" altLang="zh-TW" dirty="0" smtClean="0"/>
              <a:t>The scheduler has to decide which thread (or process) to run next and which CPU to run it on.</a:t>
            </a:r>
          </a:p>
          <a:p>
            <a:r>
              <a:rPr lang="en-US" altLang="zh-TW" dirty="0"/>
              <a:t>Given X </a:t>
            </a:r>
            <a:r>
              <a:rPr lang="en-US" altLang="zh-TW" dirty="0" smtClean="0"/>
              <a:t>threads (or processes) </a:t>
            </a:r>
            <a:r>
              <a:rPr lang="en-US" altLang="zh-TW" dirty="0"/>
              <a:t>and Y CPUs,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How to allocate these X threads to </a:t>
            </a:r>
            <a:r>
              <a:rPr lang="en-US" altLang="zh-TW" dirty="0"/>
              <a:t>the </a:t>
            </a:r>
            <a:r>
              <a:rPr lang="en-US" altLang="zh-TW" dirty="0" smtClean="0"/>
              <a:t>Y CPUs?</a:t>
            </a:r>
          </a:p>
          <a:p>
            <a:r>
              <a:rPr lang="en-US" altLang="zh-TW" dirty="0" smtClean="0"/>
              <a:t>Another important factor affecting MP scheduling is</a:t>
            </a:r>
          </a:p>
          <a:p>
            <a:pPr lvl="1"/>
            <a:r>
              <a:rPr lang="en-US" altLang="zh-TW" dirty="0" smtClean="0"/>
              <a:t>Whether these X threads are </a:t>
            </a:r>
            <a:r>
              <a:rPr lang="en-US" altLang="zh-TW" dirty="0" smtClean="0">
                <a:solidFill>
                  <a:srgbClr val="FF0000"/>
                </a:solidFill>
              </a:rPr>
              <a:t>cooperative</a:t>
            </a:r>
            <a:r>
              <a:rPr lang="en-US" altLang="zh-TW" dirty="0" smtClean="0"/>
              <a:t> or </a:t>
            </a:r>
            <a:r>
              <a:rPr lang="en-US" altLang="zh-TW" dirty="0" smtClean="0">
                <a:solidFill>
                  <a:srgbClr val="FF0000"/>
                </a:solidFill>
              </a:rPr>
              <a:t>independent</a:t>
            </a:r>
            <a:r>
              <a:rPr lang="en-US" altLang="zh-TW" dirty="0" smtClean="0"/>
              <a:t>?</a:t>
            </a:r>
          </a:p>
          <a:p>
            <a:pPr marL="319088" lvl="1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51569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Time Sharing MP Scheduling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412776"/>
            <a:ext cx="8784976" cy="1800200"/>
          </a:xfrm>
        </p:spPr>
        <p:txBody>
          <a:bodyPr/>
          <a:lstStyle/>
          <a:p>
            <a:r>
              <a:rPr lang="en-US" altLang="zh-TW" dirty="0" smtClean="0"/>
              <a:t>This is the simplest way to schedule </a:t>
            </a:r>
            <a:r>
              <a:rPr lang="en-US" altLang="zh-TW" dirty="0" smtClean="0">
                <a:solidFill>
                  <a:srgbClr val="FF0000"/>
                </a:solidFill>
              </a:rPr>
              <a:t>independent</a:t>
            </a:r>
            <a:r>
              <a:rPr lang="en-US" altLang="zh-TW" dirty="0" smtClean="0">
                <a:solidFill>
                  <a:srgbClr val="FF0000"/>
                </a:solidFill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threads </a:t>
            </a:r>
            <a:r>
              <a:rPr lang="en-US" altLang="zh-TW" dirty="0" smtClean="0"/>
              <a:t>on a MP.</a:t>
            </a:r>
          </a:p>
          <a:p>
            <a:r>
              <a:rPr lang="en-US" altLang="zh-TW" dirty="0" smtClean="0"/>
              <a:t>It uses a single system wide DS for managing ready threads.</a:t>
            </a:r>
          </a:p>
          <a:p>
            <a:pPr lvl="1"/>
            <a:r>
              <a:rPr lang="en-US" altLang="zh-TW" dirty="0"/>
              <a:t>When a CPU goes idle, it </a:t>
            </a:r>
            <a:r>
              <a:rPr lang="en-US" altLang="zh-TW" dirty="0" smtClean="0"/>
              <a:t>takes </a:t>
            </a:r>
            <a:r>
              <a:rPr lang="en-US" altLang="zh-TW" dirty="0"/>
              <a:t>the highest priority </a:t>
            </a:r>
            <a:r>
              <a:rPr lang="en-US" altLang="zh-TW" dirty="0" smtClean="0"/>
              <a:t>thread</a:t>
            </a:r>
            <a:r>
              <a:rPr lang="en-US" altLang="zh-TW" dirty="0" smtClean="0"/>
              <a:t> </a:t>
            </a:r>
            <a:r>
              <a:rPr lang="en-US" altLang="zh-TW" dirty="0"/>
              <a:t>from the shared ready </a:t>
            </a:r>
            <a:r>
              <a:rPr lang="en-US" altLang="zh-TW" dirty="0" smtClean="0"/>
              <a:t>list.</a:t>
            </a:r>
            <a:endParaRPr lang="zh-TW" altLang="en-US" dirty="0"/>
          </a:p>
        </p:txBody>
      </p:sp>
      <p:grpSp>
        <p:nvGrpSpPr>
          <p:cNvPr id="9" name="群組 8"/>
          <p:cNvGrpSpPr/>
          <p:nvPr/>
        </p:nvGrpSpPr>
        <p:grpSpPr>
          <a:xfrm>
            <a:off x="611560" y="3068960"/>
            <a:ext cx="7772400" cy="3602736"/>
            <a:chOff x="611560" y="3068960"/>
            <a:chExt cx="7772400" cy="3602736"/>
          </a:xfrm>
        </p:grpSpPr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60" y="3068960"/>
              <a:ext cx="7772400" cy="3602736"/>
            </a:xfrm>
            <a:prstGeom prst="rect">
              <a:avLst/>
            </a:prstGeom>
          </p:spPr>
        </p:pic>
        <p:cxnSp>
          <p:nvCxnSpPr>
            <p:cNvPr id="6" name="直線單箭頭接點 5"/>
            <p:cNvCxnSpPr/>
            <p:nvPr/>
          </p:nvCxnSpPr>
          <p:spPr>
            <a:xfrm flipV="1">
              <a:off x="1403648" y="3789040"/>
              <a:ext cx="2592288" cy="1008112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單箭頭接點 7"/>
            <p:cNvCxnSpPr/>
            <p:nvPr/>
          </p:nvCxnSpPr>
          <p:spPr>
            <a:xfrm flipV="1">
              <a:off x="4716016" y="4437112"/>
              <a:ext cx="2088232" cy="504056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519774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260648"/>
            <a:ext cx="7772400" cy="1012974"/>
          </a:xfrm>
        </p:spPr>
        <p:txBody>
          <a:bodyPr/>
          <a:lstStyle/>
          <a:p>
            <a:pPr algn="ctr"/>
            <a:r>
              <a:rPr lang="en-US" altLang="zh-TW" dirty="0"/>
              <a:t>Single Shared Ready </a:t>
            </a:r>
            <a:r>
              <a:rPr lang="en-US" altLang="zh-TW" dirty="0" smtClean="0"/>
              <a:t>List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856984" cy="5221560"/>
          </a:xfrm>
        </p:spPr>
        <p:txBody>
          <a:bodyPr/>
          <a:lstStyle/>
          <a:p>
            <a:r>
              <a:rPr lang="en-US" altLang="zh-TW" dirty="0" smtClean="0"/>
              <a:t>Advantages:</a:t>
            </a:r>
          </a:p>
          <a:p>
            <a:pPr lvl="1"/>
            <a:r>
              <a:rPr lang="en-US" altLang="zh-TW" dirty="0"/>
              <a:t>Simple </a:t>
            </a:r>
            <a:r>
              <a:rPr lang="en-US" altLang="zh-TW" dirty="0" smtClean="0"/>
              <a:t>and </a:t>
            </a:r>
            <a:r>
              <a:rPr lang="en-US" altLang="zh-TW" dirty="0"/>
              <a:t>Automatic load </a:t>
            </a:r>
            <a:r>
              <a:rPr lang="en-US" altLang="zh-TW" dirty="0" smtClean="0"/>
              <a:t>balancing</a:t>
            </a:r>
          </a:p>
          <a:p>
            <a:r>
              <a:rPr lang="en-US" altLang="zh-TW" dirty="0" smtClean="0"/>
              <a:t>Disadvantages:</a:t>
            </a:r>
          </a:p>
          <a:p>
            <a:pPr lvl="1"/>
            <a:r>
              <a:rPr lang="en-US" altLang="zh-TW" dirty="0"/>
              <a:t>Lock contention on the ready </a:t>
            </a:r>
            <a:r>
              <a:rPr lang="en-US" altLang="zh-TW" dirty="0" smtClean="0"/>
              <a:t>list </a:t>
            </a:r>
            <a:r>
              <a:rPr lang="en-US" altLang="zh-TW" dirty="0"/>
              <a:t>can be a major </a:t>
            </a:r>
            <a:r>
              <a:rPr lang="en-US" altLang="zh-TW" dirty="0" smtClean="0"/>
              <a:t>bottleneck.</a:t>
            </a:r>
          </a:p>
          <a:p>
            <a:pPr lvl="2"/>
            <a:r>
              <a:rPr lang="en-US" altLang="zh-TW" dirty="0" smtClean="0"/>
              <a:t>Due </a:t>
            </a:r>
            <a:r>
              <a:rPr lang="en-US" altLang="zh-TW" dirty="0"/>
              <a:t>to frequent scheduling or </a:t>
            </a:r>
            <a:r>
              <a:rPr lang="en-US" altLang="zh-TW" dirty="0" smtClean="0"/>
              <a:t>the large number of </a:t>
            </a:r>
            <a:r>
              <a:rPr lang="en-US" altLang="zh-TW" dirty="0"/>
              <a:t>CPUs or </a:t>
            </a:r>
            <a:r>
              <a:rPr lang="en-US" altLang="zh-TW" dirty="0" smtClean="0"/>
              <a:t>both.</a:t>
            </a:r>
          </a:p>
          <a:p>
            <a:pPr lvl="1"/>
            <a:r>
              <a:rPr lang="en-US" altLang="zh-TW" dirty="0" smtClean="0"/>
              <a:t>Not </a:t>
            </a:r>
            <a:r>
              <a:rPr lang="en-US" altLang="zh-TW" dirty="0"/>
              <a:t>all CPUs are </a:t>
            </a:r>
            <a:r>
              <a:rPr lang="en-US" altLang="zh-TW" dirty="0" smtClean="0"/>
              <a:t>equal.</a:t>
            </a:r>
          </a:p>
          <a:p>
            <a:pPr lvl="2"/>
            <a:r>
              <a:rPr lang="en-US" altLang="zh-TW" dirty="0" smtClean="0"/>
              <a:t>The </a:t>
            </a:r>
            <a:r>
              <a:rPr lang="en-US" altLang="zh-TW" dirty="0"/>
              <a:t>last CPU a </a:t>
            </a:r>
            <a:r>
              <a:rPr lang="en-US" altLang="zh-TW" dirty="0" smtClean="0"/>
              <a:t>thread </a:t>
            </a:r>
            <a:r>
              <a:rPr lang="en-US" altLang="zh-TW" dirty="0"/>
              <a:t>ran on </a:t>
            </a:r>
            <a:r>
              <a:rPr lang="en-US" altLang="zh-TW" dirty="0" smtClean="0"/>
              <a:t>may </a:t>
            </a:r>
            <a:r>
              <a:rPr lang="en-US" altLang="zh-TW" dirty="0"/>
              <a:t>have more related entries in the cache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If </a:t>
            </a:r>
            <a:r>
              <a:rPr lang="en-US" altLang="zh-TW" dirty="0"/>
              <a:t>time quantum </a:t>
            </a:r>
            <a:r>
              <a:rPr lang="en-US" altLang="zh-TW" dirty="0" smtClean="0"/>
              <a:t>expires, a spinlock </a:t>
            </a:r>
            <a:r>
              <a:rPr lang="en-US" altLang="zh-TW" dirty="0"/>
              <a:t>holder </a:t>
            </a:r>
            <a:r>
              <a:rPr lang="en-US" altLang="zh-TW" dirty="0" smtClean="0"/>
              <a:t>will be preempted.</a:t>
            </a:r>
          </a:p>
          <a:p>
            <a:pPr lvl="2"/>
            <a:r>
              <a:rPr lang="en-US" altLang="zh-TW" dirty="0"/>
              <a:t>Other CPUs </a:t>
            </a:r>
            <a:r>
              <a:rPr lang="en-US" altLang="zh-TW" dirty="0" smtClean="0"/>
              <a:t>may </a:t>
            </a:r>
            <a:r>
              <a:rPr lang="en-US" altLang="zh-TW" dirty="0"/>
              <a:t>spin until the holder is </a:t>
            </a:r>
            <a:r>
              <a:rPr lang="en-US" altLang="zh-TW" dirty="0" smtClean="0"/>
              <a:t>rescheduled again.</a:t>
            </a:r>
          </a:p>
          <a:p>
            <a:pPr lvl="2"/>
            <a:r>
              <a:rPr lang="en-US" altLang="zh-TW" dirty="0" smtClean="0">
                <a:solidFill>
                  <a:srgbClr val="FF0000"/>
                </a:solidFill>
              </a:rPr>
              <a:t>Smart scheduling </a:t>
            </a:r>
            <a:r>
              <a:rPr lang="en-US" altLang="zh-TW" dirty="0" smtClean="0"/>
              <a:t>can be used to avoid this problem.</a:t>
            </a:r>
          </a:p>
          <a:p>
            <a:pPr lvl="3"/>
            <a:r>
              <a:rPr lang="en-US" altLang="zh-TW" dirty="0" smtClean="0"/>
              <a:t>A spinlock holder sets a special flag to indicate that it holds a lock.</a:t>
            </a:r>
          </a:p>
          <a:p>
            <a:pPr lvl="3"/>
            <a:r>
              <a:rPr lang="en-US" altLang="zh-TW" dirty="0" smtClean="0"/>
              <a:t>Scheduler will not preempt a thread with this flag on time expiration.</a:t>
            </a:r>
          </a:p>
          <a:p>
            <a:pPr lvl="3"/>
            <a:r>
              <a:rPr lang="en-US" altLang="zh-TW" dirty="0" smtClean="0"/>
              <a:t>When a lock holder releases the lock, it reset the flag.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415972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8032" y="327794"/>
            <a:ext cx="7772400" cy="1012974"/>
          </a:xfrm>
        </p:spPr>
        <p:txBody>
          <a:bodyPr/>
          <a:lstStyle/>
          <a:p>
            <a:pPr algn="ctr"/>
            <a:r>
              <a:rPr lang="en-US" altLang="zh-TW" dirty="0"/>
              <a:t>Affinity Scheduling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856984" cy="5221560"/>
          </a:xfrm>
        </p:spPr>
        <p:txBody>
          <a:bodyPr/>
          <a:lstStyle/>
          <a:p>
            <a:r>
              <a:rPr lang="en-US" altLang="zh-TW" dirty="0" smtClean="0"/>
              <a:t>Since the </a:t>
            </a:r>
            <a:r>
              <a:rPr lang="en-US" altLang="zh-TW" dirty="0"/>
              <a:t>last CPU a thread ran on </a:t>
            </a:r>
            <a:r>
              <a:rPr lang="en-US" altLang="zh-TW" dirty="0" smtClean="0"/>
              <a:t>have </a:t>
            </a:r>
            <a:r>
              <a:rPr lang="en-US" altLang="zh-TW" dirty="0"/>
              <a:t>more related entries in the </a:t>
            </a:r>
            <a:r>
              <a:rPr lang="en-US" altLang="zh-TW" dirty="0" smtClean="0"/>
              <a:t>cache, it </a:t>
            </a:r>
            <a:r>
              <a:rPr lang="en-US" altLang="zh-TW" dirty="0"/>
              <a:t>is desirable to run a </a:t>
            </a:r>
            <a:r>
              <a:rPr lang="en-US" altLang="zh-TW" dirty="0" smtClean="0"/>
              <a:t>thread </a:t>
            </a:r>
            <a:r>
              <a:rPr lang="en-US" altLang="zh-TW" dirty="0"/>
              <a:t>on the CPU it ran on last </a:t>
            </a:r>
            <a:r>
              <a:rPr lang="en-US" altLang="zh-TW" dirty="0" smtClean="0"/>
              <a:t>time.</a:t>
            </a:r>
          </a:p>
          <a:p>
            <a:r>
              <a:rPr lang="en-US" altLang="zh-TW" dirty="0"/>
              <a:t>One </a:t>
            </a:r>
            <a:r>
              <a:rPr lang="en-US" altLang="zh-TW" dirty="0" smtClean="0"/>
              <a:t>possible approach is the </a:t>
            </a:r>
            <a:r>
              <a:rPr lang="en-US" altLang="zh-TW" dirty="0">
                <a:solidFill>
                  <a:srgbClr val="FF0000"/>
                </a:solidFill>
              </a:rPr>
              <a:t>Two-level </a:t>
            </a:r>
            <a:r>
              <a:rPr lang="en-US" altLang="zh-TW" dirty="0" smtClean="0">
                <a:solidFill>
                  <a:srgbClr val="FF0000"/>
                </a:solidFill>
              </a:rPr>
              <a:t>scheduling</a:t>
            </a:r>
            <a:r>
              <a:rPr lang="en-US" altLang="zh-TW" dirty="0" smtClean="0"/>
              <a:t>:</a:t>
            </a:r>
          </a:p>
          <a:p>
            <a:pPr lvl="1"/>
            <a:r>
              <a:rPr lang="en-US" altLang="zh-TW" dirty="0"/>
              <a:t>Each CPU has its own ready </a:t>
            </a:r>
            <a:r>
              <a:rPr lang="en-US" altLang="zh-TW" dirty="0" smtClean="0"/>
              <a:t>queue.</a:t>
            </a:r>
          </a:p>
          <a:p>
            <a:pPr lvl="1"/>
            <a:r>
              <a:rPr lang="en-US" altLang="zh-TW" dirty="0" smtClean="0"/>
              <a:t>Top-level scheduler assigns threads (or processes) </a:t>
            </a:r>
            <a:r>
              <a:rPr lang="en-US" altLang="zh-TW" dirty="0"/>
              <a:t>to </a:t>
            </a:r>
            <a:r>
              <a:rPr lang="en-US" altLang="zh-TW" dirty="0" smtClean="0"/>
              <a:t>CPUs.</a:t>
            </a:r>
          </a:p>
          <a:p>
            <a:pPr lvl="2"/>
            <a:r>
              <a:rPr lang="en-US" altLang="zh-TW" dirty="0" smtClean="0"/>
              <a:t>This defines </a:t>
            </a:r>
            <a:r>
              <a:rPr lang="en-US" altLang="zh-TW" dirty="0"/>
              <a:t>their </a:t>
            </a:r>
            <a:r>
              <a:rPr lang="en-US" altLang="zh-TW" dirty="0" smtClean="0">
                <a:solidFill>
                  <a:srgbClr val="FF0000"/>
                </a:solidFill>
              </a:rPr>
              <a:t>affinity</a:t>
            </a:r>
            <a:r>
              <a:rPr lang="en-US" altLang="zh-TW" dirty="0" smtClean="0"/>
              <a:t> </a:t>
            </a:r>
            <a:r>
              <a:rPr lang="en-US" altLang="zh-TW" dirty="0"/>
              <a:t>and </a:t>
            </a:r>
            <a:r>
              <a:rPr lang="en-US" altLang="zh-TW" dirty="0" smtClean="0"/>
              <a:t>balances </a:t>
            </a:r>
            <a:r>
              <a:rPr lang="en-US" altLang="zh-TW" dirty="0"/>
              <a:t>the </a:t>
            </a:r>
            <a:r>
              <a:rPr lang="en-US" altLang="zh-TW" dirty="0" smtClean="0"/>
              <a:t>workload.</a:t>
            </a:r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bottom-level </a:t>
            </a:r>
            <a:r>
              <a:rPr lang="en-US" altLang="zh-TW" dirty="0" smtClean="0"/>
              <a:t>scheduler is </a:t>
            </a:r>
            <a:r>
              <a:rPr lang="en-US" altLang="zh-TW" dirty="0"/>
              <a:t>the frequently invoked scheduler (e.g. on blocking on I/O, a lock, or exhausting a </a:t>
            </a:r>
            <a:r>
              <a:rPr lang="en-US" altLang="zh-TW" dirty="0" smtClean="0"/>
              <a:t>time slice.)</a:t>
            </a:r>
          </a:p>
          <a:p>
            <a:pPr lvl="2"/>
            <a:r>
              <a:rPr lang="en-US" altLang="zh-TW" dirty="0" smtClean="0"/>
              <a:t>It runs </a:t>
            </a:r>
            <a:r>
              <a:rPr lang="en-US" altLang="zh-TW" dirty="0"/>
              <a:t>on each CPU and selects from its own ready </a:t>
            </a:r>
            <a:r>
              <a:rPr lang="en-US" altLang="zh-TW" dirty="0" smtClean="0"/>
              <a:t>queue.</a:t>
            </a:r>
          </a:p>
          <a:p>
            <a:pPr lvl="3"/>
            <a:r>
              <a:rPr lang="en-US" altLang="zh-TW" dirty="0" smtClean="0"/>
              <a:t>This ensures affinity.</a:t>
            </a:r>
          </a:p>
          <a:p>
            <a:pPr lvl="2"/>
            <a:r>
              <a:rPr lang="en-US" altLang="zh-TW" dirty="0" smtClean="0"/>
              <a:t>If </a:t>
            </a:r>
            <a:r>
              <a:rPr lang="en-US" altLang="zh-TW" dirty="0"/>
              <a:t>nothing is available from the local ready queue, it runs a </a:t>
            </a:r>
            <a:r>
              <a:rPr lang="en-US" altLang="zh-TW" dirty="0" smtClean="0"/>
              <a:t>thread</a:t>
            </a:r>
            <a:r>
              <a:rPr lang="en-US" altLang="zh-TW" dirty="0" smtClean="0"/>
              <a:t> </a:t>
            </a:r>
            <a:r>
              <a:rPr lang="en-US" altLang="zh-TW" dirty="0"/>
              <a:t>from another CPUs ready queue rather than go </a:t>
            </a:r>
            <a:r>
              <a:rPr lang="en-US" altLang="zh-TW" dirty="0" smtClean="0"/>
              <a:t>idle.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68368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72400" cy="1012974"/>
          </a:xfrm>
        </p:spPr>
        <p:txBody>
          <a:bodyPr/>
          <a:lstStyle/>
          <a:p>
            <a:pPr algn="ctr"/>
            <a:r>
              <a:rPr lang="en-US" altLang="zh-TW" dirty="0"/>
              <a:t>Two-level Scheduling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856984" cy="3565376"/>
          </a:xfrm>
        </p:spPr>
        <p:txBody>
          <a:bodyPr/>
          <a:lstStyle/>
          <a:p>
            <a:r>
              <a:rPr lang="en-US" altLang="zh-TW" dirty="0" smtClean="0"/>
              <a:t>Advantages:</a:t>
            </a:r>
          </a:p>
          <a:p>
            <a:pPr lvl="1"/>
            <a:r>
              <a:rPr lang="en-US" altLang="zh-TW" dirty="0" smtClean="0"/>
              <a:t>It distributes the workload evenly over available CPUs.</a:t>
            </a:r>
          </a:p>
          <a:p>
            <a:pPr lvl="2"/>
            <a:r>
              <a:rPr lang="en-US" altLang="zh-TW" dirty="0" smtClean="0"/>
              <a:t>This makes load balanced and avoids </a:t>
            </a:r>
            <a:r>
              <a:rPr lang="en-US" altLang="zh-TW" dirty="0"/>
              <a:t>idle </a:t>
            </a:r>
            <a:r>
              <a:rPr lang="en-US" altLang="zh-TW" dirty="0" smtClean="0"/>
              <a:t>queues.</a:t>
            </a:r>
          </a:p>
          <a:p>
            <a:pPr lvl="1"/>
            <a:r>
              <a:rPr lang="en-US" altLang="zh-TW" dirty="0" smtClean="0"/>
              <a:t>The cache affinity is maximized.</a:t>
            </a:r>
          </a:p>
          <a:p>
            <a:pPr lvl="2"/>
            <a:r>
              <a:rPr lang="en-US" altLang="zh-TW" dirty="0" smtClean="0"/>
              <a:t>Since a thread is usually running on the same CPU, it maximizes the cache capability.</a:t>
            </a:r>
          </a:p>
          <a:p>
            <a:pPr lvl="1"/>
            <a:r>
              <a:rPr lang="en-US" altLang="zh-TW" dirty="0" smtClean="0"/>
              <a:t>Lock </a:t>
            </a:r>
            <a:r>
              <a:rPr lang="en-US" altLang="zh-TW" dirty="0"/>
              <a:t>contention </a:t>
            </a:r>
            <a:r>
              <a:rPr lang="en-US" altLang="zh-TW" dirty="0" smtClean="0"/>
              <a:t>for ready list is minimized.</a:t>
            </a:r>
          </a:p>
          <a:p>
            <a:pPr lvl="2"/>
            <a:r>
              <a:rPr lang="en-US" altLang="zh-TW" dirty="0" smtClean="0"/>
              <a:t>Since each CPU has its own ready list, lock contention may only happens when the private ready list of a CPU is empty.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430949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Space Sharing Scheduling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7544" y="1340768"/>
            <a:ext cx="8219256" cy="1693168"/>
          </a:xfrm>
        </p:spPr>
        <p:txBody>
          <a:bodyPr/>
          <a:lstStyle/>
          <a:p>
            <a:r>
              <a:rPr lang="en-US" altLang="zh-TW" dirty="0" smtClean="0"/>
              <a:t>For cooperating threads (processes), it is desirable to </a:t>
            </a:r>
            <a:r>
              <a:rPr lang="en-US" altLang="zh-TW" dirty="0"/>
              <a:t>schedule multiple </a:t>
            </a:r>
            <a:r>
              <a:rPr lang="en-US" altLang="zh-TW" dirty="0" smtClean="0"/>
              <a:t>threads of the same task at </a:t>
            </a:r>
            <a:r>
              <a:rPr lang="en-US" altLang="zh-TW" dirty="0"/>
              <a:t>the same </a:t>
            </a:r>
            <a:r>
              <a:rPr lang="en-US" altLang="zh-TW" dirty="0" smtClean="0"/>
              <a:t>time.</a:t>
            </a:r>
          </a:p>
          <a:p>
            <a:pPr lvl="1"/>
            <a:r>
              <a:rPr lang="en-US" altLang="zh-TW" dirty="0" smtClean="0"/>
              <a:t>Space sharing can be used to schedule a group of threads across multiple CPUs at the same time.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904842"/>
            <a:ext cx="7344816" cy="383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0051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260648"/>
            <a:ext cx="7772400" cy="1012974"/>
          </a:xfrm>
        </p:spPr>
        <p:txBody>
          <a:bodyPr/>
          <a:lstStyle/>
          <a:p>
            <a:pPr algn="ctr"/>
            <a:r>
              <a:rPr lang="en-US" altLang="zh-TW" dirty="0" smtClean="0"/>
              <a:t>Out of Phase Comm.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14400" y="1519808"/>
            <a:ext cx="7772400" cy="829072"/>
          </a:xfrm>
        </p:spPr>
        <p:txBody>
          <a:bodyPr/>
          <a:lstStyle/>
          <a:p>
            <a:r>
              <a:rPr lang="en-US" altLang="zh-TW" dirty="0" smtClean="0"/>
              <a:t>Scheduling related threads independently may lead to out of phase communication.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402298"/>
            <a:ext cx="7884368" cy="426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327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Gang Scheduling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1447800"/>
            <a:ext cx="8496944" cy="1909192"/>
          </a:xfrm>
        </p:spPr>
        <p:txBody>
          <a:bodyPr/>
          <a:lstStyle/>
          <a:p>
            <a:r>
              <a:rPr lang="en-US" altLang="zh-TW" dirty="0" smtClean="0"/>
              <a:t>Gang scheduling may eliminate out of phase problem.</a:t>
            </a:r>
          </a:p>
          <a:p>
            <a:pPr lvl="1"/>
            <a:r>
              <a:rPr lang="en-US" altLang="zh-TW" dirty="0"/>
              <a:t>Groups of related threads are scheduled as a unit, </a:t>
            </a:r>
            <a:r>
              <a:rPr lang="en-US" altLang="zh-TW" dirty="0" smtClean="0"/>
              <a:t>called a </a:t>
            </a:r>
            <a:r>
              <a:rPr lang="en-US" altLang="zh-TW" dirty="0">
                <a:solidFill>
                  <a:srgbClr val="FF0000"/>
                </a:solidFill>
              </a:rPr>
              <a:t>gang</a:t>
            </a:r>
            <a:r>
              <a:rPr lang="en-US" altLang="zh-TW" dirty="0"/>
              <a:t>.</a:t>
            </a:r>
          </a:p>
          <a:p>
            <a:pPr lvl="1"/>
            <a:r>
              <a:rPr lang="en-US" altLang="zh-TW" dirty="0"/>
              <a:t>All members of a gang run at once on different timeshared CPUs.</a:t>
            </a:r>
          </a:p>
          <a:p>
            <a:pPr lvl="1"/>
            <a:r>
              <a:rPr lang="en-US" altLang="zh-TW" dirty="0"/>
              <a:t>All gang members </a:t>
            </a:r>
            <a:r>
              <a:rPr lang="en-US" altLang="zh-TW" dirty="0">
                <a:solidFill>
                  <a:srgbClr val="FF0000"/>
                </a:solidFill>
              </a:rPr>
              <a:t>start and end </a:t>
            </a:r>
            <a:r>
              <a:rPr lang="en-US" altLang="zh-TW" dirty="0"/>
              <a:t>their time slices together.</a:t>
            </a:r>
          </a:p>
          <a:p>
            <a:pPr lvl="1"/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3140968"/>
            <a:ext cx="6912768" cy="362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777604"/>
      </p:ext>
    </p:extLst>
  </p:cSld>
  <p:clrMapOvr>
    <a:masterClrMapping/>
  </p:clrMapOvr>
</p:sld>
</file>

<file path=ppt/theme/theme1.xml><?xml version="1.0" encoding="utf-8"?>
<a:theme xmlns:a="http://schemas.openxmlformats.org/drawingml/2006/main" name="4_公正">
  <a:themeElements>
    <a:clrScheme name="4_公正 1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FFFFFF"/>
      </a:accent3>
      <a:accent4>
        <a:srgbClr val="000000"/>
      </a:accent4>
      <a:accent5>
        <a:srgbClr val="E6B1AB"/>
      </a:accent5>
      <a:accent6>
        <a:srgbClr val="8C281B"/>
      </a:accent6>
      <a:hlink>
        <a:srgbClr val="CC9900"/>
      </a:hlink>
      <a:folHlink>
        <a:srgbClr val="96A9A9"/>
      </a:folHlink>
    </a:clrScheme>
    <a:fontScheme name="4_公正">
      <a:majorFont>
        <a:latin typeface="Franklin Gothic Book"/>
        <a:ea typeface="新細明體"/>
        <a:cs typeface=""/>
      </a:majorFont>
      <a:minorFont>
        <a:latin typeface="Perpetu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公正 1">
        <a:dk1>
          <a:srgbClr val="000000"/>
        </a:dk1>
        <a:lt1>
          <a:srgbClr val="FFFFFF"/>
        </a:lt1>
        <a:dk2>
          <a:srgbClr val="696464"/>
        </a:dk2>
        <a:lt2>
          <a:srgbClr val="E9E5DC"/>
        </a:lt2>
        <a:accent1>
          <a:srgbClr val="D34817"/>
        </a:accent1>
        <a:accent2>
          <a:srgbClr val="9B2D1F"/>
        </a:accent2>
        <a:accent3>
          <a:srgbClr val="FFFFFF"/>
        </a:accent3>
        <a:accent4>
          <a:srgbClr val="000000"/>
        </a:accent4>
        <a:accent5>
          <a:srgbClr val="E6B1AB"/>
        </a:accent5>
        <a:accent6>
          <a:srgbClr val="8C281B"/>
        </a:accent6>
        <a:hlink>
          <a:srgbClr val="CC9900"/>
        </a:hlink>
        <a:folHlink>
          <a:srgbClr val="96A9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5_公正">
  <a:themeElements>
    <a:clrScheme name="5_公正 1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FFFFFF"/>
      </a:accent3>
      <a:accent4>
        <a:srgbClr val="000000"/>
      </a:accent4>
      <a:accent5>
        <a:srgbClr val="E6B1AB"/>
      </a:accent5>
      <a:accent6>
        <a:srgbClr val="8C281B"/>
      </a:accent6>
      <a:hlink>
        <a:srgbClr val="CC9900"/>
      </a:hlink>
      <a:folHlink>
        <a:srgbClr val="96A9A9"/>
      </a:folHlink>
    </a:clrScheme>
    <a:fontScheme name="5_公正">
      <a:majorFont>
        <a:latin typeface="Franklin Gothic Book"/>
        <a:ea typeface=""/>
        <a:cs typeface=""/>
      </a:majorFont>
      <a:minorFont>
        <a:latin typeface="Perpet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5_公正 1">
        <a:dk1>
          <a:srgbClr val="000000"/>
        </a:dk1>
        <a:lt1>
          <a:srgbClr val="FFFFFF"/>
        </a:lt1>
        <a:dk2>
          <a:srgbClr val="696464"/>
        </a:dk2>
        <a:lt2>
          <a:srgbClr val="E9E5DC"/>
        </a:lt2>
        <a:accent1>
          <a:srgbClr val="D34817"/>
        </a:accent1>
        <a:accent2>
          <a:srgbClr val="9B2D1F"/>
        </a:accent2>
        <a:accent3>
          <a:srgbClr val="FFFFFF"/>
        </a:accent3>
        <a:accent4>
          <a:srgbClr val="000000"/>
        </a:accent4>
        <a:accent5>
          <a:srgbClr val="E6B1AB"/>
        </a:accent5>
        <a:accent6>
          <a:srgbClr val="8C281B"/>
        </a:accent6>
        <a:hlink>
          <a:srgbClr val="CC9900"/>
        </a:hlink>
        <a:folHlink>
          <a:srgbClr val="96A9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公正">
  <a:themeElements>
    <a:clrScheme name="公正 1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FFFFFF"/>
      </a:accent3>
      <a:accent4>
        <a:srgbClr val="000000"/>
      </a:accent4>
      <a:accent5>
        <a:srgbClr val="E6B1AB"/>
      </a:accent5>
      <a:accent6>
        <a:srgbClr val="8C281B"/>
      </a:accent6>
      <a:hlink>
        <a:srgbClr val="CC9900"/>
      </a:hlink>
      <a:folHlink>
        <a:srgbClr val="96A9A9"/>
      </a:folHlink>
    </a:clrScheme>
    <a:fontScheme name="公正">
      <a:majorFont>
        <a:latin typeface="Franklin Gothic Book"/>
        <a:ea typeface=""/>
        <a:cs typeface=""/>
      </a:majorFont>
      <a:minorFont>
        <a:latin typeface="Perpet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公正 1">
        <a:dk1>
          <a:srgbClr val="000000"/>
        </a:dk1>
        <a:lt1>
          <a:srgbClr val="FFFFFF"/>
        </a:lt1>
        <a:dk2>
          <a:srgbClr val="696464"/>
        </a:dk2>
        <a:lt2>
          <a:srgbClr val="E9E5DC"/>
        </a:lt2>
        <a:accent1>
          <a:srgbClr val="D34817"/>
        </a:accent1>
        <a:accent2>
          <a:srgbClr val="9B2D1F"/>
        </a:accent2>
        <a:accent3>
          <a:srgbClr val="FFFFFF"/>
        </a:accent3>
        <a:accent4>
          <a:srgbClr val="000000"/>
        </a:accent4>
        <a:accent5>
          <a:srgbClr val="E6B1AB"/>
        </a:accent5>
        <a:accent6>
          <a:srgbClr val="8C281B"/>
        </a:accent6>
        <a:hlink>
          <a:srgbClr val="CC9900"/>
        </a:hlink>
        <a:folHlink>
          <a:srgbClr val="96A9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4008</TotalTime>
  <Words>3627</Words>
  <Application>Microsoft Office PowerPoint</Application>
  <PresentationFormat>如螢幕大小 (4:3)</PresentationFormat>
  <Paragraphs>340</Paragraphs>
  <Slides>44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44</vt:i4>
      </vt:variant>
    </vt:vector>
  </HeadingPairs>
  <TitlesOfParts>
    <vt:vector size="56" baseType="lpstr">
      <vt:lpstr>微軟正黑體</vt:lpstr>
      <vt:lpstr>新細明體</vt:lpstr>
      <vt:lpstr>Arial</vt:lpstr>
      <vt:lpstr>Calibri</vt:lpstr>
      <vt:lpstr>Cambria Math</vt:lpstr>
      <vt:lpstr>Franklin Gothic Book</vt:lpstr>
      <vt:lpstr>Perpetua</vt:lpstr>
      <vt:lpstr>Times New Roman</vt:lpstr>
      <vt:lpstr>Wingdings 2</vt:lpstr>
      <vt:lpstr>4_公正</vt:lpstr>
      <vt:lpstr>5_公正</vt:lpstr>
      <vt:lpstr>公正</vt:lpstr>
      <vt:lpstr>Operating Systems Multiprocessor Systems</vt:lpstr>
      <vt:lpstr>Systems with Multiple CPUs </vt:lpstr>
      <vt:lpstr>Multiple CPUs with Shared Memory</vt:lpstr>
      <vt:lpstr>Bus Based UMA Multiprocessors</vt:lpstr>
      <vt:lpstr>Bused UMA Multiprocessor + Cache</vt:lpstr>
      <vt:lpstr>The Cache Coherence Problem</vt:lpstr>
      <vt:lpstr>Bused UMA with Cache + Private RAM</vt:lpstr>
      <vt:lpstr>UMA MPs using Crossbar Switch</vt:lpstr>
      <vt:lpstr>An 8x8 Crossbar Switch</vt:lpstr>
      <vt:lpstr>UMA MPs using Multistage Switch</vt:lpstr>
      <vt:lpstr>The Omega Network</vt:lpstr>
      <vt:lpstr>An 8x8 Omega Network</vt:lpstr>
      <vt:lpstr>The routing of Omega network</vt:lpstr>
      <vt:lpstr>Interleaved Addressing</vt:lpstr>
      <vt:lpstr>NUMA Multiprocessors</vt:lpstr>
      <vt:lpstr>Directory Based CC-NUMA</vt:lpstr>
      <vt:lpstr>The Directory Cache Coherence Protocol</vt:lpstr>
      <vt:lpstr>                   The DCCP               -cont             </vt:lpstr>
      <vt:lpstr>Multicore Chips</vt:lpstr>
      <vt:lpstr>Chip Level Multiprocessors (CMPs)</vt:lpstr>
      <vt:lpstr>Multiprocessor Operating Systems</vt:lpstr>
      <vt:lpstr>Each CPU Has Its Own OS</vt:lpstr>
      <vt:lpstr>Master-Slave MP (MS-MP)</vt:lpstr>
      <vt:lpstr>The MS-MP</vt:lpstr>
      <vt:lpstr>Symmetric Multiprocessors (SMP)</vt:lpstr>
      <vt:lpstr>The SMP</vt:lpstr>
      <vt:lpstr>Multi-Processor Synchronization</vt:lpstr>
      <vt:lpstr>TSL on SMP</vt:lpstr>
      <vt:lpstr>TSL is a Spinlock</vt:lpstr>
      <vt:lpstr>TSL + Cache on SMP</vt:lpstr>
      <vt:lpstr>Read before TSL on SMP</vt:lpstr>
      <vt:lpstr>TSL with backoff on SMP</vt:lpstr>
      <vt:lpstr>(Mellor-Crummey &amp; Scott) MCS locking</vt:lpstr>
      <vt:lpstr>MCS Locking</vt:lpstr>
      <vt:lpstr>Spinning versus Switching</vt:lpstr>
      <vt:lpstr>Spinning vs Switching</vt:lpstr>
      <vt:lpstr>Multiprocessor Scheduling</vt:lpstr>
      <vt:lpstr>Time Sharing MP Scheduling</vt:lpstr>
      <vt:lpstr>Single Shared Ready List</vt:lpstr>
      <vt:lpstr>Affinity Scheduling</vt:lpstr>
      <vt:lpstr>Two-level Scheduling</vt:lpstr>
      <vt:lpstr>Space Sharing Scheduling</vt:lpstr>
      <vt:lpstr>Out of Phase Comm.</vt:lpstr>
      <vt:lpstr>Gang Scheduling</vt:lpstr>
    </vt:vector>
  </TitlesOfParts>
  <Company>she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she</dc:creator>
  <cp:lastModifiedBy>user</cp:lastModifiedBy>
  <cp:revision>283</cp:revision>
  <dcterms:created xsi:type="dcterms:W3CDTF">2009-09-21T01:12:33Z</dcterms:created>
  <dcterms:modified xsi:type="dcterms:W3CDTF">2024-02-21T00:14:20Z</dcterms:modified>
</cp:coreProperties>
</file>