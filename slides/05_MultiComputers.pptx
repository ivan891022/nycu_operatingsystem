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3" r:id="rId2"/>
    <p:sldMasterId id="2147483654" r:id="rId3"/>
  </p:sldMasterIdLst>
  <p:notesMasterIdLst>
    <p:notesMasterId r:id="rId75"/>
  </p:notesMasterIdLst>
  <p:sldIdLst>
    <p:sldId id="256" r:id="rId4"/>
    <p:sldId id="288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1" r:id="rId14"/>
    <p:sldId id="300" r:id="rId15"/>
    <p:sldId id="302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31" r:id="rId38"/>
    <p:sldId id="366" r:id="rId39"/>
    <p:sldId id="330" r:id="rId40"/>
    <p:sldId id="344" r:id="rId41"/>
    <p:sldId id="332" r:id="rId42"/>
    <p:sldId id="334" r:id="rId43"/>
    <p:sldId id="333" r:id="rId44"/>
    <p:sldId id="335" r:id="rId45"/>
    <p:sldId id="336" r:id="rId46"/>
    <p:sldId id="337" r:id="rId47"/>
    <p:sldId id="338" r:id="rId48"/>
    <p:sldId id="339" r:id="rId49"/>
    <p:sldId id="340" r:id="rId50"/>
    <p:sldId id="341" r:id="rId51"/>
    <p:sldId id="342" r:id="rId52"/>
    <p:sldId id="343" r:id="rId53"/>
    <p:sldId id="346" r:id="rId54"/>
    <p:sldId id="345" r:id="rId55"/>
    <p:sldId id="351" r:id="rId56"/>
    <p:sldId id="352" r:id="rId57"/>
    <p:sldId id="347" r:id="rId58"/>
    <p:sldId id="348" r:id="rId59"/>
    <p:sldId id="349" r:id="rId60"/>
    <p:sldId id="350" r:id="rId61"/>
    <p:sldId id="353" r:id="rId62"/>
    <p:sldId id="354" r:id="rId63"/>
    <p:sldId id="355" r:id="rId64"/>
    <p:sldId id="356" r:id="rId65"/>
    <p:sldId id="357" r:id="rId66"/>
    <p:sldId id="358" r:id="rId67"/>
    <p:sldId id="359" r:id="rId68"/>
    <p:sldId id="360" r:id="rId69"/>
    <p:sldId id="361" r:id="rId70"/>
    <p:sldId id="362" r:id="rId71"/>
    <p:sldId id="363" r:id="rId72"/>
    <p:sldId id="364" r:id="rId73"/>
    <p:sldId id="365" r:id="rId74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FB8FC928-72EE-464F-BC38-B4632756C9EE}" type="datetimeFigureOut">
              <a:rPr lang="zh-TW" altLang="en-US"/>
              <a:pPr>
                <a:defRPr/>
              </a:pPr>
              <a:t>2023/3/28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676536-6B7D-46DE-95D7-3DD0ACF4DB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804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CB1B1-1809-4C5B-B10D-D56A7FED31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87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93C270-138C-42DF-BA7F-31BECF9A9D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58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C126F-E9D4-4779-B5E6-E6821E897C3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09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3A61E-6E50-47C5-A571-1BEA1FBBB6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858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E5B3A-745C-4BDD-A569-4E3A2C7663D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431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72F18-AD83-40E9-AFC0-EAB75D45B4F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53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021CF-3A74-41EE-8645-B20E4A2056F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20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D5D20-8F2C-4DD5-AE70-A881BBC0AA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20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9C9D-1EC0-4BF1-9C08-0ED99A350A7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027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5F71B1-7C88-4BC8-A518-24B159CE008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974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6C93A-7BBE-44E5-BDAB-7156FDE321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18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8D2B4-E862-438E-9790-CDD4659E5B5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0124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358C2-AF4F-4DA6-BDBC-2C6B60C74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3744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3D52A-3251-4F2A-965A-68697340EB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5053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BFBC-5F56-4283-B299-4DE386FC81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7497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16F7E-6462-4EBB-AC7C-57D2A1527BC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893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8F2A4-614B-4CDF-B57C-19AD2CC91C2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21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8C1DE-C343-45A7-98A2-D4A0CA8D1B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143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B438A-DA91-4030-A901-6756B18B2BA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5014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856F6-89E5-4EB4-8B94-2E384E0429E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434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C0EB8-BC90-40E1-8EEA-0FC09F0EB4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900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0B9F2-E97D-48AD-9AF0-363D7651E3C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4517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4EAC2-EC43-4CA0-BCF9-B1DA03845B2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371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6F714-468D-45C8-A116-4CD3D030CE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1638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10860-0040-4170-9093-2398FA10A3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238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01254-25D6-439E-BDBC-326C8D468B9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332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743E6-03A6-4062-A2F9-A8CB67EA79E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667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56BC5-B4A1-4832-9556-DE3ECA9BC2E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6153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2B0C5-6FC9-44D5-BF55-5F5C805708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06634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02423-93F9-4C8F-A1C5-744BE3352F8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4320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D2BA9-7A74-4D25-A98B-BA166E1C76F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7470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D71CD-6FCB-48D1-A58B-126B35190E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884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D375B-07BA-448A-B2BF-AAF8798B13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875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3" name="矩形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5" name="矩形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031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2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C5D98EF3-68B0-4BE5-A804-4F06DFD0AF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kumimoji="1"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kumimoji="1"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5pPr>
      <a:lvl6pPr marL="18288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6pPr>
      <a:lvl7pPr marL="22860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7pPr>
      <a:lvl8pPr marL="27432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8pPr>
      <a:lvl9pPr marL="32004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4" name="矩形 11"/>
          <p:cNvSpPr>
            <a:spLocks noChangeArrowheads="1"/>
          </p:cNvSpPr>
          <p:nvPr/>
        </p:nvSpPr>
        <p:spPr bwMode="auto">
          <a:xfrm flipV="1">
            <a:off x="95250" y="1341438"/>
            <a:ext cx="9013825" cy="92075"/>
          </a:xfrm>
          <a:prstGeom prst="rect">
            <a:avLst/>
          </a:prstGeom>
          <a:solidFill>
            <a:schemeClr val="accent1"/>
          </a:solidFill>
          <a:ln w="19050" cap="sq" algn="ctr">
            <a:noFill/>
            <a:miter lim="800000"/>
            <a:headEnd/>
            <a:tailEnd/>
          </a:ln>
        </p:spPr>
        <p:txBody>
          <a:bodyPr rot="10800000" anchor="ctr"/>
          <a:lstStyle/>
          <a:p>
            <a:pPr algn="ctr" eaLnBrk="1" hangingPunct="1">
              <a:defRPr/>
            </a:pPr>
            <a:endParaRPr kumimoji="0" lang="en-US" altLang="zh-TW" sz="2400">
              <a:solidFill>
                <a:srgbClr val="FFFFFF"/>
              </a:solidFill>
              <a:latin typeface="Perpetua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0" y="1341438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924F783D-3DC7-4B21-9FC9-06AEAAF25AF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307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D3C4E825-B7C8-40C0-A68F-A0BB2DAA503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myuan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hyperlink" Target="http://fscked.org/writings/clusters/cluster.html" TargetMode="External"/><Relationship Id="rId3" Type="http://schemas.openxmlformats.org/officeDocument/2006/relationships/hyperlink" Target="http://www.mpi-forum.org/" TargetMode="External"/><Relationship Id="rId7" Type="http://schemas.openxmlformats.org/officeDocument/2006/relationships/hyperlink" Target="https://www.linux.com/community/blogs/133-general-linux/9401" TargetMode="External"/><Relationship Id="rId2" Type="http://schemas.openxmlformats.org/officeDocument/2006/relationships/hyperlink" Target="http://electro.fisica.unlp.edu.ar/arq/downloads/Papers/Clusters/Linux%20Cluster%20Computing%20-%20Apr%202003.pdf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netlib.org/pvm3/book/pvm-book.html" TargetMode="External"/><Relationship Id="rId5" Type="http://schemas.openxmlformats.org/officeDocument/2006/relationships/hyperlink" Target="http://www.csm.ornl.gov/pvm/" TargetMode="External"/><Relationship Id="rId4" Type="http://schemas.openxmlformats.org/officeDocument/2006/relationships/hyperlink" Target="https://www.mpich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214313" y="1484313"/>
            <a:ext cx="8929687" cy="1470025"/>
          </a:xfrm>
        </p:spPr>
        <p:txBody>
          <a:bodyPr/>
          <a:lstStyle/>
          <a:p>
            <a:pPr algn="ctr" eaLnBrk="1" hangingPunct="1"/>
            <a: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Operating Systems</a:t>
            </a:r>
            <a:r>
              <a:rPr lang="en-US" altLang="zh-TW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/>
            </a:r>
            <a:br>
              <a:rPr lang="en-US" altLang="zh-TW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Multi </a:t>
            </a:r>
            <a:r>
              <a:rPr lang="en-US" altLang="zh-TW" dirty="0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Computer </a:t>
            </a:r>
            <a: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Systems</a:t>
            </a:r>
            <a:endParaRPr lang="en-US" altLang="zh-TW" dirty="0" smtClean="0">
              <a:solidFill>
                <a:srgbClr val="FFFFFF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1331913" y="36449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Shyan</a:t>
            </a:r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-Ming Yuan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Department, NCTU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smyuan@gmail.com</a:t>
            </a:r>
            <a:endParaRPr lang="en-US" altLang="zh-TW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hours: Wed. 8~10 (EC442)</a:t>
            </a:r>
          </a:p>
          <a:p>
            <a:pPr eaLnBrk="1" hangingPunct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269776"/>
            <a:ext cx="7772400" cy="998984"/>
          </a:xfrm>
        </p:spPr>
        <p:txBody>
          <a:bodyPr/>
          <a:lstStyle/>
          <a:p>
            <a:pPr algn="ctr"/>
            <a:r>
              <a:rPr lang="en-US" altLang="zh-TW" dirty="0" smtClean="0"/>
              <a:t>Multi Computers (</a:t>
            </a:r>
            <a:r>
              <a:rPr lang="en-US" altLang="zh-TW" dirty="0" smtClean="0">
                <a:solidFill>
                  <a:srgbClr val="FF0000"/>
                </a:solidFill>
              </a:rPr>
              <a:t>MC</a:t>
            </a:r>
            <a:r>
              <a:rPr lang="en-US" altLang="zh-TW" dirty="0" smtClean="0"/>
              <a:t>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375792"/>
            <a:ext cx="8784976" cy="5293568"/>
          </a:xfrm>
        </p:spPr>
        <p:txBody>
          <a:bodyPr/>
          <a:lstStyle/>
          <a:p>
            <a:r>
              <a:rPr lang="en-US" altLang="zh-TW" dirty="0" smtClean="0"/>
              <a:t>Multiprocessors share a common memory</a:t>
            </a:r>
          </a:p>
          <a:p>
            <a:pPr lvl="1"/>
            <a:r>
              <a:rPr lang="en-US" altLang="zh-TW" dirty="0" smtClean="0"/>
              <a:t>It is very expensive to build a MP with huge size.</a:t>
            </a:r>
            <a:endParaRPr lang="en-US" altLang="zh-TW" dirty="0"/>
          </a:p>
          <a:p>
            <a:r>
              <a:rPr lang="en-US" altLang="zh-TW" dirty="0" smtClean="0"/>
              <a:t>Multi computers are closely </a:t>
            </a:r>
            <a:r>
              <a:rPr lang="en-US" altLang="zh-TW" dirty="0"/>
              <a:t>coupled </a:t>
            </a:r>
            <a:r>
              <a:rPr lang="en-US" altLang="zh-TW" dirty="0" smtClean="0"/>
              <a:t>computers </a:t>
            </a:r>
            <a:r>
              <a:rPr lang="en-US" altLang="zh-TW" dirty="0"/>
              <a:t>that do not physically share </a:t>
            </a:r>
            <a:r>
              <a:rPr lang="en-US" altLang="zh-TW" dirty="0" smtClean="0"/>
              <a:t>any memory.</a:t>
            </a:r>
            <a:endParaRPr lang="en-US" altLang="zh-TW" dirty="0"/>
          </a:p>
          <a:p>
            <a:pPr lvl="1"/>
            <a:r>
              <a:rPr lang="en-US" altLang="zh-TW" dirty="0" smtClean="0"/>
              <a:t>MCs are </a:t>
            </a:r>
            <a:r>
              <a:rPr lang="en-US" altLang="zh-TW" dirty="0" smtClean="0">
                <a:solidFill>
                  <a:srgbClr val="FF0000"/>
                </a:solidFill>
              </a:rPr>
              <a:t>cluster of computers</a:t>
            </a:r>
            <a:r>
              <a:rPr lang="en-US" altLang="zh-TW" dirty="0"/>
              <a:t> </a:t>
            </a:r>
            <a:r>
              <a:rPr lang="en-US" altLang="zh-TW" dirty="0" smtClean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networks</a:t>
            </a:r>
            <a:r>
              <a:rPr lang="en-US" altLang="zh-TW" dirty="0" smtClean="0"/>
              <a:t> </a:t>
            </a:r>
            <a:r>
              <a:rPr lang="en-US" altLang="zh-TW" dirty="0"/>
              <a:t>or </a:t>
            </a:r>
            <a:r>
              <a:rPr lang="en-US" altLang="zh-TW" dirty="0">
                <a:solidFill>
                  <a:srgbClr val="FF0000"/>
                </a:solidFill>
              </a:rPr>
              <a:t>clusters of </a:t>
            </a:r>
            <a:r>
              <a:rPr lang="en-US" altLang="zh-TW" dirty="0" smtClean="0">
                <a:solidFill>
                  <a:srgbClr val="FF0000"/>
                </a:solidFill>
              </a:rPr>
              <a:t>workstations </a:t>
            </a:r>
            <a:r>
              <a:rPr lang="en-US" altLang="zh-TW" dirty="0"/>
              <a:t>(NOWs or COWs)</a:t>
            </a:r>
          </a:p>
          <a:p>
            <a:pPr lvl="1"/>
            <a:r>
              <a:rPr lang="en-US" altLang="zh-TW" dirty="0" smtClean="0"/>
              <a:t>MCs can </a:t>
            </a:r>
            <a:r>
              <a:rPr lang="en-US" altLang="zh-TW" dirty="0"/>
              <a:t>grow to a very large </a:t>
            </a:r>
            <a:r>
              <a:rPr lang="en-US" altLang="zh-TW" dirty="0" smtClean="0"/>
              <a:t>number.</a:t>
            </a:r>
          </a:p>
          <a:p>
            <a:r>
              <a:rPr lang="en-US" altLang="zh-TW" dirty="0" smtClean="0"/>
              <a:t>A MC consists of </a:t>
            </a:r>
          </a:p>
          <a:p>
            <a:pPr lvl="1"/>
            <a:r>
              <a:rPr lang="en-US" altLang="zh-TW" dirty="0" smtClean="0"/>
              <a:t>Processing </a:t>
            </a:r>
            <a:r>
              <a:rPr lang="en-US" altLang="zh-TW" dirty="0"/>
              <a:t>nodes </a:t>
            </a:r>
            <a:r>
              <a:rPr lang="en-US" altLang="zh-TW" dirty="0" smtClean="0"/>
              <a:t>contains CPU</a:t>
            </a:r>
            <a:r>
              <a:rPr lang="en-US" altLang="zh-TW" dirty="0"/>
              <a:t>, memory and network </a:t>
            </a:r>
            <a:r>
              <a:rPr lang="en-US" altLang="zh-TW" dirty="0" smtClean="0"/>
              <a:t>interface</a:t>
            </a:r>
            <a:endParaRPr lang="en-US" altLang="zh-TW" dirty="0"/>
          </a:p>
          <a:p>
            <a:pPr lvl="1"/>
            <a:r>
              <a:rPr lang="en-US" altLang="zh-TW" dirty="0"/>
              <a:t>I/O nodes </a:t>
            </a:r>
            <a:r>
              <a:rPr lang="en-US" altLang="zh-TW" dirty="0" smtClean="0"/>
              <a:t>contains </a:t>
            </a:r>
            <a:r>
              <a:rPr lang="en-US" altLang="zh-TW" dirty="0"/>
              <a:t>device controller and network </a:t>
            </a:r>
            <a:r>
              <a:rPr lang="en-US" altLang="zh-TW" dirty="0" smtClean="0"/>
              <a:t>interface</a:t>
            </a:r>
          </a:p>
          <a:p>
            <a:pPr lvl="1"/>
            <a:r>
              <a:rPr lang="en-US" altLang="zh-TW" dirty="0" smtClean="0"/>
              <a:t>High speed interconnection network for </a:t>
            </a:r>
            <a:r>
              <a:rPr lang="en-US" altLang="zh-TW" dirty="0" smtClean="0">
                <a:solidFill>
                  <a:srgbClr val="FF0000"/>
                </a:solidFill>
              </a:rPr>
              <a:t>message passing</a:t>
            </a:r>
            <a:endParaRPr lang="en-US" altLang="zh-TW" dirty="0">
              <a:solidFill>
                <a:srgbClr val="FF0000"/>
              </a:solidFill>
            </a:endParaRPr>
          </a:p>
          <a:p>
            <a:pPr lvl="2"/>
            <a:r>
              <a:rPr lang="en-US" altLang="zh-TW" dirty="0" smtClean="0"/>
              <a:t>There are many </a:t>
            </a:r>
            <a:r>
              <a:rPr lang="en-US" altLang="zh-TW" dirty="0"/>
              <a:t>topologies – e.g. </a:t>
            </a:r>
            <a:r>
              <a:rPr lang="en-US" altLang="zh-TW" dirty="0">
                <a:solidFill>
                  <a:srgbClr val="FF0000"/>
                </a:solidFill>
              </a:rPr>
              <a:t>grid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hypercube</a:t>
            </a:r>
            <a:r>
              <a:rPr lang="en-US" altLang="zh-TW" dirty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torus</a:t>
            </a:r>
            <a:r>
              <a:rPr lang="en-US" altLang="zh-TW" dirty="0" smtClean="0"/>
              <a:t>, …</a:t>
            </a:r>
            <a:endParaRPr lang="en-US" altLang="zh-TW" dirty="0"/>
          </a:p>
          <a:p>
            <a:pPr lvl="2"/>
            <a:r>
              <a:rPr lang="en-US" altLang="zh-TW" dirty="0" smtClean="0"/>
              <a:t>It can </a:t>
            </a:r>
            <a:r>
              <a:rPr lang="en-US" altLang="zh-TW" dirty="0"/>
              <a:t>be </a:t>
            </a:r>
            <a:r>
              <a:rPr lang="en-US" altLang="zh-TW" dirty="0">
                <a:solidFill>
                  <a:srgbClr val="FF0000"/>
                </a:solidFill>
              </a:rPr>
              <a:t>packet switched </a:t>
            </a:r>
            <a:r>
              <a:rPr lang="en-US" altLang="zh-TW" dirty="0"/>
              <a:t>or </a:t>
            </a:r>
            <a:r>
              <a:rPr lang="en-US" altLang="zh-TW" dirty="0">
                <a:solidFill>
                  <a:srgbClr val="FF0000"/>
                </a:solidFill>
              </a:rPr>
              <a:t>circuit </a:t>
            </a:r>
            <a:r>
              <a:rPr lang="en-US" altLang="zh-TW" dirty="0" smtClean="0">
                <a:solidFill>
                  <a:srgbClr val="FF0000"/>
                </a:solidFill>
              </a:rPr>
              <a:t>switched.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418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6672"/>
            <a:ext cx="7772400" cy="796950"/>
          </a:xfrm>
        </p:spPr>
        <p:txBody>
          <a:bodyPr/>
          <a:lstStyle/>
          <a:p>
            <a:pPr algn="ctr"/>
            <a:r>
              <a:rPr lang="en-US" altLang="zh-TW" dirty="0"/>
              <a:t>Interconnection </a:t>
            </a:r>
            <a:r>
              <a:rPr lang="en-US" altLang="zh-TW" dirty="0" smtClean="0"/>
              <a:t>Networks (INs)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9006" y="1412698"/>
            <a:ext cx="8075240" cy="5328669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Direct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FF0000"/>
                </a:solidFill>
              </a:rPr>
              <a:t>Indirect</a:t>
            </a:r>
            <a:r>
              <a:rPr lang="en-US" altLang="zh-TW" dirty="0"/>
              <a:t> Networks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Nodes </a:t>
            </a:r>
            <a:r>
              <a:rPr lang="en-US" altLang="zh-TW" dirty="0"/>
              <a:t>sit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inside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 </a:t>
            </a:r>
            <a:r>
              <a:rPr lang="en-US" altLang="zh-TW" dirty="0"/>
              <a:t>(direct) or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outside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 </a:t>
            </a:r>
            <a:r>
              <a:rPr lang="en-US" altLang="zh-TW" dirty="0"/>
              <a:t>(indirect) the </a:t>
            </a:r>
            <a:r>
              <a:rPr lang="en-US" altLang="zh-TW" dirty="0" smtClean="0"/>
              <a:t>network.</a:t>
            </a:r>
          </a:p>
          <a:p>
            <a:pPr lvl="1"/>
            <a:r>
              <a:rPr lang="en-US" altLang="zh-TW" dirty="0" smtClean="0"/>
              <a:t>Mesh </a:t>
            </a:r>
            <a:r>
              <a:rPr lang="en-US" altLang="zh-TW" dirty="0"/>
              <a:t>is </a:t>
            </a:r>
            <a:r>
              <a:rPr lang="en-US" altLang="zh-TW" dirty="0" smtClean="0"/>
              <a:t>a direct network.</a:t>
            </a:r>
          </a:p>
          <a:p>
            <a:pPr lvl="2"/>
            <a:r>
              <a:rPr lang="en-US" altLang="zh-TW" dirty="0" smtClean="0"/>
              <a:t>Every </a:t>
            </a:r>
            <a:r>
              <a:rPr lang="en-US" altLang="zh-TW" dirty="0"/>
              <a:t>node is both </a:t>
            </a:r>
            <a:r>
              <a:rPr lang="en-US" altLang="zh-TW" dirty="0" smtClean="0"/>
              <a:t>a processing node </a:t>
            </a:r>
            <a:r>
              <a:rPr lang="en-US" altLang="zh-TW" dirty="0"/>
              <a:t>and </a:t>
            </a:r>
            <a:r>
              <a:rPr lang="en-US" altLang="zh-TW" dirty="0" smtClean="0"/>
              <a:t>a network switch.</a:t>
            </a:r>
          </a:p>
          <a:p>
            <a:pPr lvl="1"/>
            <a:r>
              <a:rPr lang="en-US" altLang="zh-TW" dirty="0" smtClean="0"/>
              <a:t>Omega switch is an indirect network.</a:t>
            </a:r>
          </a:p>
          <a:p>
            <a:pPr lvl="2"/>
            <a:r>
              <a:rPr lang="en-US" altLang="zh-TW" dirty="0" smtClean="0"/>
              <a:t>Processing nodes are connected by dedicated switching nodes.</a:t>
            </a:r>
          </a:p>
          <a:p>
            <a:pPr lvl="2"/>
            <a:r>
              <a:rPr lang="en-US" altLang="zh-TW" dirty="0"/>
              <a:t>All messages between any pair of </a:t>
            </a:r>
            <a:r>
              <a:rPr lang="en-US" altLang="zh-TW" dirty="0" smtClean="0"/>
              <a:t>processing nodes </a:t>
            </a:r>
            <a:r>
              <a:rPr lang="en-US" altLang="zh-TW" dirty="0"/>
              <a:t>must be </a:t>
            </a:r>
            <a:r>
              <a:rPr lang="en-US" altLang="zh-TW" dirty="0" smtClean="0"/>
              <a:t>routed through switching nodes.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522291"/>
            <a:ext cx="3292412" cy="221907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027" y="4653136"/>
            <a:ext cx="2225985" cy="194421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4594957"/>
            <a:ext cx="2088232" cy="2074403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97" y="4941168"/>
            <a:ext cx="210935" cy="148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9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Properties of INs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19808"/>
            <a:ext cx="8712968" cy="5077544"/>
          </a:xfrm>
        </p:spPr>
        <p:txBody>
          <a:bodyPr/>
          <a:lstStyle/>
          <a:p>
            <a:r>
              <a:rPr lang="en-US" altLang="zh-TW" dirty="0" smtClean="0"/>
              <a:t>Degree (a): the </a:t>
            </a:r>
            <a:r>
              <a:rPr lang="en-US" altLang="zh-TW" dirty="0"/>
              <a:t>number of incident nodes </a:t>
            </a:r>
            <a:r>
              <a:rPr lang="en-US" altLang="zh-TW" dirty="0" smtClean="0"/>
              <a:t>of node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</a:p>
          <a:p>
            <a:r>
              <a:rPr lang="en-US" altLang="zh-TW" dirty="0" smtClean="0"/>
              <a:t>Distance (a, b): shortest path between nodes </a:t>
            </a:r>
            <a:r>
              <a:rPr lang="en-US" altLang="zh-TW" dirty="0" smtClean="0">
                <a:solidFill>
                  <a:srgbClr val="FF0000"/>
                </a:solidFill>
              </a:rPr>
              <a:t>a</a:t>
            </a:r>
            <a:r>
              <a:rPr lang="en-US" altLang="zh-TW" dirty="0" smtClean="0"/>
              <a:t> and </a:t>
            </a:r>
            <a:r>
              <a:rPr lang="en-US" altLang="zh-TW" dirty="0" smtClean="0">
                <a:solidFill>
                  <a:srgbClr val="FF0000"/>
                </a:solidFill>
              </a:rPr>
              <a:t>b</a:t>
            </a:r>
          </a:p>
          <a:p>
            <a:r>
              <a:rPr lang="en-US" altLang="zh-TW" dirty="0" smtClean="0"/>
              <a:t>Diameter</a:t>
            </a:r>
            <a:r>
              <a:rPr lang="en-US" altLang="zh-TW" dirty="0"/>
              <a:t>: </a:t>
            </a:r>
            <a:r>
              <a:rPr lang="en-US" altLang="zh-TW" dirty="0" smtClean="0"/>
              <a:t>maximal distance </a:t>
            </a:r>
            <a:r>
              <a:rPr lang="en-US" altLang="zh-TW" dirty="0"/>
              <a:t>between all pairs of </a:t>
            </a:r>
            <a:r>
              <a:rPr lang="en-US" altLang="zh-TW" dirty="0" smtClean="0"/>
              <a:t>nodes</a:t>
            </a:r>
          </a:p>
          <a:p>
            <a:r>
              <a:rPr lang="en-US" altLang="zh-TW" dirty="0" smtClean="0"/>
              <a:t>Bisection width</a:t>
            </a:r>
            <a:r>
              <a:rPr lang="en-US" altLang="zh-TW" dirty="0"/>
              <a:t>: </a:t>
            </a:r>
            <a:r>
              <a:rPr lang="en-US" altLang="zh-TW" dirty="0" smtClean="0"/>
              <a:t>the </a:t>
            </a:r>
            <a:r>
              <a:rPr lang="en-US" altLang="zh-TW" dirty="0"/>
              <a:t>smallest number of </a:t>
            </a:r>
            <a:r>
              <a:rPr lang="en-US" altLang="zh-TW" dirty="0" smtClean="0"/>
              <a:t>links can </a:t>
            </a:r>
            <a:r>
              <a:rPr lang="en-US" altLang="zh-TW" dirty="0"/>
              <a:t>disconnect the network into two equal halves (±1). </a:t>
            </a:r>
            <a:endParaRPr lang="en-US" altLang="zh-TW" dirty="0" smtClean="0"/>
          </a:p>
          <a:p>
            <a:r>
              <a:rPr lang="en-US" altLang="zh-TW" dirty="0" smtClean="0"/>
              <a:t>Average distance: </a:t>
            </a:r>
            <a:r>
              <a:rPr lang="en-US" altLang="zh-TW" dirty="0"/>
              <a:t>average </a:t>
            </a:r>
            <a:r>
              <a:rPr lang="en-US" altLang="zh-TW" dirty="0" smtClean="0"/>
              <a:t>distance </a:t>
            </a:r>
            <a:r>
              <a:rPr lang="en-US" altLang="zh-TW" dirty="0"/>
              <a:t>over all pairs of </a:t>
            </a:r>
            <a:r>
              <a:rPr lang="en-US" altLang="zh-TW" dirty="0" smtClean="0"/>
              <a:t>nodes</a:t>
            </a:r>
          </a:p>
          <a:p>
            <a:r>
              <a:rPr lang="en-US" altLang="zh-TW" dirty="0" smtClean="0"/>
              <a:t>Cost: resources needed to construct the topology</a:t>
            </a:r>
          </a:p>
          <a:p>
            <a:pPr lvl="1"/>
            <a:r>
              <a:rPr lang="en-US" altLang="zh-TW" dirty="0" smtClean="0"/>
              <a:t>Number of links and switches and so on</a:t>
            </a:r>
          </a:p>
          <a:p>
            <a:r>
              <a:rPr lang="en-US" altLang="zh-TW" dirty="0" smtClean="0"/>
              <a:t>Symmetricity: </a:t>
            </a:r>
            <a:r>
              <a:rPr lang="en-US" altLang="zh-TW" dirty="0">
                <a:solidFill>
                  <a:srgbClr val="FF0000"/>
                </a:solidFill>
              </a:rPr>
              <a:t>uniform</a:t>
            </a:r>
            <a:r>
              <a:rPr lang="en-US" altLang="zh-TW" dirty="0"/>
              <a:t> </a:t>
            </a:r>
            <a:r>
              <a:rPr lang="en-US" altLang="zh-TW" dirty="0" smtClean="0"/>
              <a:t>vs </a:t>
            </a:r>
            <a:r>
              <a:rPr lang="en-US" altLang="zh-TW" dirty="0" smtClean="0">
                <a:solidFill>
                  <a:srgbClr val="FF0000"/>
                </a:solidFill>
              </a:rPr>
              <a:t>hot-spot </a:t>
            </a:r>
            <a:r>
              <a:rPr lang="en-US" altLang="zh-TW" dirty="0" smtClean="0"/>
              <a:t>traffic pattern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Fault tolerance: how many faults that a topology can bear to continue providing message service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185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Direct INs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4896544" cy="5256584"/>
          </a:xfrm>
        </p:spPr>
        <p:txBody>
          <a:bodyPr/>
          <a:lstStyle/>
          <a:p>
            <a:r>
              <a:rPr lang="en-US" altLang="zh-TW" dirty="0"/>
              <a:t>Completely connected </a:t>
            </a:r>
            <a:r>
              <a:rPr lang="en-US" altLang="zh-TW" dirty="0" smtClean="0"/>
              <a:t>networks</a:t>
            </a:r>
          </a:p>
          <a:p>
            <a:pPr lvl="1"/>
            <a:r>
              <a:rPr lang="en-US" altLang="zh-TW" dirty="0" smtClean="0"/>
              <a:t>Diameter (1), </a:t>
            </a:r>
          </a:p>
          <a:p>
            <a:pPr lvl="1"/>
            <a:r>
              <a:rPr lang="en-US" altLang="zh-TW" dirty="0" smtClean="0"/>
              <a:t>Average distance (1), </a:t>
            </a:r>
          </a:p>
          <a:p>
            <a:pPr lvl="1"/>
            <a:r>
              <a:rPr lang="en-US" altLang="zh-TW" dirty="0" smtClean="0"/>
              <a:t>Bisection width and Cost are O(N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Star-connected networks </a:t>
            </a:r>
            <a:endParaRPr lang="en-US" altLang="zh-TW" dirty="0" smtClean="0"/>
          </a:p>
          <a:p>
            <a:pPr lvl="1"/>
            <a:r>
              <a:rPr lang="en-US" altLang="zh-TW" dirty="0"/>
              <a:t>Diameter </a:t>
            </a:r>
            <a:r>
              <a:rPr lang="en-US" altLang="zh-TW" dirty="0" smtClean="0"/>
              <a:t>(2), </a:t>
            </a:r>
          </a:p>
          <a:p>
            <a:pPr lvl="1"/>
            <a:r>
              <a:rPr lang="en-US" altLang="zh-TW" dirty="0" smtClean="0"/>
              <a:t>Average </a:t>
            </a:r>
            <a:r>
              <a:rPr lang="en-US" altLang="zh-TW" dirty="0"/>
              <a:t>distance </a:t>
            </a:r>
            <a:r>
              <a:rPr lang="en-US" altLang="zh-TW" dirty="0" smtClean="0"/>
              <a:t>(2), </a:t>
            </a:r>
          </a:p>
          <a:p>
            <a:pPr lvl="1"/>
            <a:r>
              <a:rPr lang="en-US" altLang="zh-TW" dirty="0" smtClean="0"/>
              <a:t>Bisection </a:t>
            </a:r>
            <a:r>
              <a:rPr lang="en-US" altLang="zh-TW" dirty="0"/>
              <a:t>width and Cost are </a:t>
            </a:r>
            <a:r>
              <a:rPr lang="en-US" altLang="zh-TW" dirty="0" smtClean="0"/>
              <a:t>O(N)</a:t>
            </a:r>
          </a:p>
          <a:p>
            <a:r>
              <a:rPr lang="en-US" altLang="zh-TW" dirty="0" smtClean="0"/>
              <a:t>Linear array and Ring</a:t>
            </a:r>
          </a:p>
          <a:p>
            <a:r>
              <a:rPr lang="en-US" altLang="zh-TW" dirty="0" smtClean="0"/>
              <a:t>Mesh and Torus</a:t>
            </a:r>
          </a:p>
          <a:p>
            <a:r>
              <a:rPr lang="en-US" altLang="zh-TW" dirty="0" smtClean="0"/>
              <a:t>Hypercube and more</a:t>
            </a:r>
          </a:p>
          <a:p>
            <a:endParaRPr lang="zh-TW" altLang="en-US" dirty="0"/>
          </a:p>
        </p:txBody>
      </p:sp>
      <p:pic>
        <p:nvPicPr>
          <p:cNvPr id="1026" name="Picture 2" descr="https://upload.wikimedia.org/wikipedia/commons/3/3c/NetworkTopology-FullyConnect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417084"/>
            <a:ext cx="2660141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d/d0/StarNetwork.svg/220px-StarNetwork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868" y="3704430"/>
            <a:ext cx="2095500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490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Linear Array and 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6120680" cy="4572000"/>
          </a:xfrm>
        </p:spPr>
        <p:txBody>
          <a:bodyPr/>
          <a:lstStyle/>
          <a:p>
            <a:r>
              <a:rPr lang="en-US" altLang="zh-TW" dirty="0" smtClean="0"/>
              <a:t>Linear Array:</a:t>
            </a:r>
          </a:p>
          <a:p>
            <a:pPr lvl="1"/>
            <a:r>
              <a:rPr lang="en-US" altLang="zh-TW" dirty="0" smtClean="0"/>
              <a:t>Diameter: N-1 (an array of N nodes)</a:t>
            </a:r>
          </a:p>
          <a:p>
            <a:pPr lvl="1"/>
            <a:r>
              <a:rPr lang="en-US" altLang="zh-TW" dirty="0" smtClean="0"/>
              <a:t>Average Distance: (N+1)/3</a:t>
            </a:r>
          </a:p>
          <a:p>
            <a:pPr lvl="1"/>
            <a:r>
              <a:rPr lang="en-US" altLang="zh-TW" dirty="0"/>
              <a:t>Bisection </a:t>
            </a:r>
            <a:r>
              <a:rPr lang="en-US" altLang="zh-TW" dirty="0" smtClean="0"/>
              <a:t>Width: 1</a:t>
            </a:r>
          </a:p>
          <a:p>
            <a:pPr lvl="1"/>
            <a:r>
              <a:rPr lang="en-US" altLang="zh-TW" dirty="0" smtClean="0"/>
              <a:t>Cost: O(N)</a:t>
            </a:r>
          </a:p>
          <a:p>
            <a:r>
              <a:rPr lang="en-US" altLang="zh-TW" dirty="0" smtClean="0"/>
              <a:t>Ring (1D Torus):</a:t>
            </a:r>
          </a:p>
          <a:p>
            <a:pPr lvl="1"/>
            <a:r>
              <a:rPr lang="en-US" altLang="zh-TW" dirty="0"/>
              <a:t>Diameter</a:t>
            </a:r>
            <a:r>
              <a:rPr lang="en-US" altLang="zh-TW" dirty="0" smtClean="0"/>
              <a:t>: N/2 (N is even), (N-1)/2 (N is odd)</a:t>
            </a:r>
          </a:p>
          <a:p>
            <a:pPr lvl="1"/>
            <a:r>
              <a:rPr lang="en-US" altLang="zh-TW" dirty="0" smtClean="0"/>
              <a:t>Average Distance: ~ N/4</a:t>
            </a:r>
          </a:p>
          <a:p>
            <a:pPr lvl="1"/>
            <a:r>
              <a:rPr lang="en-US" altLang="zh-TW" dirty="0" smtClean="0"/>
              <a:t>Bisection Width: 2</a:t>
            </a:r>
          </a:p>
          <a:p>
            <a:pPr lvl="1"/>
            <a:r>
              <a:rPr lang="en-US" altLang="zh-TW" dirty="0" smtClean="0"/>
              <a:t>Cost: O(N)</a:t>
            </a:r>
            <a:endParaRPr lang="zh-TW" altLang="en-US" dirty="0"/>
          </a:p>
        </p:txBody>
      </p:sp>
      <p:pic>
        <p:nvPicPr>
          <p:cNvPr id="3074" name="Picture 2" descr="http://wiki.expertiza.ncsu.edu/images/0/00/Top_linea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714" y="1994545"/>
            <a:ext cx="257175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3871689"/>
            <a:ext cx="20669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5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084982"/>
          </a:xfrm>
        </p:spPr>
        <p:txBody>
          <a:bodyPr/>
          <a:lstStyle/>
          <a:p>
            <a:pPr algn="ctr"/>
            <a:r>
              <a:rPr lang="en-US" altLang="zh-TW" dirty="0" smtClean="0"/>
              <a:t>2D Mesh and 2D Torus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484784"/>
                <a:ext cx="5832648" cy="5112568"/>
              </a:xfrm>
            </p:spPr>
            <p:txBody>
              <a:bodyPr/>
              <a:lstStyle/>
              <a:p>
                <a:r>
                  <a:rPr lang="en-US" altLang="zh-TW" dirty="0" smtClean="0"/>
                  <a:t>Mesh (2D array):</a:t>
                </a:r>
              </a:p>
              <a:p>
                <a:pPr lvl="1"/>
                <a:r>
                  <a:rPr lang="en-US" altLang="zh-TW" sz="2000" dirty="0" smtClean="0"/>
                  <a:t>Diameter: 2(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sz="2000" dirty="0" smtClean="0"/>
                  <a:t>-1) for a mesh of </a:t>
                </a:r>
                <a:r>
                  <a:rPr lang="en-US" altLang="zh-TW" sz="2000" dirty="0"/>
                  <a:t>n </a:t>
                </a:r>
                <a:r>
                  <a:rPr lang="en-US" altLang="zh-TW" sz="2000" dirty="0" smtClean="0"/>
                  <a:t>nodes</a:t>
                </a:r>
                <a:endParaRPr lang="en-US" altLang="zh-TW" sz="2000" dirty="0"/>
              </a:p>
              <a:p>
                <a:pPr lvl="1"/>
                <a:r>
                  <a:rPr lang="en-US" altLang="zh-TW" sz="2000" dirty="0"/>
                  <a:t>Average Distance: </a:t>
                </a:r>
                <a:r>
                  <a:rPr lang="en-US" altLang="zh-TW" sz="2000" dirty="0" smtClean="0"/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sz="2000" dirty="0" smtClean="0"/>
                  <a:t>)</a:t>
                </a: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, </a:t>
                </a:r>
                <a:r>
                  <a:rPr lang="en-US" altLang="zh-TW" sz="2000" dirty="0"/>
                  <a:t>(</a:t>
                </a:r>
                <a14:m>
                  <m:oMath xmlns:m="http://schemas.openxmlformats.org/officeDocument/2006/math">
                    <m:r>
                      <a:rPr lang="en-US" altLang="zh-TW" sz="20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200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sz="2000" dirty="0"/>
                  <a:t>)/3</a:t>
                </a:r>
              </a:p>
              <a:p>
                <a:pPr lvl="1"/>
                <a:r>
                  <a:rPr lang="en-US" altLang="zh-TW" sz="2000" dirty="0" smtClean="0"/>
                  <a:t>Bisection </a:t>
                </a:r>
                <a:r>
                  <a:rPr lang="en-US" altLang="zh-TW" sz="2000" dirty="0"/>
                  <a:t>Width: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sz="2000" dirty="0" smtClean="0"/>
                  <a:t>),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sz="2000" dirty="0" smtClean="0"/>
                  <a:t>+1</a:t>
                </a:r>
              </a:p>
              <a:p>
                <a:pPr lvl="1"/>
                <a:r>
                  <a:rPr lang="en-US" altLang="zh-TW" sz="2000" dirty="0" smtClean="0"/>
                  <a:t>Cost</a:t>
                </a:r>
                <a:r>
                  <a:rPr lang="en-US" altLang="zh-TW" sz="2000" dirty="0"/>
                  <a:t>: O(N</a:t>
                </a:r>
                <a:r>
                  <a:rPr lang="en-US" altLang="zh-TW" sz="2000" dirty="0" smtClean="0"/>
                  <a:t>)</a:t>
                </a:r>
              </a:p>
              <a:p>
                <a:pPr lvl="1"/>
                <a:endParaRPr lang="en-US" altLang="zh-TW" sz="2000" dirty="0" smtClean="0"/>
              </a:p>
              <a:p>
                <a:r>
                  <a:rPr lang="en-US" altLang="zh-TW" dirty="0" smtClean="0"/>
                  <a:t>2D Torus:</a:t>
                </a:r>
              </a:p>
              <a:p>
                <a:pPr lvl="1"/>
                <a:r>
                  <a:rPr lang="en-US" altLang="zh-TW" sz="2000" dirty="0" smtClean="0"/>
                  <a:t>Performance of mesh is very </a:t>
                </a:r>
                <a:r>
                  <a:rPr lang="en-US" altLang="zh-TW" sz="2000" dirty="0"/>
                  <a:t>sensitive to </a:t>
                </a:r>
                <a:r>
                  <a:rPr lang="en-US" altLang="zh-TW" sz="2000" dirty="0" smtClean="0"/>
                  <a:t>placement </a:t>
                </a:r>
                <a:r>
                  <a:rPr lang="en-US" altLang="zh-TW" sz="2000" dirty="0"/>
                  <a:t>of </a:t>
                </a:r>
                <a:r>
                  <a:rPr lang="en-US" altLang="zh-TW" sz="2000" dirty="0" smtClean="0"/>
                  <a:t>nodes.</a:t>
                </a:r>
              </a:p>
              <a:p>
                <a:pPr lvl="1"/>
                <a:r>
                  <a:rPr lang="en-US" altLang="zh-TW" sz="2000" dirty="0"/>
                  <a:t>Torus </a:t>
                </a:r>
                <a:r>
                  <a:rPr lang="en-US" altLang="zh-TW" sz="2000" dirty="0" smtClean="0"/>
                  <a:t>can avoid </a:t>
                </a:r>
                <a:r>
                  <a:rPr lang="en-US" altLang="zh-TW" sz="2000" dirty="0"/>
                  <a:t>this problem </a:t>
                </a:r>
                <a:endParaRPr lang="en-US" altLang="zh-TW" sz="2000" dirty="0" smtClean="0"/>
              </a:p>
              <a:p>
                <a:pPr lvl="1"/>
                <a:r>
                  <a:rPr lang="en-US" altLang="zh-TW" sz="2000" dirty="0" smtClean="0"/>
                  <a:t>Torus has smaller diameter </a:t>
                </a:r>
                <a:r>
                  <a:rPr lang="en-US" altLang="zh-TW" sz="2000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sz="2000" dirty="0" smtClean="0"/>
                  <a:t>) and average distance ((1/2)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sz="2000" dirty="0" smtClean="0"/>
                  <a:t>) than mesh.</a:t>
                </a:r>
              </a:p>
              <a:p>
                <a:pPr lvl="1"/>
                <a:r>
                  <a:rPr lang="en-US" altLang="zh-TW" sz="2000" dirty="0" smtClean="0"/>
                  <a:t>The Cost and Bisection width are higher than mesh.</a:t>
                </a:r>
                <a:endParaRPr lang="en-US" altLang="zh-TW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484784"/>
                <a:ext cx="5832648" cy="5112568"/>
              </a:xfrm>
              <a:blipFill>
                <a:blip r:embed="rId2"/>
                <a:stretch>
                  <a:fillRect l="-1046" t="-1193" r="-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2" name="Picture 6" descr="http://wiki.expertiza.ncsu.edu/images/thumb/2/2b/Top_2Dmesh.jpg/180px-Top_2Dmesh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364" y="1556792"/>
            <a:ext cx="1998068" cy="239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wiki.expertiza.ncsu.edu/images/b/b7/Top_2Dtoru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415" y="4292302"/>
            <a:ext cx="21050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38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98984"/>
          </a:xfrm>
        </p:spPr>
        <p:txBody>
          <a:bodyPr/>
          <a:lstStyle/>
          <a:p>
            <a:pPr algn="ctr"/>
            <a:r>
              <a:rPr lang="en-US" altLang="zh-TW" dirty="0" smtClean="0"/>
              <a:t>Multidimensional Mesh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447800"/>
                <a:ext cx="7200800" cy="5077544"/>
              </a:xfrm>
            </p:spPr>
            <p:txBody>
              <a:bodyPr/>
              <a:lstStyle/>
              <a:p>
                <a:r>
                  <a:rPr lang="en-US" altLang="zh-TW" dirty="0" smtClean="0"/>
                  <a:t>D-dimensional mesh:</a:t>
                </a:r>
              </a:p>
              <a:p>
                <a:pPr lvl="1"/>
                <a:r>
                  <a:rPr lang="en-US" altLang="zh-TW" dirty="0" smtClean="0"/>
                  <a:t>N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k</a:t>
                </a:r>
                <a:r>
                  <a:rPr lang="en-US" altLang="zh-TW" baseline="-25000" dirty="0" smtClean="0"/>
                  <a:t>d-1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dirty="0" smtClean="0"/>
                  <a:t> k</a:t>
                </a:r>
                <a:r>
                  <a:rPr lang="en-US" altLang="zh-TW" baseline="-25000" dirty="0" smtClean="0"/>
                  <a:t>d-2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dirty="0" smtClean="0"/>
                  <a:t> …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US" altLang="zh-TW" dirty="0" smtClean="0"/>
                  <a:t> k</a:t>
                </a:r>
                <a:r>
                  <a:rPr lang="en-US" altLang="zh-TW" baseline="-25000" dirty="0" smtClean="0"/>
                  <a:t>0</a:t>
                </a:r>
                <a:r>
                  <a:rPr lang="en-US" altLang="zh-TW" dirty="0" smtClean="0"/>
                  <a:t> nodes </a:t>
                </a:r>
              </a:p>
              <a:p>
                <a:pPr lvl="2"/>
                <a:r>
                  <a:rPr lang="en-US" altLang="zh-TW" dirty="0" smtClean="0"/>
                  <a:t>Each node is described </a:t>
                </a:r>
                <a:r>
                  <a:rPr lang="en-US" altLang="zh-TW" dirty="0"/>
                  <a:t>by </a:t>
                </a:r>
                <a:endParaRPr lang="en-US" altLang="zh-TW" dirty="0" smtClean="0"/>
              </a:p>
              <a:p>
                <a:pPr marL="593725" lvl="2" indent="0">
                  <a:buNone/>
                </a:pPr>
                <a:r>
                  <a:rPr lang="en-US" altLang="zh-TW" dirty="0" smtClean="0"/>
                  <a:t>a d-vector </a:t>
                </a:r>
                <a:r>
                  <a:rPr lang="en-US" altLang="zh-TW" dirty="0"/>
                  <a:t>of coordinates </a:t>
                </a:r>
                <a:r>
                  <a:rPr lang="en-US" altLang="zh-TW" dirty="0" smtClean="0"/>
                  <a:t>(x</a:t>
                </a:r>
                <a:r>
                  <a:rPr lang="en-US" altLang="zh-TW" baseline="-25000" dirty="0" smtClean="0"/>
                  <a:t>d-1</a:t>
                </a:r>
                <a:r>
                  <a:rPr lang="en-US" altLang="zh-TW" dirty="0"/>
                  <a:t>, ..., </a:t>
                </a:r>
                <a:r>
                  <a:rPr lang="en-US" altLang="zh-TW" dirty="0" smtClean="0"/>
                  <a:t>x</a:t>
                </a:r>
                <a:r>
                  <a:rPr lang="en-US" altLang="zh-TW" baseline="-25000" dirty="0" smtClean="0"/>
                  <a:t>0</a:t>
                </a:r>
                <a:r>
                  <a:rPr lang="en-US" altLang="zh-TW" dirty="0" smtClean="0"/>
                  <a:t>)</a:t>
                </a:r>
              </a:p>
              <a:p>
                <a:pPr lvl="2"/>
                <a:endParaRPr lang="en-US" altLang="zh-TW" dirty="0"/>
              </a:p>
              <a:p>
                <a:pPr lvl="2"/>
                <a:endParaRPr lang="en-US" altLang="zh-TW" dirty="0"/>
              </a:p>
              <a:p>
                <a:pPr lvl="2"/>
                <a:r>
                  <a:rPr lang="en-US" altLang="zh-TW" dirty="0" smtClean="0"/>
                  <a:t> </a:t>
                </a:r>
              </a:p>
              <a:p>
                <a:pPr lvl="2"/>
                <a:endParaRPr lang="en-US" altLang="zh-TW" dirty="0" smtClean="0"/>
              </a:p>
              <a:p>
                <a:r>
                  <a:rPr lang="pt-BR" altLang="zh-TW" dirty="0" smtClean="0"/>
                  <a:t>D-dimensional </a:t>
                </a:r>
                <a:r>
                  <a:rPr lang="pt-BR" altLang="zh-TW" dirty="0"/>
                  <a:t>k-ary mesh: </a:t>
                </a:r>
                <a:r>
                  <a:rPr lang="pt-BR" altLang="zh-TW" dirty="0" smtClean="0"/>
                  <a:t>N=k</a:t>
                </a:r>
                <a:r>
                  <a:rPr lang="pt-BR" altLang="zh-TW" baseline="30000" dirty="0" smtClean="0"/>
                  <a:t>d</a:t>
                </a:r>
                <a:r>
                  <a:rPr lang="pt-BR" altLang="zh-TW" dirty="0" smtClean="0"/>
                  <a:t> and k=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g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Each node </a:t>
                </a:r>
                <a:r>
                  <a:rPr lang="en-US" altLang="zh-TW" dirty="0"/>
                  <a:t>is described by </a:t>
                </a:r>
                <a:r>
                  <a:rPr lang="en-US" altLang="zh-TW" dirty="0" smtClean="0"/>
                  <a:t>a d-vector </a:t>
                </a:r>
                <a:r>
                  <a:rPr lang="en-US" altLang="zh-TW" dirty="0"/>
                  <a:t>of radix k </a:t>
                </a:r>
                <a:r>
                  <a:rPr lang="en-US" altLang="zh-TW" dirty="0" smtClean="0"/>
                  <a:t>coordinate.</a:t>
                </a:r>
              </a:p>
              <a:p>
                <a:pPr lvl="1"/>
                <a:r>
                  <a:rPr lang="en-US" altLang="zh-TW" dirty="0" smtClean="0"/>
                  <a:t>Diameter: </a:t>
                </a:r>
                <a:r>
                  <a:rPr lang="en-US" altLang="zh-TW" dirty="0"/>
                  <a:t>d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g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dirty="0" smtClean="0"/>
                  <a:t>–1)</a:t>
                </a:r>
              </a:p>
              <a:p>
                <a:pPr lvl="1"/>
                <a:r>
                  <a:rPr lang="en-US" altLang="zh-TW" dirty="0" smtClean="0"/>
                  <a:t>Average distance: </a:t>
                </a:r>
                <a:r>
                  <a:rPr lang="en-US" altLang="zh-TW" dirty="0"/>
                  <a:t>d × 2(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deg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dirty="0" smtClean="0"/>
                  <a:t>)/</a:t>
                </a:r>
                <a:r>
                  <a:rPr lang="en-US" altLang="zh-TW" dirty="0"/>
                  <a:t>3 </a:t>
                </a:r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Bisection width: O(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g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b="0" i="1" baseline="1600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baseline="3000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baseline="1800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baseline="30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baseline="1600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altLang="zh-TW" dirty="0" smtClean="0"/>
                  <a:t>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447800"/>
                <a:ext cx="7200800" cy="5077544"/>
              </a:xfrm>
              <a:blipFill>
                <a:blip r:embed="rId2"/>
                <a:stretch>
                  <a:fillRect l="-847" t="-1082" r="-1016" b="-7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/>
          <p:cNvGrpSpPr/>
          <p:nvPr/>
        </p:nvGrpSpPr>
        <p:grpSpPr>
          <a:xfrm>
            <a:off x="5652120" y="1412776"/>
            <a:ext cx="3263057" cy="2837311"/>
            <a:chOff x="5436096" y="3717032"/>
            <a:chExt cx="3263057" cy="2837311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6096" y="3789040"/>
              <a:ext cx="3263057" cy="2765303"/>
            </a:xfrm>
            <a:prstGeom prst="rect">
              <a:avLst/>
            </a:prstGeom>
          </p:spPr>
        </p:pic>
        <p:sp>
          <p:nvSpPr>
            <p:cNvPr id="4" name="文字方塊 3"/>
            <p:cNvSpPr txBox="1"/>
            <p:nvPr/>
          </p:nvSpPr>
          <p:spPr>
            <a:xfrm>
              <a:off x="6444208" y="3717032"/>
              <a:ext cx="16334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D(3,3,4) Mesh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418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Hypercubes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5496" y="1340768"/>
                <a:ext cx="9001000" cy="3349352"/>
              </a:xfrm>
            </p:spPr>
            <p:txBody>
              <a:bodyPr/>
              <a:lstStyle/>
              <a:p>
                <a:pPr marL="273050" lvl="1" indent="-273050">
                  <a:spcBef>
                    <a:spcPts val="575"/>
                  </a:spcBef>
                  <a:buClr>
                    <a:schemeClr val="accent1"/>
                  </a:buClr>
                </a:pPr>
                <a:r>
                  <a:rPr lang="en-US" altLang="zh-TW" dirty="0" smtClean="0"/>
                  <a:t>An N-node hypercube </a:t>
                </a:r>
                <a:r>
                  <a:rPr lang="en-US" altLang="zh-TW" dirty="0"/>
                  <a:t>is </a:t>
                </a:r>
                <a:r>
                  <a:rPr lang="en-US" altLang="zh-TW" dirty="0" smtClean="0"/>
                  <a:t>a log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N dimensional 2-array.</a:t>
                </a:r>
              </a:p>
              <a:p>
                <a:pPr lvl="1"/>
                <a:r>
                  <a:rPr lang="en-US" altLang="zh-TW" dirty="0" smtClean="0"/>
                  <a:t>It consists of N=2</a:t>
                </a:r>
                <a:r>
                  <a:rPr lang="en-US" altLang="zh-TW" baseline="30000" dirty="0" smtClean="0"/>
                  <a:t>n</a:t>
                </a:r>
                <a:r>
                  <a:rPr lang="en-US" altLang="zh-TW" dirty="0" smtClean="0"/>
                  <a:t>  nodes, where n=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log</m:t>
                    </m:r>
                    <m:r>
                      <m:rPr>
                        <m:nor/>
                      </m:rPr>
                      <a:rPr lang="en-US" altLang="zh-TW" baseline="-25000" dirty="0"/>
                      <m:t>2</m:t>
                    </m:r>
                    <m:r>
                      <m:rPr>
                        <m:nor/>
                      </m:rPr>
                      <a:rPr lang="en-US" altLang="zh-TW" dirty="0"/>
                      <m:t>N</m:t>
                    </m:r>
                  </m:oMath>
                </a14:m>
                <a:r>
                  <a:rPr lang="en-US" altLang="zh-TW" dirty="0" smtClean="0"/>
                  <a:t>. </a:t>
                </a:r>
              </a:p>
              <a:p>
                <a:pPr lvl="2"/>
                <a:r>
                  <a:rPr lang="en-US" altLang="zh-TW" dirty="0" smtClean="0"/>
                  <a:t>Each </a:t>
                </a:r>
                <a:r>
                  <a:rPr lang="en-US" altLang="zh-TW" dirty="0"/>
                  <a:t>node is described by </a:t>
                </a:r>
                <a:r>
                  <a:rPr lang="en-US" altLang="zh-TW" dirty="0" smtClean="0"/>
                  <a:t>n-vector </a:t>
                </a:r>
                <a:r>
                  <a:rPr lang="en-US" altLang="zh-TW" dirty="0"/>
                  <a:t>of </a:t>
                </a:r>
                <a:r>
                  <a:rPr lang="en-US" altLang="zh-TW" dirty="0" smtClean="0"/>
                  <a:t>binary </a:t>
                </a:r>
                <a:r>
                  <a:rPr lang="en-US" altLang="zh-TW" dirty="0"/>
                  <a:t>coordinate.</a:t>
                </a:r>
              </a:p>
              <a:p>
                <a:pPr lvl="2"/>
                <a:r>
                  <a:rPr lang="en-US" altLang="zh-TW" dirty="0" smtClean="0"/>
                  <a:t>Each </a:t>
                </a:r>
                <a:r>
                  <a:rPr lang="en-US" altLang="zh-TW" dirty="0"/>
                  <a:t>node is connected to all other nodes whose numbers differ from it in only one bit position</a:t>
                </a:r>
                <a:r>
                  <a:rPr lang="en-US" altLang="zh-TW" dirty="0" smtClean="0"/>
                  <a:t>.</a:t>
                </a:r>
              </a:p>
              <a:p>
                <a:pPr lvl="2"/>
                <a:r>
                  <a:rPr lang="en-US" altLang="zh-TW" dirty="0"/>
                  <a:t>If n=3, a node (1,0,0) is connected to nodes (0,0,0), (1,1,0), and (1,0,1</a:t>
                </a:r>
                <a:r>
                  <a:rPr lang="en-US" altLang="zh-TW" dirty="0" smtClean="0"/>
                  <a:t>)</a:t>
                </a:r>
              </a:p>
              <a:p>
                <a:pPr lvl="1"/>
                <a:r>
                  <a:rPr lang="en-US" altLang="zh-TW" dirty="0" smtClean="0"/>
                  <a:t>Diameter: n=log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N</a:t>
                </a:r>
              </a:p>
              <a:p>
                <a:pPr lvl="1"/>
                <a:r>
                  <a:rPr lang="en-US" altLang="zh-TW" dirty="0"/>
                  <a:t>Average Distance: </a:t>
                </a:r>
                <a:r>
                  <a:rPr lang="en-US" altLang="zh-TW" dirty="0" smtClean="0"/>
                  <a:t>O(log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N), (1/2)log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N</a:t>
                </a:r>
              </a:p>
              <a:p>
                <a:pPr lvl="1"/>
                <a:r>
                  <a:rPr lang="en-US" altLang="zh-TW" dirty="0" smtClean="0"/>
                  <a:t>Bisection Width: O(N), (1/2)N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1340768"/>
                <a:ext cx="9001000" cy="3349352"/>
              </a:xfrm>
              <a:blipFill>
                <a:blip r:embed="rId2"/>
                <a:stretch>
                  <a:fillRect l="-542" t="-1457" r="-542" b="-9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229200"/>
            <a:ext cx="1283394" cy="132637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5053076"/>
            <a:ext cx="730771" cy="149494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096" y="5014835"/>
            <a:ext cx="1524000" cy="15303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661410"/>
            <a:ext cx="2591966" cy="289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0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4D Hypercube  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4D hypercube can be constructed by connecting corresponding nodes of two 3D hypercubes.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348880"/>
            <a:ext cx="7830358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0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77950"/>
          </a:xfrm>
        </p:spPr>
        <p:txBody>
          <a:bodyPr/>
          <a:lstStyle/>
          <a:p>
            <a:pPr algn="ctr"/>
            <a:r>
              <a:rPr lang="en-US" altLang="zh-TW" dirty="0" smtClean="0"/>
              <a:t>Indirect INs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12968" cy="2197224"/>
          </a:xfrm>
        </p:spPr>
        <p:txBody>
          <a:bodyPr/>
          <a:lstStyle/>
          <a:p>
            <a:r>
              <a:rPr lang="en-US" altLang="zh-TW" dirty="0" smtClean="0"/>
              <a:t>Bus based networks.</a:t>
            </a:r>
          </a:p>
          <a:p>
            <a:pPr lvl="1"/>
            <a:r>
              <a:rPr lang="en-US" altLang="zh-TW" dirty="0" smtClean="0"/>
              <a:t>Ethernet Bus, Ethernet Hub, and Ethernet Switch</a:t>
            </a:r>
          </a:p>
          <a:p>
            <a:pPr lvl="1"/>
            <a:r>
              <a:rPr lang="en-US" altLang="zh-TW" dirty="0" smtClean="0"/>
              <a:t>Diameter (2), Average distance (2), Cost (constant)</a:t>
            </a:r>
          </a:p>
          <a:p>
            <a:r>
              <a:rPr lang="en-US" altLang="zh-TW" dirty="0" smtClean="0"/>
              <a:t>Crossbar switch.</a:t>
            </a:r>
          </a:p>
          <a:p>
            <a:pPr lvl="1"/>
            <a:r>
              <a:rPr lang="en-US" altLang="zh-TW" dirty="0" smtClean="0"/>
              <a:t>Cost: O(N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</a:t>
            </a:r>
          </a:p>
          <a:p>
            <a:pPr lvl="1"/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2952862"/>
            <a:ext cx="3168352" cy="170027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918" y="4962200"/>
            <a:ext cx="4343361" cy="170716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49" y="3776848"/>
            <a:ext cx="4142035" cy="289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2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Tree Topologies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388843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Tree</a:t>
            </a:r>
            <a:r>
              <a:rPr lang="en-US" altLang="zh-TW" dirty="0" smtClean="0"/>
              <a:t> </a:t>
            </a:r>
            <a:r>
              <a:rPr lang="en-US" altLang="zh-TW" dirty="0"/>
              <a:t>is a </a:t>
            </a:r>
            <a:r>
              <a:rPr lang="en-US" altLang="zh-TW" dirty="0" smtClean="0"/>
              <a:t>planar and </a:t>
            </a:r>
            <a:r>
              <a:rPr lang="en-US" altLang="zh-TW" dirty="0"/>
              <a:t>hierarchical </a:t>
            </a:r>
            <a:r>
              <a:rPr lang="en-US" altLang="zh-TW" dirty="0" smtClean="0"/>
              <a:t>topology.</a:t>
            </a:r>
          </a:p>
          <a:p>
            <a:pPr lvl="1"/>
            <a:r>
              <a:rPr lang="en-US" altLang="zh-TW" dirty="0" smtClean="0"/>
              <a:t>Processing Nodes are placed as the leaves and all other intermediate nodes are switches.</a:t>
            </a:r>
          </a:p>
          <a:p>
            <a:pPr lvl="1"/>
            <a:r>
              <a:rPr lang="en-US" altLang="zh-TW" dirty="0" smtClean="0"/>
              <a:t>Diameter: 2log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N for binary tree, N is the number of processing nodes</a:t>
            </a:r>
          </a:p>
          <a:p>
            <a:pPr lvl="1"/>
            <a:r>
              <a:rPr lang="en-US" altLang="zh-TW" dirty="0" smtClean="0"/>
              <a:t>Average Distance: O(log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N) for binary tree</a:t>
            </a:r>
          </a:p>
          <a:p>
            <a:pPr lvl="1"/>
            <a:r>
              <a:rPr lang="en-US" altLang="zh-TW" dirty="0" smtClean="0"/>
              <a:t>Bisection Width: 1 for binary tree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upper layer </a:t>
            </a:r>
            <a:r>
              <a:rPr lang="en-US" altLang="zh-TW" dirty="0" smtClean="0"/>
              <a:t>switching node may become </a:t>
            </a:r>
            <a:r>
              <a:rPr lang="en-US" altLang="zh-TW" dirty="0" smtClean="0">
                <a:solidFill>
                  <a:srgbClr val="FF0000"/>
                </a:solidFill>
              </a:rPr>
              <a:t>bottle necks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Fat trees </a:t>
            </a:r>
            <a:r>
              <a:rPr lang="en-US" altLang="zh-TW" dirty="0" smtClean="0"/>
              <a:t>can avoid the bottleneck problem.</a:t>
            </a:r>
          </a:p>
          <a:p>
            <a:pPr lvl="1"/>
            <a:r>
              <a:rPr lang="en-US" altLang="zh-TW" dirty="0" smtClean="0"/>
              <a:t>It doubles the bandwidth of upper layer switches.</a:t>
            </a:r>
          </a:p>
          <a:p>
            <a:pPr lvl="1"/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65" y="5157192"/>
            <a:ext cx="4202448" cy="158417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308" y="5157192"/>
            <a:ext cx="4223269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61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200800" cy="1008112"/>
          </a:xfrm>
        </p:spPr>
        <p:txBody>
          <a:bodyPr/>
          <a:lstStyle/>
          <a:p>
            <a:pPr algn="ctr"/>
            <a:r>
              <a:rPr lang="en-US" altLang="zh-TW" dirty="0" smtClean="0"/>
              <a:t>Multistage INs (MINs)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84784"/>
            <a:ext cx="8712968" cy="3637384"/>
          </a:xfrm>
        </p:spPr>
        <p:txBody>
          <a:bodyPr/>
          <a:lstStyle/>
          <a:p>
            <a:r>
              <a:rPr lang="en-US" altLang="zh-TW" dirty="0" smtClean="0"/>
              <a:t>Split a big crossbar into </a:t>
            </a:r>
            <a:r>
              <a:rPr lang="en-US" altLang="zh-TW" dirty="0"/>
              <a:t>several stages </a:t>
            </a:r>
            <a:r>
              <a:rPr lang="en-US" altLang="zh-TW" dirty="0" smtClean="0"/>
              <a:t>of </a:t>
            </a:r>
            <a:r>
              <a:rPr lang="en-US" altLang="zh-TW" dirty="0"/>
              <a:t>smaller </a:t>
            </a:r>
            <a:r>
              <a:rPr lang="en-US" altLang="zh-TW" dirty="0" smtClean="0"/>
              <a:t>crossbars.</a:t>
            </a:r>
            <a:endParaRPr lang="en-US" altLang="zh-TW" dirty="0"/>
          </a:p>
          <a:p>
            <a:r>
              <a:rPr lang="en-US" altLang="zh-TW" dirty="0" smtClean="0"/>
              <a:t>Inter-stage crossbars are connected </a:t>
            </a:r>
            <a:r>
              <a:rPr lang="en-US" altLang="zh-TW" dirty="0"/>
              <a:t>by a </a:t>
            </a:r>
            <a:r>
              <a:rPr lang="en-US" altLang="zh-TW" dirty="0" smtClean="0"/>
              <a:t>particular pattern.</a:t>
            </a:r>
          </a:p>
          <a:p>
            <a:pPr lvl="1"/>
            <a:r>
              <a:rPr lang="en-US" altLang="zh-TW" dirty="0" smtClean="0"/>
              <a:t>The pattern may be represented by a </a:t>
            </a:r>
            <a:r>
              <a:rPr lang="en-US" altLang="zh-TW" dirty="0" smtClean="0">
                <a:solidFill>
                  <a:srgbClr val="FF0000"/>
                </a:solidFill>
              </a:rPr>
              <a:t>permutation function</a:t>
            </a:r>
            <a:r>
              <a:rPr lang="en-US" altLang="zh-TW" dirty="0" smtClean="0"/>
              <a:t>. </a:t>
            </a:r>
          </a:p>
          <a:p>
            <a:r>
              <a:rPr lang="en-US" altLang="zh-TW" dirty="0" smtClean="0"/>
              <a:t>In general, a MIN can be constructed by interconnecting N inputs to N outputs with </a:t>
            </a:r>
            <a:r>
              <a:rPr lang="en-US" altLang="zh-TW" dirty="0"/>
              <a:t>k x k </a:t>
            </a:r>
            <a:r>
              <a:rPr lang="en-US" altLang="zh-TW" dirty="0" smtClean="0"/>
              <a:t>crossbars (</a:t>
            </a:r>
            <a:r>
              <a:rPr lang="en-US" altLang="zh-TW" dirty="0" err="1" smtClean="0"/>
              <a:t>kkCBs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pPr lvl="1"/>
            <a:r>
              <a:rPr lang="en-US" altLang="zh-TW" dirty="0" smtClean="0"/>
              <a:t>There are </a:t>
            </a:r>
            <a:r>
              <a:rPr lang="en-US" altLang="zh-TW" dirty="0" err="1" smtClean="0"/>
              <a:t>log</a:t>
            </a:r>
            <a:r>
              <a:rPr lang="en-US" altLang="zh-TW" baseline="-25000" dirty="0" err="1" smtClean="0"/>
              <a:t>k</a:t>
            </a:r>
            <a:r>
              <a:rPr lang="en-US" altLang="zh-TW" dirty="0" err="1" smtClean="0"/>
              <a:t>N</a:t>
            </a:r>
            <a:r>
              <a:rPr lang="en-US" altLang="zh-TW" dirty="0" smtClean="0"/>
              <a:t> stages and each stage has </a:t>
            </a:r>
            <a:r>
              <a:rPr lang="en-US" altLang="zh-TW" dirty="0"/>
              <a:t>N/k </a:t>
            </a:r>
            <a:r>
              <a:rPr lang="en-US" altLang="zh-TW" dirty="0" err="1" smtClean="0"/>
              <a:t>kkCBs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 smtClean="0"/>
              <a:t>The total number of </a:t>
            </a:r>
            <a:r>
              <a:rPr lang="en-US" altLang="zh-TW" dirty="0" err="1" smtClean="0"/>
              <a:t>kkCBs</a:t>
            </a:r>
            <a:r>
              <a:rPr lang="en-US" altLang="zh-TW" dirty="0" smtClean="0"/>
              <a:t> are N/k(</a:t>
            </a:r>
            <a:r>
              <a:rPr lang="en-US" altLang="zh-TW" dirty="0" err="1" smtClean="0"/>
              <a:t>log</a:t>
            </a:r>
            <a:r>
              <a:rPr lang="en-US" altLang="zh-TW" baseline="-25000" dirty="0" err="1" smtClean="0"/>
              <a:t>k</a:t>
            </a:r>
            <a:r>
              <a:rPr lang="en-US" altLang="zh-TW" dirty="0" err="1" smtClean="0"/>
              <a:t>N</a:t>
            </a:r>
            <a:r>
              <a:rPr lang="en-US" altLang="zh-TW" dirty="0" smtClean="0"/>
              <a:t>).</a:t>
            </a:r>
          </a:p>
          <a:p>
            <a:pPr lvl="1"/>
            <a:r>
              <a:rPr lang="en-US" altLang="zh-TW" dirty="0" smtClean="0"/>
              <a:t>The total number of links are N(log</a:t>
            </a:r>
            <a:r>
              <a:rPr lang="en-US" altLang="zh-TW" baseline="-25000" dirty="0" smtClean="0"/>
              <a:t>k</a:t>
            </a:r>
            <a:r>
              <a:rPr lang="en-US" altLang="zh-TW" dirty="0" smtClean="0"/>
              <a:t>N+1).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289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967878"/>
          </a:xfrm>
        </p:spPr>
        <p:txBody>
          <a:bodyPr/>
          <a:lstStyle/>
          <a:p>
            <a:pPr algn="ctr"/>
            <a:r>
              <a:rPr lang="en-US" altLang="zh-TW" dirty="0" smtClean="0"/>
              <a:t>The Omega MIN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2337128" cy="4572000"/>
          </a:xfrm>
        </p:spPr>
        <p:txBody>
          <a:bodyPr/>
          <a:lstStyle/>
          <a:p>
            <a:r>
              <a:rPr lang="en-US" altLang="zh-TW" dirty="0" smtClean="0"/>
              <a:t>Perfect Shuffle between stages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692202" y="1571055"/>
            <a:ext cx="6128270" cy="5026297"/>
            <a:chOff x="2692202" y="1571055"/>
            <a:chExt cx="6128270" cy="5026297"/>
          </a:xfrm>
        </p:grpSpPr>
        <p:sp>
          <p:nvSpPr>
            <p:cNvPr id="281" name="Text Box 109"/>
            <p:cNvSpPr txBox="1">
              <a:spLocks noChangeArrowheads="1"/>
            </p:cNvSpPr>
            <p:nvPr/>
          </p:nvSpPr>
          <p:spPr bwMode="auto">
            <a:xfrm>
              <a:off x="2692202" y="1571055"/>
              <a:ext cx="571083" cy="295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 dirty="0">
                  <a:solidFill>
                    <a:schemeClr val="tx1"/>
                  </a:solidFill>
                  <a:latin typeface="Tahoma" panose="020B0604030504040204" pitchFamily="34" charset="0"/>
                </a:rPr>
                <a:t>0000</a:t>
              </a:r>
            </a:p>
          </p:txBody>
        </p:sp>
        <p:sp>
          <p:nvSpPr>
            <p:cNvPr id="282" name="Text Box 141"/>
            <p:cNvSpPr txBox="1">
              <a:spLocks noChangeArrowheads="1"/>
            </p:cNvSpPr>
            <p:nvPr/>
          </p:nvSpPr>
          <p:spPr bwMode="auto">
            <a:xfrm>
              <a:off x="8249389" y="1590580"/>
              <a:ext cx="571083" cy="295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 dirty="0">
                  <a:solidFill>
                    <a:schemeClr val="tx1"/>
                  </a:solidFill>
                  <a:latin typeface="Tahoma" panose="020B0604030504040204" pitchFamily="34" charset="0"/>
                </a:rPr>
                <a:t>0000</a:t>
              </a:r>
            </a:p>
          </p:txBody>
        </p:sp>
        <p:grpSp>
          <p:nvGrpSpPr>
            <p:cNvPr id="283" name="群組 282"/>
            <p:cNvGrpSpPr/>
            <p:nvPr/>
          </p:nvGrpSpPr>
          <p:grpSpPr>
            <a:xfrm>
              <a:off x="2712494" y="1677048"/>
              <a:ext cx="6089134" cy="4920304"/>
              <a:chOff x="2138363" y="1763713"/>
              <a:chExt cx="6669087" cy="5600700"/>
            </a:xfrm>
          </p:grpSpPr>
          <p:sp>
            <p:nvSpPr>
              <p:cNvPr id="284" name="Rectangle 4"/>
              <p:cNvSpPr>
                <a:spLocks noChangeArrowheads="1"/>
              </p:cNvSpPr>
              <p:nvPr/>
            </p:nvSpPr>
            <p:spPr bwMode="auto">
              <a:xfrm>
                <a:off x="3673475" y="17637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5" name="Rectangle 5"/>
              <p:cNvSpPr>
                <a:spLocks noChangeArrowheads="1"/>
              </p:cNvSpPr>
              <p:nvPr/>
            </p:nvSpPr>
            <p:spPr bwMode="auto">
              <a:xfrm>
                <a:off x="3673475" y="24114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6" name="Rectangle 6"/>
              <p:cNvSpPr>
                <a:spLocks noChangeArrowheads="1"/>
              </p:cNvSpPr>
              <p:nvPr/>
            </p:nvSpPr>
            <p:spPr bwMode="auto">
              <a:xfrm>
                <a:off x="3673475" y="30591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7" name="Rectangle 7"/>
              <p:cNvSpPr>
                <a:spLocks noChangeArrowheads="1"/>
              </p:cNvSpPr>
              <p:nvPr/>
            </p:nvSpPr>
            <p:spPr bwMode="auto">
              <a:xfrm>
                <a:off x="3673475" y="37084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8" name="Rectangle 8"/>
              <p:cNvSpPr>
                <a:spLocks noChangeArrowheads="1"/>
              </p:cNvSpPr>
              <p:nvPr/>
            </p:nvSpPr>
            <p:spPr bwMode="auto">
              <a:xfrm>
                <a:off x="3673475" y="43561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9" name="Rectangle 9"/>
              <p:cNvSpPr>
                <a:spLocks noChangeArrowheads="1"/>
              </p:cNvSpPr>
              <p:nvPr/>
            </p:nvSpPr>
            <p:spPr bwMode="auto">
              <a:xfrm>
                <a:off x="3673475" y="50038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0" name="Rectangle 10"/>
              <p:cNvSpPr>
                <a:spLocks noChangeArrowheads="1"/>
              </p:cNvSpPr>
              <p:nvPr/>
            </p:nvSpPr>
            <p:spPr bwMode="auto">
              <a:xfrm>
                <a:off x="3673475" y="56515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1" name="Rectangle 11"/>
              <p:cNvSpPr>
                <a:spLocks noChangeArrowheads="1"/>
              </p:cNvSpPr>
              <p:nvPr/>
            </p:nvSpPr>
            <p:spPr bwMode="auto">
              <a:xfrm>
                <a:off x="3673475" y="6300788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2" name="Line 12"/>
              <p:cNvSpPr>
                <a:spLocks noChangeShapeType="1"/>
              </p:cNvSpPr>
              <p:nvPr/>
            </p:nvSpPr>
            <p:spPr bwMode="auto">
              <a:xfrm>
                <a:off x="3457575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3" name="Line 13"/>
              <p:cNvSpPr>
                <a:spLocks noChangeShapeType="1"/>
              </p:cNvSpPr>
              <p:nvPr/>
            </p:nvSpPr>
            <p:spPr bwMode="auto">
              <a:xfrm>
                <a:off x="3457575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4" name="Line 14"/>
              <p:cNvSpPr>
                <a:spLocks noChangeShapeType="1"/>
              </p:cNvSpPr>
              <p:nvPr/>
            </p:nvSpPr>
            <p:spPr bwMode="auto">
              <a:xfrm>
                <a:off x="3457575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5" name="Line 15"/>
              <p:cNvSpPr>
                <a:spLocks noChangeShapeType="1"/>
              </p:cNvSpPr>
              <p:nvPr/>
            </p:nvSpPr>
            <p:spPr bwMode="auto">
              <a:xfrm>
                <a:off x="3457575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6" name="Line 16"/>
              <p:cNvSpPr>
                <a:spLocks noChangeShapeType="1"/>
              </p:cNvSpPr>
              <p:nvPr/>
            </p:nvSpPr>
            <p:spPr bwMode="auto">
              <a:xfrm>
                <a:off x="3457575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7" name="Line 17"/>
              <p:cNvSpPr>
                <a:spLocks noChangeShapeType="1"/>
              </p:cNvSpPr>
              <p:nvPr/>
            </p:nvSpPr>
            <p:spPr bwMode="auto">
              <a:xfrm>
                <a:off x="3457575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8" name="Line 18"/>
              <p:cNvSpPr>
                <a:spLocks noChangeShapeType="1"/>
              </p:cNvSpPr>
              <p:nvPr/>
            </p:nvSpPr>
            <p:spPr bwMode="auto">
              <a:xfrm>
                <a:off x="3457575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9" name="Line 19"/>
              <p:cNvSpPr>
                <a:spLocks noChangeShapeType="1"/>
              </p:cNvSpPr>
              <p:nvPr/>
            </p:nvSpPr>
            <p:spPr bwMode="auto">
              <a:xfrm>
                <a:off x="3457575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0" name="Line 20"/>
              <p:cNvSpPr>
                <a:spLocks noChangeShapeType="1"/>
              </p:cNvSpPr>
              <p:nvPr/>
            </p:nvSpPr>
            <p:spPr bwMode="auto">
              <a:xfrm>
                <a:off x="3457575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1" name="Line 21"/>
              <p:cNvSpPr>
                <a:spLocks noChangeShapeType="1"/>
              </p:cNvSpPr>
              <p:nvPr/>
            </p:nvSpPr>
            <p:spPr bwMode="auto">
              <a:xfrm>
                <a:off x="3457575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2" name="Line 22"/>
              <p:cNvSpPr>
                <a:spLocks noChangeShapeType="1"/>
              </p:cNvSpPr>
              <p:nvPr/>
            </p:nvSpPr>
            <p:spPr bwMode="auto">
              <a:xfrm>
                <a:off x="3457575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3" name="Line 23"/>
              <p:cNvSpPr>
                <a:spLocks noChangeShapeType="1"/>
              </p:cNvSpPr>
              <p:nvPr/>
            </p:nvSpPr>
            <p:spPr bwMode="auto">
              <a:xfrm>
                <a:off x="3457575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4" name="Line 24"/>
              <p:cNvSpPr>
                <a:spLocks noChangeShapeType="1"/>
              </p:cNvSpPr>
              <p:nvPr/>
            </p:nvSpPr>
            <p:spPr bwMode="auto">
              <a:xfrm>
                <a:off x="3457575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5" name="Line 25"/>
              <p:cNvSpPr>
                <a:spLocks noChangeShapeType="1"/>
              </p:cNvSpPr>
              <p:nvPr/>
            </p:nvSpPr>
            <p:spPr bwMode="auto">
              <a:xfrm>
                <a:off x="3457575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6" name="Line 26"/>
              <p:cNvSpPr>
                <a:spLocks noChangeShapeType="1"/>
              </p:cNvSpPr>
              <p:nvPr/>
            </p:nvSpPr>
            <p:spPr bwMode="auto">
              <a:xfrm>
                <a:off x="3457575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7" name="Line 27"/>
              <p:cNvSpPr>
                <a:spLocks noChangeShapeType="1"/>
              </p:cNvSpPr>
              <p:nvPr/>
            </p:nvSpPr>
            <p:spPr bwMode="auto">
              <a:xfrm>
                <a:off x="3457575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8" name="Line 28"/>
              <p:cNvSpPr>
                <a:spLocks noChangeShapeType="1"/>
              </p:cNvSpPr>
              <p:nvPr/>
            </p:nvSpPr>
            <p:spPr bwMode="auto">
              <a:xfrm>
                <a:off x="4033838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9" name="Line 29"/>
              <p:cNvSpPr>
                <a:spLocks noChangeShapeType="1"/>
              </p:cNvSpPr>
              <p:nvPr/>
            </p:nvSpPr>
            <p:spPr bwMode="auto">
              <a:xfrm>
                <a:off x="4033838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0" name="Line 30"/>
              <p:cNvSpPr>
                <a:spLocks noChangeShapeType="1"/>
              </p:cNvSpPr>
              <p:nvPr/>
            </p:nvSpPr>
            <p:spPr bwMode="auto">
              <a:xfrm>
                <a:off x="4033838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1" name="Line 31"/>
              <p:cNvSpPr>
                <a:spLocks noChangeShapeType="1"/>
              </p:cNvSpPr>
              <p:nvPr/>
            </p:nvSpPr>
            <p:spPr bwMode="auto">
              <a:xfrm>
                <a:off x="4033838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2" name="Line 32"/>
              <p:cNvSpPr>
                <a:spLocks noChangeShapeType="1"/>
              </p:cNvSpPr>
              <p:nvPr/>
            </p:nvSpPr>
            <p:spPr bwMode="auto">
              <a:xfrm>
                <a:off x="4033838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3" name="Line 33"/>
              <p:cNvSpPr>
                <a:spLocks noChangeShapeType="1"/>
              </p:cNvSpPr>
              <p:nvPr/>
            </p:nvSpPr>
            <p:spPr bwMode="auto">
              <a:xfrm>
                <a:off x="4033838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4" name="Line 34"/>
              <p:cNvSpPr>
                <a:spLocks noChangeShapeType="1"/>
              </p:cNvSpPr>
              <p:nvPr/>
            </p:nvSpPr>
            <p:spPr bwMode="auto">
              <a:xfrm>
                <a:off x="4033838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5" name="Line 35"/>
              <p:cNvSpPr>
                <a:spLocks noChangeShapeType="1"/>
              </p:cNvSpPr>
              <p:nvPr/>
            </p:nvSpPr>
            <p:spPr bwMode="auto">
              <a:xfrm>
                <a:off x="4033838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6" name="Line 36"/>
              <p:cNvSpPr>
                <a:spLocks noChangeShapeType="1"/>
              </p:cNvSpPr>
              <p:nvPr/>
            </p:nvSpPr>
            <p:spPr bwMode="auto">
              <a:xfrm>
                <a:off x="4033838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7" name="Line 37"/>
              <p:cNvSpPr>
                <a:spLocks noChangeShapeType="1"/>
              </p:cNvSpPr>
              <p:nvPr/>
            </p:nvSpPr>
            <p:spPr bwMode="auto">
              <a:xfrm>
                <a:off x="4033838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8" name="Line 38"/>
              <p:cNvSpPr>
                <a:spLocks noChangeShapeType="1"/>
              </p:cNvSpPr>
              <p:nvPr/>
            </p:nvSpPr>
            <p:spPr bwMode="auto">
              <a:xfrm>
                <a:off x="4033838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9" name="Line 39"/>
              <p:cNvSpPr>
                <a:spLocks noChangeShapeType="1"/>
              </p:cNvSpPr>
              <p:nvPr/>
            </p:nvSpPr>
            <p:spPr bwMode="auto">
              <a:xfrm>
                <a:off x="4033838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0" name="Line 40"/>
              <p:cNvSpPr>
                <a:spLocks noChangeShapeType="1"/>
              </p:cNvSpPr>
              <p:nvPr/>
            </p:nvSpPr>
            <p:spPr bwMode="auto">
              <a:xfrm>
                <a:off x="4033838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1" name="Line 41"/>
              <p:cNvSpPr>
                <a:spLocks noChangeShapeType="1"/>
              </p:cNvSpPr>
              <p:nvPr/>
            </p:nvSpPr>
            <p:spPr bwMode="auto">
              <a:xfrm>
                <a:off x="4033838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2" name="Line 42"/>
              <p:cNvSpPr>
                <a:spLocks noChangeShapeType="1"/>
              </p:cNvSpPr>
              <p:nvPr/>
            </p:nvSpPr>
            <p:spPr bwMode="auto">
              <a:xfrm>
                <a:off x="4033838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3" name="Line 43"/>
              <p:cNvSpPr>
                <a:spLocks noChangeShapeType="1"/>
              </p:cNvSpPr>
              <p:nvPr/>
            </p:nvSpPr>
            <p:spPr bwMode="auto">
              <a:xfrm>
                <a:off x="4033838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4" name="Rectangle 44"/>
              <p:cNvSpPr>
                <a:spLocks noChangeArrowheads="1"/>
              </p:cNvSpPr>
              <p:nvPr/>
            </p:nvSpPr>
            <p:spPr bwMode="auto">
              <a:xfrm>
                <a:off x="4968875" y="17637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5" name="Rectangle 45"/>
              <p:cNvSpPr>
                <a:spLocks noChangeArrowheads="1"/>
              </p:cNvSpPr>
              <p:nvPr/>
            </p:nvSpPr>
            <p:spPr bwMode="auto">
              <a:xfrm>
                <a:off x="4968875" y="24114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6" name="Rectangle 46"/>
              <p:cNvSpPr>
                <a:spLocks noChangeArrowheads="1"/>
              </p:cNvSpPr>
              <p:nvPr/>
            </p:nvSpPr>
            <p:spPr bwMode="auto">
              <a:xfrm>
                <a:off x="4968875" y="30591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7" name="Rectangle 47"/>
              <p:cNvSpPr>
                <a:spLocks noChangeArrowheads="1"/>
              </p:cNvSpPr>
              <p:nvPr/>
            </p:nvSpPr>
            <p:spPr bwMode="auto">
              <a:xfrm>
                <a:off x="4968875" y="37084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8" name="Rectangle 48"/>
              <p:cNvSpPr>
                <a:spLocks noChangeArrowheads="1"/>
              </p:cNvSpPr>
              <p:nvPr/>
            </p:nvSpPr>
            <p:spPr bwMode="auto">
              <a:xfrm>
                <a:off x="4968875" y="43561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9" name="Rectangle 49"/>
              <p:cNvSpPr>
                <a:spLocks noChangeArrowheads="1"/>
              </p:cNvSpPr>
              <p:nvPr/>
            </p:nvSpPr>
            <p:spPr bwMode="auto">
              <a:xfrm>
                <a:off x="4968875" y="50038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0" name="Rectangle 50"/>
              <p:cNvSpPr>
                <a:spLocks noChangeArrowheads="1"/>
              </p:cNvSpPr>
              <p:nvPr/>
            </p:nvSpPr>
            <p:spPr bwMode="auto">
              <a:xfrm>
                <a:off x="4968875" y="56515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1" name="Rectangle 51"/>
              <p:cNvSpPr>
                <a:spLocks noChangeArrowheads="1"/>
              </p:cNvSpPr>
              <p:nvPr/>
            </p:nvSpPr>
            <p:spPr bwMode="auto">
              <a:xfrm>
                <a:off x="4968875" y="6300788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2" name="Line 52"/>
              <p:cNvSpPr>
                <a:spLocks noChangeShapeType="1"/>
              </p:cNvSpPr>
              <p:nvPr/>
            </p:nvSpPr>
            <p:spPr bwMode="auto">
              <a:xfrm>
                <a:off x="4752975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3" name="Line 53"/>
              <p:cNvSpPr>
                <a:spLocks noChangeShapeType="1"/>
              </p:cNvSpPr>
              <p:nvPr/>
            </p:nvSpPr>
            <p:spPr bwMode="auto">
              <a:xfrm>
                <a:off x="4752975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4" name="Line 54"/>
              <p:cNvSpPr>
                <a:spLocks noChangeShapeType="1"/>
              </p:cNvSpPr>
              <p:nvPr/>
            </p:nvSpPr>
            <p:spPr bwMode="auto">
              <a:xfrm>
                <a:off x="4752975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5" name="Line 55"/>
              <p:cNvSpPr>
                <a:spLocks noChangeShapeType="1"/>
              </p:cNvSpPr>
              <p:nvPr/>
            </p:nvSpPr>
            <p:spPr bwMode="auto">
              <a:xfrm>
                <a:off x="4752975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6" name="Line 56"/>
              <p:cNvSpPr>
                <a:spLocks noChangeShapeType="1"/>
              </p:cNvSpPr>
              <p:nvPr/>
            </p:nvSpPr>
            <p:spPr bwMode="auto">
              <a:xfrm>
                <a:off x="4752975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7" name="Line 57"/>
              <p:cNvSpPr>
                <a:spLocks noChangeShapeType="1"/>
              </p:cNvSpPr>
              <p:nvPr/>
            </p:nvSpPr>
            <p:spPr bwMode="auto">
              <a:xfrm>
                <a:off x="4752975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8" name="Line 58"/>
              <p:cNvSpPr>
                <a:spLocks noChangeShapeType="1"/>
              </p:cNvSpPr>
              <p:nvPr/>
            </p:nvSpPr>
            <p:spPr bwMode="auto">
              <a:xfrm>
                <a:off x="4752975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39" name="Line 59"/>
              <p:cNvSpPr>
                <a:spLocks noChangeShapeType="1"/>
              </p:cNvSpPr>
              <p:nvPr/>
            </p:nvSpPr>
            <p:spPr bwMode="auto">
              <a:xfrm>
                <a:off x="4752975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0" name="Line 60"/>
              <p:cNvSpPr>
                <a:spLocks noChangeShapeType="1"/>
              </p:cNvSpPr>
              <p:nvPr/>
            </p:nvSpPr>
            <p:spPr bwMode="auto">
              <a:xfrm>
                <a:off x="4752975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1" name="Line 61"/>
              <p:cNvSpPr>
                <a:spLocks noChangeShapeType="1"/>
              </p:cNvSpPr>
              <p:nvPr/>
            </p:nvSpPr>
            <p:spPr bwMode="auto">
              <a:xfrm>
                <a:off x="4752975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2" name="Line 62"/>
              <p:cNvSpPr>
                <a:spLocks noChangeShapeType="1"/>
              </p:cNvSpPr>
              <p:nvPr/>
            </p:nvSpPr>
            <p:spPr bwMode="auto">
              <a:xfrm>
                <a:off x="4752975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3" name="Line 63"/>
              <p:cNvSpPr>
                <a:spLocks noChangeShapeType="1"/>
              </p:cNvSpPr>
              <p:nvPr/>
            </p:nvSpPr>
            <p:spPr bwMode="auto">
              <a:xfrm>
                <a:off x="4752975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4" name="Line 64"/>
              <p:cNvSpPr>
                <a:spLocks noChangeShapeType="1"/>
              </p:cNvSpPr>
              <p:nvPr/>
            </p:nvSpPr>
            <p:spPr bwMode="auto">
              <a:xfrm>
                <a:off x="4752975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5" name="Line 65"/>
              <p:cNvSpPr>
                <a:spLocks noChangeShapeType="1"/>
              </p:cNvSpPr>
              <p:nvPr/>
            </p:nvSpPr>
            <p:spPr bwMode="auto">
              <a:xfrm>
                <a:off x="4752975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6" name="Line 66"/>
              <p:cNvSpPr>
                <a:spLocks noChangeShapeType="1"/>
              </p:cNvSpPr>
              <p:nvPr/>
            </p:nvSpPr>
            <p:spPr bwMode="auto">
              <a:xfrm>
                <a:off x="4752975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7" name="Line 67"/>
              <p:cNvSpPr>
                <a:spLocks noChangeShapeType="1"/>
              </p:cNvSpPr>
              <p:nvPr/>
            </p:nvSpPr>
            <p:spPr bwMode="auto">
              <a:xfrm>
                <a:off x="4752975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8" name="Line 68"/>
              <p:cNvSpPr>
                <a:spLocks noChangeShapeType="1"/>
              </p:cNvSpPr>
              <p:nvPr/>
            </p:nvSpPr>
            <p:spPr bwMode="auto">
              <a:xfrm>
                <a:off x="5329238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49" name="Line 69"/>
              <p:cNvSpPr>
                <a:spLocks noChangeShapeType="1"/>
              </p:cNvSpPr>
              <p:nvPr/>
            </p:nvSpPr>
            <p:spPr bwMode="auto">
              <a:xfrm>
                <a:off x="5329238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0" name="Line 70"/>
              <p:cNvSpPr>
                <a:spLocks noChangeShapeType="1"/>
              </p:cNvSpPr>
              <p:nvPr/>
            </p:nvSpPr>
            <p:spPr bwMode="auto">
              <a:xfrm>
                <a:off x="5329238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1" name="Line 71"/>
              <p:cNvSpPr>
                <a:spLocks noChangeShapeType="1"/>
              </p:cNvSpPr>
              <p:nvPr/>
            </p:nvSpPr>
            <p:spPr bwMode="auto">
              <a:xfrm>
                <a:off x="5329238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2" name="Line 72"/>
              <p:cNvSpPr>
                <a:spLocks noChangeShapeType="1"/>
              </p:cNvSpPr>
              <p:nvPr/>
            </p:nvSpPr>
            <p:spPr bwMode="auto">
              <a:xfrm>
                <a:off x="5329238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3" name="Line 73"/>
              <p:cNvSpPr>
                <a:spLocks noChangeShapeType="1"/>
              </p:cNvSpPr>
              <p:nvPr/>
            </p:nvSpPr>
            <p:spPr bwMode="auto">
              <a:xfrm>
                <a:off x="5329238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4" name="Line 74"/>
              <p:cNvSpPr>
                <a:spLocks noChangeShapeType="1"/>
              </p:cNvSpPr>
              <p:nvPr/>
            </p:nvSpPr>
            <p:spPr bwMode="auto">
              <a:xfrm>
                <a:off x="5329238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5" name="Line 75"/>
              <p:cNvSpPr>
                <a:spLocks noChangeShapeType="1"/>
              </p:cNvSpPr>
              <p:nvPr/>
            </p:nvSpPr>
            <p:spPr bwMode="auto">
              <a:xfrm>
                <a:off x="5329238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6" name="Line 76"/>
              <p:cNvSpPr>
                <a:spLocks noChangeShapeType="1"/>
              </p:cNvSpPr>
              <p:nvPr/>
            </p:nvSpPr>
            <p:spPr bwMode="auto">
              <a:xfrm>
                <a:off x="5329238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7" name="Line 77"/>
              <p:cNvSpPr>
                <a:spLocks noChangeShapeType="1"/>
              </p:cNvSpPr>
              <p:nvPr/>
            </p:nvSpPr>
            <p:spPr bwMode="auto">
              <a:xfrm>
                <a:off x="5329238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8" name="Line 78"/>
              <p:cNvSpPr>
                <a:spLocks noChangeShapeType="1"/>
              </p:cNvSpPr>
              <p:nvPr/>
            </p:nvSpPr>
            <p:spPr bwMode="auto">
              <a:xfrm>
                <a:off x="5329238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59" name="Line 79"/>
              <p:cNvSpPr>
                <a:spLocks noChangeShapeType="1"/>
              </p:cNvSpPr>
              <p:nvPr/>
            </p:nvSpPr>
            <p:spPr bwMode="auto">
              <a:xfrm>
                <a:off x="5329238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0" name="Line 80"/>
              <p:cNvSpPr>
                <a:spLocks noChangeShapeType="1"/>
              </p:cNvSpPr>
              <p:nvPr/>
            </p:nvSpPr>
            <p:spPr bwMode="auto">
              <a:xfrm>
                <a:off x="5329238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1" name="Line 81"/>
              <p:cNvSpPr>
                <a:spLocks noChangeShapeType="1"/>
              </p:cNvSpPr>
              <p:nvPr/>
            </p:nvSpPr>
            <p:spPr bwMode="auto">
              <a:xfrm>
                <a:off x="5329238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2" name="Line 82"/>
              <p:cNvSpPr>
                <a:spLocks noChangeShapeType="1"/>
              </p:cNvSpPr>
              <p:nvPr/>
            </p:nvSpPr>
            <p:spPr bwMode="auto">
              <a:xfrm>
                <a:off x="5329238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3" name="Line 83"/>
              <p:cNvSpPr>
                <a:spLocks noChangeShapeType="1"/>
              </p:cNvSpPr>
              <p:nvPr/>
            </p:nvSpPr>
            <p:spPr bwMode="auto">
              <a:xfrm>
                <a:off x="5329238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4" name="Rectangle 84"/>
              <p:cNvSpPr>
                <a:spLocks noChangeArrowheads="1"/>
              </p:cNvSpPr>
              <p:nvPr/>
            </p:nvSpPr>
            <p:spPr bwMode="auto">
              <a:xfrm>
                <a:off x="7561263" y="1763713"/>
                <a:ext cx="360362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5" name="Rectangle 85"/>
              <p:cNvSpPr>
                <a:spLocks noChangeArrowheads="1"/>
              </p:cNvSpPr>
              <p:nvPr/>
            </p:nvSpPr>
            <p:spPr bwMode="auto">
              <a:xfrm>
                <a:off x="7561263" y="2411413"/>
                <a:ext cx="360362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6" name="Rectangle 86"/>
              <p:cNvSpPr>
                <a:spLocks noChangeArrowheads="1"/>
              </p:cNvSpPr>
              <p:nvPr/>
            </p:nvSpPr>
            <p:spPr bwMode="auto">
              <a:xfrm>
                <a:off x="7561263" y="3059113"/>
                <a:ext cx="360362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7" name="Rectangle 87"/>
              <p:cNvSpPr>
                <a:spLocks noChangeArrowheads="1"/>
              </p:cNvSpPr>
              <p:nvPr/>
            </p:nvSpPr>
            <p:spPr bwMode="auto">
              <a:xfrm>
                <a:off x="7561263" y="3708400"/>
                <a:ext cx="360362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8" name="Rectangle 88"/>
              <p:cNvSpPr>
                <a:spLocks noChangeArrowheads="1"/>
              </p:cNvSpPr>
              <p:nvPr/>
            </p:nvSpPr>
            <p:spPr bwMode="auto">
              <a:xfrm>
                <a:off x="7561263" y="4356100"/>
                <a:ext cx="360362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69" name="Rectangle 89"/>
              <p:cNvSpPr>
                <a:spLocks noChangeArrowheads="1"/>
              </p:cNvSpPr>
              <p:nvPr/>
            </p:nvSpPr>
            <p:spPr bwMode="auto">
              <a:xfrm>
                <a:off x="7561263" y="5003800"/>
                <a:ext cx="360362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0" name="Rectangle 90"/>
              <p:cNvSpPr>
                <a:spLocks noChangeArrowheads="1"/>
              </p:cNvSpPr>
              <p:nvPr/>
            </p:nvSpPr>
            <p:spPr bwMode="auto">
              <a:xfrm>
                <a:off x="7561263" y="5651500"/>
                <a:ext cx="360362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1" name="Rectangle 91"/>
              <p:cNvSpPr>
                <a:spLocks noChangeArrowheads="1"/>
              </p:cNvSpPr>
              <p:nvPr/>
            </p:nvSpPr>
            <p:spPr bwMode="auto">
              <a:xfrm>
                <a:off x="7561263" y="6300788"/>
                <a:ext cx="360362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2" name="Line 92"/>
              <p:cNvSpPr>
                <a:spLocks noChangeShapeType="1"/>
              </p:cNvSpPr>
              <p:nvPr/>
            </p:nvSpPr>
            <p:spPr bwMode="auto">
              <a:xfrm>
                <a:off x="7345363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3" name="Line 93"/>
              <p:cNvSpPr>
                <a:spLocks noChangeShapeType="1"/>
              </p:cNvSpPr>
              <p:nvPr/>
            </p:nvSpPr>
            <p:spPr bwMode="auto">
              <a:xfrm>
                <a:off x="7345363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4" name="Line 94"/>
              <p:cNvSpPr>
                <a:spLocks noChangeShapeType="1"/>
              </p:cNvSpPr>
              <p:nvPr/>
            </p:nvSpPr>
            <p:spPr bwMode="auto">
              <a:xfrm>
                <a:off x="7345363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5" name="Line 95"/>
              <p:cNvSpPr>
                <a:spLocks noChangeShapeType="1"/>
              </p:cNvSpPr>
              <p:nvPr/>
            </p:nvSpPr>
            <p:spPr bwMode="auto">
              <a:xfrm>
                <a:off x="7345363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6" name="Line 96"/>
              <p:cNvSpPr>
                <a:spLocks noChangeShapeType="1"/>
              </p:cNvSpPr>
              <p:nvPr/>
            </p:nvSpPr>
            <p:spPr bwMode="auto">
              <a:xfrm>
                <a:off x="7345363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7" name="Line 97"/>
              <p:cNvSpPr>
                <a:spLocks noChangeShapeType="1"/>
              </p:cNvSpPr>
              <p:nvPr/>
            </p:nvSpPr>
            <p:spPr bwMode="auto">
              <a:xfrm>
                <a:off x="7345363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8" name="Line 98"/>
              <p:cNvSpPr>
                <a:spLocks noChangeShapeType="1"/>
              </p:cNvSpPr>
              <p:nvPr/>
            </p:nvSpPr>
            <p:spPr bwMode="auto">
              <a:xfrm>
                <a:off x="7345363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79" name="Line 99"/>
              <p:cNvSpPr>
                <a:spLocks noChangeShapeType="1"/>
              </p:cNvSpPr>
              <p:nvPr/>
            </p:nvSpPr>
            <p:spPr bwMode="auto">
              <a:xfrm>
                <a:off x="7345363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0" name="Line 100"/>
              <p:cNvSpPr>
                <a:spLocks noChangeShapeType="1"/>
              </p:cNvSpPr>
              <p:nvPr/>
            </p:nvSpPr>
            <p:spPr bwMode="auto">
              <a:xfrm>
                <a:off x="7345363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1" name="Line 101"/>
              <p:cNvSpPr>
                <a:spLocks noChangeShapeType="1"/>
              </p:cNvSpPr>
              <p:nvPr/>
            </p:nvSpPr>
            <p:spPr bwMode="auto">
              <a:xfrm>
                <a:off x="7345363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2" name="Line 102"/>
              <p:cNvSpPr>
                <a:spLocks noChangeShapeType="1"/>
              </p:cNvSpPr>
              <p:nvPr/>
            </p:nvSpPr>
            <p:spPr bwMode="auto">
              <a:xfrm>
                <a:off x="7345363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3" name="Line 103"/>
              <p:cNvSpPr>
                <a:spLocks noChangeShapeType="1"/>
              </p:cNvSpPr>
              <p:nvPr/>
            </p:nvSpPr>
            <p:spPr bwMode="auto">
              <a:xfrm>
                <a:off x="7345363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4" name="Line 104"/>
              <p:cNvSpPr>
                <a:spLocks noChangeShapeType="1"/>
              </p:cNvSpPr>
              <p:nvPr/>
            </p:nvSpPr>
            <p:spPr bwMode="auto">
              <a:xfrm>
                <a:off x="7345363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5" name="Line 105"/>
              <p:cNvSpPr>
                <a:spLocks noChangeShapeType="1"/>
              </p:cNvSpPr>
              <p:nvPr/>
            </p:nvSpPr>
            <p:spPr bwMode="auto">
              <a:xfrm>
                <a:off x="7345363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6" name="Line 106"/>
              <p:cNvSpPr>
                <a:spLocks noChangeShapeType="1"/>
              </p:cNvSpPr>
              <p:nvPr/>
            </p:nvSpPr>
            <p:spPr bwMode="auto">
              <a:xfrm>
                <a:off x="7345363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7" name="Line 107"/>
              <p:cNvSpPr>
                <a:spLocks noChangeShapeType="1"/>
              </p:cNvSpPr>
              <p:nvPr/>
            </p:nvSpPr>
            <p:spPr bwMode="auto">
              <a:xfrm>
                <a:off x="7345363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88" name="Text Box 108"/>
              <p:cNvSpPr txBox="1">
                <a:spLocks noChangeArrowheads="1"/>
              </p:cNvSpPr>
              <p:nvPr/>
            </p:nvSpPr>
            <p:spPr bwMode="auto">
              <a:xfrm>
                <a:off x="3421063" y="7019925"/>
                <a:ext cx="3470275" cy="344488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9973" tIns="44986" rIns="89973" bIns="44986">
                <a:spAutoFit/>
              </a:bodyPr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862013" indent="-214313"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indent="-217488"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7488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7488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7488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7488" defTabSz="449263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/>
                <a:r>
                  <a:rPr lang="en-GB" altLang="zh-TW" sz="1800">
                    <a:solidFill>
                      <a:schemeClr val="tx1"/>
                    </a:solidFill>
                    <a:ea typeface="新細明體" panose="02020500000000000000" pitchFamily="18" charset="-120"/>
                  </a:rPr>
                  <a:t>16 port, </a:t>
                </a:r>
                <a:r>
                  <a:rPr lang="en-GB" altLang="zh-TW" sz="1800" i="1">
                    <a:solidFill>
                      <a:schemeClr val="tx1"/>
                    </a:solidFill>
                    <a:ea typeface="新細明體" panose="02020500000000000000" pitchFamily="18" charset="-120"/>
                  </a:rPr>
                  <a:t>4 stage </a:t>
                </a:r>
                <a:r>
                  <a:rPr lang="en-GB" altLang="zh-TW" sz="1800" b="1" i="1">
                    <a:solidFill>
                      <a:schemeClr val="accent2"/>
                    </a:solidFill>
                    <a:ea typeface="新細明體" panose="02020500000000000000" pitchFamily="18" charset="-120"/>
                  </a:rPr>
                  <a:t>Omega </a:t>
                </a:r>
                <a:r>
                  <a:rPr lang="en-GB" altLang="zh-TW" sz="1800" i="1">
                    <a:solidFill>
                      <a:schemeClr val="tx1"/>
                    </a:solidFill>
                    <a:ea typeface="新細明體" panose="02020500000000000000" pitchFamily="18" charset="-120"/>
                  </a:rPr>
                  <a:t>network</a:t>
                </a:r>
              </a:p>
            </p:txBody>
          </p:sp>
          <p:sp>
            <p:nvSpPr>
              <p:cNvPr id="389" name="Text Box 110"/>
              <p:cNvSpPr txBox="1">
                <a:spLocks noChangeArrowheads="1"/>
              </p:cNvSpPr>
              <p:nvPr/>
            </p:nvSpPr>
            <p:spPr bwMode="auto">
              <a:xfrm>
                <a:off x="2138363" y="193040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0001</a:t>
                </a:r>
              </a:p>
            </p:txBody>
          </p:sp>
          <p:sp>
            <p:nvSpPr>
              <p:cNvPr id="390" name="Text Box 111"/>
              <p:cNvSpPr txBox="1">
                <a:spLocks noChangeArrowheads="1"/>
              </p:cNvSpPr>
              <p:nvPr/>
            </p:nvSpPr>
            <p:spPr bwMode="auto">
              <a:xfrm>
                <a:off x="2138363" y="2290763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0010</a:t>
                </a:r>
              </a:p>
            </p:txBody>
          </p:sp>
          <p:sp>
            <p:nvSpPr>
              <p:cNvPr id="391" name="Text Box 112"/>
              <p:cNvSpPr txBox="1">
                <a:spLocks noChangeArrowheads="1"/>
              </p:cNvSpPr>
              <p:nvPr/>
            </p:nvSpPr>
            <p:spPr bwMode="auto">
              <a:xfrm>
                <a:off x="2138363" y="2579688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0011</a:t>
                </a:r>
              </a:p>
            </p:txBody>
          </p:sp>
          <p:sp>
            <p:nvSpPr>
              <p:cNvPr id="392" name="Text Box 113"/>
              <p:cNvSpPr txBox="1">
                <a:spLocks noChangeArrowheads="1"/>
              </p:cNvSpPr>
              <p:nvPr/>
            </p:nvSpPr>
            <p:spPr bwMode="auto">
              <a:xfrm>
                <a:off x="2138363" y="2938463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0100</a:t>
                </a:r>
              </a:p>
            </p:txBody>
          </p:sp>
          <p:sp>
            <p:nvSpPr>
              <p:cNvPr id="393" name="Text Box 114"/>
              <p:cNvSpPr txBox="1">
                <a:spLocks noChangeArrowheads="1"/>
              </p:cNvSpPr>
              <p:nvPr/>
            </p:nvSpPr>
            <p:spPr bwMode="auto">
              <a:xfrm>
                <a:off x="2138363" y="322580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0101</a:t>
                </a:r>
              </a:p>
            </p:txBody>
          </p:sp>
          <p:sp>
            <p:nvSpPr>
              <p:cNvPr id="394" name="Text Box 115"/>
              <p:cNvSpPr txBox="1">
                <a:spLocks noChangeArrowheads="1"/>
              </p:cNvSpPr>
              <p:nvPr/>
            </p:nvSpPr>
            <p:spPr bwMode="auto">
              <a:xfrm>
                <a:off x="2138363" y="3586163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0110</a:t>
                </a:r>
              </a:p>
            </p:txBody>
          </p:sp>
          <p:sp>
            <p:nvSpPr>
              <p:cNvPr id="395" name="Text Box 116"/>
              <p:cNvSpPr txBox="1">
                <a:spLocks noChangeArrowheads="1"/>
              </p:cNvSpPr>
              <p:nvPr/>
            </p:nvSpPr>
            <p:spPr bwMode="auto">
              <a:xfrm>
                <a:off x="2138363" y="3875088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0111</a:t>
                </a:r>
              </a:p>
            </p:txBody>
          </p:sp>
          <p:sp>
            <p:nvSpPr>
              <p:cNvPr id="396" name="Text Box 117"/>
              <p:cNvSpPr txBox="1">
                <a:spLocks noChangeArrowheads="1"/>
              </p:cNvSpPr>
              <p:nvPr/>
            </p:nvSpPr>
            <p:spPr bwMode="auto">
              <a:xfrm>
                <a:off x="2138363" y="423545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1000</a:t>
                </a:r>
              </a:p>
            </p:txBody>
          </p:sp>
          <p:sp>
            <p:nvSpPr>
              <p:cNvPr id="397" name="Text Box 118"/>
              <p:cNvSpPr txBox="1">
                <a:spLocks noChangeArrowheads="1"/>
              </p:cNvSpPr>
              <p:nvPr/>
            </p:nvSpPr>
            <p:spPr bwMode="auto">
              <a:xfrm>
                <a:off x="2138363" y="4522788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1001</a:t>
                </a:r>
              </a:p>
            </p:txBody>
          </p:sp>
          <p:sp>
            <p:nvSpPr>
              <p:cNvPr id="398" name="Text Box 119"/>
              <p:cNvSpPr txBox="1">
                <a:spLocks noChangeArrowheads="1"/>
              </p:cNvSpPr>
              <p:nvPr/>
            </p:nvSpPr>
            <p:spPr bwMode="auto">
              <a:xfrm>
                <a:off x="2138363" y="488315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1010</a:t>
                </a:r>
              </a:p>
            </p:txBody>
          </p:sp>
          <p:sp>
            <p:nvSpPr>
              <p:cNvPr id="399" name="Text Box 120"/>
              <p:cNvSpPr txBox="1">
                <a:spLocks noChangeArrowheads="1"/>
              </p:cNvSpPr>
              <p:nvPr/>
            </p:nvSpPr>
            <p:spPr bwMode="auto">
              <a:xfrm>
                <a:off x="2138363" y="517207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1011</a:t>
                </a:r>
              </a:p>
            </p:txBody>
          </p:sp>
          <p:sp>
            <p:nvSpPr>
              <p:cNvPr id="400" name="Text Box 121"/>
              <p:cNvSpPr txBox="1">
                <a:spLocks noChangeArrowheads="1"/>
              </p:cNvSpPr>
              <p:nvPr/>
            </p:nvSpPr>
            <p:spPr bwMode="auto">
              <a:xfrm>
                <a:off x="2138363" y="550862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1100</a:t>
                </a:r>
              </a:p>
            </p:txBody>
          </p:sp>
          <p:sp>
            <p:nvSpPr>
              <p:cNvPr id="401" name="Text Box 122"/>
              <p:cNvSpPr txBox="1">
                <a:spLocks noChangeArrowheads="1"/>
              </p:cNvSpPr>
              <p:nvPr/>
            </p:nvSpPr>
            <p:spPr bwMode="auto">
              <a:xfrm>
                <a:off x="2138363" y="5795963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1101</a:t>
                </a:r>
              </a:p>
            </p:txBody>
          </p:sp>
          <p:sp>
            <p:nvSpPr>
              <p:cNvPr id="402" name="Text Box 123"/>
              <p:cNvSpPr txBox="1">
                <a:spLocks noChangeArrowheads="1"/>
              </p:cNvSpPr>
              <p:nvPr/>
            </p:nvSpPr>
            <p:spPr bwMode="auto">
              <a:xfrm>
                <a:off x="2138363" y="615632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1110</a:t>
                </a:r>
              </a:p>
            </p:txBody>
          </p:sp>
          <p:sp>
            <p:nvSpPr>
              <p:cNvPr id="403" name="Text Box 124"/>
              <p:cNvSpPr txBox="1">
                <a:spLocks noChangeArrowheads="1"/>
              </p:cNvSpPr>
              <p:nvPr/>
            </p:nvSpPr>
            <p:spPr bwMode="auto">
              <a:xfrm>
                <a:off x="2138363" y="644525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1111</a:t>
                </a:r>
              </a:p>
            </p:txBody>
          </p:sp>
          <p:sp>
            <p:nvSpPr>
              <p:cNvPr id="404" name="Line 125"/>
              <p:cNvSpPr>
                <a:spLocks noChangeShapeType="1"/>
              </p:cNvSpPr>
              <p:nvPr/>
            </p:nvSpPr>
            <p:spPr bwMode="auto">
              <a:xfrm>
                <a:off x="7943850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05" name="Line 126"/>
              <p:cNvSpPr>
                <a:spLocks noChangeShapeType="1"/>
              </p:cNvSpPr>
              <p:nvPr/>
            </p:nvSpPr>
            <p:spPr bwMode="auto">
              <a:xfrm>
                <a:off x="7943850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06" name="Line 127"/>
              <p:cNvSpPr>
                <a:spLocks noChangeShapeType="1"/>
              </p:cNvSpPr>
              <p:nvPr/>
            </p:nvSpPr>
            <p:spPr bwMode="auto">
              <a:xfrm>
                <a:off x="7943850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07" name="Line 128"/>
              <p:cNvSpPr>
                <a:spLocks noChangeShapeType="1"/>
              </p:cNvSpPr>
              <p:nvPr/>
            </p:nvSpPr>
            <p:spPr bwMode="auto">
              <a:xfrm>
                <a:off x="7943850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08" name="Line 129"/>
              <p:cNvSpPr>
                <a:spLocks noChangeShapeType="1"/>
              </p:cNvSpPr>
              <p:nvPr/>
            </p:nvSpPr>
            <p:spPr bwMode="auto">
              <a:xfrm>
                <a:off x="7943850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09" name="Line 130"/>
              <p:cNvSpPr>
                <a:spLocks noChangeShapeType="1"/>
              </p:cNvSpPr>
              <p:nvPr/>
            </p:nvSpPr>
            <p:spPr bwMode="auto">
              <a:xfrm>
                <a:off x="7943850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0" name="Line 131"/>
              <p:cNvSpPr>
                <a:spLocks noChangeShapeType="1"/>
              </p:cNvSpPr>
              <p:nvPr/>
            </p:nvSpPr>
            <p:spPr bwMode="auto">
              <a:xfrm>
                <a:off x="7943850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1" name="Line 132"/>
              <p:cNvSpPr>
                <a:spLocks noChangeShapeType="1"/>
              </p:cNvSpPr>
              <p:nvPr/>
            </p:nvSpPr>
            <p:spPr bwMode="auto">
              <a:xfrm>
                <a:off x="7943850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2" name="Line 133"/>
              <p:cNvSpPr>
                <a:spLocks noChangeShapeType="1"/>
              </p:cNvSpPr>
              <p:nvPr/>
            </p:nvSpPr>
            <p:spPr bwMode="auto">
              <a:xfrm>
                <a:off x="7943850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3" name="Line 134"/>
              <p:cNvSpPr>
                <a:spLocks noChangeShapeType="1"/>
              </p:cNvSpPr>
              <p:nvPr/>
            </p:nvSpPr>
            <p:spPr bwMode="auto">
              <a:xfrm>
                <a:off x="7943850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4" name="Line 135"/>
              <p:cNvSpPr>
                <a:spLocks noChangeShapeType="1"/>
              </p:cNvSpPr>
              <p:nvPr/>
            </p:nvSpPr>
            <p:spPr bwMode="auto">
              <a:xfrm>
                <a:off x="7943850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5" name="Line 136"/>
              <p:cNvSpPr>
                <a:spLocks noChangeShapeType="1"/>
              </p:cNvSpPr>
              <p:nvPr/>
            </p:nvSpPr>
            <p:spPr bwMode="auto">
              <a:xfrm>
                <a:off x="7943850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6" name="Line 137"/>
              <p:cNvSpPr>
                <a:spLocks noChangeShapeType="1"/>
              </p:cNvSpPr>
              <p:nvPr/>
            </p:nvSpPr>
            <p:spPr bwMode="auto">
              <a:xfrm>
                <a:off x="7943850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7" name="Line 138"/>
              <p:cNvSpPr>
                <a:spLocks noChangeShapeType="1"/>
              </p:cNvSpPr>
              <p:nvPr/>
            </p:nvSpPr>
            <p:spPr bwMode="auto">
              <a:xfrm>
                <a:off x="7943850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8" name="Line 139"/>
              <p:cNvSpPr>
                <a:spLocks noChangeShapeType="1"/>
              </p:cNvSpPr>
              <p:nvPr/>
            </p:nvSpPr>
            <p:spPr bwMode="auto">
              <a:xfrm>
                <a:off x="7943850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19" name="Line 140"/>
              <p:cNvSpPr>
                <a:spLocks noChangeShapeType="1"/>
              </p:cNvSpPr>
              <p:nvPr/>
            </p:nvSpPr>
            <p:spPr bwMode="auto">
              <a:xfrm>
                <a:off x="7943850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0" name="Text Box 142"/>
              <p:cNvSpPr txBox="1">
                <a:spLocks noChangeArrowheads="1"/>
              </p:cNvSpPr>
              <p:nvPr/>
            </p:nvSpPr>
            <p:spPr bwMode="auto">
              <a:xfrm>
                <a:off x="8181975" y="195262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0001</a:t>
                </a:r>
              </a:p>
            </p:txBody>
          </p:sp>
          <p:sp>
            <p:nvSpPr>
              <p:cNvPr id="421" name="Text Box 143"/>
              <p:cNvSpPr txBox="1">
                <a:spLocks noChangeArrowheads="1"/>
              </p:cNvSpPr>
              <p:nvPr/>
            </p:nvSpPr>
            <p:spPr bwMode="auto">
              <a:xfrm>
                <a:off x="8181975" y="2312988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0010</a:t>
                </a:r>
              </a:p>
            </p:txBody>
          </p:sp>
          <p:sp>
            <p:nvSpPr>
              <p:cNvPr id="422" name="Text Box 144"/>
              <p:cNvSpPr txBox="1">
                <a:spLocks noChangeArrowheads="1"/>
              </p:cNvSpPr>
              <p:nvPr/>
            </p:nvSpPr>
            <p:spPr bwMode="auto">
              <a:xfrm>
                <a:off x="8181975" y="2601913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0011</a:t>
                </a:r>
              </a:p>
            </p:txBody>
          </p:sp>
          <p:sp>
            <p:nvSpPr>
              <p:cNvPr id="423" name="Text Box 145"/>
              <p:cNvSpPr txBox="1">
                <a:spLocks noChangeArrowheads="1"/>
              </p:cNvSpPr>
              <p:nvPr/>
            </p:nvSpPr>
            <p:spPr bwMode="auto">
              <a:xfrm>
                <a:off x="8181975" y="2960688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0100</a:t>
                </a:r>
              </a:p>
            </p:txBody>
          </p:sp>
          <p:sp>
            <p:nvSpPr>
              <p:cNvPr id="424" name="Text Box 146"/>
              <p:cNvSpPr txBox="1">
                <a:spLocks noChangeArrowheads="1"/>
              </p:cNvSpPr>
              <p:nvPr/>
            </p:nvSpPr>
            <p:spPr bwMode="auto">
              <a:xfrm>
                <a:off x="8181975" y="324802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0101</a:t>
                </a:r>
              </a:p>
            </p:txBody>
          </p:sp>
          <p:sp>
            <p:nvSpPr>
              <p:cNvPr id="425" name="Text Box 147"/>
              <p:cNvSpPr txBox="1">
                <a:spLocks noChangeArrowheads="1"/>
              </p:cNvSpPr>
              <p:nvPr/>
            </p:nvSpPr>
            <p:spPr bwMode="auto">
              <a:xfrm>
                <a:off x="8181975" y="3608388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0110</a:t>
                </a:r>
              </a:p>
            </p:txBody>
          </p:sp>
          <p:sp>
            <p:nvSpPr>
              <p:cNvPr id="426" name="Text Box 148"/>
              <p:cNvSpPr txBox="1">
                <a:spLocks noChangeArrowheads="1"/>
              </p:cNvSpPr>
              <p:nvPr/>
            </p:nvSpPr>
            <p:spPr bwMode="auto">
              <a:xfrm>
                <a:off x="8181975" y="3897313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0111</a:t>
                </a:r>
              </a:p>
            </p:txBody>
          </p:sp>
          <p:sp>
            <p:nvSpPr>
              <p:cNvPr id="427" name="Text Box 149"/>
              <p:cNvSpPr txBox="1">
                <a:spLocks noChangeArrowheads="1"/>
              </p:cNvSpPr>
              <p:nvPr/>
            </p:nvSpPr>
            <p:spPr bwMode="auto">
              <a:xfrm>
                <a:off x="8181975" y="425767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1000</a:t>
                </a:r>
              </a:p>
            </p:txBody>
          </p:sp>
          <p:sp>
            <p:nvSpPr>
              <p:cNvPr id="428" name="Text Box 150"/>
              <p:cNvSpPr txBox="1">
                <a:spLocks noChangeArrowheads="1"/>
              </p:cNvSpPr>
              <p:nvPr/>
            </p:nvSpPr>
            <p:spPr bwMode="auto">
              <a:xfrm>
                <a:off x="8181975" y="4545013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1001</a:t>
                </a:r>
              </a:p>
            </p:txBody>
          </p:sp>
          <p:sp>
            <p:nvSpPr>
              <p:cNvPr id="429" name="Text Box 151"/>
              <p:cNvSpPr txBox="1">
                <a:spLocks noChangeArrowheads="1"/>
              </p:cNvSpPr>
              <p:nvPr/>
            </p:nvSpPr>
            <p:spPr bwMode="auto">
              <a:xfrm>
                <a:off x="8181975" y="490537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1010</a:t>
                </a:r>
              </a:p>
            </p:txBody>
          </p:sp>
          <p:sp>
            <p:nvSpPr>
              <p:cNvPr id="430" name="Text Box 152"/>
              <p:cNvSpPr txBox="1">
                <a:spLocks noChangeArrowheads="1"/>
              </p:cNvSpPr>
              <p:nvPr/>
            </p:nvSpPr>
            <p:spPr bwMode="auto">
              <a:xfrm>
                <a:off x="8181975" y="519430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1011</a:t>
                </a:r>
              </a:p>
            </p:txBody>
          </p:sp>
          <p:sp>
            <p:nvSpPr>
              <p:cNvPr id="431" name="Text Box 153"/>
              <p:cNvSpPr txBox="1">
                <a:spLocks noChangeArrowheads="1"/>
              </p:cNvSpPr>
              <p:nvPr/>
            </p:nvSpPr>
            <p:spPr bwMode="auto">
              <a:xfrm>
                <a:off x="8181975" y="553085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1100</a:t>
                </a:r>
              </a:p>
            </p:txBody>
          </p:sp>
          <p:sp>
            <p:nvSpPr>
              <p:cNvPr id="432" name="Text Box 154"/>
              <p:cNvSpPr txBox="1">
                <a:spLocks noChangeArrowheads="1"/>
              </p:cNvSpPr>
              <p:nvPr/>
            </p:nvSpPr>
            <p:spPr bwMode="auto">
              <a:xfrm>
                <a:off x="8181975" y="5818188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1101</a:t>
                </a:r>
              </a:p>
            </p:txBody>
          </p:sp>
          <p:sp>
            <p:nvSpPr>
              <p:cNvPr id="433" name="Text Box 155"/>
              <p:cNvSpPr txBox="1">
                <a:spLocks noChangeArrowheads="1"/>
              </p:cNvSpPr>
              <p:nvPr/>
            </p:nvSpPr>
            <p:spPr bwMode="auto">
              <a:xfrm>
                <a:off x="8181975" y="6178550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1110</a:t>
                </a:r>
              </a:p>
            </p:txBody>
          </p:sp>
          <p:sp>
            <p:nvSpPr>
              <p:cNvPr id="434" name="Text Box 156"/>
              <p:cNvSpPr txBox="1">
                <a:spLocks noChangeArrowheads="1"/>
              </p:cNvSpPr>
              <p:nvPr/>
            </p:nvSpPr>
            <p:spPr bwMode="auto">
              <a:xfrm>
                <a:off x="8181975" y="6467475"/>
                <a:ext cx="62547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>
                <a:lvl1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algn="l">
                  <a:lnSpc>
                    <a:spcPct val="93000"/>
                  </a:lnSpc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panose="05000000000000000000" pitchFamily="2" charset="2"/>
                  <a:defRPr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defTabSz="914400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s-ES_tradnl" altLang="zh-TW" sz="1600">
                    <a:solidFill>
                      <a:schemeClr val="tx1"/>
                    </a:solidFill>
                    <a:latin typeface="Tahoma" panose="020B0604030504040204" pitchFamily="34" charset="0"/>
                  </a:rPr>
                  <a:t>1111</a:t>
                </a:r>
              </a:p>
            </p:txBody>
          </p:sp>
          <p:sp>
            <p:nvSpPr>
              <p:cNvPr id="435" name="Line 157"/>
              <p:cNvSpPr>
                <a:spLocks noChangeShapeType="1"/>
              </p:cNvSpPr>
              <p:nvPr/>
            </p:nvSpPr>
            <p:spPr bwMode="auto">
              <a:xfrm>
                <a:off x="2744788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6" name="Line 158"/>
              <p:cNvSpPr>
                <a:spLocks noChangeShapeType="1"/>
              </p:cNvSpPr>
              <p:nvPr/>
            </p:nvSpPr>
            <p:spPr bwMode="auto">
              <a:xfrm>
                <a:off x="2744788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7" name="Line 159"/>
              <p:cNvSpPr>
                <a:spLocks noChangeShapeType="1"/>
              </p:cNvSpPr>
              <p:nvPr/>
            </p:nvSpPr>
            <p:spPr bwMode="auto">
              <a:xfrm>
                <a:off x="2744788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8" name="Line 160"/>
              <p:cNvSpPr>
                <a:spLocks noChangeShapeType="1"/>
              </p:cNvSpPr>
              <p:nvPr/>
            </p:nvSpPr>
            <p:spPr bwMode="auto">
              <a:xfrm>
                <a:off x="2744788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9" name="Line 161"/>
              <p:cNvSpPr>
                <a:spLocks noChangeShapeType="1"/>
              </p:cNvSpPr>
              <p:nvPr/>
            </p:nvSpPr>
            <p:spPr bwMode="auto">
              <a:xfrm>
                <a:off x="2744788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0" name="Line 162"/>
              <p:cNvSpPr>
                <a:spLocks noChangeShapeType="1"/>
              </p:cNvSpPr>
              <p:nvPr/>
            </p:nvSpPr>
            <p:spPr bwMode="auto">
              <a:xfrm>
                <a:off x="2744788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1" name="Line 163"/>
              <p:cNvSpPr>
                <a:spLocks noChangeShapeType="1"/>
              </p:cNvSpPr>
              <p:nvPr/>
            </p:nvSpPr>
            <p:spPr bwMode="auto">
              <a:xfrm>
                <a:off x="2744788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2" name="Line 164"/>
              <p:cNvSpPr>
                <a:spLocks noChangeShapeType="1"/>
              </p:cNvSpPr>
              <p:nvPr/>
            </p:nvSpPr>
            <p:spPr bwMode="auto">
              <a:xfrm>
                <a:off x="2744788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3" name="Line 165"/>
              <p:cNvSpPr>
                <a:spLocks noChangeShapeType="1"/>
              </p:cNvSpPr>
              <p:nvPr/>
            </p:nvSpPr>
            <p:spPr bwMode="auto">
              <a:xfrm>
                <a:off x="2744788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4" name="Line 166"/>
              <p:cNvSpPr>
                <a:spLocks noChangeShapeType="1"/>
              </p:cNvSpPr>
              <p:nvPr/>
            </p:nvSpPr>
            <p:spPr bwMode="auto">
              <a:xfrm>
                <a:off x="2744788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5" name="Line 167"/>
              <p:cNvSpPr>
                <a:spLocks noChangeShapeType="1"/>
              </p:cNvSpPr>
              <p:nvPr/>
            </p:nvSpPr>
            <p:spPr bwMode="auto">
              <a:xfrm>
                <a:off x="2744788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6" name="Line 168"/>
              <p:cNvSpPr>
                <a:spLocks noChangeShapeType="1"/>
              </p:cNvSpPr>
              <p:nvPr/>
            </p:nvSpPr>
            <p:spPr bwMode="auto">
              <a:xfrm>
                <a:off x="2744788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7" name="Line 169"/>
              <p:cNvSpPr>
                <a:spLocks noChangeShapeType="1"/>
              </p:cNvSpPr>
              <p:nvPr/>
            </p:nvSpPr>
            <p:spPr bwMode="auto">
              <a:xfrm>
                <a:off x="2744788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8" name="Line 170"/>
              <p:cNvSpPr>
                <a:spLocks noChangeShapeType="1"/>
              </p:cNvSpPr>
              <p:nvPr/>
            </p:nvSpPr>
            <p:spPr bwMode="auto">
              <a:xfrm>
                <a:off x="2744788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49" name="Line 171"/>
              <p:cNvSpPr>
                <a:spLocks noChangeShapeType="1"/>
              </p:cNvSpPr>
              <p:nvPr/>
            </p:nvSpPr>
            <p:spPr bwMode="auto">
              <a:xfrm>
                <a:off x="2744788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0" name="Line 172"/>
              <p:cNvSpPr>
                <a:spLocks noChangeShapeType="1"/>
              </p:cNvSpPr>
              <p:nvPr/>
            </p:nvSpPr>
            <p:spPr bwMode="auto">
              <a:xfrm>
                <a:off x="2744788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1" name="Rectangle 189"/>
              <p:cNvSpPr>
                <a:spLocks noChangeArrowheads="1"/>
              </p:cNvSpPr>
              <p:nvPr/>
            </p:nvSpPr>
            <p:spPr bwMode="auto">
              <a:xfrm>
                <a:off x="6264275" y="17637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2" name="Rectangle 190"/>
              <p:cNvSpPr>
                <a:spLocks noChangeArrowheads="1"/>
              </p:cNvSpPr>
              <p:nvPr/>
            </p:nvSpPr>
            <p:spPr bwMode="auto">
              <a:xfrm>
                <a:off x="6264275" y="24114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3" name="Rectangle 191"/>
              <p:cNvSpPr>
                <a:spLocks noChangeArrowheads="1"/>
              </p:cNvSpPr>
              <p:nvPr/>
            </p:nvSpPr>
            <p:spPr bwMode="auto">
              <a:xfrm>
                <a:off x="6264275" y="3059113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4" name="Rectangle 192"/>
              <p:cNvSpPr>
                <a:spLocks noChangeArrowheads="1"/>
              </p:cNvSpPr>
              <p:nvPr/>
            </p:nvSpPr>
            <p:spPr bwMode="auto">
              <a:xfrm>
                <a:off x="6264275" y="37084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5" name="Rectangle 193"/>
              <p:cNvSpPr>
                <a:spLocks noChangeArrowheads="1"/>
              </p:cNvSpPr>
              <p:nvPr/>
            </p:nvSpPr>
            <p:spPr bwMode="auto">
              <a:xfrm>
                <a:off x="6264275" y="43561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6" name="Rectangle 194"/>
              <p:cNvSpPr>
                <a:spLocks noChangeArrowheads="1"/>
              </p:cNvSpPr>
              <p:nvPr/>
            </p:nvSpPr>
            <p:spPr bwMode="auto">
              <a:xfrm>
                <a:off x="6264275" y="50038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7" name="Rectangle 195"/>
              <p:cNvSpPr>
                <a:spLocks noChangeArrowheads="1"/>
              </p:cNvSpPr>
              <p:nvPr/>
            </p:nvSpPr>
            <p:spPr bwMode="auto">
              <a:xfrm>
                <a:off x="6264275" y="5651500"/>
                <a:ext cx="360363" cy="503238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8" name="Rectangle 196"/>
              <p:cNvSpPr>
                <a:spLocks noChangeArrowheads="1"/>
              </p:cNvSpPr>
              <p:nvPr/>
            </p:nvSpPr>
            <p:spPr bwMode="auto">
              <a:xfrm>
                <a:off x="6264275" y="6300788"/>
                <a:ext cx="360363" cy="50323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59" name="Line 197"/>
              <p:cNvSpPr>
                <a:spLocks noChangeShapeType="1"/>
              </p:cNvSpPr>
              <p:nvPr/>
            </p:nvSpPr>
            <p:spPr bwMode="auto">
              <a:xfrm>
                <a:off x="6048375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0" name="Line 198"/>
              <p:cNvSpPr>
                <a:spLocks noChangeShapeType="1"/>
              </p:cNvSpPr>
              <p:nvPr/>
            </p:nvSpPr>
            <p:spPr bwMode="auto">
              <a:xfrm>
                <a:off x="6048375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1" name="Line 199"/>
              <p:cNvSpPr>
                <a:spLocks noChangeShapeType="1"/>
              </p:cNvSpPr>
              <p:nvPr/>
            </p:nvSpPr>
            <p:spPr bwMode="auto">
              <a:xfrm>
                <a:off x="6048375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2" name="Line 200"/>
              <p:cNvSpPr>
                <a:spLocks noChangeShapeType="1"/>
              </p:cNvSpPr>
              <p:nvPr/>
            </p:nvSpPr>
            <p:spPr bwMode="auto">
              <a:xfrm>
                <a:off x="6048375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3" name="Line 201"/>
              <p:cNvSpPr>
                <a:spLocks noChangeShapeType="1"/>
              </p:cNvSpPr>
              <p:nvPr/>
            </p:nvSpPr>
            <p:spPr bwMode="auto">
              <a:xfrm>
                <a:off x="6048375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4" name="Line 202"/>
              <p:cNvSpPr>
                <a:spLocks noChangeShapeType="1"/>
              </p:cNvSpPr>
              <p:nvPr/>
            </p:nvSpPr>
            <p:spPr bwMode="auto">
              <a:xfrm>
                <a:off x="6048375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5" name="Line 203"/>
              <p:cNvSpPr>
                <a:spLocks noChangeShapeType="1"/>
              </p:cNvSpPr>
              <p:nvPr/>
            </p:nvSpPr>
            <p:spPr bwMode="auto">
              <a:xfrm>
                <a:off x="6048375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6" name="Line 204"/>
              <p:cNvSpPr>
                <a:spLocks noChangeShapeType="1"/>
              </p:cNvSpPr>
              <p:nvPr/>
            </p:nvSpPr>
            <p:spPr bwMode="auto">
              <a:xfrm>
                <a:off x="6048375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7" name="Line 205"/>
              <p:cNvSpPr>
                <a:spLocks noChangeShapeType="1"/>
              </p:cNvSpPr>
              <p:nvPr/>
            </p:nvSpPr>
            <p:spPr bwMode="auto">
              <a:xfrm>
                <a:off x="6048375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8" name="Line 206"/>
              <p:cNvSpPr>
                <a:spLocks noChangeShapeType="1"/>
              </p:cNvSpPr>
              <p:nvPr/>
            </p:nvSpPr>
            <p:spPr bwMode="auto">
              <a:xfrm>
                <a:off x="6048375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69" name="Line 207"/>
              <p:cNvSpPr>
                <a:spLocks noChangeShapeType="1"/>
              </p:cNvSpPr>
              <p:nvPr/>
            </p:nvSpPr>
            <p:spPr bwMode="auto">
              <a:xfrm>
                <a:off x="6048375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0" name="Line 208"/>
              <p:cNvSpPr>
                <a:spLocks noChangeShapeType="1"/>
              </p:cNvSpPr>
              <p:nvPr/>
            </p:nvSpPr>
            <p:spPr bwMode="auto">
              <a:xfrm>
                <a:off x="6048375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1" name="Line 209"/>
              <p:cNvSpPr>
                <a:spLocks noChangeShapeType="1"/>
              </p:cNvSpPr>
              <p:nvPr/>
            </p:nvSpPr>
            <p:spPr bwMode="auto">
              <a:xfrm>
                <a:off x="6048375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2" name="Line 210"/>
              <p:cNvSpPr>
                <a:spLocks noChangeShapeType="1"/>
              </p:cNvSpPr>
              <p:nvPr/>
            </p:nvSpPr>
            <p:spPr bwMode="auto">
              <a:xfrm>
                <a:off x="6048375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3" name="Line 211"/>
              <p:cNvSpPr>
                <a:spLocks noChangeShapeType="1"/>
              </p:cNvSpPr>
              <p:nvPr/>
            </p:nvSpPr>
            <p:spPr bwMode="auto">
              <a:xfrm>
                <a:off x="6048375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4" name="Line 212"/>
              <p:cNvSpPr>
                <a:spLocks noChangeShapeType="1"/>
              </p:cNvSpPr>
              <p:nvPr/>
            </p:nvSpPr>
            <p:spPr bwMode="auto">
              <a:xfrm>
                <a:off x="6048375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5" name="Line 213"/>
              <p:cNvSpPr>
                <a:spLocks noChangeShapeType="1"/>
              </p:cNvSpPr>
              <p:nvPr/>
            </p:nvSpPr>
            <p:spPr bwMode="auto">
              <a:xfrm>
                <a:off x="6624638" y="18351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6" name="Line 214"/>
              <p:cNvSpPr>
                <a:spLocks noChangeShapeType="1"/>
              </p:cNvSpPr>
              <p:nvPr/>
            </p:nvSpPr>
            <p:spPr bwMode="auto">
              <a:xfrm>
                <a:off x="6624638" y="212248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7" name="Line 215"/>
              <p:cNvSpPr>
                <a:spLocks noChangeShapeType="1"/>
              </p:cNvSpPr>
              <p:nvPr/>
            </p:nvSpPr>
            <p:spPr bwMode="auto">
              <a:xfrm>
                <a:off x="6624638" y="24828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8" name="Line 216"/>
              <p:cNvSpPr>
                <a:spLocks noChangeShapeType="1"/>
              </p:cNvSpPr>
              <p:nvPr/>
            </p:nvSpPr>
            <p:spPr bwMode="auto">
              <a:xfrm>
                <a:off x="6624638" y="27717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79" name="Line 217"/>
              <p:cNvSpPr>
                <a:spLocks noChangeShapeType="1"/>
              </p:cNvSpPr>
              <p:nvPr/>
            </p:nvSpPr>
            <p:spPr bwMode="auto">
              <a:xfrm>
                <a:off x="6624638" y="3130550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0" name="Line 218"/>
              <p:cNvSpPr>
                <a:spLocks noChangeShapeType="1"/>
              </p:cNvSpPr>
              <p:nvPr/>
            </p:nvSpPr>
            <p:spPr bwMode="auto">
              <a:xfrm>
                <a:off x="6624638" y="34194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1" name="Line 219"/>
              <p:cNvSpPr>
                <a:spLocks noChangeShapeType="1"/>
              </p:cNvSpPr>
              <p:nvPr/>
            </p:nvSpPr>
            <p:spPr bwMode="auto">
              <a:xfrm>
                <a:off x="6624638" y="37798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2" name="Line 220"/>
              <p:cNvSpPr>
                <a:spLocks noChangeShapeType="1"/>
              </p:cNvSpPr>
              <p:nvPr/>
            </p:nvSpPr>
            <p:spPr bwMode="auto">
              <a:xfrm>
                <a:off x="6624638" y="40671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3" name="Line 221"/>
              <p:cNvSpPr>
                <a:spLocks noChangeShapeType="1"/>
              </p:cNvSpPr>
              <p:nvPr/>
            </p:nvSpPr>
            <p:spPr bwMode="auto">
              <a:xfrm>
                <a:off x="6624638" y="44275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4" name="Line 222"/>
              <p:cNvSpPr>
                <a:spLocks noChangeShapeType="1"/>
              </p:cNvSpPr>
              <p:nvPr/>
            </p:nvSpPr>
            <p:spPr bwMode="auto">
              <a:xfrm>
                <a:off x="6624638" y="471487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5" name="Line 223"/>
              <p:cNvSpPr>
                <a:spLocks noChangeShapeType="1"/>
              </p:cNvSpPr>
              <p:nvPr/>
            </p:nvSpPr>
            <p:spPr bwMode="auto">
              <a:xfrm>
                <a:off x="6624638" y="50752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6" name="Line 224"/>
              <p:cNvSpPr>
                <a:spLocks noChangeShapeType="1"/>
              </p:cNvSpPr>
              <p:nvPr/>
            </p:nvSpPr>
            <p:spPr bwMode="auto">
              <a:xfrm>
                <a:off x="6624638" y="53641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7" name="Line 225"/>
              <p:cNvSpPr>
                <a:spLocks noChangeShapeType="1"/>
              </p:cNvSpPr>
              <p:nvPr/>
            </p:nvSpPr>
            <p:spPr bwMode="auto">
              <a:xfrm>
                <a:off x="6624638" y="5722938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8" name="Line 226"/>
              <p:cNvSpPr>
                <a:spLocks noChangeShapeType="1"/>
              </p:cNvSpPr>
              <p:nvPr/>
            </p:nvSpPr>
            <p:spPr bwMode="auto">
              <a:xfrm>
                <a:off x="6624638" y="60118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89" name="Line 227"/>
              <p:cNvSpPr>
                <a:spLocks noChangeShapeType="1"/>
              </p:cNvSpPr>
              <p:nvPr/>
            </p:nvSpPr>
            <p:spPr bwMode="auto">
              <a:xfrm>
                <a:off x="6624638" y="6372225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90" name="Line 228"/>
              <p:cNvSpPr>
                <a:spLocks noChangeShapeType="1"/>
              </p:cNvSpPr>
              <p:nvPr/>
            </p:nvSpPr>
            <p:spPr bwMode="auto">
              <a:xfrm>
                <a:off x="6624638" y="6659563"/>
                <a:ext cx="215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grpSp>
            <p:nvGrpSpPr>
              <p:cNvPr id="491" name="Group 229"/>
              <p:cNvGrpSpPr>
                <a:grpSpLocks/>
              </p:cNvGrpSpPr>
              <p:nvPr/>
            </p:nvGrpSpPr>
            <p:grpSpPr bwMode="auto">
              <a:xfrm>
                <a:off x="2881313" y="1835150"/>
                <a:ext cx="576262" cy="4824413"/>
                <a:chOff x="1315" y="1156"/>
                <a:chExt cx="363" cy="3039"/>
              </a:xfrm>
            </p:grpSpPr>
            <p:sp>
              <p:nvSpPr>
                <p:cNvPr id="543" name="Line 230"/>
                <p:cNvSpPr>
                  <a:spLocks noChangeShapeType="1"/>
                </p:cNvSpPr>
                <p:nvPr/>
              </p:nvSpPr>
              <p:spPr bwMode="auto">
                <a:xfrm>
                  <a:off x="1315" y="1156"/>
                  <a:ext cx="36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4" name="Line 231"/>
                <p:cNvSpPr>
                  <a:spLocks noChangeShapeType="1"/>
                </p:cNvSpPr>
                <p:nvPr/>
              </p:nvSpPr>
              <p:spPr bwMode="auto">
                <a:xfrm>
                  <a:off x="1361" y="1338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5" name="Line 232"/>
                <p:cNvSpPr>
                  <a:spLocks noChangeShapeType="1"/>
                </p:cNvSpPr>
                <p:nvPr/>
              </p:nvSpPr>
              <p:spPr bwMode="auto">
                <a:xfrm>
                  <a:off x="1361" y="1564"/>
                  <a:ext cx="317" cy="4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6" name="Line 233"/>
                <p:cNvSpPr>
                  <a:spLocks noChangeShapeType="1"/>
                </p:cNvSpPr>
                <p:nvPr/>
              </p:nvSpPr>
              <p:spPr bwMode="auto">
                <a:xfrm>
                  <a:off x="1361" y="1746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7" name="Line 234"/>
                <p:cNvSpPr>
                  <a:spLocks noChangeShapeType="1"/>
                </p:cNvSpPr>
                <p:nvPr/>
              </p:nvSpPr>
              <p:spPr bwMode="auto">
                <a:xfrm>
                  <a:off x="1361" y="1973"/>
                  <a:ext cx="317" cy="8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8" name="Line 235"/>
                <p:cNvSpPr>
                  <a:spLocks noChangeShapeType="1"/>
                </p:cNvSpPr>
                <p:nvPr/>
              </p:nvSpPr>
              <p:spPr bwMode="auto">
                <a:xfrm>
                  <a:off x="1361" y="2155"/>
                  <a:ext cx="317" cy="104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9" name="Line 236"/>
                <p:cNvSpPr>
                  <a:spLocks noChangeShapeType="1"/>
                </p:cNvSpPr>
                <p:nvPr/>
              </p:nvSpPr>
              <p:spPr bwMode="auto">
                <a:xfrm>
                  <a:off x="1361" y="2381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0" name="Line 237"/>
                <p:cNvSpPr>
                  <a:spLocks noChangeShapeType="1"/>
                </p:cNvSpPr>
                <p:nvPr/>
              </p:nvSpPr>
              <p:spPr bwMode="auto">
                <a:xfrm>
                  <a:off x="1361" y="2563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1" name="Line 238"/>
                <p:cNvSpPr>
                  <a:spLocks noChangeShapeType="1"/>
                </p:cNvSpPr>
                <p:nvPr/>
              </p:nvSpPr>
              <p:spPr bwMode="auto">
                <a:xfrm flipV="1">
                  <a:off x="1361" y="1338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2" name="Line 239"/>
                <p:cNvSpPr>
                  <a:spLocks noChangeShapeType="1"/>
                </p:cNvSpPr>
                <p:nvPr/>
              </p:nvSpPr>
              <p:spPr bwMode="auto">
                <a:xfrm flipV="1">
                  <a:off x="1361" y="1746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3" name="Line 240"/>
                <p:cNvSpPr>
                  <a:spLocks noChangeShapeType="1"/>
                </p:cNvSpPr>
                <p:nvPr/>
              </p:nvSpPr>
              <p:spPr bwMode="auto">
                <a:xfrm flipV="1">
                  <a:off x="1361" y="2154"/>
                  <a:ext cx="317" cy="10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4" name="Line 241"/>
                <p:cNvSpPr>
                  <a:spLocks noChangeShapeType="1"/>
                </p:cNvSpPr>
                <p:nvPr/>
              </p:nvSpPr>
              <p:spPr bwMode="auto">
                <a:xfrm flipV="1">
                  <a:off x="1361" y="2562"/>
                  <a:ext cx="317" cy="81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5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1361" y="2971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6" name="Line 243"/>
                <p:cNvSpPr>
                  <a:spLocks noChangeShapeType="1"/>
                </p:cNvSpPr>
                <p:nvPr/>
              </p:nvSpPr>
              <p:spPr bwMode="auto">
                <a:xfrm flipV="1">
                  <a:off x="1361" y="3379"/>
                  <a:ext cx="317" cy="4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7" name="Line 244"/>
                <p:cNvSpPr>
                  <a:spLocks noChangeShapeType="1"/>
                </p:cNvSpPr>
                <p:nvPr/>
              </p:nvSpPr>
              <p:spPr bwMode="auto">
                <a:xfrm flipV="1">
                  <a:off x="1361" y="3787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58" name="Line 245"/>
                <p:cNvSpPr>
                  <a:spLocks noChangeShapeType="1"/>
                </p:cNvSpPr>
                <p:nvPr/>
              </p:nvSpPr>
              <p:spPr bwMode="auto">
                <a:xfrm>
                  <a:off x="1361" y="4195"/>
                  <a:ext cx="31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92" name="Group 278"/>
              <p:cNvGrpSpPr>
                <a:grpSpLocks/>
              </p:cNvGrpSpPr>
              <p:nvPr/>
            </p:nvGrpSpPr>
            <p:grpSpPr bwMode="auto">
              <a:xfrm>
                <a:off x="4176713" y="1835150"/>
                <a:ext cx="576262" cy="4824413"/>
                <a:chOff x="1315" y="1156"/>
                <a:chExt cx="363" cy="3039"/>
              </a:xfrm>
            </p:grpSpPr>
            <p:sp>
              <p:nvSpPr>
                <p:cNvPr id="527" name="Line 279"/>
                <p:cNvSpPr>
                  <a:spLocks noChangeShapeType="1"/>
                </p:cNvSpPr>
                <p:nvPr/>
              </p:nvSpPr>
              <p:spPr bwMode="auto">
                <a:xfrm>
                  <a:off x="1315" y="1156"/>
                  <a:ext cx="36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8" name="Line 280"/>
                <p:cNvSpPr>
                  <a:spLocks noChangeShapeType="1"/>
                </p:cNvSpPr>
                <p:nvPr/>
              </p:nvSpPr>
              <p:spPr bwMode="auto">
                <a:xfrm>
                  <a:off x="1361" y="1338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9" name="Line 281"/>
                <p:cNvSpPr>
                  <a:spLocks noChangeShapeType="1"/>
                </p:cNvSpPr>
                <p:nvPr/>
              </p:nvSpPr>
              <p:spPr bwMode="auto">
                <a:xfrm>
                  <a:off x="1361" y="1564"/>
                  <a:ext cx="317" cy="4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0" name="Line 282"/>
                <p:cNvSpPr>
                  <a:spLocks noChangeShapeType="1"/>
                </p:cNvSpPr>
                <p:nvPr/>
              </p:nvSpPr>
              <p:spPr bwMode="auto">
                <a:xfrm>
                  <a:off x="1361" y="1746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1" name="Line 283"/>
                <p:cNvSpPr>
                  <a:spLocks noChangeShapeType="1"/>
                </p:cNvSpPr>
                <p:nvPr/>
              </p:nvSpPr>
              <p:spPr bwMode="auto">
                <a:xfrm>
                  <a:off x="1361" y="1973"/>
                  <a:ext cx="317" cy="8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2" name="Line 284"/>
                <p:cNvSpPr>
                  <a:spLocks noChangeShapeType="1"/>
                </p:cNvSpPr>
                <p:nvPr/>
              </p:nvSpPr>
              <p:spPr bwMode="auto">
                <a:xfrm>
                  <a:off x="1361" y="2155"/>
                  <a:ext cx="317" cy="104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3" name="Line 285"/>
                <p:cNvSpPr>
                  <a:spLocks noChangeShapeType="1"/>
                </p:cNvSpPr>
                <p:nvPr/>
              </p:nvSpPr>
              <p:spPr bwMode="auto">
                <a:xfrm>
                  <a:off x="1361" y="2381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4" name="Line 286"/>
                <p:cNvSpPr>
                  <a:spLocks noChangeShapeType="1"/>
                </p:cNvSpPr>
                <p:nvPr/>
              </p:nvSpPr>
              <p:spPr bwMode="auto">
                <a:xfrm>
                  <a:off x="1361" y="2563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5" name="Line 287"/>
                <p:cNvSpPr>
                  <a:spLocks noChangeShapeType="1"/>
                </p:cNvSpPr>
                <p:nvPr/>
              </p:nvSpPr>
              <p:spPr bwMode="auto">
                <a:xfrm flipV="1">
                  <a:off x="1361" y="1338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6" name="Line 288"/>
                <p:cNvSpPr>
                  <a:spLocks noChangeShapeType="1"/>
                </p:cNvSpPr>
                <p:nvPr/>
              </p:nvSpPr>
              <p:spPr bwMode="auto">
                <a:xfrm flipV="1">
                  <a:off x="1361" y="1746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7" name="Line 289"/>
                <p:cNvSpPr>
                  <a:spLocks noChangeShapeType="1"/>
                </p:cNvSpPr>
                <p:nvPr/>
              </p:nvSpPr>
              <p:spPr bwMode="auto">
                <a:xfrm flipV="1">
                  <a:off x="1361" y="2154"/>
                  <a:ext cx="317" cy="10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8" name="Line 290"/>
                <p:cNvSpPr>
                  <a:spLocks noChangeShapeType="1"/>
                </p:cNvSpPr>
                <p:nvPr/>
              </p:nvSpPr>
              <p:spPr bwMode="auto">
                <a:xfrm flipV="1">
                  <a:off x="1361" y="2562"/>
                  <a:ext cx="317" cy="81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39" name="Line 291"/>
                <p:cNvSpPr>
                  <a:spLocks noChangeShapeType="1"/>
                </p:cNvSpPr>
                <p:nvPr/>
              </p:nvSpPr>
              <p:spPr bwMode="auto">
                <a:xfrm flipV="1">
                  <a:off x="1361" y="2971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0" name="Line 292"/>
                <p:cNvSpPr>
                  <a:spLocks noChangeShapeType="1"/>
                </p:cNvSpPr>
                <p:nvPr/>
              </p:nvSpPr>
              <p:spPr bwMode="auto">
                <a:xfrm flipV="1">
                  <a:off x="1361" y="3379"/>
                  <a:ext cx="317" cy="4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1" name="Line 293"/>
                <p:cNvSpPr>
                  <a:spLocks noChangeShapeType="1"/>
                </p:cNvSpPr>
                <p:nvPr/>
              </p:nvSpPr>
              <p:spPr bwMode="auto">
                <a:xfrm flipV="1">
                  <a:off x="1361" y="3787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42" name="Line 294"/>
                <p:cNvSpPr>
                  <a:spLocks noChangeShapeType="1"/>
                </p:cNvSpPr>
                <p:nvPr/>
              </p:nvSpPr>
              <p:spPr bwMode="auto">
                <a:xfrm>
                  <a:off x="1361" y="4195"/>
                  <a:ext cx="31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93" name="Group 295"/>
              <p:cNvGrpSpPr>
                <a:grpSpLocks/>
              </p:cNvGrpSpPr>
              <p:nvPr/>
            </p:nvGrpSpPr>
            <p:grpSpPr bwMode="auto">
              <a:xfrm>
                <a:off x="5472113" y="1835150"/>
                <a:ext cx="576262" cy="4824413"/>
                <a:chOff x="1315" y="1156"/>
                <a:chExt cx="363" cy="3039"/>
              </a:xfrm>
            </p:grpSpPr>
            <p:sp>
              <p:nvSpPr>
                <p:cNvPr id="511" name="Line 296"/>
                <p:cNvSpPr>
                  <a:spLocks noChangeShapeType="1"/>
                </p:cNvSpPr>
                <p:nvPr/>
              </p:nvSpPr>
              <p:spPr bwMode="auto">
                <a:xfrm>
                  <a:off x="1315" y="1156"/>
                  <a:ext cx="36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2" name="Line 297"/>
                <p:cNvSpPr>
                  <a:spLocks noChangeShapeType="1"/>
                </p:cNvSpPr>
                <p:nvPr/>
              </p:nvSpPr>
              <p:spPr bwMode="auto">
                <a:xfrm>
                  <a:off x="1361" y="1338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3" name="Line 298"/>
                <p:cNvSpPr>
                  <a:spLocks noChangeShapeType="1"/>
                </p:cNvSpPr>
                <p:nvPr/>
              </p:nvSpPr>
              <p:spPr bwMode="auto">
                <a:xfrm>
                  <a:off x="1361" y="1564"/>
                  <a:ext cx="317" cy="4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4" name="Line 299"/>
                <p:cNvSpPr>
                  <a:spLocks noChangeShapeType="1"/>
                </p:cNvSpPr>
                <p:nvPr/>
              </p:nvSpPr>
              <p:spPr bwMode="auto">
                <a:xfrm>
                  <a:off x="1361" y="1746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5" name="Line 300"/>
                <p:cNvSpPr>
                  <a:spLocks noChangeShapeType="1"/>
                </p:cNvSpPr>
                <p:nvPr/>
              </p:nvSpPr>
              <p:spPr bwMode="auto">
                <a:xfrm>
                  <a:off x="1361" y="1973"/>
                  <a:ext cx="317" cy="8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6" name="Line 301"/>
                <p:cNvSpPr>
                  <a:spLocks noChangeShapeType="1"/>
                </p:cNvSpPr>
                <p:nvPr/>
              </p:nvSpPr>
              <p:spPr bwMode="auto">
                <a:xfrm>
                  <a:off x="1361" y="2155"/>
                  <a:ext cx="317" cy="104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7" name="Line 302"/>
                <p:cNvSpPr>
                  <a:spLocks noChangeShapeType="1"/>
                </p:cNvSpPr>
                <p:nvPr/>
              </p:nvSpPr>
              <p:spPr bwMode="auto">
                <a:xfrm>
                  <a:off x="1361" y="2381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8" name="Line 303"/>
                <p:cNvSpPr>
                  <a:spLocks noChangeShapeType="1"/>
                </p:cNvSpPr>
                <p:nvPr/>
              </p:nvSpPr>
              <p:spPr bwMode="auto">
                <a:xfrm>
                  <a:off x="1361" y="2563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9" name="Line 304"/>
                <p:cNvSpPr>
                  <a:spLocks noChangeShapeType="1"/>
                </p:cNvSpPr>
                <p:nvPr/>
              </p:nvSpPr>
              <p:spPr bwMode="auto">
                <a:xfrm flipV="1">
                  <a:off x="1361" y="1338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0" name="Line 305"/>
                <p:cNvSpPr>
                  <a:spLocks noChangeShapeType="1"/>
                </p:cNvSpPr>
                <p:nvPr/>
              </p:nvSpPr>
              <p:spPr bwMode="auto">
                <a:xfrm flipV="1">
                  <a:off x="1361" y="1746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1" name="Line 306"/>
                <p:cNvSpPr>
                  <a:spLocks noChangeShapeType="1"/>
                </p:cNvSpPr>
                <p:nvPr/>
              </p:nvSpPr>
              <p:spPr bwMode="auto">
                <a:xfrm flipV="1">
                  <a:off x="1361" y="2154"/>
                  <a:ext cx="317" cy="10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2" name="Line 307"/>
                <p:cNvSpPr>
                  <a:spLocks noChangeShapeType="1"/>
                </p:cNvSpPr>
                <p:nvPr/>
              </p:nvSpPr>
              <p:spPr bwMode="auto">
                <a:xfrm flipV="1">
                  <a:off x="1361" y="2562"/>
                  <a:ext cx="317" cy="81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3" name="Line 308"/>
                <p:cNvSpPr>
                  <a:spLocks noChangeShapeType="1"/>
                </p:cNvSpPr>
                <p:nvPr/>
              </p:nvSpPr>
              <p:spPr bwMode="auto">
                <a:xfrm flipV="1">
                  <a:off x="1361" y="2971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4" name="Line 309"/>
                <p:cNvSpPr>
                  <a:spLocks noChangeShapeType="1"/>
                </p:cNvSpPr>
                <p:nvPr/>
              </p:nvSpPr>
              <p:spPr bwMode="auto">
                <a:xfrm flipV="1">
                  <a:off x="1361" y="3379"/>
                  <a:ext cx="317" cy="4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5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1361" y="3787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26" name="Line 311"/>
                <p:cNvSpPr>
                  <a:spLocks noChangeShapeType="1"/>
                </p:cNvSpPr>
                <p:nvPr/>
              </p:nvSpPr>
              <p:spPr bwMode="auto">
                <a:xfrm>
                  <a:off x="1361" y="4195"/>
                  <a:ext cx="31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94" name="Group 312"/>
              <p:cNvGrpSpPr>
                <a:grpSpLocks/>
              </p:cNvGrpSpPr>
              <p:nvPr/>
            </p:nvGrpSpPr>
            <p:grpSpPr bwMode="auto">
              <a:xfrm>
                <a:off x="6769100" y="1835150"/>
                <a:ext cx="576263" cy="4824413"/>
                <a:chOff x="1315" y="1156"/>
                <a:chExt cx="363" cy="3039"/>
              </a:xfrm>
            </p:grpSpPr>
            <p:sp>
              <p:nvSpPr>
                <p:cNvPr id="495" name="Line 313"/>
                <p:cNvSpPr>
                  <a:spLocks noChangeShapeType="1"/>
                </p:cNvSpPr>
                <p:nvPr/>
              </p:nvSpPr>
              <p:spPr bwMode="auto">
                <a:xfrm>
                  <a:off x="1315" y="1156"/>
                  <a:ext cx="36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496" name="Line 314"/>
                <p:cNvSpPr>
                  <a:spLocks noChangeShapeType="1"/>
                </p:cNvSpPr>
                <p:nvPr/>
              </p:nvSpPr>
              <p:spPr bwMode="auto">
                <a:xfrm>
                  <a:off x="1361" y="1338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497" name="Line 315"/>
                <p:cNvSpPr>
                  <a:spLocks noChangeShapeType="1"/>
                </p:cNvSpPr>
                <p:nvPr/>
              </p:nvSpPr>
              <p:spPr bwMode="auto">
                <a:xfrm>
                  <a:off x="1361" y="1564"/>
                  <a:ext cx="317" cy="4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498" name="Line 316"/>
                <p:cNvSpPr>
                  <a:spLocks noChangeShapeType="1"/>
                </p:cNvSpPr>
                <p:nvPr/>
              </p:nvSpPr>
              <p:spPr bwMode="auto">
                <a:xfrm>
                  <a:off x="1361" y="1746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499" name="Line 317"/>
                <p:cNvSpPr>
                  <a:spLocks noChangeShapeType="1"/>
                </p:cNvSpPr>
                <p:nvPr/>
              </p:nvSpPr>
              <p:spPr bwMode="auto">
                <a:xfrm>
                  <a:off x="1361" y="1973"/>
                  <a:ext cx="317" cy="8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0" name="Line 318"/>
                <p:cNvSpPr>
                  <a:spLocks noChangeShapeType="1"/>
                </p:cNvSpPr>
                <p:nvPr/>
              </p:nvSpPr>
              <p:spPr bwMode="auto">
                <a:xfrm>
                  <a:off x="1361" y="2155"/>
                  <a:ext cx="317" cy="104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1" name="Line 319"/>
                <p:cNvSpPr>
                  <a:spLocks noChangeShapeType="1"/>
                </p:cNvSpPr>
                <p:nvPr/>
              </p:nvSpPr>
              <p:spPr bwMode="auto">
                <a:xfrm>
                  <a:off x="1361" y="2381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2" name="Line 320"/>
                <p:cNvSpPr>
                  <a:spLocks noChangeShapeType="1"/>
                </p:cNvSpPr>
                <p:nvPr/>
              </p:nvSpPr>
              <p:spPr bwMode="auto">
                <a:xfrm>
                  <a:off x="1361" y="2563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3" name="Line 321"/>
                <p:cNvSpPr>
                  <a:spLocks noChangeShapeType="1"/>
                </p:cNvSpPr>
                <p:nvPr/>
              </p:nvSpPr>
              <p:spPr bwMode="auto">
                <a:xfrm flipV="1">
                  <a:off x="1361" y="1338"/>
                  <a:ext cx="317" cy="14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4" name="Line 322"/>
                <p:cNvSpPr>
                  <a:spLocks noChangeShapeType="1"/>
                </p:cNvSpPr>
                <p:nvPr/>
              </p:nvSpPr>
              <p:spPr bwMode="auto">
                <a:xfrm flipV="1">
                  <a:off x="1361" y="1746"/>
                  <a:ext cx="317" cy="122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5" name="Line 323"/>
                <p:cNvSpPr>
                  <a:spLocks noChangeShapeType="1"/>
                </p:cNvSpPr>
                <p:nvPr/>
              </p:nvSpPr>
              <p:spPr bwMode="auto">
                <a:xfrm flipV="1">
                  <a:off x="1361" y="2154"/>
                  <a:ext cx="317" cy="10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6" name="Line 324"/>
                <p:cNvSpPr>
                  <a:spLocks noChangeShapeType="1"/>
                </p:cNvSpPr>
                <p:nvPr/>
              </p:nvSpPr>
              <p:spPr bwMode="auto">
                <a:xfrm flipV="1">
                  <a:off x="1361" y="2562"/>
                  <a:ext cx="317" cy="81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7" name="Line 325"/>
                <p:cNvSpPr>
                  <a:spLocks noChangeShapeType="1"/>
                </p:cNvSpPr>
                <p:nvPr/>
              </p:nvSpPr>
              <p:spPr bwMode="auto">
                <a:xfrm flipV="1">
                  <a:off x="1361" y="2971"/>
                  <a:ext cx="317" cy="63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8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1361" y="3379"/>
                  <a:ext cx="317" cy="4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09" name="Line 327"/>
                <p:cNvSpPr>
                  <a:spLocks noChangeShapeType="1"/>
                </p:cNvSpPr>
                <p:nvPr/>
              </p:nvSpPr>
              <p:spPr bwMode="auto">
                <a:xfrm flipV="1">
                  <a:off x="1361" y="3787"/>
                  <a:ext cx="317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510" name="Line 328"/>
                <p:cNvSpPr>
                  <a:spLocks noChangeShapeType="1"/>
                </p:cNvSpPr>
                <p:nvPr/>
              </p:nvSpPr>
              <p:spPr bwMode="auto">
                <a:xfrm>
                  <a:off x="1361" y="4195"/>
                  <a:ext cx="31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/>
                <a:p>
                  <a:endParaRPr lang="zh-TW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78320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16067"/>
            <a:ext cx="7772400" cy="924701"/>
          </a:xfrm>
        </p:spPr>
        <p:txBody>
          <a:bodyPr/>
          <a:lstStyle/>
          <a:p>
            <a:pPr algn="ctr"/>
            <a:r>
              <a:rPr lang="en-US" altLang="zh-TW" dirty="0" smtClean="0"/>
              <a:t>The Baseline MIN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2921599" cy="4572000"/>
          </a:xfrm>
        </p:spPr>
        <p:txBody>
          <a:bodyPr/>
          <a:lstStyle/>
          <a:p>
            <a:r>
              <a:rPr lang="en-US" altLang="zh-TW" dirty="0" smtClean="0"/>
              <a:t>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stage N x N Perfect shuffle</a:t>
            </a:r>
          </a:p>
          <a:p>
            <a:r>
              <a:rPr lang="en-US" altLang="zh-TW" dirty="0" smtClean="0"/>
              <a:t>2</a:t>
            </a:r>
            <a:r>
              <a:rPr lang="en-US" altLang="zh-TW" baseline="30000" dirty="0" smtClean="0"/>
              <a:t>nd</a:t>
            </a:r>
            <a:r>
              <a:rPr lang="en-US" altLang="zh-TW" dirty="0" smtClean="0"/>
              <a:t> stage N x N Inverse shuffle</a:t>
            </a:r>
          </a:p>
          <a:p>
            <a:r>
              <a:rPr lang="en-US" altLang="zh-TW" dirty="0" smtClean="0"/>
              <a:t>3</a:t>
            </a:r>
            <a:r>
              <a:rPr lang="en-US" altLang="zh-TW" baseline="30000" dirty="0" smtClean="0"/>
              <a:t>rd</a:t>
            </a:r>
            <a:r>
              <a:rPr lang="en-US" altLang="zh-TW" dirty="0" smtClean="0"/>
              <a:t> stage N/2 x N/2 Inverse shuffle</a:t>
            </a:r>
          </a:p>
          <a:p>
            <a:r>
              <a:rPr lang="en-US" altLang="zh-TW" dirty="0" smtClean="0"/>
              <a:t>….</a:t>
            </a:r>
            <a:endParaRPr lang="zh-TW" altLang="en-US" dirty="0"/>
          </a:p>
        </p:txBody>
      </p:sp>
      <p:grpSp>
        <p:nvGrpSpPr>
          <p:cNvPr id="279" name="群組 278"/>
          <p:cNvGrpSpPr/>
          <p:nvPr/>
        </p:nvGrpSpPr>
        <p:grpSpPr>
          <a:xfrm>
            <a:off x="3347864" y="1628800"/>
            <a:ext cx="5560144" cy="4882281"/>
            <a:chOff x="3347864" y="1628800"/>
            <a:chExt cx="5560144" cy="4882281"/>
          </a:xfrm>
        </p:grpSpPr>
        <p:sp>
          <p:nvSpPr>
            <p:cNvPr id="5" name="Rectangle 12"/>
            <p:cNvSpPr>
              <a:spLocks noChangeArrowheads="1"/>
            </p:cNvSpPr>
            <p:nvPr/>
          </p:nvSpPr>
          <p:spPr bwMode="auto">
            <a:xfrm>
              <a:off x="4636771" y="1731756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" name="Rectangle 13"/>
            <p:cNvSpPr>
              <a:spLocks noChangeArrowheads="1"/>
            </p:cNvSpPr>
            <p:nvPr/>
          </p:nvSpPr>
          <p:spPr bwMode="auto">
            <a:xfrm>
              <a:off x="4636771" y="2284467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" name="Rectangle 14"/>
            <p:cNvSpPr>
              <a:spLocks noChangeArrowheads="1"/>
            </p:cNvSpPr>
            <p:nvPr/>
          </p:nvSpPr>
          <p:spPr bwMode="auto">
            <a:xfrm>
              <a:off x="4636771" y="2837178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4636771" y="3391243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4636771" y="3943954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4636771" y="4496666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4636771" y="5049377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" name="Rectangle 19"/>
            <p:cNvSpPr>
              <a:spLocks noChangeArrowheads="1"/>
            </p:cNvSpPr>
            <p:nvPr/>
          </p:nvSpPr>
          <p:spPr bwMode="auto">
            <a:xfrm>
              <a:off x="4636771" y="5603443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4456985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4456985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>
              <a:off x="4456985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>
              <a:off x="4456985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4456985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>
              <a:off x="4456985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>
              <a:off x="4456985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" name="Line 27"/>
            <p:cNvSpPr>
              <a:spLocks noChangeShapeType="1"/>
            </p:cNvSpPr>
            <p:nvPr/>
          </p:nvSpPr>
          <p:spPr bwMode="auto">
            <a:xfrm>
              <a:off x="4456985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" name="Line 28"/>
            <p:cNvSpPr>
              <a:spLocks noChangeShapeType="1"/>
            </p:cNvSpPr>
            <p:nvPr/>
          </p:nvSpPr>
          <p:spPr bwMode="auto">
            <a:xfrm>
              <a:off x="4456985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" name="Line 29"/>
            <p:cNvSpPr>
              <a:spLocks noChangeShapeType="1"/>
            </p:cNvSpPr>
            <p:nvPr/>
          </p:nvSpPr>
          <p:spPr bwMode="auto">
            <a:xfrm>
              <a:off x="4456985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>
              <a:off x="4456985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>
              <a:off x="4456985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>
              <a:off x="4456985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" name="Line 33"/>
            <p:cNvSpPr>
              <a:spLocks noChangeShapeType="1"/>
            </p:cNvSpPr>
            <p:nvPr/>
          </p:nvSpPr>
          <p:spPr bwMode="auto">
            <a:xfrm>
              <a:off x="4456985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" name="Line 34"/>
            <p:cNvSpPr>
              <a:spLocks noChangeShapeType="1"/>
            </p:cNvSpPr>
            <p:nvPr/>
          </p:nvSpPr>
          <p:spPr bwMode="auto">
            <a:xfrm>
              <a:off x="4456985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>
              <a:off x="4456985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" name="Line 36"/>
            <p:cNvSpPr>
              <a:spLocks noChangeShapeType="1"/>
            </p:cNvSpPr>
            <p:nvPr/>
          </p:nvSpPr>
          <p:spPr bwMode="auto">
            <a:xfrm>
              <a:off x="4936854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" name="Line 37"/>
            <p:cNvSpPr>
              <a:spLocks noChangeShapeType="1"/>
            </p:cNvSpPr>
            <p:nvPr/>
          </p:nvSpPr>
          <p:spPr bwMode="auto">
            <a:xfrm>
              <a:off x="4936854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" name="Line 38"/>
            <p:cNvSpPr>
              <a:spLocks noChangeShapeType="1"/>
            </p:cNvSpPr>
            <p:nvPr/>
          </p:nvSpPr>
          <p:spPr bwMode="auto">
            <a:xfrm>
              <a:off x="4936854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" name="Line 39"/>
            <p:cNvSpPr>
              <a:spLocks noChangeShapeType="1"/>
            </p:cNvSpPr>
            <p:nvPr/>
          </p:nvSpPr>
          <p:spPr bwMode="auto">
            <a:xfrm>
              <a:off x="4936854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" name="Line 40"/>
            <p:cNvSpPr>
              <a:spLocks noChangeShapeType="1"/>
            </p:cNvSpPr>
            <p:nvPr/>
          </p:nvSpPr>
          <p:spPr bwMode="auto">
            <a:xfrm>
              <a:off x="4936854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" name="Line 41"/>
            <p:cNvSpPr>
              <a:spLocks noChangeShapeType="1"/>
            </p:cNvSpPr>
            <p:nvPr/>
          </p:nvSpPr>
          <p:spPr bwMode="auto">
            <a:xfrm>
              <a:off x="4936854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" name="Line 42"/>
            <p:cNvSpPr>
              <a:spLocks noChangeShapeType="1"/>
            </p:cNvSpPr>
            <p:nvPr/>
          </p:nvSpPr>
          <p:spPr bwMode="auto">
            <a:xfrm>
              <a:off x="4936854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" name="Line 43"/>
            <p:cNvSpPr>
              <a:spLocks noChangeShapeType="1"/>
            </p:cNvSpPr>
            <p:nvPr/>
          </p:nvSpPr>
          <p:spPr bwMode="auto">
            <a:xfrm>
              <a:off x="4936854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" name="Line 44"/>
            <p:cNvSpPr>
              <a:spLocks noChangeShapeType="1"/>
            </p:cNvSpPr>
            <p:nvPr/>
          </p:nvSpPr>
          <p:spPr bwMode="auto">
            <a:xfrm>
              <a:off x="4936854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" name="Line 45"/>
            <p:cNvSpPr>
              <a:spLocks noChangeShapeType="1"/>
            </p:cNvSpPr>
            <p:nvPr/>
          </p:nvSpPr>
          <p:spPr bwMode="auto">
            <a:xfrm>
              <a:off x="4936854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" name="Line 46"/>
            <p:cNvSpPr>
              <a:spLocks noChangeShapeType="1"/>
            </p:cNvSpPr>
            <p:nvPr/>
          </p:nvSpPr>
          <p:spPr bwMode="auto">
            <a:xfrm>
              <a:off x="4936854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" name="Line 47"/>
            <p:cNvSpPr>
              <a:spLocks noChangeShapeType="1"/>
            </p:cNvSpPr>
            <p:nvPr/>
          </p:nvSpPr>
          <p:spPr bwMode="auto">
            <a:xfrm>
              <a:off x="4936854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1" name="Line 48"/>
            <p:cNvSpPr>
              <a:spLocks noChangeShapeType="1"/>
            </p:cNvSpPr>
            <p:nvPr/>
          </p:nvSpPr>
          <p:spPr bwMode="auto">
            <a:xfrm>
              <a:off x="4936854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2" name="Line 49"/>
            <p:cNvSpPr>
              <a:spLocks noChangeShapeType="1"/>
            </p:cNvSpPr>
            <p:nvPr/>
          </p:nvSpPr>
          <p:spPr bwMode="auto">
            <a:xfrm>
              <a:off x="4936854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" name="Line 50"/>
            <p:cNvSpPr>
              <a:spLocks noChangeShapeType="1"/>
            </p:cNvSpPr>
            <p:nvPr/>
          </p:nvSpPr>
          <p:spPr bwMode="auto">
            <a:xfrm>
              <a:off x="4936854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" name="Line 51"/>
            <p:cNvSpPr>
              <a:spLocks noChangeShapeType="1"/>
            </p:cNvSpPr>
            <p:nvPr/>
          </p:nvSpPr>
          <p:spPr bwMode="auto">
            <a:xfrm>
              <a:off x="4936854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5" name="Rectangle 125"/>
            <p:cNvSpPr>
              <a:spLocks noChangeArrowheads="1"/>
            </p:cNvSpPr>
            <p:nvPr/>
          </p:nvSpPr>
          <p:spPr bwMode="auto">
            <a:xfrm>
              <a:off x="5711520" y="1731756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6" name="Rectangle 126"/>
            <p:cNvSpPr>
              <a:spLocks noChangeArrowheads="1"/>
            </p:cNvSpPr>
            <p:nvPr/>
          </p:nvSpPr>
          <p:spPr bwMode="auto">
            <a:xfrm>
              <a:off x="5711520" y="2284467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7" name="Rectangle 127"/>
            <p:cNvSpPr>
              <a:spLocks noChangeArrowheads="1"/>
            </p:cNvSpPr>
            <p:nvPr/>
          </p:nvSpPr>
          <p:spPr bwMode="auto">
            <a:xfrm>
              <a:off x="5711520" y="2837178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8" name="Rectangle 128"/>
            <p:cNvSpPr>
              <a:spLocks noChangeArrowheads="1"/>
            </p:cNvSpPr>
            <p:nvPr/>
          </p:nvSpPr>
          <p:spPr bwMode="auto">
            <a:xfrm>
              <a:off x="5711520" y="3391243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9" name="Rectangle 129"/>
            <p:cNvSpPr>
              <a:spLocks noChangeArrowheads="1"/>
            </p:cNvSpPr>
            <p:nvPr/>
          </p:nvSpPr>
          <p:spPr bwMode="auto">
            <a:xfrm>
              <a:off x="5711520" y="3943954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0" name="Rectangle 130"/>
            <p:cNvSpPr>
              <a:spLocks noChangeArrowheads="1"/>
            </p:cNvSpPr>
            <p:nvPr/>
          </p:nvSpPr>
          <p:spPr bwMode="auto">
            <a:xfrm>
              <a:off x="5711520" y="4496666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1" name="Rectangle 131"/>
            <p:cNvSpPr>
              <a:spLocks noChangeArrowheads="1"/>
            </p:cNvSpPr>
            <p:nvPr/>
          </p:nvSpPr>
          <p:spPr bwMode="auto">
            <a:xfrm>
              <a:off x="5711520" y="5049377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2" name="Rectangle 132"/>
            <p:cNvSpPr>
              <a:spLocks noChangeArrowheads="1"/>
            </p:cNvSpPr>
            <p:nvPr/>
          </p:nvSpPr>
          <p:spPr bwMode="auto">
            <a:xfrm>
              <a:off x="5711520" y="5603443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3" name="Line 133"/>
            <p:cNvSpPr>
              <a:spLocks noChangeShapeType="1"/>
            </p:cNvSpPr>
            <p:nvPr/>
          </p:nvSpPr>
          <p:spPr bwMode="auto">
            <a:xfrm>
              <a:off x="5531734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4" name="Line 134"/>
            <p:cNvSpPr>
              <a:spLocks noChangeShapeType="1"/>
            </p:cNvSpPr>
            <p:nvPr/>
          </p:nvSpPr>
          <p:spPr bwMode="auto">
            <a:xfrm>
              <a:off x="5531734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5" name="Line 135"/>
            <p:cNvSpPr>
              <a:spLocks noChangeShapeType="1"/>
            </p:cNvSpPr>
            <p:nvPr/>
          </p:nvSpPr>
          <p:spPr bwMode="auto">
            <a:xfrm>
              <a:off x="5531734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6" name="Line 136"/>
            <p:cNvSpPr>
              <a:spLocks noChangeShapeType="1"/>
            </p:cNvSpPr>
            <p:nvPr/>
          </p:nvSpPr>
          <p:spPr bwMode="auto">
            <a:xfrm>
              <a:off x="5531734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7" name="Line 137"/>
            <p:cNvSpPr>
              <a:spLocks noChangeShapeType="1"/>
            </p:cNvSpPr>
            <p:nvPr/>
          </p:nvSpPr>
          <p:spPr bwMode="auto">
            <a:xfrm>
              <a:off x="5531734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8" name="Line 138"/>
            <p:cNvSpPr>
              <a:spLocks noChangeShapeType="1"/>
            </p:cNvSpPr>
            <p:nvPr/>
          </p:nvSpPr>
          <p:spPr bwMode="auto">
            <a:xfrm>
              <a:off x="5531734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9" name="Line 139"/>
            <p:cNvSpPr>
              <a:spLocks noChangeShapeType="1"/>
            </p:cNvSpPr>
            <p:nvPr/>
          </p:nvSpPr>
          <p:spPr bwMode="auto">
            <a:xfrm>
              <a:off x="5531734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0" name="Line 140"/>
            <p:cNvSpPr>
              <a:spLocks noChangeShapeType="1"/>
            </p:cNvSpPr>
            <p:nvPr/>
          </p:nvSpPr>
          <p:spPr bwMode="auto">
            <a:xfrm>
              <a:off x="5531734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1" name="Line 141"/>
            <p:cNvSpPr>
              <a:spLocks noChangeShapeType="1"/>
            </p:cNvSpPr>
            <p:nvPr/>
          </p:nvSpPr>
          <p:spPr bwMode="auto">
            <a:xfrm>
              <a:off x="5531734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2" name="Line 142"/>
            <p:cNvSpPr>
              <a:spLocks noChangeShapeType="1"/>
            </p:cNvSpPr>
            <p:nvPr/>
          </p:nvSpPr>
          <p:spPr bwMode="auto">
            <a:xfrm>
              <a:off x="5531734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3" name="Line 143"/>
            <p:cNvSpPr>
              <a:spLocks noChangeShapeType="1"/>
            </p:cNvSpPr>
            <p:nvPr/>
          </p:nvSpPr>
          <p:spPr bwMode="auto">
            <a:xfrm>
              <a:off x="5531734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4" name="Line 144"/>
            <p:cNvSpPr>
              <a:spLocks noChangeShapeType="1"/>
            </p:cNvSpPr>
            <p:nvPr/>
          </p:nvSpPr>
          <p:spPr bwMode="auto">
            <a:xfrm>
              <a:off x="5531734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5" name="Line 145"/>
            <p:cNvSpPr>
              <a:spLocks noChangeShapeType="1"/>
            </p:cNvSpPr>
            <p:nvPr/>
          </p:nvSpPr>
          <p:spPr bwMode="auto">
            <a:xfrm>
              <a:off x="5531734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6" name="Line 146"/>
            <p:cNvSpPr>
              <a:spLocks noChangeShapeType="1"/>
            </p:cNvSpPr>
            <p:nvPr/>
          </p:nvSpPr>
          <p:spPr bwMode="auto">
            <a:xfrm>
              <a:off x="5531734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7" name="Line 147"/>
            <p:cNvSpPr>
              <a:spLocks noChangeShapeType="1"/>
            </p:cNvSpPr>
            <p:nvPr/>
          </p:nvSpPr>
          <p:spPr bwMode="auto">
            <a:xfrm>
              <a:off x="5531734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8" name="Line 148"/>
            <p:cNvSpPr>
              <a:spLocks noChangeShapeType="1"/>
            </p:cNvSpPr>
            <p:nvPr/>
          </p:nvSpPr>
          <p:spPr bwMode="auto">
            <a:xfrm>
              <a:off x="5531734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9" name="Line 149"/>
            <p:cNvSpPr>
              <a:spLocks noChangeShapeType="1"/>
            </p:cNvSpPr>
            <p:nvPr/>
          </p:nvSpPr>
          <p:spPr bwMode="auto">
            <a:xfrm>
              <a:off x="6011604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0" name="Line 150"/>
            <p:cNvSpPr>
              <a:spLocks noChangeShapeType="1"/>
            </p:cNvSpPr>
            <p:nvPr/>
          </p:nvSpPr>
          <p:spPr bwMode="auto">
            <a:xfrm>
              <a:off x="6011604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1" name="Line 151"/>
            <p:cNvSpPr>
              <a:spLocks noChangeShapeType="1"/>
            </p:cNvSpPr>
            <p:nvPr/>
          </p:nvSpPr>
          <p:spPr bwMode="auto">
            <a:xfrm>
              <a:off x="6011604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2" name="Line 152"/>
            <p:cNvSpPr>
              <a:spLocks noChangeShapeType="1"/>
            </p:cNvSpPr>
            <p:nvPr/>
          </p:nvSpPr>
          <p:spPr bwMode="auto">
            <a:xfrm>
              <a:off x="6011604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3" name="Line 153"/>
            <p:cNvSpPr>
              <a:spLocks noChangeShapeType="1"/>
            </p:cNvSpPr>
            <p:nvPr/>
          </p:nvSpPr>
          <p:spPr bwMode="auto">
            <a:xfrm>
              <a:off x="6011604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4" name="Line 154"/>
            <p:cNvSpPr>
              <a:spLocks noChangeShapeType="1"/>
            </p:cNvSpPr>
            <p:nvPr/>
          </p:nvSpPr>
          <p:spPr bwMode="auto">
            <a:xfrm>
              <a:off x="6011604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5" name="Line 155"/>
            <p:cNvSpPr>
              <a:spLocks noChangeShapeType="1"/>
            </p:cNvSpPr>
            <p:nvPr/>
          </p:nvSpPr>
          <p:spPr bwMode="auto">
            <a:xfrm>
              <a:off x="6011604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6" name="Line 156"/>
            <p:cNvSpPr>
              <a:spLocks noChangeShapeType="1"/>
            </p:cNvSpPr>
            <p:nvPr/>
          </p:nvSpPr>
          <p:spPr bwMode="auto">
            <a:xfrm>
              <a:off x="6011604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7" name="Line 157"/>
            <p:cNvSpPr>
              <a:spLocks noChangeShapeType="1"/>
            </p:cNvSpPr>
            <p:nvPr/>
          </p:nvSpPr>
          <p:spPr bwMode="auto">
            <a:xfrm>
              <a:off x="6011604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8" name="Line 158"/>
            <p:cNvSpPr>
              <a:spLocks noChangeShapeType="1"/>
            </p:cNvSpPr>
            <p:nvPr/>
          </p:nvSpPr>
          <p:spPr bwMode="auto">
            <a:xfrm>
              <a:off x="6011604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9" name="Line 159"/>
            <p:cNvSpPr>
              <a:spLocks noChangeShapeType="1"/>
            </p:cNvSpPr>
            <p:nvPr/>
          </p:nvSpPr>
          <p:spPr bwMode="auto">
            <a:xfrm>
              <a:off x="6011604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0" name="Line 160"/>
            <p:cNvSpPr>
              <a:spLocks noChangeShapeType="1"/>
            </p:cNvSpPr>
            <p:nvPr/>
          </p:nvSpPr>
          <p:spPr bwMode="auto">
            <a:xfrm>
              <a:off x="6011604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1" name="Line 161"/>
            <p:cNvSpPr>
              <a:spLocks noChangeShapeType="1"/>
            </p:cNvSpPr>
            <p:nvPr/>
          </p:nvSpPr>
          <p:spPr bwMode="auto">
            <a:xfrm>
              <a:off x="6011604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2" name="Line 162"/>
            <p:cNvSpPr>
              <a:spLocks noChangeShapeType="1"/>
            </p:cNvSpPr>
            <p:nvPr/>
          </p:nvSpPr>
          <p:spPr bwMode="auto">
            <a:xfrm>
              <a:off x="6011604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3" name="Line 163"/>
            <p:cNvSpPr>
              <a:spLocks noChangeShapeType="1"/>
            </p:cNvSpPr>
            <p:nvPr/>
          </p:nvSpPr>
          <p:spPr bwMode="auto">
            <a:xfrm>
              <a:off x="6011604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4" name="Line 164"/>
            <p:cNvSpPr>
              <a:spLocks noChangeShapeType="1"/>
            </p:cNvSpPr>
            <p:nvPr/>
          </p:nvSpPr>
          <p:spPr bwMode="auto">
            <a:xfrm>
              <a:off x="6011604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5" name="Rectangle 309"/>
            <p:cNvSpPr>
              <a:spLocks noChangeArrowheads="1"/>
            </p:cNvSpPr>
            <p:nvPr/>
          </p:nvSpPr>
          <p:spPr bwMode="auto">
            <a:xfrm>
              <a:off x="7870274" y="1731756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6" name="Rectangle 310"/>
            <p:cNvSpPr>
              <a:spLocks noChangeArrowheads="1"/>
            </p:cNvSpPr>
            <p:nvPr/>
          </p:nvSpPr>
          <p:spPr bwMode="auto">
            <a:xfrm>
              <a:off x="7870274" y="2284467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7" name="Rectangle 311"/>
            <p:cNvSpPr>
              <a:spLocks noChangeArrowheads="1"/>
            </p:cNvSpPr>
            <p:nvPr/>
          </p:nvSpPr>
          <p:spPr bwMode="auto">
            <a:xfrm>
              <a:off x="7870274" y="2837178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8" name="Rectangle 312"/>
            <p:cNvSpPr>
              <a:spLocks noChangeArrowheads="1"/>
            </p:cNvSpPr>
            <p:nvPr/>
          </p:nvSpPr>
          <p:spPr bwMode="auto">
            <a:xfrm>
              <a:off x="7870274" y="3391243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9" name="Rectangle 313"/>
            <p:cNvSpPr>
              <a:spLocks noChangeArrowheads="1"/>
            </p:cNvSpPr>
            <p:nvPr/>
          </p:nvSpPr>
          <p:spPr bwMode="auto">
            <a:xfrm>
              <a:off x="7870274" y="3943954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0" name="Rectangle 314"/>
            <p:cNvSpPr>
              <a:spLocks noChangeArrowheads="1"/>
            </p:cNvSpPr>
            <p:nvPr/>
          </p:nvSpPr>
          <p:spPr bwMode="auto">
            <a:xfrm>
              <a:off x="7870274" y="4496666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1" name="Rectangle 315"/>
            <p:cNvSpPr>
              <a:spLocks noChangeArrowheads="1"/>
            </p:cNvSpPr>
            <p:nvPr/>
          </p:nvSpPr>
          <p:spPr bwMode="auto">
            <a:xfrm>
              <a:off x="7870274" y="5049377"/>
              <a:ext cx="300083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2" name="Rectangle 316"/>
            <p:cNvSpPr>
              <a:spLocks noChangeArrowheads="1"/>
            </p:cNvSpPr>
            <p:nvPr/>
          </p:nvSpPr>
          <p:spPr bwMode="auto">
            <a:xfrm>
              <a:off x="7870274" y="5603443"/>
              <a:ext cx="300083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3" name="Line 317"/>
            <p:cNvSpPr>
              <a:spLocks noChangeShapeType="1"/>
            </p:cNvSpPr>
            <p:nvPr/>
          </p:nvSpPr>
          <p:spPr bwMode="auto">
            <a:xfrm>
              <a:off x="7690488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4" name="Line 318"/>
            <p:cNvSpPr>
              <a:spLocks noChangeShapeType="1"/>
            </p:cNvSpPr>
            <p:nvPr/>
          </p:nvSpPr>
          <p:spPr bwMode="auto">
            <a:xfrm>
              <a:off x="7690488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5" name="Line 319"/>
            <p:cNvSpPr>
              <a:spLocks noChangeShapeType="1"/>
            </p:cNvSpPr>
            <p:nvPr/>
          </p:nvSpPr>
          <p:spPr bwMode="auto">
            <a:xfrm>
              <a:off x="7690488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6" name="Line 320"/>
            <p:cNvSpPr>
              <a:spLocks noChangeShapeType="1"/>
            </p:cNvSpPr>
            <p:nvPr/>
          </p:nvSpPr>
          <p:spPr bwMode="auto">
            <a:xfrm>
              <a:off x="7690488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7" name="Line 321"/>
            <p:cNvSpPr>
              <a:spLocks noChangeShapeType="1"/>
            </p:cNvSpPr>
            <p:nvPr/>
          </p:nvSpPr>
          <p:spPr bwMode="auto">
            <a:xfrm>
              <a:off x="7690488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8" name="Line 322"/>
            <p:cNvSpPr>
              <a:spLocks noChangeShapeType="1"/>
            </p:cNvSpPr>
            <p:nvPr/>
          </p:nvSpPr>
          <p:spPr bwMode="auto">
            <a:xfrm>
              <a:off x="7690488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9" name="Line 323"/>
            <p:cNvSpPr>
              <a:spLocks noChangeShapeType="1"/>
            </p:cNvSpPr>
            <p:nvPr/>
          </p:nvSpPr>
          <p:spPr bwMode="auto">
            <a:xfrm>
              <a:off x="7690488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0" name="Line 324"/>
            <p:cNvSpPr>
              <a:spLocks noChangeShapeType="1"/>
            </p:cNvSpPr>
            <p:nvPr/>
          </p:nvSpPr>
          <p:spPr bwMode="auto">
            <a:xfrm>
              <a:off x="7690488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1" name="Line 325"/>
            <p:cNvSpPr>
              <a:spLocks noChangeShapeType="1"/>
            </p:cNvSpPr>
            <p:nvPr/>
          </p:nvSpPr>
          <p:spPr bwMode="auto">
            <a:xfrm>
              <a:off x="7690488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2" name="Line 326"/>
            <p:cNvSpPr>
              <a:spLocks noChangeShapeType="1"/>
            </p:cNvSpPr>
            <p:nvPr/>
          </p:nvSpPr>
          <p:spPr bwMode="auto">
            <a:xfrm>
              <a:off x="7690488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3" name="Line 327"/>
            <p:cNvSpPr>
              <a:spLocks noChangeShapeType="1"/>
            </p:cNvSpPr>
            <p:nvPr/>
          </p:nvSpPr>
          <p:spPr bwMode="auto">
            <a:xfrm>
              <a:off x="7690488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4" name="Line 328"/>
            <p:cNvSpPr>
              <a:spLocks noChangeShapeType="1"/>
            </p:cNvSpPr>
            <p:nvPr/>
          </p:nvSpPr>
          <p:spPr bwMode="auto">
            <a:xfrm>
              <a:off x="7690488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5" name="Line 329"/>
            <p:cNvSpPr>
              <a:spLocks noChangeShapeType="1"/>
            </p:cNvSpPr>
            <p:nvPr/>
          </p:nvSpPr>
          <p:spPr bwMode="auto">
            <a:xfrm>
              <a:off x="7690488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6" name="Line 330"/>
            <p:cNvSpPr>
              <a:spLocks noChangeShapeType="1"/>
            </p:cNvSpPr>
            <p:nvPr/>
          </p:nvSpPr>
          <p:spPr bwMode="auto">
            <a:xfrm>
              <a:off x="7690488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7" name="Line 331"/>
            <p:cNvSpPr>
              <a:spLocks noChangeShapeType="1"/>
            </p:cNvSpPr>
            <p:nvPr/>
          </p:nvSpPr>
          <p:spPr bwMode="auto">
            <a:xfrm>
              <a:off x="7690488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8" name="Line 332"/>
            <p:cNvSpPr>
              <a:spLocks noChangeShapeType="1"/>
            </p:cNvSpPr>
            <p:nvPr/>
          </p:nvSpPr>
          <p:spPr bwMode="auto">
            <a:xfrm>
              <a:off x="7690488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9" name="Text Box 405"/>
            <p:cNvSpPr txBox="1">
              <a:spLocks noChangeArrowheads="1"/>
            </p:cNvSpPr>
            <p:nvPr/>
          </p:nvSpPr>
          <p:spPr bwMode="auto">
            <a:xfrm>
              <a:off x="4441121" y="6217114"/>
              <a:ext cx="3027278" cy="29396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9973" tIns="44986" rIns="89973" bIns="44986">
              <a:spAutoFit/>
            </a:bodyPr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862013" indent="-214313"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indent="-217488"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7488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7488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7488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7488" defTabSz="449263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/>
              <a:r>
                <a:rPr lang="en-GB" altLang="zh-TW" sz="1800">
                  <a:solidFill>
                    <a:schemeClr val="tx1"/>
                  </a:solidFill>
                  <a:ea typeface="新細明體" panose="02020500000000000000" pitchFamily="18" charset="-120"/>
                </a:rPr>
                <a:t>16 port, </a:t>
              </a:r>
              <a:r>
                <a:rPr lang="en-GB" altLang="zh-TW" sz="1800" i="1">
                  <a:solidFill>
                    <a:schemeClr val="tx1"/>
                  </a:solidFill>
                  <a:ea typeface="新細明體" panose="02020500000000000000" pitchFamily="18" charset="-120"/>
                </a:rPr>
                <a:t>4 stage </a:t>
              </a:r>
              <a:r>
                <a:rPr lang="en-GB" altLang="zh-TW" sz="1800" b="1" i="1">
                  <a:solidFill>
                    <a:schemeClr val="accent2"/>
                  </a:solidFill>
                  <a:ea typeface="新細明體" panose="02020500000000000000" pitchFamily="18" charset="-120"/>
                </a:rPr>
                <a:t>Baseline </a:t>
              </a:r>
              <a:r>
                <a:rPr lang="en-GB" altLang="zh-TW" sz="1800" i="1">
                  <a:solidFill>
                    <a:schemeClr val="tx1"/>
                  </a:solidFill>
                  <a:ea typeface="新細明體" panose="02020500000000000000" pitchFamily="18" charset="-120"/>
                </a:rPr>
                <a:t>network</a:t>
              </a:r>
            </a:p>
          </p:txBody>
        </p:sp>
        <p:sp>
          <p:nvSpPr>
            <p:cNvPr id="110" name="Text Box 438"/>
            <p:cNvSpPr txBox="1">
              <a:spLocks noChangeArrowheads="1"/>
            </p:cNvSpPr>
            <p:nvPr/>
          </p:nvSpPr>
          <p:spPr bwMode="auto">
            <a:xfrm>
              <a:off x="3354474" y="1628800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0000</a:t>
              </a:r>
            </a:p>
          </p:txBody>
        </p:sp>
        <p:sp>
          <p:nvSpPr>
            <p:cNvPr id="111" name="Text Box 439"/>
            <p:cNvSpPr txBox="1">
              <a:spLocks noChangeArrowheads="1"/>
            </p:cNvSpPr>
            <p:nvPr/>
          </p:nvSpPr>
          <p:spPr bwMode="auto">
            <a:xfrm>
              <a:off x="3354474" y="1873997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0001</a:t>
              </a:r>
            </a:p>
          </p:txBody>
        </p:sp>
        <p:sp>
          <p:nvSpPr>
            <p:cNvPr id="112" name="Text Box 440"/>
            <p:cNvSpPr txBox="1">
              <a:spLocks noChangeArrowheads="1"/>
            </p:cNvSpPr>
            <p:nvPr/>
          </p:nvSpPr>
          <p:spPr bwMode="auto">
            <a:xfrm>
              <a:off x="3354474" y="2181511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0010</a:t>
              </a:r>
            </a:p>
          </p:txBody>
        </p:sp>
        <p:sp>
          <p:nvSpPr>
            <p:cNvPr id="113" name="Text Box 441"/>
            <p:cNvSpPr txBox="1">
              <a:spLocks noChangeArrowheads="1"/>
            </p:cNvSpPr>
            <p:nvPr/>
          </p:nvSpPr>
          <p:spPr bwMode="auto">
            <a:xfrm>
              <a:off x="3354474" y="2428064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0011</a:t>
              </a:r>
            </a:p>
          </p:txBody>
        </p:sp>
        <p:sp>
          <p:nvSpPr>
            <p:cNvPr id="114" name="Text Box 442"/>
            <p:cNvSpPr txBox="1">
              <a:spLocks noChangeArrowheads="1"/>
            </p:cNvSpPr>
            <p:nvPr/>
          </p:nvSpPr>
          <p:spPr bwMode="auto">
            <a:xfrm>
              <a:off x="3354474" y="2734222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0100</a:t>
              </a:r>
            </a:p>
          </p:txBody>
        </p:sp>
        <p:sp>
          <p:nvSpPr>
            <p:cNvPr id="115" name="Text Box 443"/>
            <p:cNvSpPr txBox="1">
              <a:spLocks noChangeArrowheads="1"/>
            </p:cNvSpPr>
            <p:nvPr/>
          </p:nvSpPr>
          <p:spPr bwMode="auto">
            <a:xfrm>
              <a:off x="3354474" y="2979419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0101</a:t>
              </a:r>
            </a:p>
          </p:txBody>
        </p:sp>
        <p:sp>
          <p:nvSpPr>
            <p:cNvPr id="116" name="Text Box 444"/>
            <p:cNvSpPr txBox="1">
              <a:spLocks noChangeArrowheads="1"/>
            </p:cNvSpPr>
            <p:nvPr/>
          </p:nvSpPr>
          <p:spPr bwMode="auto">
            <a:xfrm>
              <a:off x="3354474" y="3286933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0110</a:t>
              </a:r>
            </a:p>
          </p:txBody>
        </p:sp>
        <p:sp>
          <p:nvSpPr>
            <p:cNvPr id="117" name="Text Box 445"/>
            <p:cNvSpPr txBox="1">
              <a:spLocks noChangeArrowheads="1"/>
            </p:cNvSpPr>
            <p:nvPr/>
          </p:nvSpPr>
          <p:spPr bwMode="auto">
            <a:xfrm>
              <a:off x="3354474" y="3533486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0111</a:t>
              </a:r>
            </a:p>
          </p:txBody>
        </p:sp>
        <p:sp>
          <p:nvSpPr>
            <p:cNvPr id="118" name="Text Box 446"/>
            <p:cNvSpPr txBox="1">
              <a:spLocks noChangeArrowheads="1"/>
            </p:cNvSpPr>
            <p:nvPr/>
          </p:nvSpPr>
          <p:spPr bwMode="auto">
            <a:xfrm>
              <a:off x="3354474" y="3840998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1000</a:t>
              </a:r>
            </a:p>
          </p:txBody>
        </p:sp>
        <p:sp>
          <p:nvSpPr>
            <p:cNvPr id="119" name="Text Box 447"/>
            <p:cNvSpPr txBox="1">
              <a:spLocks noChangeArrowheads="1"/>
            </p:cNvSpPr>
            <p:nvPr/>
          </p:nvSpPr>
          <p:spPr bwMode="auto">
            <a:xfrm>
              <a:off x="3354474" y="4086197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 dirty="0">
                  <a:solidFill>
                    <a:schemeClr val="tx1"/>
                  </a:solidFill>
                  <a:latin typeface="Tahoma" panose="020B0604030504040204" pitchFamily="34" charset="0"/>
                </a:rPr>
                <a:t>1001</a:t>
              </a:r>
            </a:p>
          </p:txBody>
        </p:sp>
        <p:sp>
          <p:nvSpPr>
            <p:cNvPr id="120" name="Text Box 448"/>
            <p:cNvSpPr txBox="1">
              <a:spLocks noChangeArrowheads="1"/>
            </p:cNvSpPr>
            <p:nvPr/>
          </p:nvSpPr>
          <p:spPr bwMode="auto">
            <a:xfrm>
              <a:off x="3354474" y="4393710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1010</a:t>
              </a:r>
            </a:p>
          </p:txBody>
        </p:sp>
        <p:sp>
          <p:nvSpPr>
            <p:cNvPr id="121" name="Text Box 449"/>
            <p:cNvSpPr txBox="1">
              <a:spLocks noChangeArrowheads="1"/>
            </p:cNvSpPr>
            <p:nvPr/>
          </p:nvSpPr>
          <p:spPr bwMode="auto">
            <a:xfrm>
              <a:off x="3354474" y="4640262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 dirty="0">
                  <a:solidFill>
                    <a:schemeClr val="tx1"/>
                  </a:solidFill>
                  <a:latin typeface="Tahoma" panose="020B0604030504040204" pitchFamily="34" charset="0"/>
                </a:rPr>
                <a:t>1011</a:t>
              </a:r>
            </a:p>
          </p:txBody>
        </p:sp>
        <p:sp>
          <p:nvSpPr>
            <p:cNvPr id="122" name="Text Box 450"/>
            <p:cNvSpPr txBox="1">
              <a:spLocks noChangeArrowheads="1"/>
            </p:cNvSpPr>
            <p:nvPr/>
          </p:nvSpPr>
          <p:spPr bwMode="auto">
            <a:xfrm>
              <a:off x="3354474" y="4927455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1100</a:t>
              </a:r>
            </a:p>
          </p:txBody>
        </p:sp>
        <p:sp>
          <p:nvSpPr>
            <p:cNvPr id="123" name="Text Box 451"/>
            <p:cNvSpPr txBox="1">
              <a:spLocks noChangeArrowheads="1"/>
            </p:cNvSpPr>
            <p:nvPr/>
          </p:nvSpPr>
          <p:spPr bwMode="auto">
            <a:xfrm>
              <a:off x="3354474" y="5172653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1101</a:t>
              </a:r>
            </a:p>
          </p:txBody>
        </p:sp>
        <p:sp>
          <p:nvSpPr>
            <p:cNvPr id="124" name="Text Box 452"/>
            <p:cNvSpPr txBox="1">
              <a:spLocks noChangeArrowheads="1"/>
            </p:cNvSpPr>
            <p:nvPr/>
          </p:nvSpPr>
          <p:spPr bwMode="auto">
            <a:xfrm>
              <a:off x="3354474" y="5480166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1110</a:t>
              </a:r>
            </a:p>
          </p:txBody>
        </p:sp>
        <p:sp>
          <p:nvSpPr>
            <p:cNvPr id="125" name="Text Box 453"/>
            <p:cNvSpPr txBox="1">
              <a:spLocks noChangeArrowheads="1"/>
            </p:cNvSpPr>
            <p:nvPr/>
          </p:nvSpPr>
          <p:spPr bwMode="auto">
            <a:xfrm>
              <a:off x="3347864" y="5726719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1111</a:t>
              </a:r>
            </a:p>
          </p:txBody>
        </p:sp>
        <p:sp>
          <p:nvSpPr>
            <p:cNvPr id="126" name="Line 454"/>
            <p:cNvSpPr>
              <a:spLocks noChangeShapeType="1"/>
            </p:cNvSpPr>
            <p:nvPr/>
          </p:nvSpPr>
          <p:spPr bwMode="auto">
            <a:xfrm>
              <a:off x="8188864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7" name="Line 455"/>
            <p:cNvSpPr>
              <a:spLocks noChangeShapeType="1"/>
            </p:cNvSpPr>
            <p:nvPr/>
          </p:nvSpPr>
          <p:spPr bwMode="auto">
            <a:xfrm>
              <a:off x="8188864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8" name="Line 456"/>
            <p:cNvSpPr>
              <a:spLocks noChangeShapeType="1"/>
            </p:cNvSpPr>
            <p:nvPr/>
          </p:nvSpPr>
          <p:spPr bwMode="auto">
            <a:xfrm>
              <a:off x="8188864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9" name="Line 457"/>
            <p:cNvSpPr>
              <a:spLocks noChangeShapeType="1"/>
            </p:cNvSpPr>
            <p:nvPr/>
          </p:nvSpPr>
          <p:spPr bwMode="auto">
            <a:xfrm>
              <a:off x="8188864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0" name="Line 458"/>
            <p:cNvSpPr>
              <a:spLocks noChangeShapeType="1"/>
            </p:cNvSpPr>
            <p:nvPr/>
          </p:nvSpPr>
          <p:spPr bwMode="auto">
            <a:xfrm>
              <a:off x="8188864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1" name="Line 459"/>
            <p:cNvSpPr>
              <a:spLocks noChangeShapeType="1"/>
            </p:cNvSpPr>
            <p:nvPr/>
          </p:nvSpPr>
          <p:spPr bwMode="auto">
            <a:xfrm>
              <a:off x="8188864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2" name="Line 460"/>
            <p:cNvSpPr>
              <a:spLocks noChangeShapeType="1"/>
            </p:cNvSpPr>
            <p:nvPr/>
          </p:nvSpPr>
          <p:spPr bwMode="auto">
            <a:xfrm>
              <a:off x="8188864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3" name="Line 461"/>
            <p:cNvSpPr>
              <a:spLocks noChangeShapeType="1"/>
            </p:cNvSpPr>
            <p:nvPr/>
          </p:nvSpPr>
          <p:spPr bwMode="auto">
            <a:xfrm>
              <a:off x="8188864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4" name="Line 462"/>
            <p:cNvSpPr>
              <a:spLocks noChangeShapeType="1"/>
            </p:cNvSpPr>
            <p:nvPr/>
          </p:nvSpPr>
          <p:spPr bwMode="auto">
            <a:xfrm>
              <a:off x="8188864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" name="Line 463"/>
            <p:cNvSpPr>
              <a:spLocks noChangeShapeType="1"/>
            </p:cNvSpPr>
            <p:nvPr/>
          </p:nvSpPr>
          <p:spPr bwMode="auto">
            <a:xfrm>
              <a:off x="8188864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6" name="Line 464"/>
            <p:cNvSpPr>
              <a:spLocks noChangeShapeType="1"/>
            </p:cNvSpPr>
            <p:nvPr/>
          </p:nvSpPr>
          <p:spPr bwMode="auto">
            <a:xfrm>
              <a:off x="8188864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7" name="Line 465"/>
            <p:cNvSpPr>
              <a:spLocks noChangeShapeType="1"/>
            </p:cNvSpPr>
            <p:nvPr/>
          </p:nvSpPr>
          <p:spPr bwMode="auto">
            <a:xfrm>
              <a:off x="8188864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8" name="Line 466"/>
            <p:cNvSpPr>
              <a:spLocks noChangeShapeType="1"/>
            </p:cNvSpPr>
            <p:nvPr/>
          </p:nvSpPr>
          <p:spPr bwMode="auto">
            <a:xfrm>
              <a:off x="8188864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9" name="Line 467"/>
            <p:cNvSpPr>
              <a:spLocks noChangeShapeType="1"/>
            </p:cNvSpPr>
            <p:nvPr/>
          </p:nvSpPr>
          <p:spPr bwMode="auto">
            <a:xfrm>
              <a:off x="8188864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0" name="Line 468"/>
            <p:cNvSpPr>
              <a:spLocks noChangeShapeType="1"/>
            </p:cNvSpPr>
            <p:nvPr/>
          </p:nvSpPr>
          <p:spPr bwMode="auto">
            <a:xfrm>
              <a:off x="8188864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1" name="Line 469"/>
            <p:cNvSpPr>
              <a:spLocks noChangeShapeType="1"/>
            </p:cNvSpPr>
            <p:nvPr/>
          </p:nvSpPr>
          <p:spPr bwMode="auto">
            <a:xfrm>
              <a:off x="8188864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2" name="Text Box 470"/>
            <p:cNvSpPr txBox="1">
              <a:spLocks noChangeArrowheads="1"/>
            </p:cNvSpPr>
            <p:nvPr/>
          </p:nvSpPr>
          <p:spPr bwMode="auto">
            <a:xfrm>
              <a:off x="8387158" y="1647766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0000</a:t>
              </a:r>
            </a:p>
          </p:txBody>
        </p:sp>
        <p:sp>
          <p:nvSpPr>
            <p:cNvPr id="143" name="Text Box 471"/>
            <p:cNvSpPr txBox="1">
              <a:spLocks noChangeArrowheads="1"/>
            </p:cNvSpPr>
            <p:nvPr/>
          </p:nvSpPr>
          <p:spPr bwMode="auto">
            <a:xfrm>
              <a:off x="8387158" y="1892963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0001</a:t>
              </a:r>
            </a:p>
          </p:txBody>
        </p:sp>
        <p:sp>
          <p:nvSpPr>
            <p:cNvPr id="144" name="Text Box 472"/>
            <p:cNvSpPr txBox="1">
              <a:spLocks noChangeArrowheads="1"/>
            </p:cNvSpPr>
            <p:nvPr/>
          </p:nvSpPr>
          <p:spPr bwMode="auto">
            <a:xfrm>
              <a:off x="8387158" y="2200477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0010</a:t>
              </a:r>
            </a:p>
          </p:txBody>
        </p:sp>
        <p:sp>
          <p:nvSpPr>
            <p:cNvPr id="145" name="Text Box 473"/>
            <p:cNvSpPr txBox="1">
              <a:spLocks noChangeArrowheads="1"/>
            </p:cNvSpPr>
            <p:nvPr/>
          </p:nvSpPr>
          <p:spPr bwMode="auto">
            <a:xfrm>
              <a:off x="8387158" y="2447029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0011</a:t>
              </a:r>
            </a:p>
          </p:txBody>
        </p:sp>
        <p:sp>
          <p:nvSpPr>
            <p:cNvPr id="146" name="Text Box 474"/>
            <p:cNvSpPr txBox="1">
              <a:spLocks noChangeArrowheads="1"/>
            </p:cNvSpPr>
            <p:nvPr/>
          </p:nvSpPr>
          <p:spPr bwMode="auto">
            <a:xfrm>
              <a:off x="8387158" y="2753188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0100</a:t>
              </a:r>
            </a:p>
          </p:txBody>
        </p:sp>
        <p:sp>
          <p:nvSpPr>
            <p:cNvPr id="147" name="Text Box 475"/>
            <p:cNvSpPr txBox="1">
              <a:spLocks noChangeArrowheads="1"/>
            </p:cNvSpPr>
            <p:nvPr/>
          </p:nvSpPr>
          <p:spPr bwMode="auto">
            <a:xfrm>
              <a:off x="8387158" y="2998385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0101</a:t>
              </a:r>
            </a:p>
          </p:txBody>
        </p:sp>
        <p:sp>
          <p:nvSpPr>
            <p:cNvPr id="148" name="Text Box 476"/>
            <p:cNvSpPr txBox="1">
              <a:spLocks noChangeArrowheads="1"/>
            </p:cNvSpPr>
            <p:nvPr/>
          </p:nvSpPr>
          <p:spPr bwMode="auto">
            <a:xfrm>
              <a:off x="8387158" y="3305899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0110</a:t>
              </a:r>
            </a:p>
          </p:txBody>
        </p:sp>
        <p:sp>
          <p:nvSpPr>
            <p:cNvPr id="149" name="Text Box 477"/>
            <p:cNvSpPr txBox="1">
              <a:spLocks noChangeArrowheads="1"/>
            </p:cNvSpPr>
            <p:nvPr/>
          </p:nvSpPr>
          <p:spPr bwMode="auto">
            <a:xfrm>
              <a:off x="8387158" y="3552451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0111</a:t>
              </a:r>
            </a:p>
          </p:txBody>
        </p:sp>
        <p:sp>
          <p:nvSpPr>
            <p:cNvPr id="150" name="Text Box 478"/>
            <p:cNvSpPr txBox="1">
              <a:spLocks noChangeArrowheads="1"/>
            </p:cNvSpPr>
            <p:nvPr/>
          </p:nvSpPr>
          <p:spPr bwMode="auto">
            <a:xfrm>
              <a:off x="8387158" y="3859964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1000</a:t>
              </a:r>
            </a:p>
          </p:txBody>
        </p:sp>
        <p:sp>
          <p:nvSpPr>
            <p:cNvPr id="151" name="Text Box 479"/>
            <p:cNvSpPr txBox="1">
              <a:spLocks noChangeArrowheads="1"/>
            </p:cNvSpPr>
            <p:nvPr/>
          </p:nvSpPr>
          <p:spPr bwMode="auto">
            <a:xfrm>
              <a:off x="8387158" y="4105162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1001</a:t>
              </a:r>
            </a:p>
          </p:txBody>
        </p:sp>
        <p:sp>
          <p:nvSpPr>
            <p:cNvPr id="152" name="Text Box 480"/>
            <p:cNvSpPr txBox="1">
              <a:spLocks noChangeArrowheads="1"/>
            </p:cNvSpPr>
            <p:nvPr/>
          </p:nvSpPr>
          <p:spPr bwMode="auto">
            <a:xfrm>
              <a:off x="8387158" y="4412675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1010</a:t>
              </a:r>
            </a:p>
          </p:txBody>
        </p:sp>
        <p:sp>
          <p:nvSpPr>
            <p:cNvPr id="153" name="Text Box 481"/>
            <p:cNvSpPr txBox="1">
              <a:spLocks noChangeArrowheads="1"/>
            </p:cNvSpPr>
            <p:nvPr/>
          </p:nvSpPr>
          <p:spPr bwMode="auto">
            <a:xfrm>
              <a:off x="8387158" y="4659228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1011</a:t>
              </a:r>
            </a:p>
          </p:txBody>
        </p:sp>
        <p:sp>
          <p:nvSpPr>
            <p:cNvPr id="154" name="Text Box 482"/>
            <p:cNvSpPr txBox="1">
              <a:spLocks noChangeArrowheads="1"/>
            </p:cNvSpPr>
            <p:nvPr/>
          </p:nvSpPr>
          <p:spPr bwMode="auto">
            <a:xfrm>
              <a:off x="8387158" y="4946421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1100</a:t>
              </a:r>
            </a:p>
          </p:txBody>
        </p:sp>
        <p:sp>
          <p:nvSpPr>
            <p:cNvPr id="155" name="Text Box 483"/>
            <p:cNvSpPr txBox="1">
              <a:spLocks noChangeArrowheads="1"/>
            </p:cNvSpPr>
            <p:nvPr/>
          </p:nvSpPr>
          <p:spPr bwMode="auto">
            <a:xfrm>
              <a:off x="8387158" y="5191619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1101</a:t>
              </a:r>
            </a:p>
          </p:txBody>
        </p:sp>
        <p:sp>
          <p:nvSpPr>
            <p:cNvPr id="156" name="Text Box 484"/>
            <p:cNvSpPr txBox="1">
              <a:spLocks noChangeArrowheads="1"/>
            </p:cNvSpPr>
            <p:nvPr/>
          </p:nvSpPr>
          <p:spPr bwMode="auto">
            <a:xfrm>
              <a:off x="8387158" y="5499132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1110</a:t>
              </a:r>
            </a:p>
          </p:txBody>
        </p:sp>
        <p:sp>
          <p:nvSpPr>
            <p:cNvPr id="157" name="Text Box 485"/>
            <p:cNvSpPr txBox="1">
              <a:spLocks noChangeArrowheads="1"/>
            </p:cNvSpPr>
            <p:nvPr/>
          </p:nvSpPr>
          <p:spPr bwMode="auto">
            <a:xfrm>
              <a:off x="8387158" y="5745684"/>
              <a:ext cx="520850" cy="287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600">
                  <a:solidFill>
                    <a:schemeClr val="tx1"/>
                  </a:solidFill>
                  <a:latin typeface="Tahoma" panose="020B0604030504040204" pitchFamily="34" charset="0"/>
                </a:rPr>
                <a:t>1111</a:t>
              </a:r>
            </a:p>
          </p:txBody>
        </p:sp>
        <p:sp>
          <p:nvSpPr>
            <p:cNvPr id="158" name="Line 503"/>
            <p:cNvSpPr>
              <a:spLocks noChangeShapeType="1"/>
            </p:cNvSpPr>
            <p:nvPr/>
          </p:nvSpPr>
          <p:spPr bwMode="auto">
            <a:xfrm>
              <a:off x="3859461" y="1792716"/>
              <a:ext cx="1982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9" name="Line 504"/>
            <p:cNvSpPr>
              <a:spLocks noChangeShapeType="1"/>
            </p:cNvSpPr>
            <p:nvPr/>
          </p:nvSpPr>
          <p:spPr bwMode="auto">
            <a:xfrm>
              <a:off x="3859461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0" name="Line 505"/>
            <p:cNvSpPr>
              <a:spLocks noChangeShapeType="1"/>
            </p:cNvSpPr>
            <p:nvPr/>
          </p:nvSpPr>
          <p:spPr bwMode="auto">
            <a:xfrm>
              <a:off x="3859461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1" name="Line 506"/>
            <p:cNvSpPr>
              <a:spLocks noChangeShapeType="1"/>
            </p:cNvSpPr>
            <p:nvPr/>
          </p:nvSpPr>
          <p:spPr bwMode="auto">
            <a:xfrm>
              <a:off x="3859461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2" name="Line 507"/>
            <p:cNvSpPr>
              <a:spLocks noChangeShapeType="1"/>
            </p:cNvSpPr>
            <p:nvPr/>
          </p:nvSpPr>
          <p:spPr bwMode="auto">
            <a:xfrm>
              <a:off x="3859461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3" name="Line 508"/>
            <p:cNvSpPr>
              <a:spLocks noChangeShapeType="1"/>
            </p:cNvSpPr>
            <p:nvPr/>
          </p:nvSpPr>
          <p:spPr bwMode="auto">
            <a:xfrm>
              <a:off x="3859461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4" name="Line 509"/>
            <p:cNvSpPr>
              <a:spLocks noChangeShapeType="1"/>
            </p:cNvSpPr>
            <p:nvPr/>
          </p:nvSpPr>
          <p:spPr bwMode="auto">
            <a:xfrm>
              <a:off x="3859461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5" name="Line 510"/>
            <p:cNvSpPr>
              <a:spLocks noChangeShapeType="1"/>
            </p:cNvSpPr>
            <p:nvPr/>
          </p:nvSpPr>
          <p:spPr bwMode="auto">
            <a:xfrm>
              <a:off x="3859461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6" name="Line 511"/>
            <p:cNvSpPr>
              <a:spLocks noChangeShapeType="1"/>
            </p:cNvSpPr>
            <p:nvPr/>
          </p:nvSpPr>
          <p:spPr bwMode="auto">
            <a:xfrm>
              <a:off x="3859461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7" name="Line 512"/>
            <p:cNvSpPr>
              <a:spLocks noChangeShapeType="1"/>
            </p:cNvSpPr>
            <p:nvPr/>
          </p:nvSpPr>
          <p:spPr bwMode="auto">
            <a:xfrm>
              <a:off x="3859461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8" name="Line 513"/>
            <p:cNvSpPr>
              <a:spLocks noChangeShapeType="1"/>
            </p:cNvSpPr>
            <p:nvPr/>
          </p:nvSpPr>
          <p:spPr bwMode="auto">
            <a:xfrm>
              <a:off x="3859461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9" name="Line 514"/>
            <p:cNvSpPr>
              <a:spLocks noChangeShapeType="1"/>
            </p:cNvSpPr>
            <p:nvPr/>
          </p:nvSpPr>
          <p:spPr bwMode="auto">
            <a:xfrm>
              <a:off x="3859461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0" name="Line 515"/>
            <p:cNvSpPr>
              <a:spLocks noChangeShapeType="1"/>
            </p:cNvSpPr>
            <p:nvPr/>
          </p:nvSpPr>
          <p:spPr bwMode="auto">
            <a:xfrm>
              <a:off x="3859461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1" name="Line 516"/>
            <p:cNvSpPr>
              <a:spLocks noChangeShapeType="1"/>
            </p:cNvSpPr>
            <p:nvPr/>
          </p:nvSpPr>
          <p:spPr bwMode="auto">
            <a:xfrm>
              <a:off x="3859461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2" name="Line 517"/>
            <p:cNvSpPr>
              <a:spLocks noChangeShapeType="1"/>
            </p:cNvSpPr>
            <p:nvPr/>
          </p:nvSpPr>
          <p:spPr bwMode="auto">
            <a:xfrm>
              <a:off x="3859461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3" name="Line 518"/>
            <p:cNvSpPr>
              <a:spLocks noChangeShapeType="1"/>
            </p:cNvSpPr>
            <p:nvPr/>
          </p:nvSpPr>
          <p:spPr bwMode="auto">
            <a:xfrm>
              <a:off x="3859461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grpSp>
          <p:nvGrpSpPr>
            <p:cNvPr id="174" name="Group 519"/>
            <p:cNvGrpSpPr>
              <a:grpSpLocks/>
            </p:cNvGrpSpPr>
            <p:nvPr/>
          </p:nvGrpSpPr>
          <p:grpSpPr bwMode="auto">
            <a:xfrm>
              <a:off x="3978437" y="1792716"/>
              <a:ext cx="479869" cy="4116885"/>
              <a:chOff x="1315" y="1156"/>
              <a:chExt cx="363" cy="3039"/>
            </a:xfrm>
          </p:grpSpPr>
          <p:sp>
            <p:nvSpPr>
              <p:cNvPr id="263" name="Line 520"/>
              <p:cNvSpPr>
                <a:spLocks noChangeShapeType="1"/>
              </p:cNvSpPr>
              <p:nvPr/>
            </p:nvSpPr>
            <p:spPr bwMode="auto">
              <a:xfrm>
                <a:off x="1315" y="1156"/>
                <a:ext cx="3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4" name="Line 521"/>
              <p:cNvSpPr>
                <a:spLocks noChangeShapeType="1"/>
              </p:cNvSpPr>
              <p:nvPr/>
            </p:nvSpPr>
            <p:spPr bwMode="auto">
              <a:xfrm>
                <a:off x="1361" y="1338"/>
                <a:ext cx="317" cy="2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5" name="Line 522"/>
              <p:cNvSpPr>
                <a:spLocks noChangeShapeType="1"/>
              </p:cNvSpPr>
              <p:nvPr/>
            </p:nvSpPr>
            <p:spPr bwMode="auto">
              <a:xfrm>
                <a:off x="1361" y="1564"/>
                <a:ext cx="317" cy="4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6" name="Line 523"/>
              <p:cNvSpPr>
                <a:spLocks noChangeShapeType="1"/>
              </p:cNvSpPr>
              <p:nvPr/>
            </p:nvSpPr>
            <p:spPr bwMode="auto">
              <a:xfrm>
                <a:off x="1361" y="1746"/>
                <a:ext cx="317" cy="6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7" name="Line 524"/>
              <p:cNvSpPr>
                <a:spLocks noChangeShapeType="1"/>
              </p:cNvSpPr>
              <p:nvPr/>
            </p:nvSpPr>
            <p:spPr bwMode="auto">
              <a:xfrm>
                <a:off x="1361" y="1973"/>
                <a:ext cx="317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8" name="Line 525"/>
              <p:cNvSpPr>
                <a:spLocks noChangeShapeType="1"/>
              </p:cNvSpPr>
              <p:nvPr/>
            </p:nvSpPr>
            <p:spPr bwMode="auto">
              <a:xfrm>
                <a:off x="1361" y="2155"/>
                <a:ext cx="317" cy="10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9" name="Line 526"/>
              <p:cNvSpPr>
                <a:spLocks noChangeShapeType="1"/>
              </p:cNvSpPr>
              <p:nvPr/>
            </p:nvSpPr>
            <p:spPr bwMode="auto">
              <a:xfrm>
                <a:off x="1361" y="2381"/>
                <a:ext cx="317" cy="12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0" name="Line 527"/>
              <p:cNvSpPr>
                <a:spLocks noChangeShapeType="1"/>
              </p:cNvSpPr>
              <p:nvPr/>
            </p:nvSpPr>
            <p:spPr bwMode="auto">
              <a:xfrm>
                <a:off x="1361" y="2563"/>
                <a:ext cx="317" cy="14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1" name="Line 528"/>
              <p:cNvSpPr>
                <a:spLocks noChangeShapeType="1"/>
              </p:cNvSpPr>
              <p:nvPr/>
            </p:nvSpPr>
            <p:spPr bwMode="auto">
              <a:xfrm flipV="1">
                <a:off x="1361" y="1338"/>
                <a:ext cx="317" cy="14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2" name="Line 529"/>
              <p:cNvSpPr>
                <a:spLocks noChangeShapeType="1"/>
              </p:cNvSpPr>
              <p:nvPr/>
            </p:nvSpPr>
            <p:spPr bwMode="auto">
              <a:xfrm flipV="1">
                <a:off x="1361" y="1746"/>
                <a:ext cx="317" cy="12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3" name="Line 530"/>
              <p:cNvSpPr>
                <a:spLocks noChangeShapeType="1"/>
              </p:cNvSpPr>
              <p:nvPr/>
            </p:nvSpPr>
            <p:spPr bwMode="auto">
              <a:xfrm flipV="1">
                <a:off x="1361" y="2154"/>
                <a:ext cx="317" cy="10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4" name="Line 531"/>
              <p:cNvSpPr>
                <a:spLocks noChangeShapeType="1"/>
              </p:cNvSpPr>
              <p:nvPr/>
            </p:nvSpPr>
            <p:spPr bwMode="auto">
              <a:xfrm flipV="1">
                <a:off x="1361" y="2562"/>
                <a:ext cx="317" cy="81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5" name="Line 532"/>
              <p:cNvSpPr>
                <a:spLocks noChangeShapeType="1"/>
              </p:cNvSpPr>
              <p:nvPr/>
            </p:nvSpPr>
            <p:spPr bwMode="auto">
              <a:xfrm flipV="1">
                <a:off x="1361" y="2971"/>
                <a:ext cx="317" cy="6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6" name="Line 533"/>
              <p:cNvSpPr>
                <a:spLocks noChangeShapeType="1"/>
              </p:cNvSpPr>
              <p:nvPr/>
            </p:nvSpPr>
            <p:spPr bwMode="auto">
              <a:xfrm flipV="1">
                <a:off x="1361" y="3379"/>
                <a:ext cx="317" cy="4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7" name="Line 534"/>
              <p:cNvSpPr>
                <a:spLocks noChangeShapeType="1"/>
              </p:cNvSpPr>
              <p:nvPr/>
            </p:nvSpPr>
            <p:spPr bwMode="auto">
              <a:xfrm flipV="1">
                <a:off x="1361" y="3787"/>
                <a:ext cx="317" cy="2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8" name="Line 535"/>
              <p:cNvSpPr>
                <a:spLocks noChangeShapeType="1"/>
              </p:cNvSpPr>
              <p:nvPr/>
            </p:nvSpPr>
            <p:spPr bwMode="auto">
              <a:xfrm>
                <a:off x="1361" y="4195"/>
                <a:ext cx="3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sp>
          <p:nvSpPr>
            <p:cNvPr id="175" name="Line 536"/>
            <p:cNvSpPr>
              <a:spLocks noChangeShapeType="1"/>
            </p:cNvSpPr>
            <p:nvPr/>
          </p:nvSpPr>
          <p:spPr bwMode="auto">
            <a:xfrm>
              <a:off x="5111352" y="2039269"/>
              <a:ext cx="420382" cy="19656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6" name="Line 537"/>
            <p:cNvSpPr>
              <a:spLocks noChangeShapeType="1"/>
            </p:cNvSpPr>
            <p:nvPr/>
          </p:nvSpPr>
          <p:spPr bwMode="auto">
            <a:xfrm>
              <a:off x="5111352" y="1792716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7" name="Line 538"/>
            <p:cNvSpPr>
              <a:spLocks noChangeShapeType="1"/>
            </p:cNvSpPr>
            <p:nvPr/>
          </p:nvSpPr>
          <p:spPr bwMode="auto">
            <a:xfrm flipV="1">
              <a:off x="5111352" y="2039269"/>
              <a:ext cx="420382" cy="307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8" name="Line 539"/>
            <p:cNvSpPr>
              <a:spLocks noChangeShapeType="1"/>
            </p:cNvSpPr>
            <p:nvPr/>
          </p:nvSpPr>
          <p:spPr bwMode="auto">
            <a:xfrm>
              <a:off x="5111352" y="2591980"/>
              <a:ext cx="420382" cy="1659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9" name="Line 540"/>
            <p:cNvSpPr>
              <a:spLocks noChangeShapeType="1"/>
            </p:cNvSpPr>
            <p:nvPr/>
          </p:nvSpPr>
          <p:spPr bwMode="auto">
            <a:xfrm flipV="1">
              <a:off x="5111352" y="2346783"/>
              <a:ext cx="420382" cy="552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0" name="Line 541"/>
            <p:cNvSpPr>
              <a:spLocks noChangeShapeType="1"/>
            </p:cNvSpPr>
            <p:nvPr/>
          </p:nvSpPr>
          <p:spPr bwMode="auto">
            <a:xfrm>
              <a:off x="5111352" y="3144691"/>
              <a:ext cx="420382" cy="14129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1" name="Line 543"/>
            <p:cNvSpPr>
              <a:spLocks noChangeShapeType="1"/>
            </p:cNvSpPr>
            <p:nvPr/>
          </p:nvSpPr>
          <p:spPr bwMode="auto">
            <a:xfrm flipV="1">
              <a:off x="5111352" y="2591980"/>
              <a:ext cx="420382" cy="86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2" name="Line 544"/>
            <p:cNvSpPr>
              <a:spLocks noChangeShapeType="1"/>
            </p:cNvSpPr>
            <p:nvPr/>
          </p:nvSpPr>
          <p:spPr bwMode="auto">
            <a:xfrm>
              <a:off x="5111352" y="3697402"/>
              <a:ext cx="420382" cy="11067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3" name="Line 545"/>
            <p:cNvSpPr>
              <a:spLocks noChangeShapeType="1"/>
            </p:cNvSpPr>
            <p:nvPr/>
          </p:nvSpPr>
          <p:spPr bwMode="auto">
            <a:xfrm flipV="1">
              <a:off x="5111352" y="2899494"/>
              <a:ext cx="420382" cy="1105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4" name="Line 546"/>
            <p:cNvSpPr>
              <a:spLocks noChangeShapeType="1"/>
            </p:cNvSpPr>
            <p:nvPr/>
          </p:nvSpPr>
          <p:spPr bwMode="auto">
            <a:xfrm>
              <a:off x="5111352" y="4251468"/>
              <a:ext cx="420382" cy="860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5" name="Line 547"/>
            <p:cNvSpPr>
              <a:spLocks noChangeShapeType="1"/>
            </p:cNvSpPr>
            <p:nvPr/>
          </p:nvSpPr>
          <p:spPr bwMode="auto">
            <a:xfrm flipV="1">
              <a:off x="5111352" y="3144691"/>
              <a:ext cx="420382" cy="14129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6" name="Line 548"/>
            <p:cNvSpPr>
              <a:spLocks noChangeShapeType="1"/>
            </p:cNvSpPr>
            <p:nvPr/>
          </p:nvSpPr>
          <p:spPr bwMode="auto">
            <a:xfrm>
              <a:off x="5111352" y="4804179"/>
              <a:ext cx="420382" cy="552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7" name="Line 549"/>
            <p:cNvSpPr>
              <a:spLocks noChangeShapeType="1"/>
            </p:cNvSpPr>
            <p:nvPr/>
          </p:nvSpPr>
          <p:spPr bwMode="auto">
            <a:xfrm flipV="1">
              <a:off x="5111352" y="3452205"/>
              <a:ext cx="420382" cy="16594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8" name="Line 550"/>
            <p:cNvSpPr>
              <a:spLocks noChangeShapeType="1"/>
            </p:cNvSpPr>
            <p:nvPr/>
          </p:nvSpPr>
          <p:spPr bwMode="auto">
            <a:xfrm>
              <a:off x="5111352" y="5356890"/>
              <a:ext cx="420382" cy="30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9" name="Line 551"/>
            <p:cNvSpPr>
              <a:spLocks noChangeShapeType="1"/>
            </p:cNvSpPr>
            <p:nvPr/>
          </p:nvSpPr>
          <p:spPr bwMode="auto">
            <a:xfrm flipV="1">
              <a:off x="5111352" y="3697402"/>
              <a:ext cx="420382" cy="19670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0" name="Line 553"/>
            <p:cNvSpPr>
              <a:spLocks noChangeShapeType="1"/>
            </p:cNvSpPr>
            <p:nvPr/>
          </p:nvSpPr>
          <p:spPr bwMode="auto">
            <a:xfrm>
              <a:off x="6190068" y="1792716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1" name="Line 554"/>
            <p:cNvSpPr>
              <a:spLocks noChangeShapeType="1"/>
            </p:cNvSpPr>
            <p:nvPr/>
          </p:nvSpPr>
          <p:spPr bwMode="auto">
            <a:xfrm>
              <a:off x="6191390" y="2039269"/>
              <a:ext cx="419059" cy="86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2" name="Line 555"/>
            <p:cNvSpPr>
              <a:spLocks noChangeShapeType="1"/>
            </p:cNvSpPr>
            <p:nvPr/>
          </p:nvSpPr>
          <p:spPr bwMode="auto">
            <a:xfrm flipV="1">
              <a:off x="6191390" y="2039269"/>
              <a:ext cx="419059" cy="307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3" name="Line 556"/>
            <p:cNvSpPr>
              <a:spLocks noChangeShapeType="1"/>
            </p:cNvSpPr>
            <p:nvPr/>
          </p:nvSpPr>
          <p:spPr bwMode="auto">
            <a:xfrm>
              <a:off x="6191390" y="2591980"/>
              <a:ext cx="419059" cy="552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4" name="Line 557"/>
            <p:cNvSpPr>
              <a:spLocks noChangeShapeType="1"/>
            </p:cNvSpPr>
            <p:nvPr/>
          </p:nvSpPr>
          <p:spPr bwMode="auto">
            <a:xfrm flipV="1">
              <a:off x="6191390" y="2346783"/>
              <a:ext cx="419059" cy="552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5" name="Line 558"/>
            <p:cNvSpPr>
              <a:spLocks noChangeShapeType="1"/>
            </p:cNvSpPr>
            <p:nvPr/>
          </p:nvSpPr>
          <p:spPr bwMode="auto">
            <a:xfrm>
              <a:off x="6191390" y="3144691"/>
              <a:ext cx="419059" cy="307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6" name="Line 559"/>
            <p:cNvSpPr>
              <a:spLocks noChangeShapeType="1"/>
            </p:cNvSpPr>
            <p:nvPr/>
          </p:nvSpPr>
          <p:spPr bwMode="auto">
            <a:xfrm flipV="1">
              <a:off x="6191390" y="2591980"/>
              <a:ext cx="419059" cy="86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7" name="Line 560"/>
            <p:cNvSpPr>
              <a:spLocks noChangeShapeType="1"/>
            </p:cNvSpPr>
            <p:nvPr/>
          </p:nvSpPr>
          <p:spPr bwMode="auto">
            <a:xfrm>
              <a:off x="6191390" y="3697402"/>
              <a:ext cx="4190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8" name="Line 563"/>
            <p:cNvSpPr>
              <a:spLocks noChangeShapeType="1"/>
            </p:cNvSpPr>
            <p:nvPr/>
          </p:nvSpPr>
          <p:spPr bwMode="auto">
            <a:xfrm>
              <a:off x="6190068" y="4004916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9" name="Line 564"/>
            <p:cNvSpPr>
              <a:spLocks noChangeShapeType="1"/>
            </p:cNvSpPr>
            <p:nvPr/>
          </p:nvSpPr>
          <p:spPr bwMode="auto">
            <a:xfrm>
              <a:off x="6191390" y="4251468"/>
              <a:ext cx="419059" cy="860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0" name="Line 565"/>
            <p:cNvSpPr>
              <a:spLocks noChangeShapeType="1"/>
            </p:cNvSpPr>
            <p:nvPr/>
          </p:nvSpPr>
          <p:spPr bwMode="auto">
            <a:xfrm flipV="1">
              <a:off x="6191390" y="4251468"/>
              <a:ext cx="419059" cy="30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1" name="Line 566"/>
            <p:cNvSpPr>
              <a:spLocks noChangeShapeType="1"/>
            </p:cNvSpPr>
            <p:nvPr/>
          </p:nvSpPr>
          <p:spPr bwMode="auto">
            <a:xfrm>
              <a:off x="6191390" y="4804179"/>
              <a:ext cx="419059" cy="552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2" name="Line 567"/>
            <p:cNvSpPr>
              <a:spLocks noChangeShapeType="1"/>
            </p:cNvSpPr>
            <p:nvPr/>
          </p:nvSpPr>
          <p:spPr bwMode="auto">
            <a:xfrm flipV="1">
              <a:off x="6191390" y="4558981"/>
              <a:ext cx="419059" cy="552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3" name="Line 568"/>
            <p:cNvSpPr>
              <a:spLocks noChangeShapeType="1"/>
            </p:cNvSpPr>
            <p:nvPr/>
          </p:nvSpPr>
          <p:spPr bwMode="auto">
            <a:xfrm>
              <a:off x="6191390" y="5356890"/>
              <a:ext cx="419059" cy="30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4" name="Line 569"/>
            <p:cNvSpPr>
              <a:spLocks noChangeShapeType="1"/>
            </p:cNvSpPr>
            <p:nvPr/>
          </p:nvSpPr>
          <p:spPr bwMode="auto">
            <a:xfrm flipV="1">
              <a:off x="6191390" y="4804179"/>
              <a:ext cx="419059" cy="860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5" name="Line 570"/>
            <p:cNvSpPr>
              <a:spLocks noChangeShapeType="1"/>
            </p:cNvSpPr>
            <p:nvPr/>
          </p:nvSpPr>
          <p:spPr bwMode="auto">
            <a:xfrm>
              <a:off x="6191390" y="5909601"/>
              <a:ext cx="4190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6" name="Rectangle 571"/>
            <p:cNvSpPr>
              <a:spLocks noChangeArrowheads="1"/>
            </p:cNvSpPr>
            <p:nvPr/>
          </p:nvSpPr>
          <p:spPr bwMode="auto">
            <a:xfrm>
              <a:off x="6790236" y="1731756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7" name="Rectangle 572"/>
            <p:cNvSpPr>
              <a:spLocks noChangeArrowheads="1"/>
            </p:cNvSpPr>
            <p:nvPr/>
          </p:nvSpPr>
          <p:spPr bwMode="auto">
            <a:xfrm>
              <a:off x="6790236" y="2284467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8" name="Rectangle 573"/>
            <p:cNvSpPr>
              <a:spLocks noChangeArrowheads="1"/>
            </p:cNvSpPr>
            <p:nvPr/>
          </p:nvSpPr>
          <p:spPr bwMode="auto">
            <a:xfrm>
              <a:off x="6790236" y="2837178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9" name="Rectangle 574"/>
            <p:cNvSpPr>
              <a:spLocks noChangeArrowheads="1"/>
            </p:cNvSpPr>
            <p:nvPr/>
          </p:nvSpPr>
          <p:spPr bwMode="auto">
            <a:xfrm>
              <a:off x="6790236" y="3391243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10" name="Rectangle 575"/>
            <p:cNvSpPr>
              <a:spLocks noChangeArrowheads="1"/>
            </p:cNvSpPr>
            <p:nvPr/>
          </p:nvSpPr>
          <p:spPr bwMode="auto">
            <a:xfrm>
              <a:off x="6790236" y="3943954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11" name="Rectangle 576"/>
            <p:cNvSpPr>
              <a:spLocks noChangeArrowheads="1"/>
            </p:cNvSpPr>
            <p:nvPr/>
          </p:nvSpPr>
          <p:spPr bwMode="auto">
            <a:xfrm>
              <a:off x="6790236" y="4496666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12" name="Rectangle 577"/>
            <p:cNvSpPr>
              <a:spLocks noChangeArrowheads="1"/>
            </p:cNvSpPr>
            <p:nvPr/>
          </p:nvSpPr>
          <p:spPr bwMode="auto">
            <a:xfrm>
              <a:off x="6790236" y="5049377"/>
              <a:ext cx="300084" cy="4294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13" name="Rectangle 578"/>
            <p:cNvSpPr>
              <a:spLocks noChangeArrowheads="1"/>
            </p:cNvSpPr>
            <p:nvPr/>
          </p:nvSpPr>
          <p:spPr bwMode="auto">
            <a:xfrm>
              <a:off x="6790236" y="5603443"/>
              <a:ext cx="300084" cy="42943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14" name="Line 579"/>
            <p:cNvSpPr>
              <a:spLocks noChangeShapeType="1"/>
            </p:cNvSpPr>
            <p:nvPr/>
          </p:nvSpPr>
          <p:spPr bwMode="auto">
            <a:xfrm>
              <a:off x="6610450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5" name="Line 580"/>
            <p:cNvSpPr>
              <a:spLocks noChangeShapeType="1"/>
            </p:cNvSpPr>
            <p:nvPr/>
          </p:nvSpPr>
          <p:spPr bwMode="auto">
            <a:xfrm>
              <a:off x="6610450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6" name="Line 581"/>
            <p:cNvSpPr>
              <a:spLocks noChangeShapeType="1"/>
            </p:cNvSpPr>
            <p:nvPr/>
          </p:nvSpPr>
          <p:spPr bwMode="auto">
            <a:xfrm>
              <a:off x="6610450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7" name="Line 582"/>
            <p:cNvSpPr>
              <a:spLocks noChangeShapeType="1"/>
            </p:cNvSpPr>
            <p:nvPr/>
          </p:nvSpPr>
          <p:spPr bwMode="auto">
            <a:xfrm>
              <a:off x="6610450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8" name="Line 583"/>
            <p:cNvSpPr>
              <a:spLocks noChangeShapeType="1"/>
            </p:cNvSpPr>
            <p:nvPr/>
          </p:nvSpPr>
          <p:spPr bwMode="auto">
            <a:xfrm>
              <a:off x="6610450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9" name="Line 584"/>
            <p:cNvSpPr>
              <a:spLocks noChangeShapeType="1"/>
            </p:cNvSpPr>
            <p:nvPr/>
          </p:nvSpPr>
          <p:spPr bwMode="auto">
            <a:xfrm>
              <a:off x="6610450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0" name="Line 585"/>
            <p:cNvSpPr>
              <a:spLocks noChangeShapeType="1"/>
            </p:cNvSpPr>
            <p:nvPr/>
          </p:nvSpPr>
          <p:spPr bwMode="auto">
            <a:xfrm>
              <a:off x="6610450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1" name="Line 586"/>
            <p:cNvSpPr>
              <a:spLocks noChangeShapeType="1"/>
            </p:cNvSpPr>
            <p:nvPr/>
          </p:nvSpPr>
          <p:spPr bwMode="auto">
            <a:xfrm>
              <a:off x="6610450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2" name="Line 587"/>
            <p:cNvSpPr>
              <a:spLocks noChangeShapeType="1"/>
            </p:cNvSpPr>
            <p:nvPr/>
          </p:nvSpPr>
          <p:spPr bwMode="auto">
            <a:xfrm>
              <a:off x="6610450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3" name="Line 588"/>
            <p:cNvSpPr>
              <a:spLocks noChangeShapeType="1"/>
            </p:cNvSpPr>
            <p:nvPr/>
          </p:nvSpPr>
          <p:spPr bwMode="auto">
            <a:xfrm>
              <a:off x="6610450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4" name="Line 589"/>
            <p:cNvSpPr>
              <a:spLocks noChangeShapeType="1"/>
            </p:cNvSpPr>
            <p:nvPr/>
          </p:nvSpPr>
          <p:spPr bwMode="auto">
            <a:xfrm>
              <a:off x="6610450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5" name="Line 590"/>
            <p:cNvSpPr>
              <a:spLocks noChangeShapeType="1"/>
            </p:cNvSpPr>
            <p:nvPr/>
          </p:nvSpPr>
          <p:spPr bwMode="auto">
            <a:xfrm>
              <a:off x="6610450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6" name="Line 591"/>
            <p:cNvSpPr>
              <a:spLocks noChangeShapeType="1"/>
            </p:cNvSpPr>
            <p:nvPr/>
          </p:nvSpPr>
          <p:spPr bwMode="auto">
            <a:xfrm>
              <a:off x="6610450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7" name="Line 592"/>
            <p:cNvSpPr>
              <a:spLocks noChangeShapeType="1"/>
            </p:cNvSpPr>
            <p:nvPr/>
          </p:nvSpPr>
          <p:spPr bwMode="auto">
            <a:xfrm>
              <a:off x="6610450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8" name="Line 593"/>
            <p:cNvSpPr>
              <a:spLocks noChangeShapeType="1"/>
            </p:cNvSpPr>
            <p:nvPr/>
          </p:nvSpPr>
          <p:spPr bwMode="auto">
            <a:xfrm>
              <a:off x="6610450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9" name="Line 594"/>
            <p:cNvSpPr>
              <a:spLocks noChangeShapeType="1"/>
            </p:cNvSpPr>
            <p:nvPr/>
          </p:nvSpPr>
          <p:spPr bwMode="auto">
            <a:xfrm>
              <a:off x="6610450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0" name="Line 595"/>
            <p:cNvSpPr>
              <a:spLocks noChangeShapeType="1"/>
            </p:cNvSpPr>
            <p:nvPr/>
          </p:nvSpPr>
          <p:spPr bwMode="auto">
            <a:xfrm>
              <a:off x="7090320" y="17927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1" name="Line 596"/>
            <p:cNvSpPr>
              <a:spLocks noChangeShapeType="1"/>
            </p:cNvSpPr>
            <p:nvPr/>
          </p:nvSpPr>
          <p:spPr bwMode="auto">
            <a:xfrm>
              <a:off x="7090320" y="203791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2" name="Line 597"/>
            <p:cNvSpPr>
              <a:spLocks noChangeShapeType="1"/>
            </p:cNvSpPr>
            <p:nvPr/>
          </p:nvSpPr>
          <p:spPr bwMode="auto">
            <a:xfrm>
              <a:off x="7090320" y="23454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3" name="Line 598"/>
            <p:cNvSpPr>
              <a:spLocks noChangeShapeType="1"/>
            </p:cNvSpPr>
            <p:nvPr/>
          </p:nvSpPr>
          <p:spPr bwMode="auto">
            <a:xfrm>
              <a:off x="7090320" y="259198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4" name="Line 599"/>
            <p:cNvSpPr>
              <a:spLocks noChangeShapeType="1"/>
            </p:cNvSpPr>
            <p:nvPr/>
          </p:nvSpPr>
          <p:spPr bwMode="auto">
            <a:xfrm>
              <a:off x="7090320" y="28981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5" name="Line 600"/>
            <p:cNvSpPr>
              <a:spLocks noChangeShapeType="1"/>
            </p:cNvSpPr>
            <p:nvPr/>
          </p:nvSpPr>
          <p:spPr bwMode="auto">
            <a:xfrm>
              <a:off x="7090320" y="314469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6" name="Line 601"/>
            <p:cNvSpPr>
              <a:spLocks noChangeShapeType="1"/>
            </p:cNvSpPr>
            <p:nvPr/>
          </p:nvSpPr>
          <p:spPr bwMode="auto">
            <a:xfrm>
              <a:off x="7090320" y="3452205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7" name="Line 602"/>
            <p:cNvSpPr>
              <a:spLocks noChangeShapeType="1"/>
            </p:cNvSpPr>
            <p:nvPr/>
          </p:nvSpPr>
          <p:spPr bwMode="auto">
            <a:xfrm>
              <a:off x="7090320" y="3697402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8" name="Line 603"/>
            <p:cNvSpPr>
              <a:spLocks noChangeShapeType="1"/>
            </p:cNvSpPr>
            <p:nvPr/>
          </p:nvSpPr>
          <p:spPr bwMode="auto">
            <a:xfrm>
              <a:off x="7090320" y="4004916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9" name="Line 604"/>
            <p:cNvSpPr>
              <a:spLocks noChangeShapeType="1"/>
            </p:cNvSpPr>
            <p:nvPr/>
          </p:nvSpPr>
          <p:spPr bwMode="auto">
            <a:xfrm>
              <a:off x="7090320" y="425011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0" name="Line 605"/>
            <p:cNvSpPr>
              <a:spLocks noChangeShapeType="1"/>
            </p:cNvSpPr>
            <p:nvPr/>
          </p:nvSpPr>
          <p:spPr bwMode="auto">
            <a:xfrm>
              <a:off x="7090320" y="4557627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1" name="Line 606"/>
            <p:cNvSpPr>
              <a:spLocks noChangeShapeType="1"/>
            </p:cNvSpPr>
            <p:nvPr/>
          </p:nvSpPr>
          <p:spPr bwMode="auto">
            <a:xfrm>
              <a:off x="7090320" y="4804179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2" name="Line 607"/>
            <p:cNvSpPr>
              <a:spLocks noChangeShapeType="1"/>
            </p:cNvSpPr>
            <p:nvPr/>
          </p:nvSpPr>
          <p:spPr bwMode="auto">
            <a:xfrm>
              <a:off x="7090320" y="5110338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3" name="Line 608"/>
            <p:cNvSpPr>
              <a:spLocks noChangeShapeType="1"/>
            </p:cNvSpPr>
            <p:nvPr/>
          </p:nvSpPr>
          <p:spPr bwMode="auto">
            <a:xfrm>
              <a:off x="7090320" y="5356890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4" name="Line 609"/>
            <p:cNvSpPr>
              <a:spLocks noChangeShapeType="1"/>
            </p:cNvSpPr>
            <p:nvPr/>
          </p:nvSpPr>
          <p:spPr bwMode="auto">
            <a:xfrm>
              <a:off x="7090320" y="5664403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5" name="Line 610"/>
            <p:cNvSpPr>
              <a:spLocks noChangeShapeType="1"/>
            </p:cNvSpPr>
            <p:nvPr/>
          </p:nvSpPr>
          <p:spPr bwMode="auto">
            <a:xfrm>
              <a:off x="7090320" y="5909601"/>
              <a:ext cx="1797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6" name="Line 611"/>
            <p:cNvSpPr>
              <a:spLocks noChangeShapeType="1"/>
            </p:cNvSpPr>
            <p:nvPr/>
          </p:nvSpPr>
          <p:spPr bwMode="auto">
            <a:xfrm>
              <a:off x="7270106" y="1792716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7" name="Line 612"/>
            <p:cNvSpPr>
              <a:spLocks noChangeShapeType="1"/>
            </p:cNvSpPr>
            <p:nvPr/>
          </p:nvSpPr>
          <p:spPr bwMode="auto">
            <a:xfrm>
              <a:off x="7270106" y="2039269"/>
              <a:ext cx="420382" cy="307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8" name="Line 613"/>
            <p:cNvSpPr>
              <a:spLocks noChangeShapeType="1"/>
            </p:cNvSpPr>
            <p:nvPr/>
          </p:nvSpPr>
          <p:spPr bwMode="auto">
            <a:xfrm flipV="1">
              <a:off x="7270106" y="2039269"/>
              <a:ext cx="420382" cy="307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9" name="Line 614"/>
            <p:cNvSpPr>
              <a:spLocks noChangeShapeType="1"/>
            </p:cNvSpPr>
            <p:nvPr/>
          </p:nvSpPr>
          <p:spPr bwMode="auto">
            <a:xfrm>
              <a:off x="7270106" y="2591980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0" name="Line 615"/>
            <p:cNvSpPr>
              <a:spLocks noChangeShapeType="1"/>
            </p:cNvSpPr>
            <p:nvPr/>
          </p:nvSpPr>
          <p:spPr bwMode="auto">
            <a:xfrm>
              <a:off x="7270106" y="2898138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1" name="Line 616"/>
            <p:cNvSpPr>
              <a:spLocks noChangeShapeType="1"/>
            </p:cNvSpPr>
            <p:nvPr/>
          </p:nvSpPr>
          <p:spPr bwMode="auto">
            <a:xfrm>
              <a:off x="7270106" y="3144691"/>
              <a:ext cx="420382" cy="307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2" name="Line 617"/>
            <p:cNvSpPr>
              <a:spLocks noChangeShapeType="1"/>
            </p:cNvSpPr>
            <p:nvPr/>
          </p:nvSpPr>
          <p:spPr bwMode="auto">
            <a:xfrm flipV="1">
              <a:off x="7270106" y="3144691"/>
              <a:ext cx="420382" cy="307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3" name="Line 618"/>
            <p:cNvSpPr>
              <a:spLocks noChangeShapeType="1"/>
            </p:cNvSpPr>
            <p:nvPr/>
          </p:nvSpPr>
          <p:spPr bwMode="auto">
            <a:xfrm>
              <a:off x="7270106" y="3697402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4" name="Line 619"/>
            <p:cNvSpPr>
              <a:spLocks noChangeShapeType="1"/>
            </p:cNvSpPr>
            <p:nvPr/>
          </p:nvSpPr>
          <p:spPr bwMode="auto">
            <a:xfrm>
              <a:off x="7270106" y="4004916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5" name="Line 620"/>
            <p:cNvSpPr>
              <a:spLocks noChangeShapeType="1"/>
            </p:cNvSpPr>
            <p:nvPr/>
          </p:nvSpPr>
          <p:spPr bwMode="auto">
            <a:xfrm>
              <a:off x="7270106" y="4251468"/>
              <a:ext cx="420382" cy="30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6" name="Line 621"/>
            <p:cNvSpPr>
              <a:spLocks noChangeShapeType="1"/>
            </p:cNvSpPr>
            <p:nvPr/>
          </p:nvSpPr>
          <p:spPr bwMode="auto">
            <a:xfrm flipV="1">
              <a:off x="7270106" y="4251468"/>
              <a:ext cx="420382" cy="30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7" name="Line 622"/>
            <p:cNvSpPr>
              <a:spLocks noChangeShapeType="1"/>
            </p:cNvSpPr>
            <p:nvPr/>
          </p:nvSpPr>
          <p:spPr bwMode="auto">
            <a:xfrm>
              <a:off x="7270106" y="4804179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8" name="Line 623"/>
            <p:cNvSpPr>
              <a:spLocks noChangeShapeType="1"/>
            </p:cNvSpPr>
            <p:nvPr/>
          </p:nvSpPr>
          <p:spPr bwMode="auto">
            <a:xfrm>
              <a:off x="7270106" y="5110338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9" name="Line 624"/>
            <p:cNvSpPr>
              <a:spLocks noChangeShapeType="1"/>
            </p:cNvSpPr>
            <p:nvPr/>
          </p:nvSpPr>
          <p:spPr bwMode="auto">
            <a:xfrm>
              <a:off x="7270106" y="5356890"/>
              <a:ext cx="420382" cy="30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0" name="Line 625"/>
            <p:cNvSpPr>
              <a:spLocks noChangeShapeType="1"/>
            </p:cNvSpPr>
            <p:nvPr/>
          </p:nvSpPr>
          <p:spPr bwMode="auto">
            <a:xfrm flipV="1">
              <a:off x="7270106" y="5356890"/>
              <a:ext cx="420382" cy="307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1" name="Line 626"/>
            <p:cNvSpPr>
              <a:spLocks noChangeShapeType="1"/>
            </p:cNvSpPr>
            <p:nvPr/>
          </p:nvSpPr>
          <p:spPr bwMode="auto">
            <a:xfrm>
              <a:off x="7270106" y="5909601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2" name="Line 628"/>
            <p:cNvSpPr>
              <a:spLocks noChangeShapeType="1"/>
            </p:cNvSpPr>
            <p:nvPr/>
          </p:nvSpPr>
          <p:spPr bwMode="auto">
            <a:xfrm>
              <a:off x="5123250" y="5909601"/>
              <a:ext cx="4203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788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Butterfly MIN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737320"/>
            <a:ext cx="2463320" cy="4572000"/>
          </a:xfrm>
        </p:spPr>
        <p:txBody>
          <a:bodyPr/>
          <a:lstStyle/>
          <a:p>
            <a:r>
              <a:rPr lang="en-US" altLang="zh-TW" dirty="0" smtClean="0"/>
              <a:t>2</a:t>
            </a:r>
            <a:r>
              <a:rPr lang="en-US" altLang="zh-TW" baseline="30000" dirty="0" smtClean="0"/>
              <a:t>nd</a:t>
            </a:r>
            <a:r>
              <a:rPr lang="en-US" altLang="zh-TW" dirty="0" smtClean="0"/>
              <a:t> stage 2 x 2 cross over</a:t>
            </a:r>
          </a:p>
          <a:p>
            <a:r>
              <a:rPr lang="en-US" altLang="zh-TW" dirty="0" smtClean="0"/>
              <a:t>3</a:t>
            </a:r>
            <a:r>
              <a:rPr lang="en-US" altLang="zh-TW" baseline="30000" dirty="0" smtClean="0"/>
              <a:t>rd</a:t>
            </a:r>
            <a:r>
              <a:rPr lang="en-US" altLang="zh-TW" dirty="0" smtClean="0"/>
              <a:t> stage 4 x 4 cross over</a:t>
            </a:r>
          </a:p>
          <a:p>
            <a:r>
              <a:rPr lang="en-US" altLang="zh-TW" dirty="0" smtClean="0"/>
              <a:t>….</a:t>
            </a:r>
            <a:endParaRPr lang="zh-TW" altLang="en-US" dirty="0"/>
          </a:p>
        </p:txBody>
      </p:sp>
      <p:sp>
        <p:nvSpPr>
          <p:cNvPr id="109" name="Text Box 108"/>
          <p:cNvSpPr txBox="1">
            <a:spLocks noChangeArrowheads="1"/>
          </p:cNvSpPr>
          <p:nvPr/>
        </p:nvSpPr>
        <p:spPr bwMode="auto">
          <a:xfrm>
            <a:off x="4776648" y="6303385"/>
            <a:ext cx="3395752" cy="293967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9973" tIns="44986" rIns="89973" bIns="44986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013" indent="-214313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217488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/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16 port, </a:t>
            </a:r>
            <a:r>
              <a:rPr lang="en-GB" altLang="zh-TW" sz="1800" i="1" dirty="0">
                <a:solidFill>
                  <a:schemeClr val="tx1"/>
                </a:solidFill>
                <a:ea typeface="新細明體" panose="02020500000000000000" pitchFamily="18" charset="-120"/>
              </a:rPr>
              <a:t>4 stage </a:t>
            </a:r>
            <a:r>
              <a:rPr lang="en-GB" altLang="zh-TW" sz="1800" b="1" i="1" dirty="0">
                <a:solidFill>
                  <a:schemeClr val="accent2"/>
                </a:solidFill>
                <a:ea typeface="新細明體" panose="02020500000000000000" pitchFamily="18" charset="-120"/>
              </a:rPr>
              <a:t>Butterfly </a:t>
            </a:r>
            <a:r>
              <a:rPr lang="en-GB" altLang="zh-TW" sz="1800" i="1" dirty="0">
                <a:solidFill>
                  <a:schemeClr val="tx1"/>
                </a:solidFill>
                <a:ea typeface="新細明體" panose="02020500000000000000" pitchFamily="18" charset="-120"/>
              </a:rPr>
              <a:t>network</a:t>
            </a:r>
          </a:p>
        </p:txBody>
      </p:sp>
      <p:pic>
        <p:nvPicPr>
          <p:cNvPr id="278" name="圖片 2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556792"/>
            <a:ext cx="4320479" cy="451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26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Cube MIN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65312"/>
            <a:ext cx="3816424" cy="4572000"/>
          </a:xfrm>
        </p:spPr>
        <p:txBody>
          <a:bodyPr/>
          <a:lstStyle/>
          <a:p>
            <a:r>
              <a:rPr lang="en-US" altLang="zh-TW" dirty="0" smtClean="0"/>
              <a:t>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stage perfect shuffle</a:t>
            </a:r>
          </a:p>
          <a:p>
            <a:r>
              <a:rPr lang="en-US" altLang="zh-TW" dirty="0" smtClean="0"/>
              <a:t>2</a:t>
            </a:r>
            <a:r>
              <a:rPr lang="en-US" altLang="zh-TW" baseline="30000" dirty="0" smtClean="0"/>
              <a:t>nd</a:t>
            </a:r>
            <a:r>
              <a:rPr lang="en-US" altLang="zh-TW" dirty="0" smtClean="0"/>
              <a:t> stage N x N cross over</a:t>
            </a:r>
          </a:p>
          <a:p>
            <a:r>
              <a:rPr lang="en-US" altLang="zh-TW" dirty="0" smtClean="0"/>
              <a:t>3</a:t>
            </a:r>
            <a:r>
              <a:rPr lang="en-US" altLang="zh-TW" baseline="30000" dirty="0" smtClean="0"/>
              <a:t>rd</a:t>
            </a:r>
            <a:r>
              <a:rPr lang="en-US" altLang="zh-TW" dirty="0" smtClean="0"/>
              <a:t> stage N/2 x N/2 cross over</a:t>
            </a:r>
          </a:p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109" name="Text Box 108"/>
          <p:cNvSpPr txBox="1">
            <a:spLocks noChangeArrowheads="1"/>
          </p:cNvSpPr>
          <p:nvPr/>
        </p:nvSpPr>
        <p:spPr bwMode="auto">
          <a:xfrm>
            <a:off x="4776342" y="6392883"/>
            <a:ext cx="3396058" cy="34848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9973" tIns="44986" rIns="89973" bIns="44986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013" indent="-214313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217488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/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16 port, </a:t>
            </a:r>
            <a:r>
              <a:rPr lang="en-GB" altLang="zh-TW" sz="1800" i="1" dirty="0">
                <a:solidFill>
                  <a:schemeClr val="tx1"/>
                </a:solidFill>
                <a:ea typeface="新細明體" panose="02020500000000000000" pitchFamily="18" charset="-120"/>
              </a:rPr>
              <a:t>4 stage </a:t>
            </a:r>
            <a:r>
              <a:rPr lang="en-GB" altLang="zh-TW" sz="1800" b="1" i="1" dirty="0">
                <a:solidFill>
                  <a:schemeClr val="accent2"/>
                </a:solidFill>
                <a:ea typeface="新細明體" panose="02020500000000000000" pitchFamily="18" charset="-120"/>
              </a:rPr>
              <a:t>Cube </a:t>
            </a:r>
            <a:r>
              <a:rPr lang="en-GB" altLang="zh-TW" sz="1800" i="1" dirty="0">
                <a:solidFill>
                  <a:schemeClr val="tx1"/>
                </a:solidFill>
                <a:ea typeface="新細明體" panose="02020500000000000000" pitchFamily="18" charset="-120"/>
              </a:rPr>
              <a:t>network</a:t>
            </a:r>
          </a:p>
        </p:txBody>
      </p:sp>
      <p:pic>
        <p:nvPicPr>
          <p:cNvPr id="279" name="圖片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600428"/>
            <a:ext cx="4464496" cy="474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95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44771"/>
            <a:ext cx="7772400" cy="923989"/>
          </a:xfrm>
        </p:spPr>
        <p:txBody>
          <a:bodyPr/>
          <a:lstStyle/>
          <a:p>
            <a:pPr algn="ctr"/>
            <a:r>
              <a:rPr lang="en-US" altLang="zh-TW" dirty="0" smtClean="0"/>
              <a:t>Blocking vs Non-blocking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447800"/>
            <a:ext cx="8003232" cy="1683963"/>
          </a:xfrm>
        </p:spPr>
        <p:txBody>
          <a:bodyPr/>
          <a:lstStyle/>
          <a:p>
            <a:r>
              <a:rPr lang="en-US" altLang="zh-TW" dirty="0" smtClean="0"/>
              <a:t>In general, MINs have </a:t>
            </a:r>
            <a:r>
              <a:rPr lang="en-US" altLang="zh-TW" dirty="0"/>
              <a:t>the property of being </a:t>
            </a:r>
            <a:r>
              <a:rPr lang="en-US" altLang="zh-TW" dirty="0" smtClean="0"/>
              <a:t>blocking.</a:t>
            </a:r>
            <a:endParaRPr lang="en-US" altLang="zh-TW" dirty="0"/>
          </a:p>
          <a:p>
            <a:pPr lvl="1"/>
            <a:r>
              <a:rPr lang="en-US" altLang="zh-TW" dirty="0"/>
              <a:t>Contention </a:t>
            </a:r>
            <a:r>
              <a:rPr lang="en-US" altLang="zh-TW" dirty="0" smtClean="0"/>
              <a:t>may occur </a:t>
            </a:r>
            <a:r>
              <a:rPr lang="en-US" altLang="zh-TW" dirty="0"/>
              <a:t>on network </a:t>
            </a:r>
            <a:r>
              <a:rPr lang="en-US" altLang="zh-TW" dirty="0" smtClean="0"/>
              <a:t>links or switches.</a:t>
            </a:r>
            <a:endParaRPr lang="en-US" altLang="zh-TW" dirty="0"/>
          </a:p>
          <a:p>
            <a:pPr lvl="1"/>
            <a:r>
              <a:rPr lang="en-US" altLang="zh-TW" dirty="0"/>
              <a:t>Paths from different sources to different destinations </a:t>
            </a:r>
            <a:r>
              <a:rPr lang="en-US" altLang="zh-TW" dirty="0" smtClean="0"/>
              <a:t>may share the same link or the same switch.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7" name="Rectangle 538"/>
          <p:cNvSpPr>
            <a:spLocks noChangeArrowheads="1"/>
          </p:cNvSpPr>
          <p:nvPr/>
        </p:nvSpPr>
        <p:spPr bwMode="auto">
          <a:xfrm>
            <a:off x="1008720" y="3704254"/>
            <a:ext cx="2699184" cy="2465472"/>
          </a:xfrm>
          <a:prstGeom prst="rect">
            <a:avLst/>
          </a:prstGeom>
          <a:solidFill>
            <a:srgbClr val="C0C0C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TW" altLang="en-US"/>
          </a:p>
        </p:txBody>
      </p:sp>
      <p:grpSp>
        <p:nvGrpSpPr>
          <p:cNvPr id="58" name="Group 607"/>
          <p:cNvGrpSpPr>
            <a:grpSpLocks/>
          </p:cNvGrpSpPr>
          <p:nvPr/>
        </p:nvGrpSpPr>
        <p:grpSpPr bwMode="auto">
          <a:xfrm>
            <a:off x="1142711" y="3768328"/>
            <a:ext cx="2496708" cy="2337323"/>
            <a:chOff x="862" y="2517"/>
            <a:chExt cx="1677" cy="1678"/>
          </a:xfrm>
        </p:grpSpPr>
        <p:grpSp>
          <p:nvGrpSpPr>
            <p:cNvPr id="225" name="Group 555"/>
            <p:cNvGrpSpPr>
              <a:grpSpLocks/>
            </p:cNvGrpSpPr>
            <p:nvPr/>
          </p:nvGrpSpPr>
          <p:grpSpPr bwMode="auto">
            <a:xfrm>
              <a:off x="862" y="3424"/>
              <a:ext cx="770" cy="771"/>
              <a:chOff x="862" y="3424"/>
              <a:chExt cx="770" cy="771"/>
            </a:xfrm>
          </p:grpSpPr>
          <p:sp>
            <p:nvSpPr>
              <p:cNvPr id="277" name="Oval 539"/>
              <p:cNvSpPr>
                <a:spLocks noChangeArrowheads="1"/>
              </p:cNvSpPr>
              <p:nvPr/>
            </p:nvSpPr>
            <p:spPr bwMode="auto">
              <a:xfrm>
                <a:off x="86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8" name="Oval 540"/>
              <p:cNvSpPr>
                <a:spLocks noChangeArrowheads="1"/>
              </p:cNvSpPr>
              <p:nvPr/>
            </p:nvSpPr>
            <p:spPr bwMode="auto">
              <a:xfrm>
                <a:off x="86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9" name="Oval 541"/>
              <p:cNvSpPr>
                <a:spLocks noChangeArrowheads="1"/>
              </p:cNvSpPr>
              <p:nvPr/>
            </p:nvSpPr>
            <p:spPr bwMode="auto">
              <a:xfrm>
                <a:off x="1088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0" name="Oval 542"/>
              <p:cNvSpPr>
                <a:spLocks noChangeArrowheads="1"/>
              </p:cNvSpPr>
              <p:nvPr/>
            </p:nvSpPr>
            <p:spPr bwMode="auto">
              <a:xfrm>
                <a:off x="1088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1" name="Oval 543"/>
              <p:cNvSpPr>
                <a:spLocks noChangeArrowheads="1"/>
              </p:cNvSpPr>
              <p:nvPr/>
            </p:nvSpPr>
            <p:spPr bwMode="auto">
              <a:xfrm>
                <a:off x="1316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2" name="Oval 544"/>
              <p:cNvSpPr>
                <a:spLocks noChangeArrowheads="1"/>
              </p:cNvSpPr>
              <p:nvPr/>
            </p:nvSpPr>
            <p:spPr bwMode="auto">
              <a:xfrm>
                <a:off x="1316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3" name="Oval 545"/>
              <p:cNvSpPr>
                <a:spLocks noChangeArrowheads="1"/>
              </p:cNvSpPr>
              <p:nvPr/>
            </p:nvSpPr>
            <p:spPr bwMode="auto">
              <a:xfrm>
                <a:off x="154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4" name="Oval 546"/>
              <p:cNvSpPr>
                <a:spLocks noChangeArrowheads="1"/>
              </p:cNvSpPr>
              <p:nvPr/>
            </p:nvSpPr>
            <p:spPr bwMode="auto">
              <a:xfrm>
                <a:off x="154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5" name="Oval 547"/>
              <p:cNvSpPr>
                <a:spLocks noChangeArrowheads="1"/>
              </p:cNvSpPr>
              <p:nvPr/>
            </p:nvSpPr>
            <p:spPr bwMode="auto">
              <a:xfrm>
                <a:off x="1316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6" name="Oval 548"/>
              <p:cNvSpPr>
                <a:spLocks noChangeArrowheads="1"/>
              </p:cNvSpPr>
              <p:nvPr/>
            </p:nvSpPr>
            <p:spPr bwMode="auto">
              <a:xfrm>
                <a:off x="1316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7" name="Oval 549"/>
              <p:cNvSpPr>
                <a:spLocks noChangeArrowheads="1"/>
              </p:cNvSpPr>
              <p:nvPr/>
            </p:nvSpPr>
            <p:spPr bwMode="auto">
              <a:xfrm>
                <a:off x="154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8" name="Oval 550"/>
              <p:cNvSpPr>
                <a:spLocks noChangeArrowheads="1"/>
              </p:cNvSpPr>
              <p:nvPr/>
            </p:nvSpPr>
            <p:spPr bwMode="auto">
              <a:xfrm>
                <a:off x="154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9" name="Oval 551"/>
              <p:cNvSpPr>
                <a:spLocks noChangeArrowheads="1"/>
              </p:cNvSpPr>
              <p:nvPr/>
            </p:nvSpPr>
            <p:spPr bwMode="auto">
              <a:xfrm>
                <a:off x="86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0" name="Oval 552"/>
              <p:cNvSpPr>
                <a:spLocks noChangeArrowheads="1"/>
              </p:cNvSpPr>
              <p:nvPr/>
            </p:nvSpPr>
            <p:spPr bwMode="auto">
              <a:xfrm>
                <a:off x="86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1" name="Oval 553"/>
              <p:cNvSpPr>
                <a:spLocks noChangeArrowheads="1"/>
              </p:cNvSpPr>
              <p:nvPr/>
            </p:nvSpPr>
            <p:spPr bwMode="auto">
              <a:xfrm>
                <a:off x="1088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2" name="Oval 554"/>
              <p:cNvSpPr>
                <a:spLocks noChangeArrowheads="1"/>
              </p:cNvSpPr>
              <p:nvPr/>
            </p:nvSpPr>
            <p:spPr bwMode="auto">
              <a:xfrm>
                <a:off x="1088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26" name="Group 556"/>
            <p:cNvGrpSpPr>
              <a:grpSpLocks/>
            </p:cNvGrpSpPr>
            <p:nvPr/>
          </p:nvGrpSpPr>
          <p:grpSpPr bwMode="auto">
            <a:xfrm>
              <a:off x="862" y="2517"/>
              <a:ext cx="770" cy="771"/>
              <a:chOff x="862" y="3424"/>
              <a:chExt cx="770" cy="771"/>
            </a:xfrm>
          </p:grpSpPr>
          <p:sp>
            <p:nvSpPr>
              <p:cNvPr id="261" name="Oval 557"/>
              <p:cNvSpPr>
                <a:spLocks noChangeArrowheads="1"/>
              </p:cNvSpPr>
              <p:nvPr/>
            </p:nvSpPr>
            <p:spPr bwMode="auto">
              <a:xfrm>
                <a:off x="86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2" name="Oval 558"/>
              <p:cNvSpPr>
                <a:spLocks noChangeArrowheads="1"/>
              </p:cNvSpPr>
              <p:nvPr/>
            </p:nvSpPr>
            <p:spPr bwMode="auto">
              <a:xfrm>
                <a:off x="86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3" name="Oval 559"/>
              <p:cNvSpPr>
                <a:spLocks noChangeArrowheads="1"/>
              </p:cNvSpPr>
              <p:nvPr/>
            </p:nvSpPr>
            <p:spPr bwMode="auto">
              <a:xfrm>
                <a:off x="1088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4" name="Oval 560"/>
              <p:cNvSpPr>
                <a:spLocks noChangeArrowheads="1"/>
              </p:cNvSpPr>
              <p:nvPr/>
            </p:nvSpPr>
            <p:spPr bwMode="auto">
              <a:xfrm>
                <a:off x="1088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5" name="Oval 561"/>
              <p:cNvSpPr>
                <a:spLocks noChangeArrowheads="1"/>
              </p:cNvSpPr>
              <p:nvPr/>
            </p:nvSpPr>
            <p:spPr bwMode="auto">
              <a:xfrm>
                <a:off x="1316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6" name="Oval 562"/>
              <p:cNvSpPr>
                <a:spLocks noChangeArrowheads="1"/>
              </p:cNvSpPr>
              <p:nvPr/>
            </p:nvSpPr>
            <p:spPr bwMode="auto">
              <a:xfrm>
                <a:off x="1316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7" name="Oval 563"/>
              <p:cNvSpPr>
                <a:spLocks noChangeArrowheads="1"/>
              </p:cNvSpPr>
              <p:nvPr/>
            </p:nvSpPr>
            <p:spPr bwMode="auto">
              <a:xfrm>
                <a:off x="154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8" name="Oval 564"/>
              <p:cNvSpPr>
                <a:spLocks noChangeArrowheads="1"/>
              </p:cNvSpPr>
              <p:nvPr/>
            </p:nvSpPr>
            <p:spPr bwMode="auto">
              <a:xfrm>
                <a:off x="154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9" name="Oval 565"/>
              <p:cNvSpPr>
                <a:spLocks noChangeArrowheads="1"/>
              </p:cNvSpPr>
              <p:nvPr/>
            </p:nvSpPr>
            <p:spPr bwMode="auto">
              <a:xfrm>
                <a:off x="1316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0" name="Oval 566"/>
              <p:cNvSpPr>
                <a:spLocks noChangeArrowheads="1"/>
              </p:cNvSpPr>
              <p:nvPr/>
            </p:nvSpPr>
            <p:spPr bwMode="auto">
              <a:xfrm>
                <a:off x="1316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1" name="Oval 567"/>
              <p:cNvSpPr>
                <a:spLocks noChangeArrowheads="1"/>
              </p:cNvSpPr>
              <p:nvPr/>
            </p:nvSpPr>
            <p:spPr bwMode="auto">
              <a:xfrm>
                <a:off x="154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2" name="Oval 568"/>
              <p:cNvSpPr>
                <a:spLocks noChangeArrowheads="1"/>
              </p:cNvSpPr>
              <p:nvPr/>
            </p:nvSpPr>
            <p:spPr bwMode="auto">
              <a:xfrm>
                <a:off x="154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3" name="Oval 569"/>
              <p:cNvSpPr>
                <a:spLocks noChangeArrowheads="1"/>
              </p:cNvSpPr>
              <p:nvPr/>
            </p:nvSpPr>
            <p:spPr bwMode="auto">
              <a:xfrm>
                <a:off x="86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4" name="Oval 570"/>
              <p:cNvSpPr>
                <a:spLocks noChangeArrowheads="1"/>
              </p:cNvSpPr>
              <p:nvPr/>
            </p:nvSpPr>
            <p:spPr bwMode="auto">
              <a:xfrm>
                <a:off x="86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5" name="Oval 571"/>
              <p:cNvSpPr>
                <a:spLocks noChangeArrowheads="1"/>
              </p:cNvSpPr>
              <p:nvPr/>
            </p:nvSpPr>
            <p:spPr bwMode="auto">
              <a:xfrm>
                <a:off x="1088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76" name="Oval 572"/>
              <p:cNvSpPr>
                <a:spLocks noChangeArrowheads="1"/>
              </p:cNvSpPr>
              <p:nvPr/>
            </p:nvSpPr>
            <p:spPr bwMode="auto">
              <a:xfrm>
                <a:off x="1088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27" name="Group 573"/>
            <p:cNvGrpSpPr>
              <a:grpSpLocks/>
            </p:cNvGrpSpPr>
            <p:nvPr/>
          </p:nvGrpSpPr>
          <p:grpSpPr bwMode="auto">
            <a:xfrm>
              <a:off x="1769" y="3424"/>
              <a:ext cx="770" cy="771"/>
              <a:chOff x="862" y="3424"/>
              <a:chExt cx="770" cy="771"/>
            </a:xfrm>
          </p:grpSpPr>
          <p:sp>
            <p:nvSpPr>
              <p:cNvPr id="245" name="Oval 574"/>
              <p:cNvSpPr>
                <a:spLocks noChangeArrowheads="1"/>
              </p:cNvSpPr>
              <p:nvPr/>
            </p:nvSpPr>
            <p:spPr bwMode="auto">
              <a:xfrm>
                <a:off x="86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6" name="Oval 575"/>
              <p:cNvSpPr>
                <a:spLocks noChangeArrowheads="1"/>
              </p:cNvSpPr>
              <p:nvPr/>
            </p:nvSpPr>
            <p:spPr bwMode="auto">
              <a:xfrm>
                <a:off x="86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7" name="Oval 576"/>
              <p:cNvSpPr>
                <a:spLocks noChangeArrowheads="1"/>
              </p:cNvSpPr>
              <p:nvPr/>
            </p:nvSpPr>
            <p:spPr bwMode="auto">
              <a:xfrm>
                <a:off x="1088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8" name="Oval 577"/>
              <p:cNvSpPr>
                <a:spLocks noChangeArrowheads="1"/>
              </p:cNvSpPr>
              <p:nvPr/>
            </p:nvSpPr>
            <p:spPr bwMode="auto">
              <a:xfrm>
                <a:off x="1088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9" name="Oval 578"/>
              <p:cNvSpPr>
                <a:spLocks noChangeArrowheads="1"/>
              </p:cNvSpPr>
              <p:nvPr/>
            </p:nvSpPr>
            <p:spPr bwMode="auto">
              <a:xfrm>
                <a:off x="1316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0" name="Oval 579"/>
              <p:cNvSpPr>
                <a:spLocks noChangeArrowheads="1"/>
              </p:cNvSpPr>
              <p:nvPr/>
            </p:nvSpPr>
            <p:spPr bwMode="auto">
              <a:xfrm>
                <a:off x="1316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1" name="Oval 580"/>
              <p:cNvSpPr>
                <a:spLocks noChangeArrowheads="1"/>
              </p:cNvSpPr>
              <p:nvPr/>
            </p:nvSpPr>
            <p:spPr bwMode="auto">
              <a:xfrm>
                <a:off x="154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2" name="Oval 581"/>
              <p:cNvSpPr>
                <a:spLocks noChangeArrowheads="1"/>
              </p:cNvSpPr>
              <p:nvPr/>
            </p:nvSpPr>
            <p:spPr bwMode="auto">
              <a:xfrm>
                <a:off x="154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3" name="Oval 582"/>
              <p:cNvSpPr>
                <a:spLocks noChangeArrowheads="1"/>
              </p:cNvSpPr>
              <p:nvPr/>
            </p:nvSpPr>
            <p:spPr bwMode="auto">
              <a:xfrm>
                <a:off x="1316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4" name="Oval 583"/>
              <p:cNvSpPr>
                <a:spLocks noChangeArrowheads="1"/>
              </p:cNvSpPr>
              <p:nvPr/>
            </p:nvSpPr>
            <p:spPr bwMode="auto">
              <a:xfrm>
                <a:off x="1316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5" name="Oval 584"/>
              <p:cNvSpPr>
                <a:spLocks noChangeArrowheads="1"/>
              </p:cNvSpPr>
              <p:nvPr/>
            </p:nvSpPr>
            <p:spPr bwMode="auto">
              <a:xfrm>
                <a:off x="154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6" name="Oval 585"/>
              <p:cNvSpPr>
                <a:spLocks noChangeArrowheads="1"/>
              </p:cNvSpPr>
              <p:nvPr/>
            </p:nvSpPr>
            <p:spPr bwMode="auto">
              <a:xfrm>
                <a:off x="154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7" name="Oval 586"/>
              <p:cNvSpPr>
                <a:spLocks noChangeArrowheads="1"/>
              </p:cNvSpPr>
              <p:nvPr/>
            </p:nvSpPr>
            <p:spPr bwMode="auto">
              <a:xfrm>
                <a:off x="86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8" name="Oval 587"/>
              <p:cNvSpPr>
                <a:spLocks noChangeArrowheads="1"/>
              </p:cNvSpPr>
              <p:nvPr/>
            </p:nvSpPr>
            <p:spPr bwMode="auto">
              <a:xfrm>
                <a:off x="86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59" name="Oval 588"/>
              <p:cNvSpPr>
                <a:spLocks noChangeArrowheads="1"/>
              </p:cNvSpPr>
              <p:nvPr/>
            </p:nvSpPr>
            <p:spPr bwMode="auto">
              <a:xfrm>
                <a:off x="1088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60" name="Oval 589"/>
              <p:cNvSpPr>
                <a:spLocks noChangeArrowheads="1"/>
              </p:cNvSpPr>
              <p:nvPr/>
            </p:nvSpPr>
            <p:spPr bwMode="auto">
              <a:xfrm>
                <a:off x="1088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28" name="Group 590"/>
            <p:cNvGrpSpPr>
              <a:grpSpLocks/>
            </p:cNvGrpSpPr>
            <p:nvPr/>
          </p:nvGrpSpPr>
          <p:grpSpPr bwMode="auto">
            <a:xfrm>
              <a:off x="1769" y="2517"/>
              <a:ext cx="770" cy="771"/>
              <a:chOff x="862" y="3424"/>
              <a:chExt cx="770" cy="771"/>
            </a:xfrm>
          </p:grpSpPr>
          <p:sp>
            <p:nvSpPr>
              <p:cNvPr id="229" name="Oval 591"/>
              <p:cNvSpPr>
                <a:spLocks noChangeArrowheads="1"/>
              </p:cNvSpPr>
              <p:nvPr/>
            </p:nvSpPr>
            <p:spPr bwMode="auto">
              <a:xfrm>
                <a:off x="86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0" name="Oval 592"/>
              <p:cNvSpPr>
                <a:spLocks noChangeArrowheads="1"/>
              </p:cNvSpPr>
              <p:nvPr/>
            </p:nvSpPr>
            <p:spPr bwMode="auto">
              <a:xfrm>
                <a:off x="86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1" name="Oval 593"/>
              <p:cNvSpPr>
                <a:spLocks noChangeArrowheads="1"/>
              </p:cNvSpPr>
              <p:nvPr/>
            </p:nvSpPr>
            <p:spPr bwMode="auto">
              <a:xfrm>
                <a:off x="1088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2" name="Oval 594"/>
              <p:cNvSpPr>
                <a:spLocks noChangeArrowheads="1"/>
              </p:cNvSpPr>
              <p:nvPr/>
            </p:nvSpPr>
            <p:spPr bwMode="auto">
              <a:xfrm>
                <a:off x="1088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3" name="Oval 595"/>
              <p:cNvSpPr>
                <a:spLocks noChangeArrowheads="1"/>
              </p:cNvSpPr>
              <p:nvPr/>
            </p:nvSpPr>
            <p:spPr bwMode="auto">
              <a:xfrm>
                <a:off x="1316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4" name="Oval 596"/>
              <p:cNvSpPr>
                <a:spLocks noChangeArrowheads="1"/>
              </p:cNvSpPr>
              <p:nvPr/>
            </p:nvSpPr>
            <p:spPr bwMode="auto">
              <a:xfrm>
                <a:off x="1316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5" name="Oval 597"/>
              <p:cNvSpPr>
                <a:spLocks noChangeArrowheads="1"/>
              </p:cNvSpPr>
              <p:nvPr/>
            </p:nvSpPr>
            <p:spPr bwMode="auto">
              <a:xfrm>
                <a:off x="1542" y="4105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6" name="Oval 598"/>
              <p:cNvSpPr>
                <a:spLocks noChangeArrowheads="1"/>
              </p:cNvSpPr>
              <p:nvPr/>
            </p:nvSpPr>
            <p:spPr bwMode="auto">
              <a:xfrm>
                <a:off x="1542" y="3878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7" name="Oval 599"/>
              <p:cNvSpPr>
                <a:spLocks noChangeArrowheads="1"/>
              </p:cNvSpPr>
              <p:nvPr/>
            </p:nvSpPr>
            <p:spPr bwMode="auto">
              <a:xfrm>
                <a:off x="1316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8" name="Oval 600"/>
              <p:cNvSpPr>
                <a:spLocks noChangeArrowheads="1"/>
              </p:cNvSpPr>
              <p:nvPr/>
            </p:nvSpPr>
            <p:spPr bwMode="auto">
              <a:xfrm>
                <a:off x="1316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39" name="Oval 601"/>
              <p:cNvSpPr>
                <a:spLocks noChangeArrowheads="1"/>
              </p:cNvSpPr>
              <p:nvPr/>
            </p:nvSpPr>
            <p:spPr bwMode="auto">
              <a:xfrm>
                <a:off x="154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0" name="Oval 602"/>
              <p:cNvSpPr>
                <a:spLocks noChangeArrowheads="1"/>
              </p:cNvSpPr>
              <p:nvPr/>
            </p:nvSpPr>
            <p:spPr bwMode="auto">
              <a:xfrm>
                <a:off x="154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1" name="Oval 603"/>
              <p:cNvSpPr>
                <a:spLocks noChangeArrowheads="1"/>
              </p:cNvSpPr>
              <p:nvPr/>
            </p:nvSpPr>
            <p:spPr bwMode="auto">
              <a:xfrm>
                <a:off x="862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2" name="Oval 604"/>
              <p:cNvSpPr>
                <a:spLocks noChangeArrowheads="1"/>
              </p:cNvSpPr>
              <p:nvPr/>
            </p:nvSpPr>
            <p:spPr bwMode="auto">
              <a:xfrm>
                <a:off x="862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3" name="Oval 605"/>
              <p:cNvSpPr>
                <a:spLocks noChangeArrowheads="1"/>
              </p:cNvSpPr>
              <p:nvPr/>
            </p:nvSpPr>
            <p:spPr bwMode="auto">
              <a:xfrm>
                <a:off x="1088" y="3651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44" name="Oval 606"/>
              <p:cNvSpPr>
                <a:spLocks noChangeArrowheads="1"/>
              </p:cNvSpPr>
              <p:nvPr/>
            </p:nvSpPr>
            <p:spPr bwMode="auto">
              <a:xfrm>
                <a:off x="1088" y="3424"/>
                <a:ext cx="90" cy="90"/>
              </a:xfrm>
              <a:prstGeom prst="ellipse">
                <a:avLst/>
              </a:prstGeom>
              <a:solidFill>
                <a:srgbClr val="CCFFFF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TW" altLang="en-US"/>
              </a:p>
            </p:txBody>
          </p:sp>
        </p:grpSp>
      </p:grpSp>
      <p:grpSp>
        <p:nvGrpSpPr>
          <p:cNvPr id="59" name="Group 454"/>
          <p:cNvGrpSpPr>
            <a:grpSpLocks/>
          </p:cNvGrpSpPr>
          <p:nvPr/>
        </p:nvGrpSpPr>
        <p:grpSpPr bwMode="auto">
          <a:xfrm>
            <a:off x="4484410" y="3838276"/>
            <a:ext cx="809904" cy="2211960"/>
            <a:chOff x="1679" y="2352"/>
            <a:chExt cx="544" cy="1588"/>
          </a:xfrm>
        </p:grpSpPr>
        <p:sp>
          <p:nvSpPr>
            <p:cNvPr id="205" name="Line 455"/>
            <p:cNvSpPr>
              <a:spLocks noChangeShapeType="1"/>
            </p:cNvSpPr>
            <p:nvPr/>
          </p:nvSpPr>
          <p:spPr bwMode="auto">
            <a:xfrm>
              <a:off x="1679" y="2352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6" name="Line 456"/>
            <p:cNvSpPr>
              <a:spLocks noChangeShapeType="1"/>
            </p:cNvSpPr>
            <p:nvPr/>
          </p:nvSpPr>
          <p:spPr bwMode="auto">
            <a:xfrm>
              <a:off x="1679" y="394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7" name="Line 457"/>
            <p:cNvSpPr>
              <a:spLocks noChangeShapeType="1"/>
            </p:cNvSpPr>
            <p:nvPr/>
          </p:nvSpPr>
          <p:spPr bwMode="auto">
            <a:xfrm>
              <a:off x="2086" y="280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8" name="Line 458"/>
            <p:cNvSpPr>
              <a:spLocks noChangeShapeType="1"/>
            </p:cNvSpPr>
            <p:nvPr/>
          </p:nvSpPr>
          <p:spPr bwMode="auto">
            <a:xfrm>
              <a:off x="2086" y="25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9" name="Line 459"/>
            <p:cNvSpPr>
              <a:spLocks noChangeShapeType="1"/>
            </p:cNvSpPr>
            <p:nvPr/>
          </p:nvSpPr>
          <p:spPr bwMode="auto">
            <a:xfrm>
              <a:off x="2086" y="30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0" name="Line 460"/>
            <p:cNvSpPr>
              <a:spLocks noChangeShapeType="1"/>
            </p:cNvSpPr>
            <p:nvPr/>
          </p:nvSpPr>
          <p:spPr bwMode="auto">
            <a:xfrm>
              <a:off x="2086" y="32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1" name="Line 461"/>
            <p:cNvSpPr>
              <a:spLocks noChangeShapeType="1"/>
            </p:cNvSpPr>
            <p:nvPr/>
          </p:nvSpPr>
          <p:spPr bwMode="auto">
            <a:xfrm>
              <a:off x="2086" y="34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2" name="Line 462"/>
            <p:cNvSpPr>
              <a:spLocks noChangeShapeType="1"/>
            </p:cNvSpPr>
            <p:nvPr/>
          </p:nvSpPr>
          <p:spPr bwMode="auto">
            <a:xfrm>
              <a:off x="2086" y="37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3" name="Line 463"/>
            <p:cNvSpPr>
              <a:spLocks noChangeShapeType="1"/>
            </p:cNvSpPr>
            <p:nvPr/>
          </p:nvSpPr>
          <p:spPr bwMode="auto">
            <a:xfrm>
              <a:off x="1679" y="280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4" name="Line 464"/>
            <p:cNvSpPr>
              <a:spLocks noChangeShapeType="1"/>
            </p:cNvSpPr>
            <p:nvPr/>
          </p:nvSpPr>
          <p:spPr bwMode="auto">
            <a:xfrm>
              <a:off x="1679" y="25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5" name="Line 465"/>
            <p:cNvSpPr>
              <a:spLocks noChangeShapeType="1"/>
            </p:cNvSpPr>
            <p:nvPr/>
          </p:nvSpPr>
          <p:spPr bwMode="auto">
            <a:xfrm>
              <a:off x="1679" y="30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6" name="Line 466"/>
            <p:cNvSpPr>
              <a:spLocks noChangeShapeType="1"/>
            </p:cNvSpPr>
            <p:nvPr/>
          </p:nvSpPr>
          <p:spPr bwMode="auto">
            <a:xfrm>
              <a:off x="1679" y="32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7" name="Line 467"/>
            <p:cNvSpPr>
              <a:spLocks noChangeShapeType="1"/>
            </p:cNvSpPr>
            <p:nvPr/>
          </p:nvSpPr>
          <p:spPr bwMode="auto">
            <a:xfrm>
              <a:off x="1679" y="34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8" name="Line 468"/>
            <p:cNvSpPr>
              <a:spLocks noChangeShapeType="1"/>
            </p:cNvSpPr>
            <p:nvPr/>
          </p:nvSpPr>
          <p:spPr bwMode="auto">
            <a:xfrm>
              <a:off x="1679" y="37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9" name="Line 469"/>
            <p:cNvSpPr>
              <a:spLocks noChangeShapeType="1"/>
            </p:cNvSpPr>
            <p:nvPr/>
          </p:nvSpPr>
          <p:spPr bwMode="auto">
            <a:xfrm>
              <a:off x="1815" y="2579"/>
              <a:ext cx="27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0" name="Line 470"/>
            <p:cNvSpPr>
              <a:spLocks noChangeShapeType="1"/>
            </p:cNvSpPr>
            <p:nvPr/>
          </p:nvSpPr>
          <p:spPr bwMode="auto">
            <a:xfrm flipV="1">
              <a:off x="1815" y="3486"/>
              <a:ext cx="27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1" name="Line 471"/>
            <p:cNvSpPr>
              <a:spLocks noChangeShapeType="1"/>
            </p:cNvSpPr>
            <p:nvPr/>
          </p:nvSpPr>
          <p:spPr bwMode="auto">
            <a:xfrm>
              <a:off x="1815" y="2806"/>
              <a:ext cx="272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2" name="Line 472"/>
            <p:cNvSpPr>
              <a:spLocks noChangeShapeType="1"/>
            </p:cNvSpPr>
            <p:nvPr/>
          </p:nvSpPr>
          <p:spPr bwMode="auto">
            <a:xfrm flipV="1">
              <a:off x="1815" y="3032"/>
              <a:ext cx="272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3" name="Line 473"/>
            <p:cNvSpPr>
              <a:spLocks noChangeShapeType="1"/>
            </p:cNvSpPr>
            <p:nvPr/>
          </p:nvSpPr>
          <p:spPr bwMode="auto">
            <a:xfrm>
              <a:off x="1815" y="3032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4" name="Line 474"/>
            <p:cNvSpPr>
              <a:spLocks noChangeShapeType="1"/>
            </p:cNvSpPr>
            <p:nvPr/>
          </p:nvSpPr>
          <p:spPr bwMode="auto">
            <a:xfrm flipV="1">
              <a:off x="1815" y="2579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</p:grpSp>
      <p:grpSp>
        <p:nvGrpSpPr>
          <p:cNvPr id="60" name="Group 432"/>
          <p:cNvGrpSpPr>
            <a:grpSpLocks/>
          </p:cNvGrpSpPr>
          <p:nvPr/>
        </p:nvGrpSpPr>
        <p:grpSpPr bwMode="auto">
          <a:xfrm>
            <a:off x="5292824" y="3712913"/>
            <a:ext cx="2837641" cy="2464078"/>
            <a:chOff x="2222" y="2262"/>
            <a:chExt cx="1906" cy="1769"/>
          </a:xfrm>
        </p:grpSpPr>
        <p:sp>
          <p:nvSpPr>
            <p:cNvPr id="193" name="Rectangle 433"/>
            <p:cNvSpPr>
              <a:spLocks noChangeArrowheads="1"/>
            </p:cNvSpPr>
            <p:nvPr/>
          </p:nvSpPr>
          <p:spPr bwMode="auto">
            <a:xfrm>
              <a:off x="2222" y="2262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4" name="Rectangle 434"/>
            <p:cNvSpPr>
              <a:spLocks noChangeArrowheads="1"/>
            </p:cNvSpPr>
            <p:nvPr/>
          </p:nvSpPr>
          <p:spPr bwMode="auto">
            <a:xfrm>
              <a:off x="2222" y="2716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5" name="Rectangle 435"/>
            <p:cNvSpPr>
              <a:spLocks noChangeArrowheads="1"/>
            </p:cNvSpPr>
            <p:nvPr/>
          </p:nvSpPr>
          <p:spPr bwMode="auto">
            <a:xfrm>
              <a:off x="2222" y="3169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6" name="Rectangle 436"/>
            <p:cNvSpPr>
              <a:spLocks noChangeArrowheads="1"/>
            </p:cNvSpPr>
            <p:nvPr/>
          </p:nvSpPr>
          <p:spPr bwMode="auto">
            <a:xfrm>
              <a:off x="2222" y="3623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7" name="Rectangle 437"/>
            <p:cNvSpPr>
              <a:spLocks noChangeArrowheads="1"/>
            </p:cNvSpPr>
            <p:nvPr/>
          </p:nvSpPr>
          <p:spPr bwMode="auto">
            <a:xfrm>
              <a:off x="3038" y="2262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8" name="Rectangle 438"/>
            <p:cNvSpPr>
              <a:spLocks noChangeArrowheads="1"/>
            </p:cNvSpPr>
            <p:nvPr/>
          </p:nvSpPr>
          <p:spPr bwMode="auto">
            <a:xfrm>
              <a:off x="3038" y="2716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9" name="Rectangle 439"/>
            <p:cNvSpPr>
              <a:spLocks noChangeArrowheads="1"/>
            </p:cNvSpPr>
            <p:nvPr/>
          </p:nvSpPr>
          <p:spPr bwMode="auto">
            <a:xfrm>
              <a:off x="3038" y="3169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0" name="Rectangle 440"/>
            <p:cNvSpPr>
              <a:spLocks noChangeArrowheads="1"/>
            </p:cNvSpPr>
            <p:nvPr/>
          </p:nvSpPr>
          <p:spPr bwMode="auto">
            <a:xfrm>
              <a:off x="3038" y="3623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1" name="Rectangle 441"/>
            <p:cNvSpPr>
              <a:spLocks noChangeArrowheads="1"/>
            </p:cNvSpPr>
            <p:nvPr/>
          </p:nvSpPr>
          <p:spPr bwMode="auto">
            <a:xfrm>
              <a:off x="3856" y="2262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2" name="Rectangle 442"/>
            <p:cNvSpPr>
              <a:spLocks noChangeArrowheads="1"/>
            </p:cNvSpPr>
            <p:nvPr/>
          </p:nvSpPr>
          <p:spPr bwMode="auto">
            <a:xfrm>
              <a:off x="3856" y="2716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3" name="Rectangle 443"/>
            <p:cNvSpPr>
              <a:spLocks noChangeArrowheads="1"/>
            </p:cNvSpPr>
            <p:nvPr/>
          </p:nvSpPr>
          <p:spPr bwMode="auto">
            <a:xfrm>
              <a:off x="3856" y="3169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04" name="Rectangle 444"/>
            <p:cNvSpPr>
              <a:spLocks noChangeArrowheads="1"/>
            </p:cNvSpPr>
            <p:nvPr/>
          </p:nvSpPr>
          <p:spPr bwMode="auto">
            <a:xfrm>
              <a:off x="3856" y="3623"/>
              <a:ext cx="272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</p:grpSp>
      <p:sp>
        <p:nvSpPr>
          <p:cNvPr id="62" name="Line 122"/>
          <p:cNvSpPr>
            <a:spLocks noChangeShapeType="1"/>
          </p:cNvSpPr>
          <p:nvPr/>
        </p:nvSpPr>
        <p:spPr bwMode="auto">
          <a:xfrm>
            <a:off x="4488876" y="3845240"/>
            <a:ext cx="809904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TW" altLang="en-US"/>
          </a:p>
        </p:txBody>
      </p:sp>
      <p:sp>
        <p:nvSpPr>
          <p:cNvPr id="63" name="Text Box 130"/>
          <p:cNvSpPr txBox="1">
            <a:spLocks noChangeArrowheads="1"/>
          </p:cNvSpPr>
          <p:nvPr/>
        </p:nvSpPr>
        <p:spPr bwMode="auto">
          <a:xfrm>
            <a:off x="5249650" y="3655803"/>
            <a:ext cx="364754" cy="40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5050"/>
                </a:solidFill>
                <a:latin typeface="Tahoma" panose="020B0604030504040204" pitchFamily="34" charset="0"/>
              </a:rPr>
              <a:t>X</a:t>
            </a:r>
          </a:p>
        </p:txBody>
      </p:sp>
      <p:grpSp>
        <p:nvGrpSpPr>
          <p:cNvPr id="64" name="Group 379"/>
          <p:cNvGrpSpPr>
            <a:grpSpLocks/>
          </p:cNvGrpSpPr>
          <p:nvPr/>
        </p:nvGrpSpPr>
        <p:grpSpPr bwMode="auto">
          <a:xfrm>
            <a:off x="871750" y="3516209"/>
            <a:ext cx="675912" cy="1579573"/>
            <a:chOff x="680" y="2336"/>
            <a:chExt cx="454" cy="1134"/>
          </a:xfrm>
        </p:grpSpPr>
        <p:sp>
          <p:nvSpPr>
            <p:cNvPr id="188" name="Line 375"/>
            <p:cNvSpPr>
              <a:spLocks noChangeShapeType="1"/>
            </p:cNvSpPr>
            <p:nvPr/>
          </p:nvSpPr>
          <p:spPr bwMode="auto">
            <a:xfrm>
              <a:off x="680" y="3470"/>
              <a:ext cx="227" cy="0"/>
            </a:xfrm>
            <a:prstGeom prst="line">
              <a:avLst/>
            </a:prstGeom>
            <a:noFill/>
            <a:ln w="571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9" name="Line 376"/>
            <p:cNvSpPr>
              <a:spLocks noChangeShapeType="1"/>
            </p:cNvSpPr>
            <p:nvPr/>
          </p:nvSpPr>
          <p:spPr bwMode="auto">
            <a:xfrm flipV="1">
              <a:off x="907" y="2336"/>
              <a:ext cx="0" cy="1134"/>
            </a:xfrm>
            <a:prstGeom prst="line">
              <a:avLst/>
            </a:prstGeom>
            <a:noFill/>
            <a:ln w="571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grpSp>
          <p:nvGrpSpPr>
            <p:cNvPr id="190" name="Group 378"/>
            <p:cNvGrpSpPr>
              <a:grpSpLocks/>
            </p:cNvGrpSpPr>
            <p:nvPr/>
          </p:nvGrpSpPr>
          <p:grpSpPr bwMode="auto">
            <a:xfrm>
              <a:off x="680" y="2336"/>
              <a:ext cx="454" cy="226"/>
              <a:chOff x="680" y="2336"/>
              <a:chExt cx="454" cy="226"/>
            </a:xfrm>
          </p:grpSpPr>
          <p:sp>
            <p:nvSpPr>
              <p:cNvPr id="191" name="Line 374"/>
              <p:cNvSpPr>
                <a:spLocks noChangeShapeType="1"/>
              </p:cNvSpPr>
              <p:nvPr/>
            </p:nvSpPr>
            <p:spPr bwMode="auto">
              <a:xfrm>
                <a:off x="680" y="2562"/>
                <a:ext cx="454" cy="0"/>
              </a:xfrm>
              <a:prstGeom prst="line">
                <a:avLst/>
              </a:prstGeom>
              <a:noFill/>
              <a:ln w="571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2" name="Line 377"/>
              <p:cNvSpPr>
                <a:spLocks noChangeShapeType="1"/>
              </p:cNvSpPr>
              <p:nvPr/>
            </p:nvSpPr>
            <p:spPr bwMode="auto">
              <a:xfrm flipV="1">
                <a:off x="1134" y="2336"/>
                <a:ext cx="0" cy="226"/>
              </a:xfrm>
              <a:prstGeom prst="line">
                <a:avLst/>
              </a:prstGeom>
              <a:noFill/>
              <a:ln w="571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</p:grpSp>
      <p:grpSp>
        <p:nvGrpSpPr>
          <p:cNvPr id="65" name="Group 380"/>
          <p:cNvGrpSpPr>
            <a:grpSpLocks/>
          </p:cNvGrpSpPr>
          <p:nvPr/>
        </p:nvGrpSpPr>
        <p:grpSpPr bwMode="auto">
          <a:xfrm>
            <a:off x="600790" y="3284984"/>
            <a:ext cx="3107113" cy="2884741"/>
            <a:chOff x="3628" y="2133"/>
            <a:chExt cx="2087" cy="2071"/>
          </a:xfrm>
        </p:grpSpPr>
        <p:sp>
          <p:nvSpPr>
            <p:cNvPr id="137" name="Line 381"/>
            <p:cNvSpPr>
              <a:spLocks noChangeShapeType="1"/>
            </p:cNvSpPr>
            <p:nvPr/>
          </p:nvSpPr>
          <p:spPr bwMode="auto">
            <a:xfrm>
              <a:off x="3811" y="4117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8" name="Line 382"/>
            <p:cNvSpPr>
              <a:spLocks noChangeShapeType="1"/>
            </p:cNvSpPr>
            <p:nvPr/>
          </p:nvSpPr>
          <p:spPr bwMode="auto">
            <a:xfrm>
              <a:off x="3811" y="3890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9" name="Line 383"/>
            <p:cNvSpPr>
              <a:spLocks noChangeShapeType="1"/>
            </p:cNvSpPr>
            <p:nvPr/>
          </p:nvSpPr>
          <p:spPr bwMode="auto">
            <a:xfrm>
              <a:off x="3811" y="3663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0" name="Line 384"/>
            <p:cNvSpPr>
              <a:spLocks noChangeShapeType="1"/>
            </p:cNvSpPr>
            <p:nvPr/>
          </p:nvSpPr>
          <p:spPr bwMode="auto">
            <a:xfrm>
              <a:off x="3811" y="3437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1" name="Line 385"/>
            <p:cNvSpPr>
              <a:spLocks noChangeShapeType="1"/>
            </p:cNvSpPr>
            <p:nvPr/>
          </p:nvSpPr>
          <p:spPr bwMode="auto">
            <a:xfrm>
              <a:off x="3811" y="3210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2" name="Line 386"/>
            <p:cNvSpPr>
              <a:spLocks noChangeShapeType="1"/>
            </p:cNvSpPr>
            <p:nvPr/>
          </p:nvSpPr>
          <p:spPr bwMode="auto">
            <a:xfrm>
              <a:off x="3811" y="2983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3" name="Line 387"/>
            <p:cNvSpPr>
              <a:spLocks noChangeShapeType="1"/>
            </p:cNvSpPr>
            <p:nvPr/>
          </p:nvSpPr>
          <p:spPr bwMode="auto">
            <a:xfrm>
              <a:off x="3811" y="2756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4" name="Line 388"/>
            <p:cNvSpPr>
              <a:spLocks noChangeShapeType="1"/>
            </p:cNvSpPr>
            <p:nvPr/>
          </p:nvSpPr>
          <p:spPr bwMode="auto">
            <a:xfrm>
              <a:off x="3811" y="2529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5" name="Line 389"/>
            <p:cNvSpPr>
              <a:spLocks noChangeShapeType="1"/>
            </p:cNvSpPr>
            <p:nvPr/>
          </p:nvSpPr>
          <p:spPr bwMode="auto">
            <a:xfrm rot="5400000">
              <a:off x="3107" y="3251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6" name="Line 390"/>
            <p:cNvSpPr>
              <a:spLocks noChangeShapeType="1"/>
            </p:cNvSpPr>
            <p:nvPr/>
          </p:nvSpPr>
          <p:spPr bwMode="auto">
            <a:xfrm rot="5400000">
              <a:off x="3334" y="3251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7" name="Line 391"/>
            <p:cNvSpPr>
              <a:spLocks noChangeShapeType="1"/>
            </p:cNvSpPr>
            <p:nvPr/>
          </p:nvSpPr>
          <p:spPr bwMode="auto">
            <a:xfrm rot="5400000">
              <a:off x="3561" y="3250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8" name="Line 392"/>
            <p:cNvSpPr>
              <a:spLocks noChangeShapeType="1"/>
            </p:cNvSpPr>
            <p:nvPr/>
          </p:nvSpPr>
          <p:spPr bwMode="auto">
            <a:xfrm rot="5400000">
              <a:off x="3788" y="3251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9" name="Line 393"/>
            <p:cNvSpPr>
              <a:spLocks noChangeShapeType="1"/>
            </p:cNvSpPr>
            <p:nvPr/>
          </p:nvSpPr>
          <p:spPr bwMode="auto">
            <a:xfrm rot="5400000">
              <a:off x="4015" y="3251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0" name="Line 394"/>
            <p:cNvSpPr>
              <a:spLocks noChangeShapeType="1"/>
            </p:cNvSpPr>
            <p:nvPr/>
          </p:nvSpPr>
          <p:spPr bwMode="auto">
            <a:xfrm rot="5400000">
              <a:off x="4241" y="3251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1" name="Line 395"/>
            <p:cNvSpPr>
              <a:spLocks noChangeShapeType="1"/>
            </p:cNvSpPr>
            <p:nvPr/>
          </p:nvSpPr>
          <p:spPr bwMode="auto">
            <a:xfrm rot="5400000">
              <a:off x="4468" y="3251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2" name="Line 396"/>
            <p:cNvSpPr>
              <a:spLocks noChangeShapeType="1"/>
            </p:cNvSpPr>
            <p:nvPr/>
          </p:nvSpPr>
          <p:spPr bwMode="auto">
            <a:xfrm rot="5400000">
              <a:off x="4695" y="3251"/>
              <a:ext cx="18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3" name="Line 397"/>
            <p:cNvSpPr>
              <a:spLocks noChangeShapeType="1"/>
            </p:cNvSpPr>
            <p:nvPr/>
          </p:nvSpPr>
          <p:spPr bwMode="auto">
            <a:xfrm>
              <a:off x="3811" y="4117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4" name="Line 398"/>
            <p:cNvSpPr>
              <a:spLocks noChangeShapeType="1"/>
            </p:cNvSpPr>
            <p:nvPr/>
          </p:nvSpPr>
          <p:spPr bwMode="auto">
            <a:xfrm>
              <a:off x="3811" y="3890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5" name="Line 399"/>
            <p:cNvSpPr>
              <a:spLocks noChangeShapeType="1"/>
            </p:cNvSpPr>
            <p:nvPr/>
          </p:nvSpPr>
          <p:spPr bwMode="auto">
            <a:xfrm>
              <a:off x="3811" y="3663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6" name="Line 400"/>
            <p:cNvSpPr>
              <a:spLocks noChangeShapeType="1"/>
            </p:cNvSpPr>
            <p:nvPr/>
          </p:nvSpPr>
          <p:spPr bwMode="auto">
            <a:xfrm>
              <a:off x="3811" y="3437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7" name="Line 401"/>
            <p:cNvSpPr>
              <a:spLocks noChangeShapeType="1"/>
            </p:cNvSpPr>
            <p:nvPr/>
          </p:nvSpPr>
          <p:spPr bwMode="auto">
            <a:xfrm>
              <a:off x="3811" y="3210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8" name="Line 402"/>
            <p:cNvSpPr>
              <a:spLocks noChangeShapeType="1"/>
            </p:cNvSpPr>
            <p:nvPr/>
          </p:nvSpPr>
          <p:spPr bwMode="auto">
            <a:xfrm>
              <a:off x="3811" y="2983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9" name="Line 403"/>
            <p:cNvSpPr>
              <a:spLocks noChangeShapeType="1"/>
            </p:cNvSpPr>
            <p:nvPr/>
          </p:nvSpPr>
          <p:spPr bwMode="auto">
            <a:xfrm>
              <a:off x="3811" y="2756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0" name="Line 404"/>
            <p:cNvSpPr>
              <a:spLocks noChangeShapeType="1"/>
            </p:cNvSpPr>
            <p:nvPr/>
          </p:nvSpPr>
          <p:spPr bwMode="auto">
            <a:xfrm>
              <a:off x="3811" y="2529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1" name="Line 405"/>
            <p:cNvSpPr>
              <a:spLocks noChangeShapeType="1"/>
            </p:cNvSpPr>
            <p:nvPr/>
          </p:nvSpPr>
          <p:spPr bwMode="auto">
            <a:xfrm rot="5400000" flipH="1" flipV="1">
              <a:off x="3992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2" name="Line 406"/>
            <p:cNvSpPr>
              <a:spLocks noChangeShapeType="1"/>
            </p:cNvSpPr>
            <p:nvPr/>
          </p:nvSpPr>
          <p:spPr bwMode="auto">
            <a:xfrm rot="5400000" flipH="1" flipV="1">
              <a:off x="4219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3" name="Line 407"/>
            <p:cNvSpPr>
              <a:spLocks noChangeShapeType="1"/>
            </p:cNvSpPr>
            <p:nvPr/>
          </p:nvSpPr>
          <p:spPr bwMode="auto">
            <a:xfrm rot="5400000" flipH="1" flipV="1">
              <a:off x="4446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4" name="Line 408"/>
            <p:cNvSpPr>
              <a:spLocks noChangeShapeType="1"/>
            </p:cNvSpPr>
            <p:nvPr/>
          </p:nvSpPr>
          <p:spPr bwMode="auto">
            <a:xfrm rot="5400000" flipH="1" flipV="1">
              <a:off x="4673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5" name="Line 409"/>
            <p:cNvSpPr>
              <a:spLocks noChangeShapeType="1"/>
            </p:cNvSpPr>
            <p:nvPr/>
          </p:nvSpPr>
          <p:spPr bwMode="auto">
            <a:xfrm rot="5400000" flipH="1" flipV="1">
              <a:off x="4900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6" name="Line 410"/>
            <p:cNvSpPr>
              <a:spLocks noChangeShapeType="1"/>
            </p:cNvSpPr>
            <p:nvPr/>
          </p:nvSpPr>
          <p:spPr bwMode="auto">
            <a:xfrm rot="5400000" flipH="1" flipV="1">
              <a:off x="5126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7" name="Line 411"/>
            <p:cNvSpPr>
              <a:spLocks noChangeShapeType="1"/>
            </p:cNvSpPr>
            <p:nvPr/>
          </p:nvSpPr>
          <p:spPr bwMode="auto">
            <a:xfrm rot="5400000" flipH="1" flipV="1">
              <a:off x="5353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8" name="Line 412"/>
            <p:cNvSpPr>
              <a:spLocks noChangeShapeType="1"/>
            </p:cNvSpPr>
            <p:nvPr/>
          </p:nvSpPr>
          <p:spPr bwMode="auto">
            <a:xfrm rot="5400000" flipH="1" flipV="1">
              <a:off x="5580" y="2348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grpSp>
          <p:nvGrpSpPr>
            <p:cNvPr id="169" name="Group 413"/>
            <p:cNvGrpSpPr>
              <a:grpSpLocks/>
            </p:cNvGrpSpPr>
            <p:nvPr/>
          </p:nvGrpSpPr>
          <p:grpSpPr bwMode="auto">
            <a:xfrm>
              <a:off x="3628" y="2133"/>
              <a:ext cx="2087" cy="2071"/>
              <a:chOff x="544" y="2154"/>
              <a:chExt cx="2087" cy="2071"/>
            </a:xfrm>
          </p:grpSpPr>
          <p:grpSp>
            <p:nvGrpSpPr>
              <p:cNvPr id="170" name="Group 414"/>
              <p:cNvGrpSpPr>
                <a:grpSpLocks/>
              </p:cNvGrpSpPr>
              <p:nvPr/>
            </p:nvGrpSpPr>
            <p:grpSpPr bwMode="auto">
              <a:xfrm>
                <a:off x="544" y="2456"/>
                <a:ext cx="182" cy="1769"/>
                <a:chOff x="1270" y="2245"/>
                <a:chExt cx="182" cy="1769"/>
              </a:xfrm>
            </p:grpSpPr>
            <p:sp>
              <p:nvSpPr>
                <p:cNvPr id="180" name="Oval 415"/>
                <p:cNvSpPr>
                  <a:spLocks noChangeArrowheads="1"/>
                </p:cNvSpPr>
                <p:nvPr/>
              </p:nvSpPr>
              <p:spPr bwMode="auto">
                <a:xfrm>
                  <a:off x="1270" y="3833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7</a:t>
                  </a:r>
                </a:p>
              </p:txBody>
            </p:sp>
            <p:sp>
              <p:nvSpPr>
                <p:cNvPr id="181" name="Oval 416"/>
                <p:cNvSpPr>
                  <a:spLocks noChangeArrowheads="1"/>
                </p:cNvSpPr>
                <p:nvPr/>
              </p:nvSpPr>
              <p:spPr bwMode="auto">
                <a:xfrm>
                  <a:off x="1270" y="3606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6</a:t>
                  </a:r>
                </a:p>
              </p:txBody>
            </p:sp>
            <p:sp>
              <p:nvSpPr>
                <p:cNvPr id="182" name="Oval 417"/>
                <p:cNvSpPr>
                  <a:spLocks noChangeArrowheads="1"/>
                </p:cNvSpPr>
                <p:nvPr/>
              </p:nvSpPr>
              <p:spPr bwMode="auto">
                <a:xfrm>
                  <a:off x="1270" y="3379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5</a:t>
                  </a:r>
                </a:p>
              </p:txBody>
            </p:sp>
            <p:sp>
              <p:nvSpPr>
                <p:cNvPr id="183" name="Oval 418"/>
                <p:cNvSpPr>
                  <a:spLocks noChangeArrowheads="1"/>
                </p:cNvSpPr>
                <p:nvPr/>
              </p:nvSpPr>
              <p:spPr bwMode="auto">
                <a:xfrm>
                  <a:off x="1270" y="3152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4</a:t>
                  </a:r>
                </a:p>
              </p:txBody>
            </p:sp>
            <p:sp>
              <p:nvSpPr>
                <p:cNvPr id="184" name="Oval 419"/>
                <p:cNvSpPr>
                  <a:spLocks noChangeArrowheads="1"/>
                </p:cNvSpPr>
                <p:nvPr/>
              </p:nvSpPr>
              <p:spPr bwMode="auto">
                <a:xfrm>
                  <a:off x="1270" y="2925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3</a:t>
                  </a:r>
                </a:p>
              </p:txBody>
            </p:sp>
            <p:sp>
              <p:nvSpPr>
                <p:cNvPr id="185" name="Oval 420"/>
                <p:cNvSpPr>
                  <a:spLocks noChangeArrowheads="1"/>
                </p:cNvSpPr>
                <p:nvPr/>
              </p:nvSpPr>
              <p:spPr bwMode="auto">
                <a:xfrm>
                  <a:off x="1270" y="2699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2</a:t>
                  </a:r>
                </a:p>
              </p:txBody>
            </p:sp>
            <p:sp>
              <p:nvSpPr>
                <p:cNvPr id="186" name="Oval 421"/>
                <p:cNvSpPr>
                  <a:spLocks noChangeArrowheads="1"/>
                </p:cNvSpPr>
                <p:nvPr/>
              </p:nvSpPr>
              <p:spPr bwMode="auto">
                <a:xfrm>
                  <a:off x="1270" y="2472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</a:t>
                  </a:r>
                </a:p>
              </p:txBody>
            </p:sp>
            <p:sp>
              <p:nvSpPr>
                <p:cNvPr id="187" name="Oval 422"/>
                <p:cNvSpPr>
                  <a:spLocks noChangeArrowheads="1"/>
                </p:cNvSpPr>
                <p:nvPr/>
              </p:nvSpPr>
              <p:spPr bwMode="auto">
                <a:xfrm>
                  <a:off x="1270" y="2245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 dirty="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  <p:grpSp>
            <p:nvGrpSpPr>
              <p:cNvPr id="171" name="Group 423"/>
              <p:cNvGrpSpPr>
                <a:grpSpLocks/>
              </p:cNvGrpSpPr>
              <p:nvPr/>
            </p:nvGrpSpPr>
            <p:grpSpPr bwMode="auto">
              <a:xfrm>
                <a:off x="861" y="2154"/>
                <a:ext cx="1770" cy="182"/>
                <a:chOff x="861" y="2154"/>
                <a:chExt cx="1770" cy="182"/>
              </a:xfrm>
            </p:grpSpPr>
            <p:sp>
              <p:nvSpPr>
                <p:cNvPr id="172" name="Oval 424"/>
                <p:cNvSpPr>
                  <a:spLocks noChangeArrowheads="1"/>
                </p:cNvSpPr>
                <p:nvPr/>
              </p:nvSpPr>
              <p:spPr bwMode="auto">
                <a:xfrm>
                  <a:off x="2449" y="2154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7</a:t>
                  </a:r>
                </a:p>
              </p:txBody>
            </p:sp>
            <p:sp>
              <p:nvSpPr>
                <p:cNvPr id="173" name="Oval 425"/>
                <p:cNvSpPr>
                  <a:spLocks noChangeArrowheads="1"/>
                </p:cNvSpPr>
                <p:nvPr/>
              </p:nvSpPr>
              <p:spPr bwMode="auto">
                <a:xfrm>
                  <a:off x="2222" y="2155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6</a:t>
                  </a:r>
                </a:p>
              </p:txBody>
            </p:sp>
            <p:sp>
              <p:nvSpPr>
                <p:cNvPr id="174" name="Oval 426"/>
                <p:cNvSpPr>
                  <a:spLocks noChangeArrowheads="1"/>
                </p:cNvSpPr>
                <p:nvPr/>
              </p:nvSpPr>
              <p:spPr bwMode="auto">
                <a:xfrm>
                  <a:off x="1995" y="2154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5</a:t>
                  </a:r>
                </a:p>
              </p:txBody>
            </p:sp>
            <p:sp>
              <p:nvSpPr>
                <p:cNvPr id="175" name="Oval 427"/>
                <p:cNvSpPr>
                  <a:spLocks noChangeArrowheads="1"/>
                </p:cNvSpPr>
                <p:nvPr/>
              </p:nvSpPr>
              <p:spPr bwMode="auto">
                <a:xfrm>
                  <a:off x="1769" y="2154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4</a:t>
                  </a:r>
                </a:p>
              </p:txBody>
            </p:sp>
            <p:sp>
              <p:nvSpPr>
                <p:cNvPr id="176" name="Oval 428"/>
                <p:cNvSpPr>
                  <a:spLocks noChangeArrowheads="1"/>
                </p:cNvSpPr>
                <p:nvPr/>
              </p:nvSpPr>
              <p:spPr bwMode="auto">
                <a:xfrm>
                  <a:off x="1542" y="2155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3</a:t>
                  </a:r>
                </a:p>
              </p:txBody>
            </p:sp>
            <p:sp>
              <p:nvSpPr>
                <p:cNvPr id="177" name="Oval 429"/>
                <p:cNvSpPr>
                  <a:spLocks noChangeArrowheads="1"/>
                </p:cNvSpPr>
                <p:nvPr/>
              </p:nvSpPr>
              <p:spPr bwMode="auto">
                <a:xfrm>
                  <a:off x="1315" y="2155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2</a:t>
                  </a:r>
                </a:p>
              </p:txBody>
            </p:sp>
            <p:sp>
              <p:nvSpPr>
                <p:cNvPr id="178" name="Oval 430"/>
                <p:cNvSpPr>
                  <a:spLocks noChangeArrowheads="1"/>
                </p:cNvSpPr>
                <p:nvPr/>
              </p:nvSpPr>
              <p:spPr bwMode="auto">
                <a:xfrm>
                  <a:off x="1088" y="2155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1</a:t>
                  </a:r>
                </a:p>
              </p:txBody>
            </p:sp>
            <p:sp>
              <p:nvSpPr>
                <p:cNvPr id="179" name="Oval 431"/>
                <p:cNvSpPr>
                  <a:spLocks noChangeArrowheads="1"/>
                </p:cNvSpPr>
                <p:nvPr/>
              </p:nvSpPr>
              <p:spPr bwMode="auto">
                <a:xfrm>
                  <a:off x="861" y="2155"/>
                  <a:ext cx="182" cy="181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107763" dir="189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algn="l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15367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19939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24511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2908300" indent="-21590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45000"/>
                    <a:buFont typeface="Wingdings" panose="05000000000000000000" pitchFamily="2" charset="2"/>
                    <a:defRPr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</a:pPr>
                  <a:r>
                    <a:rPr lang="es-ES_tradnl" altLang="zh-TW" sz="1400">
                      <a:solidFill>
                        <a:schemeClr val="tx1"/>
                      </a:solidFill>
                      <a:latin typeface="Tahoma" panose="020B0604030504040204" pitchFamily="34" charset="0"/>
                    </a:rPr>
                    <a:t>0</a:t>
                  </a:r>
                </a:p>
              </p:txBody>
            </p:sp>
          </p:grpSp>
        </p:grpSp>
      </p:grpSp>
      <p:grpSp>
        <p:nvGrpSpPr>
          <p:cNvPr id="66" name="Group 445"/>
          <p:cNvGrpSpPr>
            <a:grpSpLocks/>
          </p:cNvGrpSpPr>
          <p:nvPr/>
        </p:nvGrpSpPr>
        <p:grpSpPr bwMode="auto">
          <a:xfrm>
            <a:off x="8130466" y="3838276"/>
            <a:ext cx="203965" cy="2211960"/>
            <a:chOff x="4128" y="2352"/>
            <a:chExt cx="137" cy="1588"/>
          </a:xfrm>
        </p:grpSpPr>
        <p:sp>
          <p:nvSpPr>
            <p:cNvPr id="129" name="Line 446"/>
            <p:cNvSpPr>
              <a:spLocks noChangeShapeType="1"/>
            </p:cNvSpPr>
            <p:nvPr/>
          </p:nvSpPr>
          <p:spPr bwMode="auto">
            <a:xfrm>
              <a:off x="4128" y="2352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0" name="Line 447"/>
            <p:cNvSpPr>
              <a:spLocks noChangeShapeType="1"/>
            </p:cNvSpPr>
            <p:nvPr/>
          </p:nvSpPr>
          <p:spPr bwMode="auto">
            <a:xfrm>
              <a:off x="4128" y="2579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1" name="Line 448"/>
            <p:cNvSpPr>
              <a:spLocks noChangeShapeType="1"/>
            </p:cNvSpPr>
            <p:nvPr/>
          </p:nvSpPr>
          <p:spPr bwMode="auto">
            <a:xfrm>
              <a:off x="4128" y="2806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2" name="Line 449"/>
            <p:cNvSpPr>
              <a:spLocks noChangeShapeType="1"/>
            </p:cNvSpPr>
            <p:nvPr/>
          </p:nvSpPr>
          <p:spPr bwMode="auto">
            <a:xfrm>
              <a:off x="4128" y="3033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3" name="Line 450"/>
            <p:cNvSpPr>
              <a:spLocks noChangeShapeType="1"/>
            </p:cNvSpPr>
            <p:nvPr/>
          </p:nvSpPr>
          <p:spPr bwMode="auto">
            <a:xfrm>
              <a:off x="4128" y="3260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4" name="Line 451"/>
            <p:cNvSpPr>
              <a:spLocks noChangeShapeType="1"/>
            </p:cNvSpPr>
            <p:nvPr/>
          </p:nvSpPr>
          <p:spPr bwMode="auto">
            <a:xfrm>
              <a:off x="4128" y="3486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" name="Line 452"/>
            <p:cNvSpPr>
              <a:spLocks noChangeShapeType="1"/>
            </p:cNvSpPr>
            <p:nvPr/>
          </p:nvSpPr>
          <p:spPr bwMode="auto">
            <a:xfrm>
              <a:off x="4128" y="3713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6" name="Line 453"/>
            <p:cNvSpPr>
              <a:spLocks noChangeShapeType="1"/>
            </p:cNvSpPr>
            <p:nvPr/>
          </p:nvSpPr>
          <p:spPr bwMode="auto">
            <a:xfrm>
              <a:off x="4128" y="3940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</p:grpSp>
      <p:grpSp>
        <p:nvGrpSpPr>
          <p:cNvPr id="67" name="Group 475"/>
          <p:cNvGrpSpPr>
            <a:grpSpLocks/>
          </p:cNvGrpSpPr>
          <p:nvPr/>
        </p:nvGrpSpPr>
        <p:grpSpPr bwMode="auto">
          <a:xfrm>
            <a:off x="5697776" y="3838276"/>
            <a:ext cx="811393" cy="2211960"/>
            <a:chOff x="2494" y="2352"/>
            <a:chExt cx="545" cy="1588"/>
          </a:xfrm>
        </p:grpSpPr>
        <p:sp>
          <p:nvSpPr>
            <p:cNvPr id="109" name="Line 476"/>
            <p:cNvSpPr>
              <a:spLocks noChangeShapeType="1"/>
            </p:cNvSpPr>
            <p:nvPr/>
          </p:nvSpPr>
          <p:spPr bwMode="auto">
            <a:xfrm>
              <a:off x="2494" y="2352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0" name="Line 477"/>
            <p:cNvSpPr>
              <a:spLocks noChangeShapeType="1"/>
            </p:cNvSpPr>
            <p:nvPr/>
          </p:nvSpPr>
          <p:spPr bwMode="auto">
            <a:xfrm>
              <a:off x="2494" y="3940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1" name="Line 478"/>
            <p:cNvSpPr>
              <a:spLocks noChangeShapeType="1"/>
            </p:cNvSpPr>
            <p:nvPr/>
          </p:nvSpPr>
          <p:spPr bwMode="auto">
            <a:xfrm>
              <a:off x="2494" y="280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2" name="Line 479"/>
            <p:cNvSpPr>
              <a:spLocks noChangeShapeType="1"/>
            </p:cNvSpPr>
            <p:nvPr/>
          </p:nvSpPr>
          <p:spPr bwMode="auto">
            <a:xfrm>
              <a:off x="2494" y="25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3" name="Line 480"/>
            <p:cNvSpPr>
              <a:spLocks noChangeShapeType="1"/>
            </p:cNvSpPr>
            <p:nvPr/>
          </p:nvSpPr>
          <p:spPr bwMode="auto">
            <a:xfrm>
              <a:off x="2494" y="30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4" name="Line 481"/>
            <p:cNvSpPr>
              <a:spLocks noChangeShapeType="1"/>
            </p:cNvSpPr>
            <p:nvPr/>
          </p:nvSpPr>
          <p:spPr bwMode="auto">
            <a:xfrm>
              <a:off x="2494" y="32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5" name="Line 482"/>
            <p:cNvSpPr>
              <a:spLocks noChangeShapeType="1"/>
            </p:cNvSpPr>
            <p:nvPr/>
          </p:nvSpPr>
          <p:spPr bwMode="auto">
            <a:xfrm>
              <a:off x="2494" y="34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6" name="Line 483"/>
            <p:cNvSpPr>
              <a:spLocks noChangeShapeType="1"/>
            </p:cNvSpPr>
            <p:nvPr/>
          </p:nvSpPr>
          <p:spPr bwMode="auto">
            <a:xfrm>
              <a:off x="2494" y="37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7" name="Line 484"/>
            <p:cNvSpPr>
              <a:spLocks noChangeShapeType="1"/>
            </p:cNvSpPr>
            <p:nvPr/>
          </p:nvSpPr>
          <p:spPr bwMode="auto">
            <a:xfrm>
              <a:off x="2902" y="280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8" name="Line 485"/>
            <p:cNvSpPr>
              <a:spLocks noChangeShapeType="1"/>
            </p:cNvSpPr>
            <p:nvPr/>
          </p:nvSpPr>
          <p:spPr bwMode="auto">
            <a:xfrm>
              <a:off x="2902" y="25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9" name="Line 486"/>
            <p:cNvSpPr>
              <a:spLocks noChangeShapeType="1"/>
            </p:cNvSpPr>
            <p:nvPr/>
          </p:nvSpPr>
          <p:spPr bwMode="auto">
            <a:xfrm>
              <a:off x="2902" y="30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0" name="Line 487"/>
            <p:cNvSpPr>
              <a:spLocks noChangeShapeType="1"/>
            </p:cNvSpPr>
            <p:nvPr/>
          </p:nvSpPr>
          <p:spPr bwMode="auto">
            <a:xfrm>
              <a:off x="2902" y="32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1" name="Line 488"/>
            <p:cNvSpPr>
              <a:spLocks noChangeShapeType="1"/>
            </p:cNvSpPr>
            <p:nvPr/>
          </p:nvSpPr>
          <p:spPr bwMode="auto">
            <a:xfrm>
              <a:off x="2902" y="34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2" name="Line 489"/>
            <p:cNvSpPr>
              <a:spLocks noChangeShapeType="1"/>
            </p:cNvSpPr>
            <p:nvPr/>
          </p:nvSpPr>
          <p:spPr bwMode="auto">
            <a:xfrm>
              <a:off x="2902" y="37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3" name="Line 490"/>
            <p:cNvSpPr>
              <a:spLocks noChangeShapeType="1"/>
            </p:cNvSpPr>
            <p:nvPr/>
          </p:nvSpPr>
          <p:spPr bwMode="auto">
            <a:xfrm>
              <a:off x="2631" y="2579"/>
              <a:ext cx="27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4" name="Line 491"/>
            <p:cNvSpPr>
              <a:spLocks noChangeShapeType="1"/>
            </p:cNvSpPr>
            <p:nvPr/>
          </p:nvSpPr>
          <p:spPr bwMode="auto">
            <a:xfrm flipV="1">
              <a:off x="2631" y="3486"/>
              <a:ext cx="27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5" name="Line 492"/>
            <p:cNvSpPr>
              <a:spLocks noChangeShapeType="1"/>
            </p:cNvSpPr>
            <p:nvPr/>
          </p:nvSpPr>
          <p:spPr bwMode="auto">
            <a:xfrm>
              <a:off x="2631" y="2806"/>
              <a:ext cx="272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6" name="Line 493"/>
            <p:cNvSpPr>
              <a:spLocks noChangeShapeType="1"/>
            </p:cNvSpPr>
            <p:nvPr/>
          </p:nvSpPr>
          <p:spPr bwMode="auto">
            <a:xfrm flipV="1">
              <a:off x="2631" y="3033"/>
              <a:ext cx="272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7" name="Line 494"/>
            <p:cNvSpPr>
              <a:spLocks noChangeShapeType="1"/>
            </p:cNvSpPr>
            <p:nvPr/>
          </p:nvSpPr>
          <p:spPr bwMode="auto">
            <a:xfrm>
              <a:off x="2631" y="3033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8" name="Line 495"/>
            <p:cNvSpPr>
              <a:spLocks noChangeShapeType="1"/>
            </p:cNvSpPr>
            <p:nvPr/>
          </p:nvSpPr>
          <p:spPr bwMode="auto">
            <a:xfrm flipV="1">
              <a:off x="2631" y="2579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</p:grpSp>
      <p:grpSp>
        <p:nvGrpSpPr>
          <p:cNvPr id="68" name="Group 496"/>
          <p:cNvGrpSpPr>
            <a:grpSpLocks/>
          </p:cNvGrpSpPr>
          <p:nvPr/>
        </p:nvGrpSpPr>
        <p:grpSpPr bwMode="auto">
          <a:xfrm>
            <a:off x="6912632" y="3838276"/>
            <a:ext cx="812881" cy="2211960"/>
            <a:chOff x="3310" y="2352"/>
            <a:chExt cx="546" cy="1588"/>
          </a:xfrm>
        </p:grpSpPr>
        <p:sp>
          <p:nvSpPr>
            <p:cNvPr id="89" name="Line 497"/>
            <p:cNvSpPr>
              <a:spLocks noChangeShapeType="1"/>
            </p:cNvSpPr>
            <p:nvPr/>
          </p:nvSpPr>
          <p:spPr bwMode="auto">
            <a:xfrm>
              <a:off x="3310" y="2352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0" name="Line 498"/>
            <p:cNvSpPr>
              <a:spLocks noChangeShapeType="1"/>
            </p:cNvSpPr>
            <p:nvPr/>
          </p:nvSpPr>
          <p:spPr bwMode="auto">
            <a:xfrm>
              <a:off x="3312" y="394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1" name="Line 499"/>
            <p:cNvSpPr>
              <a:spLocks noChangeShapeType="1"/>
            </p:cNvSpPr>
            <p:nvPr/>
          </p:nvSpPr>
          <p:spPr bwMode="auto">
            <a:xfrm>
              <a:off x="3310" y="280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2" name="Line 500"/>
            <p:cNvSpPr>
              <a:spLocks noChangeShapeType="1"/>
            </p:cNvSpPr>
            <p:nvPr/>
          </p:nvSpPr>
          <p:spPr bwMode="auto">
            <a:xfrm>
              <a:off x="3310" y="25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3" name="Line 501"/>
            <p:cNvSpPr>
              <a:spLocks noChangeShapeType="1"/>
            </p:cNvSpPr>
            <p:nvPr/>
          </p:nvSpPr>
          <p:spPr bwMode="auto">
            <a:xfrm>
              <a:off x="3310" y="30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4" name="Line 502"/>
            <p:cNvSpPr>
              <a:spLocks noChangeShapeType="1"/>
            </p:cNvSpPr>
            <p:nvPr/>
          </p:nvSpPr>
          <p:spPr bwMode="auto">
            <a:xfrm>
              <a:off x="3310" y="32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5" name="Line 503"/>
            <p:cNvSpPr>
              <a:spLocks noChangeShapeType="1"/>
            </p:cNvSpPr>
            <p:nvPr/>
          </p:nvSpPr>
          <p:spPr bwMode="auto">
            <a:xfrm>
              <a:off x="3310" y="34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6" name="Line 504"/>
            <p:cNvSpPr>
              <a:spLocks noChangeShapeType="1"/>
            </p:cNvSpPr>
            <p:nvPr/>
          </p:nvSpPr>
          <p:spPr bwMode="auto">
            <a:xfrm>
              <a:off x="3310" y="37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7" name="Line 505"/>
            <p:cNvSpPr>
              <a:spLocks noChangeShapeType="1"/>
            </p:cNvSpPr>
            <p:nvPr/>
          </p:nvSpPr>
          <p:spPr bwMode="auto">
            <a:xfrm>
              <a:off x="3720" y="280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8" name="Line 506"/>
            <p:cNvSpPr>
              <a:spLocks noChangeShapeType="1"/>
            </p:cNvSpPr>
            <p:nvPr/>
          </p:nvSpPr>
          <p:spPr bwMode="auto">
            <a:xfrm>
              <a:off x="3720" y="25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9" name="Line 507"/>
            <p:cNvSpPr>
              <a:spLocks noChangeShapeType="1"/>
            </p:cNvSpPr>
            <p:nvPr/>
          </p:nvSpPr>
          <p:spPr bwMode="auto">
            <a:xfrm>
              <a:off x="3720" y="30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0" name="Line 508"/>
            <p:cNvSpPr>
              <a:spLocks noChangeShapeType="1"/>
            </p:cNvSpPr>
            <p:nvPr/>
          </p:nvSpPr>
          <p:spPr bwMode="auto">
            <a:xfrm>
              <a:off x="3720" y="32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1" name="Line 509"/>
            <p:cNvSpPr>
              <a:spLocks noChangeShapeType="1"/>
            </p:cNvSpPr>
            <p:nvPr/>
          </p:nvSpPr>
          <p:spPr bwMode="auto">
            <a:xfrm>
              <a:off x="3720" y="34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2" name="Line 510"/>
            <p:cNvSpPr>
              <a:spLocks noChangeShapeType="1"/>
            </p:cNvSpPr>
            <p:nvPr/>
          </p:nvSpPr>
          <p:spPr bwMode="auto">
            <a:xfrm>
              <a:off x="3720" y="37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3" name="Line 511"/>
            <p:cNvSpPr>
              <a:spLocks noChangeShapeType="1"/>
            </p:cNvSpPr>
            <p:nvPr/>
          </p:nvSpPr>
          <p:spPr bwMode="auto">
            <a:xfrm>
              <a:off x="3448" y="2579"/>
              <a:ext cx="27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4" name="Line 512"/>
            <p:cNvSpPr>
              <a:spLocks noChangeShapeType="1"/>
            </p:cNvSpPr>
            <p:nvPr/>
          </p:nvSpPr>
          <p:spPr bwMode="auto">
            <a:xfrm flipV="1">
              <a:off x="3448" y="3486"/>
              <a:ext cx="27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5" name="Line 513"/>
            <p:cNvSpPr>
              <a:spLocks noChangeShapeType="1"/>
            </p:cNvSpPr>
            <p:nvPr/>
          </p:nvSpPr>
          <p:spPr bwMode="auto">
            <a:xfrm>
              <a:off x="3448" y="2806"/>
              <a:ext cx="272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6" name="Line 514"/>
            <p:cNvSpPr>
              <a:spLocks noChangeShapeType="1"/>
            </p:cNvSpPr>
            <p:nvPr/>
          </p:nvSpPr>
          <p:spPr bwMode="auto">
            <a:xfrm flipV="1">
              <a:off x="3448" y="3033"/>
              <a:ext cx="272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7" name="Line 515"/>
            <p:cNvSpPr>
              <a:spLocks noChangeShapeType="1"/>
            </p:cNvSpPr>
            <p:nvPr/>
          </p:nvSpPr>
          <p:spPr bwMode="auto">
            <a:xfrm>
              <a:off x="3448" y="3033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8" name="Line 516"/>
            <p:cNvSpPr>
              <a:spLocks noChangeShapeType="1"/>
            </p:cNvSpPr>
            <p:nvPr/>
          </p:nvSpPr>
          <p:spPr bwMode="auto">
            <a:xfrm flipV="1">
              <a:off x="3448" y="2579"/>
              <a:ext cx="272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</p:grpSp>
      <p:sp>
        <p:nvSpPr>
          <p:cNvPr id="69" name="Line 517"/>
          <p:cNvSpPr>
            <a:spLocks noChangeShapeType="1"/>
          </p:cNvSpPr>
          <p:nvPr/>
        </p:nvSpPr>
        <p:spPr bwMode="auto">
          <a:xfrm>
            <a:off x="5158833" y="3499796"/>
            <a:ext cx="27006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TW" altLang="en-US"/>
          </a:p>
        </p:txBody>
      </p:sp>
      <p:grpSp>
        <p:nvGrpSpPr>
          <p:cNvPr id="70" name="Group 518"/>
          <p:cNvGrpSpPr>
            <a:grpSpLocks/>
          </p:cNvGrpSpPr>
          <p:nvPr/>
        </p:nvGrpSpPr>
        <p:grpSpPr bwMode="auto">
          <a:xfrm>
            <a:off x="4211960" y="3689233"/>
            <a:ext cx="270960" cy="2464079"/>
            <a:chOff x="1270" y="2245"/>
            <a:chExt cx="182" cy="1769"/>
          </a:xfrm>
        </p:grpSpPr>
        <p:sp>
          <p:nvSpPr>
            <p:cNvPr id="81" name="Oval 519"/>
            <p:cNvSpPr>
              <a:spLocks noChangeArrowheads="1"/>
            </p:cNvSpPr>
            <p:nvPr/>
          </p:nvSpPr>
          <p:spPr bwMode="auto">
            <a:xfrm>
              <a:off x="1270" y="3833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82" name="Oval 520"/>
            <p:cNvSpPr>
              <a:spLocks noChangeArrowheads="1"/>
            </p:cNvSpPr>
            <p:nvPr/>
          </p:nvSpPr>
          <p:spPr bwMode="auto">
            <a:xfrm>
              <a:off x="1270" y="3606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83" name="Oval 521"/>
            <p:cNvSpPr>
              <a:spLocks noChangeArrowheads="1"/>
            </p:cNvSpPr>
            <p:nvPr/>
          </p:nvSpPr>
          <p:spPr bwMode="auto">
            <a:xfrm>
              <a:off x="1270" y="3379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84" name="Oval 522"/>
            <p:cNvSpPr>
              <a:spLocks noChangeArrowheads="1"/>
            </p:cNvSpPr>
            <p:nvPr/>
          </p:nvSpPr>
          <p:spPr bwMode="auto">
            <a:xfrm>
              <a:off x="1270" y="3152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5" name="Oval 523"/>
            <p:cNvSpPr>
              <a:spLocks noChangeArrowheads="1"/>
            </p:cNvSpPr>
            <p:nvPr/>
          </p:nvSpPr>
          <p:spPr bwMode="auto">
            <a:xfrm>
              <a:off x="1270" y="2925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6" name="Oval 524"/>
            <p:cNvSpPr>
              <a:spLocks noChangeArrowheads="1"/>
            </p:cNvSpPr>
            <p:nvPr/>
          </p:nvSpPr>
          <p:spPr bwMode="auto">
            <a:xfrm>
              <a:off x="1270" y="2699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7" name="Oval 525"/>
            <p:cNvSpPr>
              <a:spLocks noChangeArrowheads="1"/>
            </p:cNvSpPr>
            <p:nvPr/>
          </p:nvSpPr>
          <p:spPr bwMode="auto">
            <a:xfrm>
              <a:off x="1270" y="2472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8" name="Oval 526"/>
            <p:cNvSpPr>
              <a:spLocks noChangeArrowheads="1"/>
            </p:cNvSpPr>
            <p:nvPr/>
          </p:nvSpPr>
          <p:spPr bwMode="auto">
            <a:xfrm>
              <a:off x="1270" y="2245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71" name="Group 527"/>
          <p:cNvGrpSpPr>
            <a:grpSpLocks/>
          </p:cNvGrpSpPr>
          <p:nvPr/>
        </p:nvGrpSpPr>
        <p:grpSpPr bwMode="auto">
          <a:xfrm>
            <a:off x="8332942" y="3689233"/>
            <a:ext cx="270960" cy="2464079"/>
            <a:chOff x="1270" y="2245"/>
            <a:chExt cx="182" cy="1769"/>
          </a:xfrm>
        </p:grpSpPr>
        <p:sp>
          <p:nvSpPr>
            <p:cNvPr id="73" name="Oval 528"/>
            <p:cNvSpPr>
              <a:spLocks noChangeArrowheads="1"/>
            </p:cNvSpPr>
            <p:nvPr/>
          </p:nvSpPr>
          <p:spPr bwMode="auto">
            <a:xfrm>
              <a:off x="1270" y="3833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74" name="Oval 529"/>
            <p:cNvSpPr>
              <a:spLocks noChangeArrowheads="1"/>
            </p:cNvSpPr>
            <p:nvPr/>
          </p:nvSpPr>
          <p:spPr bwMode="auto">
            <a:xfrm>
              <a:off x="1270" y="3606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75" name="Oval 530"/>
            <p:cNvSpPr>
              <a:spLocks noChangeArrowheads="1"/>
            </p:cNvSpPr>
            <p:nvPr/>
          </p:nvSpPr>
          <p:spPr bwMode="auto">
            <a:xfrm>
              <a:off x="1270" y="3379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76" name="Oval 531"/>
            <p:cNvSpPr>
              <a:spLocks noChangeArrowheads="1"/>
            </p:cNvSpPr>
            <p:nvPr/>
          </p:nvSpPr>
          <p:spPr bwMode="auto">
            <a:xfrm>
              <a:off x="1270" y="3152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 dirty="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77" name="Oval 532"/>
            <p:cNvSpPr>
              <a:spLocks noChangeArrowheads="1"/>
            </p:cNvSpPr>
            <p:nvPr/>
          </p:nvSpPr>
          <p:spPr bwMode="auto">
            <a:xfrm>
              <a:off x="1270" y="2925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78" name="Oval 533"/>
            <p:cNvSpPr>
              <a:spLocks noChangeArrowheads="1"/>
            </p:cNvSpPr>
            <p:nvPr/>
          </p:nvSpPr>
          <p:spPr bwMode="auto">
            <a:xfrm>
              <a:off x="1270" y="2699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79" name="Oval 534"/>
            <p:cNvSpPr>
              <a:spLocks noChangeArrowheads="1"/>
            </p:cNvSpPr>
            <p:nvPr/>
          </p:nvSpPr>
          <p:spPr bwMode="auto">
            <a:xfrm>
              <a:off x="1270" y="2472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0" name="Oval 535"/>
            <p:cNvSpPr>
              <a:spLocks noChangeArrowheads="1"/>
            </p:cNvSpPr>
            <p:nvPr/>
          </p:nvSpPr>
          <p:spPr bwMode="auto">
            <a:xfrm>
              <a:off x="1270" y="2245"/>
              <a:ext cx="182" cy="18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sp>
        <p:nvSpPr>
          <p:cNvPr id="72" name="Freeform 537"/>
          <p:cNvSpPr>
            <a:spLocks/>
          </p:cNvSpPr>
          <p:nvPr/>
        </p:nvSpPr>
        <p:spPr bwMode="auto">
          <a:xfrm>
            <a:off x="4488876" y="3845240"/>
            <a:ext cx="3848533" cy="1263380"/>
          </a:xfrm>
          <a:custGeom>
            <a:avLst/>
            <a:gdLst>
              <a:gd name="T0" fmla="*/ 0 w 2585"/>
              <a:gd name="T1" fmla="*/ 907 h 907"/>
              <a:gd name="T2" fmla="*/ 136 w 2585"/>
              <a:gd name="T3" fmla="*/ 907 h 907"/>
              <a:gd name="T4" fmla="*/ 408 w 2585"/>
              <a:gd name="T5" fmla="*/ 227 h 907"/>
              <a:gd name="T6" fmla="*/ 544 w 2585"/>
              <a:gd name="T7" fmla="*/ 227 h 907"/>
              <a:gd name="T8" fmla="*/ 816 w 2585"/>
              <a:gd name="T9" fmla="*/ 0 h 907"/>
              <a:gd name="T10" fmla="*/ 2585 w 2585"/>
              <a:gd name="T11" fmla="*/ 0 h 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5" h="907">
                <a:moveTo>
                  <a:pt x="0" y="907"/>
                </a:moveTo>
                <a:lnTo>
                  <a:pt x="136" y="907"/>
                </a:lnTo>
                <a:lnTo>
                  <a:pt x="408" y="227"/>
                </a:lnTo>
                <a:lnTo>
                  <a:pt x="544" y="227"/>
                </a:lnTo>
                <a:lnTo>
                  <a:pt x="816" y="0"/>
                </a:lnTo>
                <a:lnTo>
                  <a:pt x="2585" y="0"/>
                </a:lnTo>
              </a:path>
            </a:pathLst>
          </a:custGeom>
          <a:noFill/>
          <a:ln w="508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TW" altLang="en-US"/>
          </a:p>
        </p:txBody>
      </p:sp>
      <p:sp>
        <p:nvSpPr>
          <p:cNvPr id="293" name="文字方塊 292"/>
          <p:cNvSpPr txBox="1"/>
          <p:nvPr/>
        </p:nvSpPr>
        <p:spPr>
          <a:xfrm>
            <a:off x="940357" y="6309320"/>
            <a:ext cx="283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Crossbar is non-blocking</a:t>
            </a:r>
            <a:endParaRPr lang="zh-TW" altLang="en-US" dirty="0"/>
          </a:p>
        </p:txBody>
      </p:sp>
      <p:sp>
        <p:nvSpPr>
          <p:cNvPr id="294" name="文字方塊 293"/>
          <p:cNvSpPr txBox="1"/>
          <p:nvPr/>
        </p:nvSpPr>
        <p:spPr>
          <a:xfrm>
            <a:off x="5378381" y="6309320"/>
            <a:ext cx="2145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Omega is blocking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3795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29780"/>
            <a:ext cx="7772400" cy="1010988"/>
          </a:xfrm>
        </p:spPr>
        <p:txBody>
          <a:bodyPr/>
          <a:lstStyle/>
          <a:p>
            <a:pPr algn="ctr"/>
            <a:r>
              <a:rPr lang="en-US" altLang="zh-TW" dirty="0" smtClean="0"/>
              <a:t>The Non-Blocking MINs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447799"/>
            <a:ext cx="8496944" cy="1250633"/>
          </a:xfrm>
        </p:spPr>
        <p:txBody>
          <a:bodyPr/>
          <a:lstStyle/>
          <a:p>
            <a:r>
              <a:rPr lang="en-US" altLang="zh-TW" dirty="0" smtClean="0"/>
              <a:t>An N x N </a:t>
            </a:r>
            <a:r>
              <a:rPr lang="en-US" altLang="zh-TW" dirty="0" smtClean="0">
                <a:solidFill>
                  <a:srgbClr val="FF0000"/>
                </a:solidFill>
              </a:rPr>
              <a:t>clos</a:t>
            </a:r>
            <a:r>
              <a:rPr lang="en-US" altLang="zh-TW" dirty="0" smtClean="0"/>
              <a:t> network is a 3 stage MIN which has two N/2 x N/2 crossbars in the middle stage and N/2 2 x 2 crossbars in both 1st and 3rd stages.</a:t>
            </a:r>
            <a:endParaRPr lang="zh-TW" altLang="en-US" dirty="0"/>
          </a:p>
        </p:txBody>
      </p:sp>
      <p:grpSp>
        <p:nvGrpSpPr>
          <p:cNvPr id="204" name="群組 203"/>
          <p:cNvGrpSpPr/>
          <p:nvPr/>
        </p:nvGrpSpPr>
        <p:grpSpPr>
          <a:xfrm>
            <a:off x="683568" y="2708920"/>
            <a:ext cx="7740997" cy="3663057"/>
            <a:chOff x="683568" y="2708920"/>
            <a:chExt cx="7740997" cy="3663057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104289" y="2760112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" name="Rectangle 21"/>
            <p:cNvSpPr>
              <a:spLocks noChangeArrowheads="1"/>
            </p:cNvSpPr>
            <p:nvPr/>
          </p:nvSpPr>
          <p:spPr bwMode="auto">
            <a:xfrm>
              <a:off x="1104289" y="3224251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" name="Rectangle 22"/>
            <p:cNvSpPr>
              <a:spLocks noChangeArrowheads="1"/>
            </p:cNvSpPr>
            <p:nvPr/>
          </p:nvSpPr>
          <p:spPr bwMode="auto">
            <a:xfrm>
              <a:off x="1104289" y="3688390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" name="Rectangle 23"/>
            <p:cNvSpPr>
              <a:spLocks noChangeArrowheads="1"/>
            </p:cNvSpPr>
            <p:nvPr/>
          </p:nvSpPr>
          <p:spPr bwMode="auto">
            <a:xfrm>
              <a:off x="1104289" y="4153666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" name="Rectangle 24"/>
            <p:cNvSpPr>
              <a:spLocks noChangeArrowheads="1"/>
            </p:cNvSpPr>
            <p:nvPr/>
          </p:nvSpPr>
          <p:spPr bwMode="auto">
            <a:xfrm>
              <a:off x="1104289" y="4617805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" name="Rectangle 25"/>
            <p:cNvSpPr>
              <a:spLocks noChangeArrowheads="1"/>
            </p:cNvSpPr>
            <p:nvPr/>
          </p:nvSpPr>
          <p:spPr bwMode="auto">
            <a:xfrm>
              <a:off x="1104289" y="5081944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" name="Rectangle 26"/>
            <p:cNvSpPr>
              <a:spLocks noChangeArrowheads="1"/>
            </p:cNvSpPr>
            <p:nvPr/>
          </p:nvSpPr>
          <p:spPr bwMode="auto">
            <a:xfrm>
              <a:off x="1104289" y="5546083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" name="Rectangle 27"/>
            <p:cNvSpPr>
              <a:spLocks noChangeArrowheads="1"/>
            </p:cNvSpPr>
            <p:nvPr/>
          </p:nvSpPr>
          <p:spPr bwMode="auto">
            <a:xfrm>
              <a:off x="1104289" y="6011360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924358" y="281130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924358" y="3017209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>
              <a:off x="924358" y="327544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" name="Line 31"/>
            <p:cNvSpPr>
              <a:spLocks noChangeShapeType="1"/>
            </p:cNvSpPr>
            <p:nvPr/>
          </p:nvSpPr>
          <p:spPr bwMode="auto">
            <a:xfrm>
              <a:off x="924358" y="348248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" name="Line 32"/>
            <p:cNvSpPr>
              <a:spLocks noChangeShapeType="1"/>
            </p:cNvSpPr>
            <p:nvPr/>
          </p:nvSpPr>
          <p:spPr bwMode="auto">
            <a:xfrm>
              <a:off x="924358" y="373958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" name="Line 33"/>
            <p:cNvSpPr>
              <a:spLocks noChangeShapeType="1"/>
            </p:cNvSpPr>
            <p:nvPr/>
          </p:nvSpPr>
          <p:spPr bwMode="auto">
            <a:xfrm>
              <a:off x="924358" y="394662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" name="Line 34"/>
            <p:cNvSpPr>
              <a:spLocks noChangeShapeType="1"/>
            </p:cNvSpPr>
            <p:nvPr/>
          </p:nvSpPr>
          <p:spPr bwMode="auto">
            <a:xfrm>
              <a:off x="924358" y="420485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" name="Line 35"/>
            <p:cNvSpPr>
              <a:spLocks noChangeShapeType="1"/>
            </p:cNvSpPr>
            <p:nvPr/>
          </p:nvSpPr>
          <p:spPr bwMode="auto">
            <a:xfrm>
              <a:off x="924358" y="4410763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" name="Line 36"/>
            <p:cNvSpPr>
              <a:spLocks noChangeShapeType="1"/>
            </p:cNvSpPr>
            <p:nvPr/>
          </p:nvSpPr>
          <p:spPr bwMode="auto">
            <a:xfrm>
              <a:off x="924358" y="466899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" name="Line 37"/>
            <p:cNvSpPr>
              <a:spLocks noChangeShapeType="1"/>
            </p:cNvSpPr>
            <p:nvPr/>
          </p:nvSpPr>
          <p:spPr bwMode="auto">
            <a:xfrm>
              <a:off x="924358" y="487490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" name="Line 38"/>
            <p:cNvSpPr>
              <a:spLocks noChangeShapeType="1"/>
            </p:cNvSpPr>
            <p:nvPr/>
          </p:nvSpPr>
          <p:spPr bwMode="auto">
            <a:xfrm>
              <a:off x="924358" y="513313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" name="Line 39"/>
            <p:cNvSpPr>
              <a:spLocks noChangeShapeType="1"/>
            </p:cNvSpPr>
            <p:nvPr/>
          </p:nvSpPr>
          <p:spPr bwMode="auto">
            <a:xfrm>
              <a:off x="924358" y="534017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" name="Line 40"/>
            <p:cNvSpPr>
              <a:spLocks noChangeShapeType="1"/>
            </p:cNvSpPr>
            <p:nvPr/>
          </p:nvSpPr>
          <p:spPr bwMode="auto">
            <a:xfrm>
              <a:off x="924358" y="559727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" name="Line 41"/>
            <p:cNvSpPr>
              <a:spLocks noChangeShapeType="1"/>
            </p:cNvSpPr>
            <p:nvPr/>
          </p:nvSpPr>
          <p:spPr bwMode="auto">
            <a:xfrm>
              <a:off x="924358" y="580431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" name="Line 42"/>
            <p:cNvSpPr>
              <a:spLocks noChangeShapeType="1"/>
            </p:cNvSpPr>
            <p:nvPr/>
          </p:nvSpPr>
          <p:spPr bwMode="auto">
            <a:xfrm>
              <a:off x="924358" y="606255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" name="Line 43"/>
            <p:cNvSpPr>
              <a:spLocks noChangeShapeType="1"/>
            </p:cNvSpPr>
            <p:nvPr/>
          </p:nvSpPr>
          <p:spPr bwMode="auto">
            <a:xfrm>
              <a:off x="924358" y="626845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" name="Line 46"/>
            <p:cNvSpPr>
              <a:spLocks noChangeShapeType="1"/>
            </p:cNvSpPr>
            <p:nvPr/>
          </p:nvSpPr>
          <p:spPr bwMode="auto">
            <a:xfrm>
              <a:off x="1404614" y="281130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" name="Line 47"/>
            <p:cNvSpPr>
              <a:spLocks noChangeShapeType="1"/>
            </p:cNvSpPr>
            <p:nvPr/>
          </p:nvSpPr>
          <p:spPr bwMode="auto">
            <a:xfrm>
              <a:off x="1404614" y="3017209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" name="Line 48"/>
            <p:cNvSpPr>
              <a:spLocks noChangeShapeType="1"/>
            </p:cNvSpPr>
            <p:nvPr/>
          </p:nvSpPr>
          <p:spPr bwMode="auto">
            <a:xfrm>
              <a:off x="1404614" y="327544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" name="Line 49"/>
            <p:cNvSpPr>
              <a:spLocks noChangeShapeType="1"/>
            </p:cNvSpPr>
            <p:nvPr/>
          </p:nvSpPr>
          <p:spPr bwMode="auto">
            <a:xfrm>
              <a:off x="1404614" y="348248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" name="Line 50"/>
            <p:cNvSpPr>
              <a:spLocks noChangeShapeType="1"/>
            </p:cNvSpPr>
            <p:nvPr/>
          </p:nvSpPr>
          <p:spPr bwMode="auto">
            <a:xfrm>
              <a:off x="1404614" y="373958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" name="Line 51"/>
            <p:cNvSpPr>
              <a:spLocks noChangeShapeType="1"/>
            </p:cNvSpPr>
            <p:nvPr/>
          </p:nvSpPr>
          <p:spPr bwMode="auto">
            <a:xfrm>
              <a:off x="1404614" y="394662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" name="Line 52"/>
            <p:cNvSpPr>
              <a:spLocks noChangeShapeType="1"/>
            </p:cNvSpPr>
            <p:nvPr/>
          </p:nvSpPr>
          <p:spPr bwMode="auto">
            <a:xfrm>
              <a:off x="1404614" y="420485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" name="Line 53"/>
            <p:cNvSpPr>
              <a:spLocks noChangeShapeType="1"/>
            </p:cNvSpPr>
            <p:nvPr/>
          </p:nvSpPr>
          <p:spPr bwMode="auto">
            <a:xfrm>
              <a:off x="1404614" y="4410763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" name="Line 54"/>
            <p:cNvSpPr>
              <a:spLocks noChangeShapeType="1"/>
            </p:cNvSpPr>
            <p:nvPr/>
          </p:nvSpPr>
          <p:spPr bwMode="auto">
            <a:xfrm>
              <a:off x="1404614" y="466899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" name="Line 55"/>
            <p:cNvSpPr>
              <a:spLocks noChangeShapeType="1"/>
            </p:cNvSpPr>
            <p:nvPr/>
          </p:nvSpPr>
          <p:spPr bwMode="auto">
            <a:xfrm>
              <a:off x="1404614" y="487490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" name="Line 56"/>
            <p:cNvSpPr>
              <a:spLocks noChangeShapeType="1"/>
            </p:cNvSpPr>
            <p:nvPr/>
          </p:nvSpPr>
          <p:spPr bwMode="auto">
            <a:xfrm>
              <a:off x="1404614" y="513313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" name="Line 57"/>
            <p:cNvSpPr>
              <a:spLocks noChangeShapeType="1"/>
            </p:cNvSpPr>
            <p:nvPr/>
          </p:nvSpPr>
          <p:spPr bwMode="auto">
            <a:xfrm>
              <a:off x="1404614" y="534017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1" name="Line 58"/>
            <p:cNvSpPr>
              <a:spLocks noChangeShapeType="1"/>
            </p:cNvSpPr>
            <p:nvPr/>
          </p:nvSpPr>
          <p:spPr bwMode="auto">
            <a:xfrm>
              <a:off x="1404614" y="559727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2" name="Line 59"/>
            <p:cNvSpPr>
              <a:spLocks noChangeShapeType="1"/>
            </p:cNvSpPr>
            <p:nvPr/>
          </p:nvSpPr>
          <p:spPr bwMode="auto">
            <a:xfrm>
              <a:off x="1404614" y="580431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" name="Line 60"/>
            <p:cNvSpPr>
              <a:spLocks noChangeShapeType="1"/>
            </p:cNvSpPr>
            <p:nvPr/>
          </p:nvSpPr>
          <p:spPr bwMode="auto">
            <a:xfrm>
              <a:off x="1404614" y="606255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" name="Line 61"/>
            <p:cNvSpPr>
              <a:spLocks noChangeShapeType="1"/>
            </p:cNvSpPr>
            <p:nvPr/>
          </p:nvSpPr>
          <p:spPr bwMode="auto">
            <a:xfrm>
              <a:off x="1404614" y="626845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5" name="Rectangle 78"/>
            <p:cNvSpPr>
              <a:spLocks noChangeArrowheads="1"/>
            </p:cNvSpPr>
            <p:nvPr/>
          </p:nvSpPr>
          <p:spPr bwMode="auto">
            <a:xfrm>
              <a:off x="7764378" y="2760112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6" name="Rectangle 95"/>
            <p:cNvSpPr>
              <a:spLocks noChangeArrowheads="1"/>
            </p:cNvSpPr>
            <p:nvPr/>
          </p:nvSpPr>
          <p:spPr bwMode="auto">
            <a:xfrm>
              <a:off x="7764378" y="3224251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7" name="Rectangle 96"/>
            <p:cNvSpPr>
              <a:spLocks noChangeArrowheads="1"/>
            </p:cNvSpPr>
            <p:nvPr/>
          </p:nvSpPr>
          <p:spPr bwMode="auto">
            <a:xfrm>
              <a:off x="7764378" y="3688390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8" name="Rectangle 97"/>
            <p:cNvSpPr>
              <a:spLocks noChangeArrowheads="1"/>
            </p:cNvSpPr>
            <p:nvPr/>
          </p:nvSpPr>
          <p:spPr bwMode="auto">
            <a:xfrm>
              <a:off x="7764378" y="4153666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9" name="Rectangle 98"/>
            <p:cNvSpPr>
              <a:spLocks noChangeArrowheads="1"/>
            </p:cNvSpPr>
            <p:nvPr/>
          </p:nvSpPr>
          <p:spPr bwMode="auto">
            <a:xfrm>
              <a:off x="7764378" y="4617805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0" name="Rectangle 99"/>
            <p:cNvSpPr>
              <a:spLocks noChangeArrowheads="1"/>
            </p:cNvSpPr>
            <p:nvPr/>
          </p:nvSpPr>
          <p:spPr bwMode="auto">
            <a:xfrm>
              <a:off x="7764378" y="5081944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1" name="Rectangle 100"/>
            <p:cNvSpPr>
              <a:spLocks noChangeArrowheads="1"/>
            </p:cNvSpPr>
            <p:nvPr/>
          </p:nvSpPr>
          <p:spPr bwMode="auto">
            <a:xfrm>
              <a:off x="7764378" y="5546083"/>
              <a:ext cx="300325" cy="36061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2" name="Rectangle 101"/>
            <p:cNvSpPr>
              <a:spLocks noChangeArrowheads="1"/>
            </p:cNvSpPr>
            <p:nvPr/>
          </p:nvSpPr>
          <p:spPr bwMode="auto">
            <a:xfrm>
              <a:off x="7764378" y="6011360"/>
              <a:ext cx="300325" cy="3606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3" name="Line 102"/>
            <p:cNvSpPr>
              <a:spLocks noChangeShapeType="1"/>
            </p:cNvSpPr>
            <p:nvPr/>
          </p:nvSpPr>
          <p:spPr bwMode="auto">
            <a:xfrm>
              <a:off x="7584447" y="281130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4" name="Line 103"/>
            <p:cNvSpPr>
              <a:spLocks noChangeShapeType="1"/>
            </p:cNvSpPr>
            <p:nvPr/>
          </p:nvSpPr>
          <p:spPr bwMode="auto">
            <a:xfrm>
              <a:off x="7584447" y="3017209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5" name="Line 104"/>
            <p:cNvSpPr>
              <a:spLocks noChangeShapeType="1"/>
            </p:cNvSpPr>
            <p:nvPr/>
          </p:nvSpPr>
          <p:spPr bwMode="auto">
            <a:xfrm>
              <a:off x="7584447" y="327544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6" name="Line 105"/>
            <p:cNvSpPr>
              <a:spLocks noChangeShapeType="1"/>
            </p:cNvSpPr>
            <p:nvPr/>
          </p:nvSpPr>
          <p:spPr bwMode="auto">
            <a:xfrm>
              <a:off x="7584447" y="348248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7" name="Line 106"/>
            <p:cNvSpPr>
              <a:spLocks noChangeShapeType="1"/>
            </p:cNvSpPr>
            <p:nvPr/>
          </p:nvSpPr>
          <p:spPr bwMode="auto">
            <a:xfrm>
              <a:off x="7584447" y="373958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8" name="Line 107"/>
            <p:cNvSpPr>
              <a:spLocks noChangeShapeType="1"/>
            </p:cNvSpPr>
            <p:nvPr/>
          </p:nvSpPr>
          <p:spPr bwMode="auto">
            <a:xfrm>
              <a:off x="7584447" y="394662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9" name="Line 108"/>
            <p:cNvSpPr>
              <a:spLocks noChangeShapeType="1"/>
            </p:cNvSpPr>
            <p:nvPr/>
          </p:nvSpPr>
          <p:spPr bwMode="auto">
            <a:xfrm>
              <a:off x="7584447" y="420485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0" name="Line 109"/>
            <p:cNvSpPr>
              <a:spLocks noChangeShapeType="1"/>
            </p:cNvSpPr>
            <p:nvPr/>
          </p:nvSpPr>
          <p:spPr bwMode="auto">
            <a:xfrm>
              <a:off x="7584447" y="4410763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1" name="Line 110"/>
            <p:cNvSpPr>
              <a:spLocks noChangeShapeType="1"/>
            </p:cNvSpPr>
            <p:nvPr/>
          </p:nvSpPr>
          <p:spPr bwMode="auto">
            <a:xfrm>
              <a:off x="7584447" y="466899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2" name="Line 111"/>
            <p:cNvSpPr>
              <a:spLocks noChangeShapeType="1"/>
            </p:cNvSpPr>
            <p:nvPr/>
          </p:nvSpPr>
          <p:spPr bwMode="auto">
            <a:xfrm>
              <a:off x="7584447" y="487490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3" name="Line 112"/>
            <p:cNvSpPr>
              <a:spLocks noChangeShapeType="1"/>
            </p:cNvSpPr>
            <p:nvPr/>
          </p:nvSpPr>
          <p:spPr bwMode="auto">
            <a:xfrm>
              <a:off x="7584447" y="513313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4" name="Line 113"/>
            <p:cNvSpPr>
              <a:spLocks noChangeShapeType="1"/>
            </p:cNvSpPr>
            <p:nvPr/>
          </p:nvSpPr>
          <p:spPr bwMode="auto">
            <a:xfrm>
              <a:off x="7584447" y="534017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5" name="Line 114"/>
            <p:cNvSpPr>
              <a:spLocks noChangeShapeType="1"/>
            </p:cNvSpPr>
            <p:nvPr/>
          </p:nvSpPr>
          <p:spPr bwMode="auto">
            <a:xfrm>
              <a:off x="7584447" y="559727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6" name="Line 115"/>
            <p:cNvSpPr>
              <a:spLocks noChangeShapeType="1"/>
            </p:cNvSpPr>
            <p:nvPr/>
          </p:nvSpPr>
          <p:spPr bwMode="auto">
            <a:xfrm>
              <a:off x="7584447" y="580431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7" name="Line 116"/>
            <p:cNvSpPr>
              <a:spLocks noChangeShapeType="1"/>
            </p:cNvSpPr>
            <p:nvPr/>
          </p:nvSpPr>
          <p:spPr bwMode="auto">
            <a:xfrm>
              <a:off x="7584447" y="606255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8" name="Line 117"/>
            <p:cNvSpPr>
              <a:spLocks noChangeShapeType="1"/>
            </p:cNvSpPr>
            <p:nvPr/>
          </p:nvSpPr>
          <p:spPr bwMode="auto">
            <a:xfrm>
              <a:off x="7584447" y="626845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9" name="Line 118"/>
            <p:cNvSpPr>
              <a:spLocks noChangeShapeType="1"/>
            </p:cNvSpPr>
            <p:nvPr/>
          </p:nvSpPr>
          <p:spPr bwMode="auto">
            <a:xfrm>
              <a:off x="8064703" y="281130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0" name="Line 119"/>
            <p:cNvSpPr>
              <a:spLocks noChangeShapeType="1"/>
            </p:cNvSpPr>
            <p:nvPr/>
          </p:nvSpPr>
          <p:spPr bwMode="auto">
            <a:xfrm>
              <a:off x="8064703" y="3017209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1" name="Line 120"/>
            <p:cNvSpPr>
              <a:spLocks noChangeShapeType="1"/>
            </p:cNvSpPr>
            <p:nvPr/>
          </p:nvSpPr>
          <p:spPr bwMode="auto">
            <a:xfrm>
              <a:off x="8064703" y="327544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2" name="Line 121"/>
            <p:cNvSpPr>
              <a:spLocks noChangeShapeType="1"/>
            </p:cNvSpPr>
            <p:nvPr/>
          </p:nvSpPr>
          <p:spPr bwMode="auto">
            <a:xfrm>
              <a:off x="8064703" y="348248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3" name="Line 122"/>
            <p:cNvSpPr>
              <a:spLocks noChangeShapeType="1"/>
            </p:cNvSpPr>
            <p:nvPr/>
          </p:nvSpPr>
          <p:spPr bwMode="auto">
            <a:xfrm>
              <a:off x="8064703" y="373958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4" name="Line 123"/>
            <p:cNvSpPr>
              <a:spLocks noChangeShapeType="1"/>
            </p:cNvSpPr>
            <p:nvPr/>
          </p:nvSpPr>
          <p:spPr bwMode="auto">
            <a:xfrm>
              <a:off x="8064703" y="394662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5" name="Line 124"/>
            <p:cNvSpPr>
              <a:spLocks noChangeShapeType="1"/>
            </p:cNvSpPr>
            <p:nvPr/>
          </p:nvSpPr>
          <p:spPr bwMode="auto">
            <a:xfrm>
              <a:off x="8064703" y="420485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6" name="Line 125"/>
            <p:cNvSpPr>
              <a:spLocks noChangeShapeType="1"/>
            </p:cNvSpPr>
            <p:nvPr/>
          </p:nvSpPr>
          <p:spPr bwMode="auto">
            <a:xfrm>
              <a:off x="8064703" y="4410763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7" name="Line 126"/>
            <p:cNvSpPr>
              <a:spLocks noChangeShapeType="1"/>
            </p:cNvSpPr>
            <p:nvPr/>
          </p:nvSpPr>
          <p:spPr bwMode="auto">
            <a:xfrm>
              <a:off x="8064703" y="466899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8" name="Line 127"/>
            <p:cNvSpPr>
              <a:spLocks noChangeShapeType="1"/>
            </p:cNvSpPr>
            <p:nvPr/>
          </p:nvSpPr>
          <p:spPr bwMode="auto">
            <a:xfrm>
              <a:off x="8064703" y="487490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9" name="Line 128"/>
            <p:cNvSpPr>
              <a:spLocks noChangeShapeType="1"/>
            </p:cNvSpPr>
            <p:nvPr/>
          </p:nvSpPr>
          <p:spPr bwMode="auto">
            <a:xfrm>
              <a:off x="8064703" y="513313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0" name="Line 129"/>
            <p:cNvSpPr>
              <a:spLocks noChangeShapeType="1"/>
            </p:cNvSpPr>
            <p:nvPr/>
          </p:nvSpPr>
          <p:spPr bwMode="auto">
            <a:xfrm>
              <a:off x="8064703" y="534017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1" name="Line 130"/>
            <p:cNvSpPr>
              <a:spLocks noChangeShapeType="1"/>
            </p:cNvSpPr>
            <p:nvPr/>
          </p:nvSpPr>
          <p:spPr bwMode="auto">
            <a:xfrm>
              <a:off x="8064703" y="559727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2" name="Line 131"/>
            <p:cNvSpPr>
              <a:spLocks noChangeShapeType="1"/>
            </p:cNvSpPr>
            <p:nvPr/>
          </p:nvSpPr>
          <p:spPr bwMode="auto">
            <a:xfrm>
              <a:off x="8064703" y="580431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3" name="Line 132"/>
            <p:cNvSpPr>
              <a:spLocks noChangeShapeType="1"/>
            </p:cNvSpPr>
            <p:nvPr/>
          </p:nvSpPr>
          <p:spPr bwMode="auto">
            <a:xfrm>
              <a:off x="8064703" y="606255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4" name="Line 133"/>
            <p:cNvSpPr>
              <a:spLocks noChangeShapeType="1"/>
            </p:cNvSpPr>
            <p:nvPr/>
          </p:nvSpPr>
          <p:spPr bwMode="auto">
            <a:xfrm>
              <a:off x="8064703" y="626845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grpSp>
          <p:nvGrpSpPr>
            <p:cNvPr id="85" name="Group 186"/>
            <p:cNvGrpSpPr>
              <a:grpSpLocks/>
            </p:cNvGrpSpPr>
            <p:nvPr/>
          </p:nvGrpSpPr>
          <p:grpSpPr bwMode="auto">
            <a:xfrm>
              <a:off x="1584545" y="2811304"/>
              <a:ext cx="419398" cy="3457153"/>
              <a:chOff x="2268" y="1156"/>
              <a:chExt cx="317" cy="3039"/>
            </a:xfrm>
          </p:grpSpPr>
          <p:sp>
            <p:nvSpPr>
              <p:cNvPr id="183" name="Line 134"/>
              <p:cNvSpPr>
                <a:spLocks noChangeShapeType="1"/>
              </p:cNvSpPr>
              <p:nvPr/>
            </p:nvSpPr>
            <p:spPr bwMode="auto">
              <a:xfrm>
                <a:off x="2268" y="1156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4" name="Line 135"/>
              <p:cNvSpPr>
                <a:spLocks noChangeShapeType="1"/>
              </p:cNvSpPr>
              <p:nvPr/>
            </p:nvSpPr>
            <p:spPr bwMode="auto">
              <a:xfrm>
                <a:off x="2268" y="4195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5" name="Line 136"/>
              <p:cNvSpPr>
                <a:spLocks noChangeShapeType="1"/>
              </p:cNvSpPr>
              <p:nvPr/>
            </p:nvSpPr>
            <p:spPr bwMode="auto">
              <a:xfrm>
                <a:off x="2268" y="1337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6" name="Line 137"/>
              <p:cNvSpPr>
                <a:spLocks noChangeShapeType="1"/>
              </p:cNvSpPr>
              <p:nvPr/>
            </p:nvSpPr>
            <p:spPr bwMode="auto">
              <a:xfrm flipV="1">
                <a:off x="2268" y="133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7" name="Line 138"/>
              <p:cNvSpPr>
                <a:spLocks noChangeShapeType="1"/>
              </p:cNvSpPr>
              <p:nvPr/>
            </p:nvSpPr>
            <p:spPr bwMode="auto">
              <a:xfrm flipV="1">
                <a:off x="2268" y="1564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8" name="Line 139"/>
              <p:cNvSpPr>
                <a:spLocks noChangeShapeType="1"/>
              </p:cNvSpPr>
              <p:nvPr/>
            </p:nvSpPr>
            <p:spPr bwMode="auto">
              <a:xfrm flipV="1">
                <a:off x="2268" y="1746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9" name="Line 140"/>
              <p:cNvSpPr>
                <a:spLocks noChangeShapeType="1"/>
              </p:cNvSpPr>
              <p:nvPr/>
            </p:nvSpPr>
            <p:spPr bwMode="auto">
              <a:xfrm flipV="1">
                <a:off x="2268" y="197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0" name="Line 141"/>
              <p:cNvSpPr>
                <a:spLocks noChangeShapeType="1"/>
              </p:cNvSpPr>
              <p:nvPr/>
            </p:nvSpPr>
            <p:spPr bwMode="auto">
              <a:xfrm flipV="1">
                <a:off x="2268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1" name="Line 142"/>
              <p:cNvSpPr>
                <a:spLocks noChangeShapeType="1"/>
              </p:cNvSpPr>
              <p:nvPr/>
            </p:nvSpPr>
            <p:spPr bwMode="auto">
              <a:xfrm flipV="1">
                <a:off x="2268" y="2381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2" name="Line 143"/>
              <p:cNvSpPr>
                <a:spLocks noChangeShapeType="1"/>
              </p:cNvSpPr>
              <p:nvPr/>
            </p:nvSpPr>
            <p:spPr bwMode="auto">
              <a:xfrm flipV="1">
                <a:off x="2268" y="2562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3" name="Line 144"/>
              <p:cNvSpPr>
                <a:spLocks noChangeShapeType="1"/>
              </p:cNvSpPr>
              <p:nvPr/>
            </p:nvSpPr>
            <p:spPr bwMode="auto">
              <a:xfrm>
                <a:off x="2268" y="1746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4" name="Line 145"/>
              <p:cNvSpPr>
                <a:spLocks noChangeShapeType="1"/>
              </p:cNvSpPr>
              <p:nvPr/>
            </p:nvSpPr>
            <p:spPr bwMode="auto">
              <a:xfrm>
                <a:off x="2268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5" name="Line 146"/>
              <p:cNvSpPr>
                <a:spLocks noChangeShapeType="1"/>
              </p:cNvSpPr>
              <p:nvPr/>
            </p:nvSpPr>
            <p:spPr bwMode="auto">
              <a:xfrm>
                <a:off x="2268" y="256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6" name="Line 147"/>
              <p:cNvSpPr>
                <a:spLocks noChangeShapeType="1"/>
              </p:cNvSpPr>
              <p:nvPr/>
            </p:nvSpPr>
            <p:spPr bwMode="auto">
              <a:xfrm>
                <a:off x="2268" y="2970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7" name="Line 148"/>
              <p:cNvSpPr>
                <a:spLocks noChangeShapeType="1"/>
              </p:cNvSpPr>
              <p:nvPr/>
            </p:nvSpPr>
            <p:spPr bwMode="auto">
              <a:xfrm>
                <a:off x="2268" y="3379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8" name="Line 149"/>
              <p:cNvSpPr>
                <a:spLocks noChangeShapeType="1"/>
              </p:cNvSpPr>
              <p:nvPr/>
            </p:nvSpPr>
            <p:spPr bwMode="auto">
              <a:xfrm>
                <a:off x="2268" y="378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sp>
          <p:nvSpPr>
            <p:cNvPr id="86" name="Rectangle 44"/>
            <p:cNvSpPr>
              <a:spLocks noChangeArrowheads="1"/>
            </p:cNvSpPr>
            <p:nvPr/>
          </p:nvSpPr>
          <p:spPr bwMode="auto">
            <a:xfrm>
              <a:off x="2183874" y="2760112"/>
              <a:ext cx="4799921" cy="1754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7" name="Rectangle 45"/>
            <p:cNvSpPr>
              <a:spLocks noChangeArrowheads="1"/>
            </p:cNvSpPr>
            <p:nvPr/>
          </p:nvSpPr>
          <p:spPr bwMode="auto">
            <a:xfrm>
              <a:off x="2183874" y="4617805"/>
              <a:ext cx="4799921" cy="1754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8" name="Line 62"/>
            <p:cNvSpPr>
              <a:spLocks noChangeShapeType="1"/>
            </p:cNvSpPr>
            <p:nvPr/>
          </p:nvSpPr>
          <p:spPr bwMode="auto">
            <a:xfrm>
              <a:off x="2003943" y="281130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9" name="Line 63"/>
            <p:cNvSpPr>
              <a:spLocks noChangeShapeType="1"/>
            </p:cNvSpPr>
            <p:nvPr/>
          </p:nvSpPr>
          <p:spPr bwMode="auto">
            <a:xfrm>
              <a:off x="2003943" y="3017209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0" name="Line 64"/>
            <p:cNvSpPr>
              <a:spLocks noChangeShapeType="1"/>
            </p:cNvSpPr>
            <p:nvPr/>
          </p:nvSpPr>
          <p:spPr bwMode="auto">
            <a:xfrm>
              <a:off x="2003943" y="327544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1" name="Line 65"/>
            <p:cNvSpPr>
              <a:spLocks noChangeShapeType="1"/>
            </p:cNvSpPr>
            <p:nvPr/>
          </p:nvSpPr>
          <p:spPr bwMode="auto">
            <a:xfrm>
              <a:off x="2003943" y="348248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2" name="Line 66"/>
            <p:cNvSpPr>
              <a:spLocks noChangeShapeType="1"/>
            </p:cNvSpPr>
            <p:nvPr/>
          </p:nvSpPr>
          <p:spPr bwMode="auto">
            <a:xfrm>
              <a:off x="2003943" y="373958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3" name="Line 67"/>
            <p:cNvSpPr>
              <a:spLocks noChangeShapeType="1"/>
            </p:cNvSpPr>
            <p:nvPr/>
          </p:nvSpPr>
          <p:spPr bwMode="auto">
            <a:xfrm>
              <a:off x="2003943" y="394662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4" name="Line 68"/>
            <p:cNvSpPr>
              <a:spLocks noChangeShapeType="1"/>
            </p:cNvSpPr>
            <p:nvPr/>
          </p:nvSpPr>
          <p:spPr bwMode="auto">
            <a:xfrm>
              <a:off x="2003943" y="420485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5" name="Line 69"/>
            <p:cNvSpPr>
              <a:spLocks noChangeShapeType="1"/>
            </p:cNvSpPr>
            <p:nvPr/>
          </p:nvSpPr>
          <p:spPr bwMode="auto">
            <a:xfrm>
              <a:off x="2003943" y="4410763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6" name="Line 70"/>
            <p:cNvSpPr>
              <a:spLocks noChangeShapeType="1"/>
            </p:cNvSpPr>
            <p:nvPr/>
          </p:nvSpPr>
          <p:spPr bwMode="auto">
            <a:xfrm>
              <a:off x="2003943" y="466899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7" name="Line 71"/>
            <p:cNvSpPr>
              <a:spLocks noChangeShapeType="1"/>
            </p:cNvSpPr>
            <p:nvPr/>
          </p:nvSpPr>
          <p:spPr bwMode="auto">
            <a:xfrm>
              <a:off x="2003943" y="487490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8" name="Line 72"/>
            <p:cNvSpPr>
              <a:spLocks noChangeShapeType="1"/>
            </p:cNvSpPr>
            <p:nvPr/>
          </p:nvSpPr>
          <p:spPr bwMode="auto">
            <a:xfrm>
              <a:off x="2003943" y="513313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9" name="Line 73"/>
            <p:cNvSpPr>
              <a:spLocks noChangeShapeType="1"/>
            </p:cNvSpPr>
            <p:nvPr/>
          </p:nvSpPr>
          <p:spPr bwMode="auto">
            <a:xfrm>
              <a:off x="2003943" y="534017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0" name="Line 74"/>
            <p:cNvSpPr>
              <a:spLocks noChangeShapeType="1"/>
            </p:cNvSpPr>
            <p:nvPr/>
          </p:nvSpPr>
          <p:spPr bwMode="auto">
            <a:xfrm>
              <a:off x="2003943" y="559727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1" name="Line 75"/>
            <p:cNvSpPr>
              <a:spLocks noChangeShapeType="1"/>
            </p:cNvSpPr>
            <p:nvPr/>
          </p:nvSpPr>
          <p:spPr bwMode="auto">
            <a:xfrm>
              <a:off x="2003943" y="580431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2" name="Line 76"/>
            <p:cNvSpPr>
              <a:spLocks noChangeShapeType="1"/>
            </p:cNvSpPr>
            <p:nvPr/>
          </p:nvSpPr>
          <p:spPr bwMode="auto">
            <a:xfrm>
              <a:off x="2003943" y="606255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3" name="Line 77"/>
            <p:cNvSpPr>
              <a:spLocks noChangeShapeType="1"/>
            </p:cNvSpPr>
            <p:nvPr/>
          </p:nvSpPr>
          <p:spPr bwMode="auto">
            <a:xfrm>
              <a:off x="2003943" y="626845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4" name="Line 150"/>
            <p:cNvSpPr>
              <a:spLocks noChangeShapeType="1"/>
            </p:cNvSpPr>
            <p:nvPr/>
          </p:nvSpPr>
          <p:spPr bwMode="auto">
            <a:xfrm>
              <a:off x="6985118" y="281130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5" name="Line 151"/>
            <p:cNvSpPr>
              <a:spLocks noChangeShapeType="1"/>
            </p:cNvSpPr>
            <p:nvPr/>
          </p:nvSpPr>
          <p:spPr bwMode="auto">
            <a:xfrm>
              <a:off x="6985118" y="3017209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6" name="Line 152"/>
            <p:cNvSpPr>
              <a:spLocks noChangeShapeType="1"/>
            </p:cNvSpPr>
            <p:nvPr/>
          </p:nvSpPr>
          <p:spPr bwMode="auto">
            <a:xfrm>
              <a:off x="6985118" y="327544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7" name="Line 153"/>
            <p:cNvSpPr>
              <a:spLocks noChangeShapeType="1"/>
            </p:cNvSpPr>
            <p:nvPr/>
          </p:nvSpPr>
          <p:spPr bwMode="auto">
            <a:xfrm>
              <a:off x="6985118" y="348248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8" name="Line 154"/>
            <p:cNvSpPr>
              <a:spLocks noChangeShapeType="1"/>
            </p:cNvSpPr>
            <p:nvPr/>
          </p:nvSpPr>
          <p:spPr bwMode="auto">
            <a:xfrm>
              <a:off x="6985118" y="373958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9" name="Line 155"/>
            <p:cNvSpPr>
              <a:spLocks noChangeShapeType="1"/>
            </p:cNvSpPr>
            <p:nvPr/>
          </p:nvSpPr>
          <p:spPr bwMode="auto">
            <a:xfrm>
              <a:off x="6985118" y="3946624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0" name="Line 156"/>
            <p:cNvSpPr>
              <a:spLocks noChangeShapeType="1"/>
            </p:cNvSpPr>
            <p:nvPr/>
          </p:nvSpPr>
          <p:spPr bwMode="auto">
            <a:xfrm>
              <a:off x="6985118" y="420485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1" name="Line 157"/>
            <p:cNvSpPr>
              <a:spLocks noChangeShapeType="1"/>
            </p:cNvSpPr>
            <p:nvPr/>
          </p:nvSpPr>
          <p:spPr bwMode="auto">
            <a:xfrm>
              <a:off x="6985118" y="4410763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2" name="Line 158"/>
            <p:cNvSpPr>
              <a:spLocks noChangeShapeType="1"/>
            </p:cNvSpPr>
            <p:nvPr/>
          </p:nvSpPr>
          <p:spPr bwMode="auto">
            <a:xfrm>
              <a:off x="6985118" y="466899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3" name="Line 159"/>
            <p:cNvSpPr>
              <a:spLocks noChangeShapeType="1"/>
            </p:cNvSpPr>
            <p:nvPr/>
          </p:nvSpPr>
          <p:spPr bwMode="auto">
            <a:xfrm>
              <a:off x="6985118" y="4874902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4" name="Line 160"/>
            <p:cNvSpPr>
              <a:spLocks noChangeShapeType="1"/>
            </p:cNvSpPr>
            <p:nvPr/>
          </p:nvSpPr>
          <p:spPr bwMode="auto">
            <a:xfrm>
              <a:off x="6985118" y="513313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5" name="Line 161"/>
            <p:cNvSpPr>
              <a:spLocks noChangeShapeType="1"/>
            </p:cNvSpPr>
            <p:nvPr/>
          </p:nvSpPr>
          <p:spPr bwMode="auto">
            <a:xfrm>
              <a:off x="6985118" y="5340178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6" name="Line 162"/>
            <p:cNvSpPr>
              <a:spLocks noChangeShapeType="1"/>
            </p:cNvSpPr>
            <p:nvPr/>
          </p:nvSpPr>
          <p:spPr bwMode="auto">
            <a:xfrm>
              <a:off x="6985118" y="5597275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7" name="Line 163"/>
            <p:cNvSpPr>
              <a:spLocks noChangeShapeType="1"/>
            </p:cNvSpPr>
            <p:nvPr/>
          </p:nvSpPr>
          <p:spPr bwMode="auto">
            <a:xfrm>
              <a:off x="6985118" y="5804317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8" name="Line 164"/>
            <p:cNvSpPr>
              <a:spLocks noChangeShapeType="1"/>
            </p:cNvSpPr>
            <p:nvPr/>
          </p:nvSpPr>
          <p:spPr bwMode="auto">
            <a:xfrm>
              <a:off x="6985118" y="6062551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9" name="Line 165"/>
            <p:cNvSpPr>
              <a:spLocks noChangeShapeType="1"/>
            </p:cNvSpPr>
            <p:nvPr/>
          </p:nvSpPr>
          <p:spPr bwMode="auto">
            <a:xfrm>
              <a:off x="6985118" y="6268456"/>
              <a:ext cx="1799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grpSp>
          <p:nvGrpSpPr>
            <p:cNvPr id="120" name="Group 185"/>
            <p:cNvGrpSpPr>
              <a:grpSpLocks/>
            </p:cNvGrpSpPr>
            <p:nvPr/>
          </p:nvGrpSpPr>
          <p:grpSpPr bwMode="auto">
            <a:xfrm>
              <a:off x="7165049" y="2811304"/>
              <a:ext cx="419398" cy="3457153"/>
              <a:chOff x="3584" y="1156"/>
              <a:chExt cx="317" cy="3039"/>
            </a:xfrm>
          </p:grpSpPr>
          <p:sp>
            <p:nvSpPr>
              <p:cNvPr id="167" name="Line 166"/>
              <p:cNvSpPr>
                <a:spLocks noChangeShapeType="1"/>
              </p:cNvSpPr>
              <p:nvPr/>
            </p:nvSpPr>
            <p:spPr bwMode="auto">
              <a:xfrm flipV="1">
                <a:off x="3584" y="1156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8" name="Line 167"/>
              <p:cNvSpPr>
                <a:spLocks noChangeShapeType="1"/>
              </p:cNvSpPr>
              <p:nvPr/>
            </p:nvSpPr>
            <p:spPr bwMode="auto">
              <a:xfrm flipV="1">
                <a:off x="3584" y="4195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9" name="Line 168"/>
              <p:cNvSpPr>
                <a:spLocks noChangeShapeType="1"/>
              </p:cNvSpPr>
              <p:nvPr/>
            </p:nvSpPr>
            <p:spPr bwMode="auto">
              <a:xfrm flipV="1">
                <a:off x="3584" y="1337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0" name="Line 169"/>
              <p:cNvSpPr>
                <a:spLocks noChangeShapeType="1"/>
              </p:cNvSpPr>
              <p:nvPr/>
            </p:nvSpPr>
            <p:spPr bwMode="auto">
              <a:xfrm>
                <a:off x="3584" y="133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1" name="Line 170"/>
              <p:cNvSpPr>
                <a:spLocks noChangeShapeType="1"/>
              </p:cNvSpPr>
              <p:nvPr/>
            </p:nvSpPr>
            <p:spPr bwMode="auto">
              <a:xfrm>
                <a:off x="3584" y="1564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" name="Line 171"/>
              <p:cNvSpPr>
                <a:spLocks noChangeShapeType="1"/>
              </p:cNvSpPr>
              <p:nvPr/>
            </p:nvSpPr>
            <p:spPr bwMode="auto">
              <a:xfrm>
                <a:off x="3584" y="1746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3" name="Line 172"/>
              <p:cNvSpPr>
                <a:spLocks noChangeShapeType="1"/>
              </p:cNvSpPr>
              <p:nvPr/>
            </p:nvSpPr>
            <p:spPr bwMode="auto">
              <a:xfrm>
                <a:off x="3584" y="197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4" name="Line 173"/>
              <p:cNvSpPr>
                <a:spLocks noChangeShapeType="1"/>
              </p:cNvSpPr>
              <p:nvPr/>
            </p:nvSpPr>
            <p:spPr bwMode="auto">
              <a:xfrm>
                <a:off x="3584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5" name="Line 174"/>
              <p:cNvSpPr>
                <a:spLocks noChangeShapeType="1"/>
              </p:cNvSpPr>
              <p:nvPr/>
            </p:nvSpPr>
            <p:spPr bwMode="auto">
              <a:xfrm>
                <a:off x="3584" y="2381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6" name="Line 175"/>
              <p:cNvSpPr>
                <a:spLocks noChangeShapeType="1"/>
              </p:cNvSpPr>
              <p:nvPr/>
            </p:nvSpPr>
            <p:spPr bwMode="auto">
              <a:xfrm>
                <a:off x="3584" y="2562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7" name="Line 176"/>
              <p:cNvSpPr>
                <a:spLocks noChangeShapeType="1"/>
              </p:cNvSpPr>
              <p:nvPr/>
            </p:nvSpPr>
            <p:spPr bwMode="auto">
              <a:xfrm flipV="1">
                <a:off x="3584" y="1746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8" name="Line 177"/>
              <p:cNvSpPr>
                <a:spLocks noChangeShapeType="1"/>
              </p:cNvSpPr>
              <p:nvPr/>
            </p:nvSpPr>
            <p:spPr bwMode="auto">
              <a:xfrm flipV="1">
                <a:off x="3584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9" name="Line 178"/>
              <p:cNvSpPr>
                <a:spLocks noChangeShapeType="1"/>
              </p:cNvSpPr>
              <p:nvPr/>
            </p:nvSpPr>
            <p:spPr bwMode="auto">
              <a:xfrm flipV="1">
                <a:off x="3584" y="256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0" name="Line 179"/>
              <p:cNvSpPr>
                <a:spLocks noChangeShapeType="1"/>
              </p:cNvSpPr>
              <p:nvPr/>
            </p:nvSpPr>
            <p:spPr bwMode="auto">
              <a:xfrm flipV="1">
                <a:off x="3584" y="2970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1" name="Line 180"/>
              <p:cNvSpPr>
                <a:spLocks noChangeShapeType="1"/>
              </p:cNvSpPr>
              <p:nvPr/>
            </p:nvSpPr>
            <p:spPr bwMode="auto">
              <a:xfrm flipV="1">
                <a:off x="3584" y="3379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82" name="Line 181"/>
              <p:cNvSpPr>
                <a:spLocks noChangeShapeType="1"/>
              </p:cNvSpPr>
              <p:nvPr/>
            </p:nvSpPr>
            <p:spPr bwMode="auto">
              <a:xfrm flipV="1">
                <a:off x="3584" y="378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sp>
          <p:nvSpPr>
            <p:cNvPr id="121" name="Oval 197"/>
            <p:cNvSpPr>
              <a:spLocks noChangeArrowheads="1"/>
            </p:cNvSpPr>
            <p:nvPr/>
          </p:nvSpPr>
          <p:spPr bwMode="auto">
            <a:xfrm>
              <a:off x="683568" y="4308379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22" name="Oval 198"/>
            <p:cNvSpPr>
              <a:spLocks noChangeArrowheads="1"/>
            </p:cNvSpPr>
            <p:nvPr/>
          </p:nvSpPr>
          <p:spPr bwMode="auto">
            <a:xfrm>
              <a:off x="683568" y="4101337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123" name="Oval 199"/>
            <p:cNvSpPr>
              <a:spLocks noChangeArrowheads="1"/>
            </p:cNvSpPr>
            <p:nvPr/>
          </p:nvSpPr>
          <p:spPr bwMode="auto">
            <a:xfrm>
              <a:off x="683568" y="3843103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124" name="Oval 200"/>
            <p:cNvSpPr>
              <a:spLocks noChangeArrowheads="1"/>
            </p:cNvSpPr>
            <p:nvPr/>
          </p:nvSpPr>
          <p:spPr bwMode="auto">
            <a:xfrm>
              <a:off x="683568" y="3637198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25" name="Oval 201"/>
            <p:cNvSpPr>
              <a:spLocks noChangeArrowheads="1"/>
            </p:cNvSpPr>
            <p:nvPr/>
          </p:nvSpPr>
          <p:spPr bwMode="auto">
            <a:xfrm>
              <a:off x="683568" y="3378964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126" name="Oval 202"/>
            <p:cNvSpPr>
              <a:spLocks noChangeArrowheads="1"/>
            </p:cNvSpPr>
            <p:nvPr/>
          </p:nvSpPr>
          <p:spPr bwMode="auto">
            <a:xfrm>
              <a:off x="683568" y="3173059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127" name="Oval 203"/>
            <p:cNvSpPr>
              <a:spLocks noChangeArrowheads="1"/>
            </p:cNvSpPr>
            <p:nvPr/>
          </p:nvSpPr>
          <p:spPr bwMode="auto">
            <a:xfrm>
              <a:off x="683568" y="2914825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28" name="Oval 204"/>
            <p:cNvSpPr>
              <a:spLocks noChangeArrowheads="1"/>
            </p:cNvSpPr>
            <p:nvPr/>
          </p:nvSpPr>
          <p:spPr bwMode="auto">
            <a:xfrm>
              <a:off x="683568" y="2708920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29" name="Oval 205"/>
            <p:cNvSpPr>
              <a:spLocks noChangeArrowheads="1"/>
            </p:cNvSpPr>
            <p:nvPr/>
          </p:nvSpPr>
          <p:spPr bwMode="auto">
            <a:xfrm>
              <a:off x="683568" y="6166073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30" name="Oval 206"/>
            <p:cNvSpPr>
              <a:spLocks noChangeArrowheads="1"/>
            </p:cNvSpPr>
            <p:nvPr/>
          </p:nvSpPr>
          <p:spPr bwMode="auto">
            <a:xfrm>
              <a:off x="683568" y="5959030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131" name="Oval 207"/>
            <p:cNvSpPr>
              <a:spLocks noChangeArrowheads="1"/>
            </p:cNvSpPr>
            <p:nvPr/>
          </p:nvSpPr>
          <p:spPr bwMode="auto">
            <a:xfrm>
              <a:off x="683568" y="5700796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132" name="Oval 208"/>
            <p:cNvSpPr>
              <a:spLocks noChangeArrowheads="1"/>
            </p:cNvSpPr>
            <p:nvPr/>
          </p:nvSpPr>
          <p:spPr bwMode="auto">
            <a:xfrm>
              <a:off x="683568" y="5494891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133" name="Oval 209"/>
            <p:cNvSpPr>
              <a:spLocks noChangeArrowheads="1"/>
            </p:cNvSpPr>
            <p:nvPr/>
          </p:nvSpPr>
          <p:spPr bwMode="auto">
            <a:xfrm>
              <a:off x="683568" y="5236657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34" name="Oval 210"/>
            <p:cNvSpPr>
              <a:spLocks noChangeArrowheads="1"/>
            </p:cNvSpPr>
            <p:nvPr/>
          </p:nvSpPr>
          <p:spPr bwMode="auto">
            <a:xfrm>
              <a:off x="683568" y="5030752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35" name="Oval 211"/>
            <p:cNvSpPr>
              <a:spLocks noChangeArrowheads="1"/>
            </p:cNvSpPr>
            <p:nvPr/>
          </p:nvSpPr>
          <p:spPr bwMode="auto">
            <a:xfrm>
              <a:off x="683568" y="4772518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36" name="Oval 212"/>
            <p:cNvSpPr>
              <a:spLocks noChangeArrowheads="1"/>
            </p:cNvSpPr>
            <p:nvPr/>
          </p:nvSpPr>
          <p:spPr bwMode="auto">
            <a:xfrm>
              <a:off x="683568" y="4566614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37" name="Oval 213"/>
            <p:cNvSpPr>
              <a:spLocks noChangeArrowheads="1"/>
            </p:cNvSpPr>
            <p:nvPr/>
          </p:nvSpPr>
          <p:spPr bwMode="auto">
            <a:xfrm>
              <a:off x="8183775" y="4308379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38" name="Oval 214"/>
            <p:cNvSpPr>
              <a:spLocks noChangeArrowheads="1"/>
            </p:cNvSpPr>
            <p:nvPr/>
          </p:nvSpPr>
          <p:spPr bwMode="auto">
            <a:xfrm>
              <a:off x="8183775" y="4101337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139" name="Oval 215"/>
            <p:cNvSpPr>
              <a:spLocks noChangeArrowheads="1"/>
            </p:cNvSpPr>
            <p:nvPr/>
          </p:nvSpPr>
          <p:spPr bwMode="auto">
            <a:xfrm>
              <a:off x="8183775" y="3843103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140" name="Oval 216"/>
            <p:cNvSpPr>
              <a:spLocks noChangeArrowheads="1"/>
            </p:cNvSpPr>
            <p:nvPr/>
          </p:nvSpPr>
          <p:spPr bwMode="auto">
            <a:xfrm>
              <a:off x="8183775" y="3637198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141" name="Oval 217"/>
            <p:cNvSpPr>
              <a:spLocks noChangeArrowheads="1"/>
            </p:cNvSpPr>
            <p:nvPr/>
          </p:nvSpPr>
          <p:spPr bwMode="auto">
            <a:xfrm>
              <a:off x="8183775" y="3378964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142" name="Oval 218"/>
            <p:cNvSpPr>
              <a:spLocks noChangeArrowheads="1"/>
            </p:cNvSpPr>
            <p:nvPr/>
          </p:nvSpPr>
          <p:spPr bwMode="auto">
            <a:xfrm>
              <a:off x="8183775" y="3173059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143" name="Oval 219"/>
            <p:cNvSpPr>
              <a:spLocks noChangeArrowheads="1"/>
            </p:cNvSpPr>
            <p:nvPr/>
          </p:nvSpPr>
          <p:spPr bwMode="auto">
            <a:xfrm>
              <a:off x="8183775" y="2914825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44" name="Oval 220"/>
            <p:cNvSpPr>
              <a:spLocks noChangeArrowheads="1"/>
            </p:cNvSpPr>
            <p:nvPr/>
          </p:nvSpPr>
          <p:spPr bwMode="auto">
            <a:xfrm>
              <a:off x="8183775" y="2708920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45" name="Oval 221"/>
            <p:cNvSpPr>
              <a:spLocks noChangeArrowheads="1"/>
            </p:cNvSpPr>
            <p:nvPr/>
          </p:nvSpPr>
          <p:spPr bwMode="auto">
            <a:xfrm>
              <a:off x="8183775" y="6166073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46" name="Oval 222"/>
            <p:cNvSpPr>
              <a:spLocks noChangeArrowheads="1"/>
            </p:cNvSpPr>
            <p:nvPr/>
          </p:nvSpPr>
          <p:spPr bwMode="auto">
            <a:xfrm>
              <a:off x="8183775" y="5959030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147" name="Oval 223"/>
            <p:cNvSpPr>
              <a:spLocks noChangeArrowheads="1"/>
            </p:cNvSpPr>
            <p:nvPr/>
          </p:nvSpPr>
          <p:spPr bwMode="auto">
            <a:xfrm>
              <a:off x="8183775" y="5700796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148" name="Oval 224"/>
            <p:cNvSpPr>
              <a:spLocks noChangeArrowheads="1"/>
            </p:cNvSpPr>
            <p:nvPr/>
          </p:nvSpPr>
          <p:spPr bwMode="auto">
            <a:xfrm>
              <a:off x="8183775" y="5494891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149" name="Oval 225"/>
            <p:cNvSpPr>
              <a:spLocks noChangeArrowheads="1"/>
            </p:cNvSpPr>
            <p:nvPr/>
          </p:nvSpPr>
          <p:spPr bwMode="auto">
            <a:xfrm>
              <a:off x="8183775" y="5236657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50" name="Oval 226"/>
            <p:cNvSpPr>
              <a:spLocks noChangeArrowheads="1"/>
            </p:cNvSpPr>
            <p:nvPr/>
          </p:nvSpPr>
          <p:spPr bwMode="auto">
            <a:xfrm>
              <a:off x="8183775" y="5030752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51" name="Oval 227"/>
            <p:cNvSpPr>
              <a:spLocks noChangeArrowheads="1"/>
            </p:cNvSpPr>
            <p:nvPr/>
          </p:nvSpPr>
          <p:spPr bwMode="auto">
            <a:xfrm>
              <a:off x="8183775" y="4772518"/>
              <a:ext cx="240790" cy="205905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52" name="Oval 228"/>
            <p:cNvSpPr>
              <a:spLocks noChangeArrowheads="1"/>
            </p:cNvSpPr>
            <p:nvPr/>
          </p:nvSpPr>
          <p:spPr bwMode="auto">
            <a:xfrm>
              <a:off x="8183775" y="4566614"/>
              <a:ext cx="240790" cy="20590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grpSp>
          <p:nvGrpSpPr>
            <p:cNvPr id="153" name="Group 229"/>
            <p:cNvGrpSpPr>
              <a:grpSpLocks/>
            </p:cNvGrpSpPr>
            <p:nvPr/>
          </p:nvGrpSpPr>
          <p:grpSpPr bwMode="auto">
            <a:xfrm>
              <a:off x="3922324" y="3120730"/>
              <a:ext cx="1320375" cy="1032937"/>
              <a:chOff x="3175" y="2971"/>
              <a:chExt cx="726" cy="771"/>
            </a:xfrm>
          </p:grpSpPr>
          <p:sp>
            <p:nvSpPr>
              <p:cNvPr id="161" name="Line 230"/>
              <p:cNvSpPr>
                <a:spLocks noChangeShapeType="1"/>
              </p:cNvSpPr>
              <p:nvPr/>
            </p:nvSpPr>
            <p:spPr bwMode="auto">
              <a:xfrm flipH="1"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2" name="Line 231"/>
              <p:cNvSpPr>
                <a:spLocks noChangeShapeType="1"/>
              </p:cNvSpPr>
              <p:nvPr/>
            </p:nvSpPr>
            <p:spPr bwMode="auto">
              <a:xfrm flipH="1">
                <a:off x="3175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3" name="Line 232"/>
              <p:cNvSpPr>
                <a:spLocks noChangeShapeType="1"/>
              </p:cNvSpPr>
              <p:nvPr/>
            </p:nvSpPr>
            <p:spPr bwMode="auto">
              <a:xfrm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4" name="Line 233"/>
              <p:cNvSpPr>
                <a:spLocks noChangeShapeType="1"/>
              </p:cNvSpPr>
              <p:nvPr/>
            </p:nvSpPr>
            <p:spPr bwMode="auto">
              <a:xfrm flipH="1">
                <a:off x="3720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5" name="Line 234"/>
              <p:cNvSpPr>
                <a:spLocks noChangeShapeType="1"/>
              </p:cNvSpPr>
              <p:nvPr/>
            </p:nvSpPr>
            <p:spPr bwMode="auto">
              <a:xfrm flipH="1">
                <a:off x="3175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6" name="Line 235"/>
              <p:cNvSpPr>
                <a:spLocks noChangeShapeType="1"/>
              </p:cNvSpPr>
              <p:nvPr/>
            </p:nvSpPr>
            <p:spPr bwMode="auto">
              <a:xfrm flipH="1">
                <a:off x="3720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154" name="Group 236"/>
            <p:cNvGrpSpPr>
              <a:grpSpLocks/>
            </p:cNvGrpSpPr>
            <p:nvPr/>
          </p:nvGrpSpPr>
          <p:grpSpPr bwMode="auto">
            <a:xfrm>
              <a:off x="3923647" y="4978423"/>
              <a:ext cx="1320375" cy="1032937"/>
              <a:chOff x="3175" y="2971"/>
              <a:chExt cx="726" cy="771"/>
            </a:xfrm>
          </p:grpSpPr>
          <p:sp>
            <p:nvSpPr>
              <p:cNvPr id="155" name="Line 237"/>
              <p:cNvSpPr>
                <a:spLocks noChangeShapeType="1"/>
              </p:cNvSpPr>
              <p:nvPr/>
            </p:nvSpPr>
            <p:spPr bwMode="auto">
              <a:xfrm flipH="1"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56" name="Line 238"/>
              <p:cNvSpPr>
                <a:spLocks noChangeShapeType="1"/>
              </p:cNvSpPr>
              <p:nvPr/>
            </p:nvSpPr>
            <p:spPr bwMode="auto">
              <a:xfrm flipH="1">
                <a:off x="3175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57" name="Line 239"/>
              <p:cNvSpPr>
                <a:spLocks noChangeShapeType="1"/>
              </p:cNvSpPr>
              <p:nvPr/>
            </p:nvSpPr>
            <p:spPr bwMode="auto">
              <a:xfrm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58" name="Line 240"/>
              <p:cNvSpPr>
                <a:spLocks noChangeShapeType="1"/>
              </p:cNvSpPr>
              <p:nvPr/>
            </p:nvSpPr>
            <p:spPr bwMode="auto">
              <a:xfrm flipH="1">
                <a:off x="3720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59" name="Line 241"/>
              <p:cNvSpPr>
                <a:spLocks noChangeShapeType="1"/>
              </p:cNvSpPr>
              <p:nvPr/>
            </p:nvSpPr>
            <p:spPr bwMode="auto">
              <a:xfrm flipH="1">
                <a:off x="3175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60" name="Line 242"/>
              <p:cNvSpPr>
                <a:spLocks noChangeShapeType="1"/>
              </p:cNvSpPr>
              <p:nvPr/>
            </p:nvSpPr>
            <p:spPr bwMode="auto">
              <a:xfrm flipH="1">
                <a:off x="3720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</p:grpSp>
      <p:sp>
        <p:nvSpPr>
          <p:cNvPr id="199" name="Text Box 196"/>
          <p:cNvSpPr txBox="1">
            <a:spLocks noChangeArrowheads="1"/>
          </p:cNvSpPr>
          <p:nvPr/>
        </p:nvSpPr>
        <p:spPr bwMode="auto">
          <a:xfrm>
            <a:off x="2986509" y="6396880"/>
            <a:ext cx="3241675" cy="34448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9973" tIns="44986" rIns="89973" bIns="44986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013" indent="-214313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217488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/>
            <a:r>
              <a:rPr lang="en-GB" altLang="zh-TW" sz="1800">
                <a:solidFill>
                  <a:schemeClr val="tx1"/>
                </a:solidFill>
                <a:ea typeface="新細明體" panose="02020500000000000000" pitchFamily="18" charset="-120"/>
              </a:rPr>
              <a:t>16 port, </a:t>
            </a:r>
            <a:r>
              <a:rPr lang="en-GB" altLang="zh-TW" sz="1800" b="1" i="1">
                <a:solidFill>
                  <a:schemeClr val="accent2"/>
                </a:solidFill>
                <a:ea typeface="新細明體" panose="02020500000000000000" pitchFamily="18" charset="-120"/>
              </a:rPr>
              <a:t>3-stage Clos</a:t>
            </a:r>
            <a:r>
              <a:rPr lang="en-GB" altLang="zh-TW" sz="1800">
                <a:solidFill>
                  <a:schemeClr val="tx1"/>
                </a:solidFill>
                <a:ea typeface="新細明體" panose="02020500000000000000" pitchFamily="18" charset="-120"/>
              </a:rPr>
              <a:t> network</a:t>
            </a:r>
          </a:p>
        </p:txBody>
      </p:sp>
      <p:sp>
        <p:nvSpPr>
          <p:cNvPr id="200" name="文字方塊 199"/>
          <p:cNvSpPr txBox="1"/>
          <p:nvPr/>
        </p:nvSpPr>
        <p:spPr>
          <a:xfrm>
            <a:off x="971600" y="6381328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Inverse shuffle</a:t>
            </a:r>
            <a:endParaRPr lang="zh-TW" altLang="en-US" sz="1600" dirty="0"/>
          </a:p>
        </p:txBody>
      </p:sp>
      <p:sp>
        <p:nvSpPr>
          <p:cNvPr id="201" name="文字方塊 200"/>
          <p:cNvSpPr txBox="1"/>
          <p:nvPr/>
        </p:nvSpPr>
        <p:spPr>
          <a:xfrm>
            <a:off x="6732240" y="6381328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Perfect shuffle</a:t>
            </a:r>
            <a:endParaRPr lang="zh-TW" altLang="en-US" sz="1600" dirty="0"/>
          </a:p>
        </p:txBody>
      </p:sp>
      <p:sp>
        <p:nvSpPr>
          <p:cNvPr id="202" name="文字方塊 201"/>
          <p:cNvSpPr txBox="1"/>
          <p:nvPr/>
        </p:nvSpPr>
        <p:spPr>
          <a:xfrm>
            <a:off x="2195736" y="2708920"/>
            <a:ext cx="165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8 x 8 crossbar</a:t>
            </a:r>
            <a:endParaRPr lang="zh-TW" altLang="en-US" dirty="0"/>
          </a:p>
        </p:txBody>
      </p:sp>
      <p:sp>
        <p:nvSpPr>
          <p:cNvPr id="203" name="文字方塊 202"/>
          <p:cNvSpPr txBox="1"/>
          <p:nvPr/>
        </p:nvSpPr>
        <p:spPr>
          <a:xfrm>
            <a:off x="2195736" y="4571836"/>
            <a:ext cx="165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8 x 8 crossbar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6192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23289"/>
            <a:ext cx="7772400" cy="1017479"/>
          </a:xfrm>
        </p:spPr>
        <p:txBody>
          <a:bodyPr/>
          <a:lstStyle/>
          <a:p>
            <a:pPr algn="ctr"/>
            <a:r>
              <a:rPr lang="en-US" altLang="zh-TW" dirty="0" smtClean="0"/>
              <a:t>The Benes MIN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374048"/>
            <a:ext cx="8784976" cy="1622904"/>
          </a:xfrm>
        </p:spPr>
        <p:txBody>
          <a:bodyPr/>
          <a:lstStyle/>
          <a:p>
            <a:r>
              <a:rPr lang="en-US" altLang="zh-TW" dirty="0" smtClean="0"/>
              <a:t>Benes MIN is another non-blocking MIN.</a:t>
            </a:r>
          </a:p>
          <a:p>
            <a:pPr lvl="1"/>
            <a:r>
              <a:rPr lang="en-US" altLang="zh-TW" dirty="0" smtClean="0"/>
              <a:t>It </a:t>
            </a:r>
            <a:r>
              <a:rPr lang="en-US" altLang="zh-TW" dirty="0"/>
              <a:t>is constructed by </a:t>
            </a:r>
            <a:r>
              <a:rPr lang="en-US" altLang="zh-TW" dirty="0" smtClean="0"/>
              <a:t>recursively replacing crossbars of the middle stage of a </a:t>
            </a:r>
            <a:r>
              <a:rPr lang="en-US" altLang="zh-TW" dirty="0" smtClean="0">
                <a:solidFill>
                  <a:srgbClr val="FF0000"/>
                </a:solidFill>
              </a:rPr>
              <a:t>clos</a:t>
            </a:r>
            <a:r>
              <a:rPr lang="en-US" altLang="zh-TW" dirty="0" smtClean="0"/>
              <a:t> network to a smaller 3-stage clos until all </a:t>
            </a:r>
            <a:r>
              <a:rPr lang="en-US" altLang="zh-TW" dirty="0"/>
              <a:t>switches </a:t>
            </a:r>
            <a:r>
              <a:rPr lang="en-US" altLang="zh-TW" dirty="0" smtClean="0"/>
              <a:t>are 2 </a:t>
            </a:r>
            <a:r>
              <a:rPr lang="en-US" altLang="zh-TW" dirty="0"/>
              <a:t>x </a:t>
            </a:r>
            <a:r>
              <a:rPr lang="en-US" altLang="zh-TW" dirty="0" smtClean="0"/>
              <a:t>2 crossbars.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331640" y="3068960"/>
            <a:ext cx="6120680" cy="3312368"/>
            <a:chOff x="576263" y="1620838"/>
            <a:chExt cx="9288462" cy="5327650"/>
          </a:xfrm>
        </p:grpSpPr>
        <p:sp>
          <p:nvSpPr>
            <p:cNvPr id="5" name="AutoShape 372"/>
            <p:cNvSpPr>
              <a:spLocks noChangeArrowheads="1"/>
            </p:cNvSpPr>
            <p:nvPr/>
          </p:nvSpPr>
          <p:spPr bwMode="auto">
            <a:xfrm>
              <a:off x="2016125" y="4284663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" name="AutoShape 373"/>
            <p:cNvSpPr>
              <a:spLocks noChangeArrowheads="1"/>
            </p:cNvSpPr>
            <p:nvPr/>
          </p:nvSpPr>
          <p:spPr bwMode="auto">
            <a:xfrm>
              <a:off x="2016125" y="1620838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10810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10810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10810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" name="Rectangle 23"/>
            <p:cNvSpPr>
              <a:spLocks noChangeArrowheads="1"/>
            </p:cNvSpPr>
            <p:nvPr/>
          </p:nvSpPr>
          <p:spPr bwMode="auto">
            <a:xfrm>
              <a:off x="10810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10810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" name="Rectangle 25"/>
            <p:cNvSpPr>
              <a:spLocks noChangeArrowheads="1"/>
            </p:cNvSpPr>
            <p:nvPr/>
          </p:nvSpPr>
          <p:spPr bwMode="auto">
            <a:xfrm>
              <a:off x="10810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10810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10810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>
              <a:off x="8651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8651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" name="Line 30"/>
            <p:cNvSpPr>
              <a:spLocks noChangeShapeType="1"/>
            </p:cNvSpPr>
            <p:nvPr/>
          </p:nvSpPr>
          <p:spPr bwMode="auto">
            <a:xfrm>
              <a:off x="8651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>
              <a:off x="8651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>
              <a:off x="8651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" name="Line 33"/>
            <p:cNvSpPr>
              <a:spLocks noChangeShapeType="1"/>
            </p:cNvSpPr>
            <p:nvPr/>
          </p:nvSpPr>
          <p:spPr bwMode="auto">
            <a:xfrm>
              <a:off x="8651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" name="Line 34"/>
            <p:cNvSpPr>
              <a:spLocks noChangeShapeType="1"/>
            </p:cNvSpPr>
            <p:nvPr/>
          </p:nvSpPr>
          <p:spPr bwMode="auto">
            <a:xfrm>
              <a:off x="8651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" name="Line 35"/>
            <p:cNvSpPr>
              <a:spLocks noChangeShapeType="1"/>
            </p:cNvSpPr>
            <p:nvPr/>
          </p:nvSpPr>
          <p:spPr bwMode="auto">
            <a:xfrm>
              <a:off x="8651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" name="Line 36"/>
            <p:cNvSpPr>
              <a:spLocks noChangeShapeType="1"/>
            </p:cNvSpPr>
            <p:nvPr/>
          </p:nvSpPr>
          <p:spPr bwMode="auto">
            <a:xfrm>
              <a:off x="8651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" name="Line 37"/>
            <p:cNvSpPr>
              <a:spLocks noChangeShapeType="1"/>
            </p:cNvSpPr>
            <p:nvPr/>
          </p:nvSpPr>
          <p:spPr bwMode="auto">
            <a:xfrm>
              <a:off x="8651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" name="Line 38"/>
            <p:cNvSpPr>
              <a:spLocks noChangeShapeType="1"/>
            </p:cNvSpPr>
            <p:nvPr/>
          </p:nvSpPr>
          <p:spPr bwMode="auto">
            <a:xfrm>
              <a:off x="8651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" name="Line 39"/>
            <p:cNvSpPr>
              <a:spLocks noChangeShapeType="1"/>
            </p:cNvSpPr>
            <p:nvPr/>
          </p:nvSpPr>
          <p:spPr bwMode="auto">
            <a:xfrm>
              <a:off x="8651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" name="Line 40"/>
            <p:cNvSpPr>
              <a:spLocks noChangeShapeType="1"/>
            </p:cNvSpPr>
            <p:nvPr/>
          </p:nvSpPr>
          <p:spPr bwMode="auto">
            <a:xfrm>
              <a:off x="8651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" name="Line 41"/>
            <p:cNvSpPr>
              <a:spLocks noChangeShapeType="1"/>
            </p:cNvSpPr>
            <p:nvPr/>
          </p:nvSpPr>
          <p:spPr bwMode="auto">
            <a:xfrm>
              <a:off x="8651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" name="Line 42"/>
            <p:cNvSpPr>
              <a:spLocks noChangeShapeType="1"/>
            </p:cNvSpPr>
            <p:nvPr/>
          </p:nvSpPr>
          <p:spPr bwMode="auto">
            <a:xfrm>
              <a:off x="8651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" name="Line 43"/>
            <p:cNvSpPr>
              <a:spLocks noChangeShapeType="1"/>
            </p:cNvSpPr>
            <p:nvPr/>
          </p:nvSpPr>
          <p:spPr bwMode="auto">
            <a:xfrm>
              <a:off x="8651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" name="Line 44"/>
            <p:cNvSpPr>
              <a:spLocks noChangeShapeType="1"/>
            </p:cNvSpPr>
            <p:nvPr/>
          </p:nvSpPr>
          <p:spPr bwMode="auto">
            <a:xfrm>
              <a:off x="14414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" name="Line 45"/>
            <p:cNvSpPr>
              <a:spLocks noChangeShapeType="1"/>
            </p:cNvSpPr>
            <p:nvPr/>
          </p:nvSpPr>
          <p:spPr bwMode="auto">
            <a:xfrm>
              <a:off x="14414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" name="Line 46"/>
            <p:cNvSpPr>
              <a:spLocks noChangeShapeType="1"/>
            </p:cNvSpPr>
            <p:nvPr/>
          </p:nvSpPr>
          <p:spPr bwMode="auto">
            <a:xfrm>
              <a:off x="14414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" name="Line 47"/>
            <p:cNvSpPr>
              <a:spLocks noChangeShapeType="1"/>
            </p:cNvSpPr>
            <p:nvPr/>
          </p:nvSpPr>
          <p:spPr bwMode="auto">
            <a:xfrm>
              <a:off x="14414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" name="Line 48"/>
            <p:cNvSpPr>
              <a:spLocks noChangeShapeType="1"/>
            </p:cNvSpPr>
            <p:nvPr/>
          </p:nvSpPr>
          <p:spPr bwMode="auto">
            <a:xfrm>
              <a:off x="14414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" name="Line 49"/>
            <p:cNvSpPr>
              <a:spLocks noChangeShapeType="1"/>
            </p:cNvSpPr>
            <p:nvPr/>
          </p:nvSpPr>
          <p:spPr bwMode="auto">
            <a:xfrm>
              <a:off x="14414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" name="Line 50"/>
            <p:cNvSpPr>
              <a:spLocks noChangeShapeType="1"/>
            </p:cNvSpPr>
            <p:nvPr/>
          </p:nvSpPr>
          <p:spPr bwMode="auto">
            <a:xfrm>
              <a:off x="14414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" name="Line 51"/>
            <p:cNvSpPr>
              <a:spLocks noChangeShapeType="1"/>
            </p:cNvSpPr>
            <p:nvPr/>
          </p:nvSpPr>
          <p:spPr bwMode="auto">
            <a:xfrm>
              <a:off x="14414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" name="Line 52"/>
            <p:cNvSpPr>
              <a:spLocks noChangeShapeType="1"/>
            </p:cNvSpPr>
            <p:nvPr/>
          </p:nvSpPr>
          <p:spPr bwMode="auto">
            <a:xfrm>
              <a:off x="14414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" name="Line 53"/>
            <p:cNvSpPr>
              <a:spLocks noChangeShapeType="1"/>
            </p:cNvSpPr>
            <p:nvPr/>
          </p:nvSpPr>
          <p:spPr bwMode="auto">
            <a:xfrm>
              <a:off x="14414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1" name="Line 54"/>
            <p:cNvSpPr>
              <a:spLocks noChangeShapeType="1"/>
            </p:cNvSpPr>
            <p:nvPr/>
          </p:nvSpPr>
          <p:spPr bwMode="auto">
            <a:xfrm>
              <a:off x="14414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2" name="Line 55"/>
            <p:cNvSpPr>
              <a:spLocks noChangeShapeType="1"/>
            </p:cNvSpPr>
            <p:nvPr/>
          </p:nvSpPr>
          <p:spPr bwMode="auto">
            <a:xfrm>
              <a:off x="14414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" name="Line 56"/>
            <p:cNvSpPr>
              <a:spLocks noChangeShapeType="1"/>
            </p:cNvSpPr>
            <p:nvPr/>
          </p:nvSpPr>
          <p:spPr bwMode="auto">
            <a:xfrm>
              <a:off x="14414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" name="Line 57"/>
            <p:cNvSpPr>
              <a:spLocks noChangeShapeType="1"/>
            </p:cNvSpPr>
            <p:nvPr/>
          </p:nvSpPr>
          <p:spPr bwMode="auto">
            <a:xfrm>
              <a:off x="14414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5" name="Line 58"/>
            <p:cNvSpPr>
              <a:spLocks noChangeShapeType="1"/>
            </p:cNvSpPr>
            <p:nvPr/>
          </p:nvSpPr>
          <p:spPr bwMode="auto">
            <a:xfrm>
              <a:off x="14414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6" name="Line 59"/>
            <p:cNvSpPr>
              <a:spLocks noChangeShapeType="1"/>
            </p:cNvSpPr>
            <p:nvPr/>
          </p:nvSpPr>
          <p:spPr bwMode="auto">
            <a:xfrm>
              <a:off x="14414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grpSp>
          <p:nvGrpSpPr>
            <p:cNvPr id="47" name="Group 60"/>
            <p:cNvGrpSpPr>
              <a:grpSpLocks/>
            </p:cNvGrpSpPr>
            <p:nvPr/>
          </p:nvGrpSpPr>
          <p:grpSpPr bwMode="auto">
            <a:xfrm>
              <a:off x="1657350" y="1835150"/>
              <a:ext cx="503238" cy="4824413"/>
              <a:chOff x="2268" y="1156"/>
              <a:chExt cx="317" cy="3039"/>
            </a:xfrm>
          </p:grpSpPr>
          <p:sp>
            <p:nvSpPr>
              <p:cNvPr id="312" name="Line 61"/>
              <p:cNvSpPr>
                <a:spLocks noChangeShapeType="1"/>
              </p:cNvSpPr>
              <p:nvPr/>
            </p:nvSpPr>
            <p:spPr bwMode="auto">
              <a:xfrm>
                <a:off x="2268" y="1156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3" name="Line 62"/>
              <p:cNvSpPr>
                <a:spLocks noChangeShapeType="1"/>
              </p:cNvSpPr>
              <p:nvPr/>
            </p:nvSpPr>
            <p:spPr bwMode="auto">
              <a:xfrm>
                <a:off x="2268" y="4195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4" name="Line 63"/>
              <p:cNvSpPr>
                <a:spLocks noChangeShapeType="1"/>
              </p:cNvSpPr>
              <p:nvPr/>
            </p:nvSpPr>
            <p:spPr bwMode="auto">
              <a:xfrm>
                <a:off x="2268" y="1337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5" name="Line 64"/>
              <p:cNvSpPr>
                <a:spLocks noChangeShapeType="1"/>
              </p:cNvSpPr>
              <p:nvPr/>
            </p:nvSpPr>
            <p:spPr bwMode="auto">
              <a:xfrm flipV="1">
                <a:off x="2268" y="133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6" name="Line 65"/>
              <p:cNvSpPr>
                <a:spLocks noChangeShapeType="1"/>
              </p:cNvSpPr>
              <p:nvPr/>
            </p:nvSpPr>
            <p:spPr bwMode="auto">
              <a:xfrm flipV="1">
                <a:off x="2268" y="1564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7" name="Line 66"/>
              <p:cNvSpPr>
                <a:spLocks noChangeShapeType="1"/>
              </p:cNvSpPr>
              <p:nvPr/>
            </p:nvSpPr>
            <p:spPr bwMode="auto">
              <a:xfrm flipV="1">
                <a:off x="2268" y="1746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8" name="Line 67"/>
              <p:cNvSpPr>
                <a:spLocks noChangeShapeType="1"/>
              </p:cNvSpPr>
              <p:nvPr/>
            </p:nvSpPr>
            <p:spPr bwMode="auto">
              <a:xfrm flipV="1">
                <a:off x="2268" y="197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9" name="Line 68"/>
              <p:cNvSpPr>
                <a:spLocks noChangeShapeType="1"/>
              </p:cNvSpPr>
              <p:nvPr/>
            </p:nvSpPr>
            <p:spPr bwMode="auto">
              <a:xfrm flipV="1">
                <a:off x="2268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0" name="Line 69"/>
              <p:cNvSpPr>
                <a:spLocks noChangeShapeType="1"/>
              </p:cNvSpPr>
              <p:nvPr/>
            </p:nvSpPr>
            <p:spPr bwMode="auto">
              <a:xfrm flipV="1">
                <a:off x="2268" y="2381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1" name="Line 70"/>
              <p:cNvSpPr>
                <a:spLocks noChangeShapeType="1"/>
              </p:cNvSpPr>
              <p:nvPr/>
            </p:nvSpPr>
            <p:spPr bwMode="auto">
              <a:xfrm flipV="1">
                <a:off x="2268" y="2562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2" name="Line 71"/>
              <p:cNvSpPr>
                <a:spLocks noChangeShapeType="1"/>
              </p:cNvSpPr>
              <p:nvPr/>
            </p:nvSpPr>
            <p:spPr bwMode="auto">
              <a:xfrm>
                <a:off x="2268" y="1746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3" name="Line 72"/>
              <p:cNvSpPr>
                <a:spLocks noChangeShapeType="1"/>
              </p:cNvSpPr>
              <p:nvPr/>
            </p:nvSpPr>
            <p:spPr bwMode="auto">
              <a:xfrm>
                <a:off x="2268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4" name="Line 73"/>
              <p:cNvSpPr>
                <a:spLocks noChangeShapeType="1"/>
              </p:cNvSpPr>
              <p:nvPr/>
            </p:nvSpPr>
            <p:spPr bwMode="auto">
              <a:xfrm>
                <a:off x="2268" y="256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5" name="Line 74"/>
              <p:cNvSpPr>
                <a:spLocks noChangeShapeType="1"/>
              </p:cNvSpPr>
              <p:nvPr/>
            </p:nvSpPr>
            <p:spPr bwMode="auto">
              <a:xfrm>
                <a:off x="2268" y="2970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6" name="Line 75"/>
              <p:cNvSpPr>
                <a:spLocks noChangeShapeType="1"/>
              </p:cNvSpPr>
              <p:nvPr/>
            </p:nvSpPr>
            <p:spPr bwMode="auto">
              <a:xfrm>
                <a:off x="2268" y="3379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27" name="Line 76"/>
              <p:cNvSpPr>
                <a:spLocks noChangeShapeType="1"/>
              </p:cNvSpPr>
              <p:nvPr/>
            </p:nvSpPr>
            <p:spPr bwMode="auto">
              <a:xfrm>
                <a:off x="2268" y="378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sp>
          <p:nvSpPr>
            <p:cNvPr id="48" name="Rectangle 79"/>
            <p:cNvSpPr>
              <a:spLocks noChangeArrowheads="1"/>
            </p:cNvSpPr>
            <p:nvPr/>
          </p:nvSpPr>
          <p:spPr bwMode="auto">
            <a:xfrm>
              <a:off x="90709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49" name="Rectangle 96"/>
            <p:cNvSpPr>
              <a:spLocks noChangeArrowheads="1"/>
            </p:cNvSpPr>
            <p:nvPr/>
          </p:nvSpPr>
          <p:spPr bwMode="auto">
            <a:xfrm>
              <a:off x="90709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0" name="Rectangle 97"/>
            <p:cNvSpPr>
              <a:spLocks noChangeArrowheads="1"/>
            </p:cNvSpPr>
            <p:nvPr/>
          </p:nvSpPr>
          <p:spPr bwMode="auto">
            <a:xfrm>
              <a:off x="90709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1" name="Rectangle 98"/>
            <p:cNvSpPr>
              <a:spLocks noChangeArrowheads="1"/>
            </p:cNvSpPr>
            <p:nvPr/>
          </p:nvSpPr>
          <p:spPr bwMode="auto">
            <a:xfrm>
              <a:off x="90709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2" name="Rectangle 99"/>
            <p:cNvSpPr>
              <a:spLocks noChangeArrowheads="1"/>
            </p:cNvSpPr>
            <p:nvPr/>
          </p:nvSpPr>
          <p:spPr bwMode="auto">
            <a:xfrm>
              <a:off x="90709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3" name="Rectangle 100"/>
            <p:cNvSpPr>
              <a:spLocks noChangeArrowheads="1"/>
            </p:cNvSpPr>
            <p:nvPr/>
          </p:nvSpPr>
          <p:spPr bwMode="auto">
            <a:xfrm>
              <a:off x="90709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4" name="Rectangle 101"/>
            <p:cNvSpPr>
              <a:spLocks noChangeArrowheads="1"/>
            </p:cNvSpPr>
            <p:nvPr/>
          </p:nvSpPr>
          <p:spPr bwMode="auto">
            <a:xfrm>
              <a:off x="90709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5" name="Rectangle 102"/>
            <p:cNvSpPr>
              <a:spLocks noChangeArrowheads="1"/>
            </p:cNvSpPr>
            <p:nvPr/>
          </p:nvSpPr>
          <p:spPr bwMode="auto">
            <a:xfrm>
              <a:off x="90709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6" name="Line 103"/>
            <p:cNvSpPr>
              <a:spLocks noChangeShapeType="1"/>
            </p:cNvSpPr>
            <p:nvPr/>
          </p:nvSpPr>
          <p:spPr bwMode="auto">
            <a:xfrm>
              <a:off x="88550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7" name="Line 104"/>
            <p:cNvSpPr>
              <a:spLocks noChangeShapeType="1"/>
            </p:cNvSpPr>
            <p:nvPr/>
          </p:nvSpPr>
          <p:spPr bwMode="auto">
            <a:xfrm>
              <a:off x="88550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8" name="Line 105"/>
            <p:cNvSpPr>
              <a:spLocks noChangeShapeType="1"/>
            </p:cNvSpPr>
            <p:nvPr/>
          </p:nvSpPr>
          <p:spPr bwMode="auto">
            <a:xfrm>
              <a:off x="88550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9" name="Line 106"/>
            <p:cNvSpPr>
              <a:spLocks noChangeShapeType="1"/>
            </p:cNvSpPr>
            <p:nvPr/>
          </p:nvSpPr>
          <p:spPr bwMode="auto">
            <a:xfrm>
              <a:off x="88550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0" name="Line 107"/>
            <p:cNvSpPr>
              <a:spLocks noChangeShapeType="1"/>
            </p:cNvSpPr>
            <p:nvPr/>
          </p:nvSpPr>
          <p:spPr bwMode="auto">
            <a:xfrm>
              <a:off x="88550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1" name="Line 108"/>
            <p:cNvSpPr>
              <a:spLocks noChangeShapeType="1"/>
            </p:cNvSpPr>
            <p:nvPr/>
          </p:nvSpPr>
          <p:spPr bwMode="auto">
            <a:xfrm>
              <a:off x="88550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2" name="Line 109"/>
            <p:cNvSpPr>
              <a:spLocks noChangeShapeType="1"/>
            </p:cNvSpPr>
            <p:nvPr/>
          </p:nvSpPr>
          <p:spPr bwMode="auto">
            <a:xfrm>
              <a:off x="88550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3" name="Line 110"/>
            <p:cNvSpPr>
              <a:spLocks noChangeShapeType="1"/>
            </p:cNvSpPr>
            <p:nvPr/>
          </p:nvSpPr>
          <p:spPr bwMode="auto">
            <a:xfrm>
              <a:off x="88550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4" name="Line 111"/>
            <p:cNvSpPr>
              <a:spLocks noChangeShapeType="1"/>
            </p:cNvSpPr>
            <p:nvPr/>
          </p:nvSpPr>
          <p:spPr bwMode="auto">
            <a:xfrm>
              <a:off x="88550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5" name="Line 112"/>
            <p:cNvSpPr>
              <a:spLocks noChangeShapeType="1"/>
            </p:cNvSpPr>
            <p:nvPr/>
          </p:nvSpPr>
          <p:spPr bwMode="auto">
            <a:xfrm>
              <a:off x="88550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6" name="Line 113"/>
            <p:cNvSpPr>
              <a:spLocks noChangeShapeType="1"/>
            </p:cNvSpPr>
            <p:nvPr/>
          </p:nvSpPr>
          <p:spPr bwMode="auto">
            <a:xfrm>
              <a:off x="88550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7" name="Line 114"/>
            <p:cNvSpPr>
              <a:spLocks noChangeShapeType="1"/>
            </p:cNvSpPr>
            <p:nvPr/>
          </p:nvSpPr>
          <p:spPr bwMode="auto">
            <a:xfrm>
              <a:off x="88550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8" name="Line 115"/>
            <p:cNvSpPr>
              <a:spLocks noChangeShapeType="1"/>
            </p:cNvSpPr>
            <p:nvPr/>
          </p:nvSpPr>
          <p:spPr bwMode="auto">
            <a:xfrm>
              <a:off x="88550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9" name="Line 116"/>
            <p:cNvSpPr>
              <a:spLocks noChangeShapeType="1"/>
            </p:cNvSpPr>
            <p:nvPr/>
          </p:nvSpPr>
          <p:spPr bwMode="auto">
            <a:xfrm>
              <a:off x="88550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0" name="Line 117"/>
            <p:cNvSpPr>
              <a:spLocks noChangeShapeType="1"/>
            </p:cNvSpPr>
            <p:nvPr/>
          </p:nvSpPr>
          <p:spPr bwMode="auto">
            <a:xfrm>
              <a:off x="88550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1" name="Line 118"/>
            <p:cNvSpPr>
              <a:spLocks noChangeShapeType="1"/>
            </p:cNvSpPr>
            <p:nvPr/>
          </p:nvSpPr>
          <p:spPr bwMode="auto">
            <a:xfrm>
              <a:off x="88550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2" name="Line 119"/>
            <p:cNvSpPr>
              <a:spLocks noChangeShapeType="1"/>
            </p:cNvSpPr>
            <p:nvPr/>
          </p:nvSpPr>
          <p:spPr bwMode="auto">
            <a:xfrm>
              <a:off x="94313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3" name="Line 120"/>
            <p:cNvSpPr>
              <a:spLocks noChangeShapeType="1"/>
            </p:cNvSpPr>
            <p:nvPr/>
          </p:nvSpPr>
          <p:spPr bwMode="auto">
            <a:xfrm>
              <a:off x="94313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4" name="Line 121"/>
            <p:cNvSpPr>
              <a:spLocks noChangeShapeType="1"/>
            </p:cNvSpPr>
            <p:nvPr/>
          </p:nvSpPr>
          <p:spPr bwMode="auto">
            <a:xfrm>
              <a:off x="94313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5" name="Line 122"/>
            <p:cNvSpPr>
              <a:spLocks noChangeShapeType="1"/>
            </p:cNvSpPr>
            <p:nvPr/>
          </p:nvSpPr>
          <p:spPr bwMode="auto">
            <a:xfrm>
              <a:off x="94313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6" name="Line 123"/>
            <p:cNvSpPr>
              <a:spLocks noChangeShapeType="1"/>
            </p:cNvSpPr>
            <p:nvPr/>
          </p:nvSpPr>
          <p:spPr bwMode="auto">
            <a:xfrm>
              <a:off x="94313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7" name="Line 124"/>
            <p:cNvSpPr>
              <a:spLocks noChangeShapeType="1"/>
            </p:cNvSpPr>
            <p:nvPr/>
          </p:nvSpPr>
          <p:spPr bwMode="auto">
            <a:xfrm>
              <a:off x="94313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8" name="Line 125"/>
            <p:cNvSpPr>
              <a:spLocks noChangeShapeType="1"/>
            </p:cNvSpPr>
            <p:nvPr/>
          </p:nvSpPr>
          <p:spPr bwMode="auto">
            <a:xfrm>
              <a:off x="94313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9" name="Line 126"/>
            <p:cNvSpPr>
              <a:spLocks noChangeShapeType="1"/>
            </p:cNvSpPr>
            <p:nvPr/>
          </p:nvSpPr>
          <p:spPr bwMode="auto">
            <a:xfrm>
              <a:off x="94313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0" name="Line 127"/>
            <p:cNvSpPr>
              <a:spLocks noChangeShapeType="1"/>
            </p:cNvSpPr>
            <p:nvPr/>
          </p:nvSpPr>
          <p:spPr bwMode="auto">
            <a:xfrm>
              <a:off x="94313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1" name="Line 128"/>
            <p:cNvSpPr>
              <a:spLocks noChangeShapeType="1"/>
            </p:cNvSpPr>
            <p:nvPr/>
          </p:nvSpPr>
          <p:spPr bwMode="auto">
            <a:xfrm>
              <a:off x="94313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2" name="Line 129"/>
            <p:cNvSpPr>
              <a:spLocks noChangeShapeType="1"/>
            </p:cNvSpPr>
            <p:nvPr/>
          </p:nvSpPr>
          <p:spPr bwMode="auto">
            <a:xfrm>
              <a:off x="94313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3" name="Line 130"/>
            <p:cNvSpPr>
              <a:spLocks noChangeShapeType="1"/>
            </p:cNvSpPr>
            <p:nvPr/>
          </p:nvSpPr>
          <p:spPr bwMode="auto">
            <a:xfrm>
              <a:off x="94313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4" name="Line 131"/>
            <p:cNvSpPr>
              <a:spLocks noChangeShapeType="1"/>
            </p:cNvSpPr>
            <p:nvPr/>
          </p:nvSpPr>
          <p:spPr bwMode="auto">
            <a:xfrm>
              <a:off x="94313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5" name="Line 132"/>
            <p:cNvSpPr>
              <a:spLocks noChangeShapeType="1"/>
            </p:cNvSpPr>
            <p:nvPr/>
          </p:nvSpPr>
          <p:spPr bwMode="auto">
            <a:xfrm>
              <a:off x="94313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6" name="Line 133"/>
            <p:cNvSpPr>
              <a:spLocks noChangeShapeType="1"/>
            </p:cNvSpPr>
            <p:nvPr/>
          </p:nvSpPr>
          <p:spPr bwMode="auto">
            <a:xfrm>
              <a:off x="94313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7" name="Line 134"/>
            <p:cNvSpPr>
              <a:spLocks noChangeShapeType="1"/>
            </p:cNvSpPr>
            <p:nvPr/>
          </p:nvSpPr>
          <p:spPr bwMode="auto">
            <a:xfrm>
              <a:off x="94313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8" name="Line 136"/>
            <p:cNvSpPr>
              <a:spLocks noChangeShapeType="1"/>
            </p:cNvSpPr>
            <p:nvPr/>
          </p:nvSpPr>
          <p:spPr bwMode="auto">
            <a:xfrm flipV="1">
              <a:off x="8351838" y="1835150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9" name="Line 137"/>
            <p:cNvSpPr>
              <a:spLocks noChangeShapeType="1"/>
            </p:cNvSpPr>
            <p:nvPr/>
          </p:nvSpPr>
          <p:spPr bwMode="auto">
            <a:xfrm flipV="1">
              <a:off x="8351838" y="6659563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0" name="Line 138"/>
            <p:cNvSpPr>
              <a:spLocks noChangeShapeType="1"/>
            </p:cNvSpPr>
            <p:nvPr/>
          </p:nvSpPr>
          <p:spPr bwMode="auto">
            <a:xfrm flipV="1">
              <a:off x="8351838" y="2122488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1" name="Line 139"/>
            <p:cNvSpPr>
              <a:spLocks noChangeShapeType="1"/>
            </p:cNvSpPr>
            <p:nvPr/>
          </p:nvSpPr>
          <p:spPr bwMode="auto">
            <a:xfrm>
              <a:off x="8351838" y="2122488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2" name="Line 140"/>
            <p:cNvSpPr>
              <a:spLocks noChangeShapeType="1"/>
            </p:cNvSpPr>
            <p:nvPr/>
          </p:nvSpPr>
          <p:spPr bwMode="auto">
            <a:xfrm>
              <a:off x="8351838" y="2482850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3" name="Line 141"/>
            <p:cNvSpPr>
              <a:spLocks noChangeShapeType="1"/>
            </p:cNvSpPr>
            <p:nvPr/>
          </p:nvSpPr>
          <p:spPr bwMode="auto">
            <a:xfrm>
              <a:off x="8351838" y="27717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4" name="Line 142"/>
            <p:cNvSpPr>
              <a:spLocks noChangeShapeType="1"/>
            </p:cNvSpPr>
            <p:nvPr/>
          </p:nvSpPr>
          <p:spPr bwMode="auto">
            <a:xfrm>
              <a:off x="8351838" y="3130550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5" name="Line 143"/>
            <p:cNvSpPr>
              <a:spLocks noChangeShapeType="1"/>
            </p:cNvSpPr>
            <p:nvPr/>
          </p:nvSpPr>
          <p:spPr bwMode="auto">
            <a:xfrm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6" name="Line 144"/>
            <p:cNvSpPr>
              <a:spLocks noChangeShapeType="1"/>
            </p:cNvSpPr>
            <p:nvPr/>
          </p:nvSpPr>
          <p:spPr bwMode="auto">
            <a:xfrm>
              <a:off x="8351838" y="3779838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7" name="Line 145"/>
            <p:cNvSpPr>
              <a:spLocks noChangeShapeType="1"/>
            </p:cNvSpPr>
            <p:nvPr/>
          </p:nvSpPr>
          <p:spPr bwMode="auto">
            <a:xfrm>
              <a:off x="8351838" y="4067175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8" name="Line 146"/>
            <p:cNvSpPr>
              <a:spLocks noChangeShapeType="1"/>
            </p:cNvSpPr>
            <p:nvPr/>
          </p:nvSpPr>
          <p:spPr bwMode="auto">
            <a:xfrm flipV="1">
              <a:off x="8351838" y="2771775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9" name="Line 147"/>
            <p:cNvSpPr>
              <a:spLocks noChangeShapeType="1"/>
            </p:cNvSpPr>
            <p:nvPr/>
          </p:nvSpPr>
          <p:spPr bwMode="auto">
            <a:xfrm flipV="1"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0" name="Line 148"/>
            <p:cNvSpPr>
              <a:spLocks noChangeShapeType="1"/>
            </p:cNvSpPr>
            <p:nvPr/>
          </p:nvSpPr>
          <p:spPr bwMode="auto">
            <a:xfrm flipV="1">
              <a:off x="8351838" y="4067175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1" name="Line 149"/>
            <p:cNvSpPr>
              <a:spLocks noChangeShapeType="1"/>
            </p:cNvSpPr>
            <p:nvPr/>
          </p:nvSpPr>
          <p:spPr bwMode="auto">
            <a:xfrm flipV="1">
              <a:off x="8351838" y="47148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2" name="Line 150"/>
            <p:cNvSpPr>
              <a:spLocks noChangeShapeType="1"/>
            </p:cNvSpPr>
            <p:nvPr/>
          </p:nvSpPr>
          <p:spPr bwMode="auto">
            <a:xfrm flipV="1">
              <a:off x="8351838" y="5364163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3" name="Line 151"/>
            <p:cNvSpPr>
              <a:spLocks noChangeShapeType="1"/>
            </p:cNvSpPr>
            <p:nvPr/>
          </p:nvSpPr>
          <p:spPr bwMode="auto">
            <a:xfrm flipV="1">
              <a:off x="8351838" y="6011863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4" name="Rectangle 153"/>
            <p:cNvSpPr>
              <a:spLocks noChangeArrowheads="1"/>
            </p:cNvSpPr>
            <p:nvPr/>
          </p:nvSpPr>
          <p:spPr bwMode="auto">
            <a:xfrm>
              <a:off x="23764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5" name="Rectangle 154"/>
            <p:cNvSpPr>
              <a:spLocks noChangeArrowheads="1"/>
            </p:cNvSpPr>
            <p:nvPr/>
          </p:nvSpPr>
          <p:spPr bwMode="auto">
            <a:xfrm>
              <a:off x="23764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6" name="Rectangle 155"/>
            <p:cNvSpPr>
              <a:spLocks noChangeArrowheads="1"/>
            </p:cNvSpPr>
            <p:nvPr/>
          </p:nvSpPr>
          <p:spPr bwMode="auto">
            <a:xfrm>
              <a:off x="23764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7" name="Rectangle 156"/>
            <p:cNvSpPr>
              <a:spLocks noChangeArrowheads="1"/>
            </p:cNvSpPr>
            <p:nvPr/>
          </p:nvSpPr>
          <p:spPr bwMode="auto">
            <a:xfrm>
              <a:off x="23764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8" name="Rectangle 157"/>
            <p:cNvSpPr>
              <a:spLocks noChangeArrowheads="1"/>
            </p:cNvSpPr>
            <p:nvPr/>
          </p:nvSpPr>
          <p:spPr bwMode="auto">
            <a:xfrm>
              <a:off x="23764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9" name="Rectangle 158"/>
            <p:cNvSpPr>
              <a:spLocks noChangeArrowheads="1"/>
            </p:cNvSpPr>
            <p:nvPr/>
          </p:nvSpPr>
          <p:spPr bwMode="auto">
            <a:xfrm>
              <a:off x="23764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0" name="Rectangle 159"/>
            <p:cNvSpPr>
              <a:spLocks noChangeArrowheads="1"/>
            </p:cNvSpPr>
            <p:nvPr/>
          </p:nvSpPr>
          <p:spPr bwMode="auto">
            <a:xfrm>
              <a:off x="23764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1" name="Rectangle 160"/>
            <p:cNvSpPr>
              <a:spLocks noChangeArrowheads="1"/>
            </p:cNvSpPr>
            <p:nvPr/>
          </p:nvSpPr>
          <p:spPr bwMode="auto">
            <a:xfrm>
              <a:off x="23764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2" name="Line 161"/>
            <p:cNvSpPr>
              <a:spLocks noChangeShapeType="1"/>
            </p:cNvSpPr>
            <p:nvPr/>
          </p:nvSpPr>
          <p:spPr bwMode="auto">
            <a:xfrm>
              <a:off x="21605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3" name="Line 162"/>
            <p:cNvSpPr>
              <a:spLocks noChangeShapeType="1"/>
            </p:cNvSpPr>
            <p:nvPr/>
          </p:nvSpPr>
          <p:spPr bwMode="auto">
            <a:xfrm>
              <a:off x="21605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4" name="Line 163"/>
            <p:cNvSpPr>
              <a:spLocks noChangeShapeType="1"/>
            </p:cNvSpPr>
            <p:nvPr/>
          </p:nvSpPr>
          <p:spPr bwMode="auto">
            <a:xfrm>
              <a:off x="21605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5" name="Line 164"/>
            <p:cNvSpPr>
              <a:spLocks noChangeShapeType="1"/>
            </p:cNvSpPr>
            <p:nvPr/>
          </p:nvSpPr>
          <p:spPr bwMode="auto">
            <a:xfrm>
              <a:off x="21605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6" name="Line 165"/>
            <p:cNvSpPr>
              <a:spLocks noChangeShapeType="1"/>
            </p:cNvSpPr>
            <p:nvPr/>
          </p:nvSpPr>
          <p:spPr bwMode="auto">
            <a:xfrm>
              <a:off x="21605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7" name="Line 166"/>
            <p:cNvSpPr>
              <a:spLocks noChangeShapeType="1"/>
            </p:cNvSpPr>
            <p:nvPr/>
          </p:nvSpPr>
          <p:spPr bwMode="auto">
            <a:xfrm>
              <a:off x="21605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8" name="Line 167"/>
            <p:cNvSpPr>
              <a:spLocks noChangeShapeType="1"/>
            </p:cNvSpPr>
            <p:nvPr/>
          </p:nvSpPr>
          <p:spPr bwMode="auto">
            <a:xfrm>
              <a:off x="21605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9" name="Line 168"/>
            <p:cNvSpPr>
              <a:spLocks noChangeShapeType="1"/>
            </p:cNvSpPr>
            <p:nvPr/>
          </p:nvSpPr>
          <p:spPr bwMode="auto">
            <a:xfrm>
              <a:off x="21605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0" name="Line 169"/>
            <p:cNvSpPr>
              <a:spLocks noChangeShapeType="1"/>
            </p:cNvSpPr>
            <p:nvPr/>
          </p:nvSpPr>
          <p:spPr bwMode="auto">
            <a:xfrm>
              <a:off x="21605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1" name="Line 170"/>
            <p:cNvSpPr>
              <a:spLocks noChangeShapeType="1"/>
            </p:cNvSpPr>
            <p:nvPr/>
          </p:nvSpPr>
          <p:spPr bwMode="auto">
            <a:xfrm>
              <a:off x="21605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2" name="Line 171"/>
            <p:cNvSpPr>
              <a:spLocks noChangeShapeType="1"/>
            </p:cNvSpPr>
            <p:nvPr/>
          </p:nvSpPr>
          <p:spPr bwMode="auto">
            <a:xfrm>
              <a:off x="21605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3" name="Line 172"/>
            <p:cNvSpPr>
              <a:spLocks noChangeShapeType="1"/>
            </p:cNvSpPr>
            <p:nvPr/>
          </p:nvSpPr>
          <p:spPr bwMode="auto">
            <a:xfrm>
              <a:off x="21605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4" name="Line 173"/>
            <p:cNvSpPr>
              <a:spLocks noChangeShapeType="1"/>
            </p:cNvSpPr>
            <p:nvPr/>
          </p:nvSpPr>
          <p:spPr bwMode="auto">
            <a:xfrm>
              <a:off x="21605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5" name="Line 174"/>
            <p:cNvSpPr>
              <a:spLocks noChangeShapeType="1"/>
            </p:cNvSpPr>
            <p:nvPr/>
          </p:nvSpPr>
          <p:spPr bwMode="auto">
            <a:xfrm>
              <a:off x="21605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6" name="Line 175"/>
            <p:cNvSpPr>
              <a:spLocks noChangeShapeType="1"/>
            </p:cNvSpPr>
            <p:nvPr/>
          </p:nvSpPr>
          <p:spPr bwMode="auto">
            <a:xfrm>
              <a:off x="21605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7" name="Line 176"/>
            <p:cNvSpPr>
              <a:spLocks noChangeShapeType="1"/>
            </p:cNvSpPr>
            <p:nvPr/>
          </p:nvSpPr>
          <p:spPr bwMode="auto">
            <a:xfrm>
              <a:off x="21605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8" name="Line 177"/>
            <p:cNvSpPr>
              <a:spLocks noChangeShapeType="1"/>
            </p:cNvSpPr>
            <p:nvPr/>
          </p:nvSpPr>
          <p:spPr bwMode="auto">
            <a:xfrm>
              <a:off x="27368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9" name="Line 178"/>
            <p:cNvSpPr>
              <a:spLocks noChangeShapeType="1"/>
            </p:cNvSpPr>
            <p:nvPr/>
          </p:nvSpPr>
          <p:spPr bwMode="auto">
            <a:xfrm>
              <a:off x="27368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0" name="Line 179"/>
            <p:cNvSpPr>
              <a:spLocks noChangeShapeType="1"/>
            </p:cNvSpPr>
            <p:nvPr/>
          </p:nvSpPr>
          <p:spPr bwMode="auto">
            <a:xfrm>
              <a:off x="27368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1" name="Line 180"/>
            <p:cNvSpPr>
              <a:spLocks noChangeShapeType="1"/>
            </p:cNvSpPr>
            <p:nvPr/>
          </p:nvSpPr>
          <p:spPr bwMode="auto">
            <a:xfrm>
              <a:off x="27368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2" name="Line 181"/>
            <p:cNvSpPr>
              <a:spLocks noChangeShapeType="1"/>
            </p:cNvSpPr>
            <p:nvPr/>
          </p:nvSpPr>
          <p:spPr bwMode="auto">
            <a:xfrm>
              <a:off x="27368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3" name="Line 182"/>
            <p:cNvSpPr>
              <a:spLocks noChangeShapeType="1"/>
            </p:cNvSpPr>
            <p:nvPr/>
          </p:nvSpPr>
          <p:spPr bwMode="auto">
            <a:xfrm>
              <a:off x="27368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4" name="Line 183"/>
            <p:cNvSpPr>
              <a:spLocks noChangeShapeType="1"/>
            </p:cNvSpPr>
            <p:nvPr/>
          </p:nvSpPr>
          <p:spPr bwMode="auto">
            <a:xfrm>
              <a:off x="27368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" name="Line 184"/>
            <p:cNvSpPr>
              <a:spLocks noChangeShapeType="1"/>
            </p:cNvSpPr>
            <p:nvPr/>
          </p:nvSpPr>
          <p:spPr bwMode="auto">
            <a:xfrm>
              <a:off x="27368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6" name="Line 185"/>
            <p:cNvSpPr>
              <a:spLocks noChangeShapeType="1"/>
            </p:cNvSpPr>
            <p:nvPr/>
          </p:nvSpPr>
          <p:spPr bwMode="auto">
            <a:xfrm>
              <a:off x="27368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7" name="Line 186"/>
            <p:cNvSpPr>
              <a:spLocks noChangeShapeType="1"/>
            </p:cNvSpPr>
            <p:nvPr/>
          </p:nvSpPr>
          <p:spPr bwMode="auto">
            <a:xfrm>
              <a:off x="27368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8" name="Line 187"/>
            <p:cNvSpPr>
              <a:spLocks noChangeShapeType="1"/>
            </p:cNvSpPr>
            <p:nvPr/>
          </p:nvSpPr>
          <p:spPr bwMode="auto">
            <a:xfrm>
              <a:off x="27368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9" name="Line 188"/>
            <p:cNvSpPr>
              <a:spLocks noChangeShapeType="1"/>
            </p:cNvSpPr>
            <p:nvPr/>
          </p:nvSpPr>
          <p:spPr bwMode="auto">
            <a:xfrm>
              <a:off x="27368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0" name="Line 189"/>
            <p:cNvSpPr>
              <a:spLocks noChangeShapeType="1"/>
            </p:cNvSpPr>
            <p:nvPr/>
          </p:nvSpPr>
          <p:spPr bwMode="auto">
            <a:xfrm>
              <a:off x="27368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1" name="Line 190"/>
            <p:cNvSpPr>
              <a:spLocks noChangeShapeType="1"/>
            </p:cNvSpPr>
            <p:nvPr/>
          </p:nvSpPr>
          <p:spPr bwMode="auto">
            <a:xfrm>
              <a:off x="27368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2" name="Line 191"/>
            <p:cNvSpPr>
              <a:spLocks noChangeShapeType="1"/>
            </p:cNvSpPr>
            <p:nvPr/>
          </p:nvSpPr>
          <p:spPr bwMode="auto">
            <a:xfrm>
              <a:off x="27368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3" name="Line 192"/>
            <p:cNvSpPr>
              <a:spLocks noChangeShapeType="1"/>
            </p:cNvSpPr>
            <p:nvPr/>
          </p:nvSpPr>
          <p:spPr bwMode="auto">
            <a:xfrm>
              <a:off x="27368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4" name="Rectangle 193"/>
            <p:cNvSpPr>
              <a:spLocks noChangeArrowheads="1"/>
            </p:cNvSpPr>
            <p:nvPr/>
          </p:nvSpPr>
          <p:spPr bwMode="auto">
            <a:xfrm>
              <a:off x="77755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5" name="Rectangle 194"/>
            <p:cNvSpPr>
              <a:spLocks noChangeArrowheads="1"/>
            </p:cNvSpPr>
            <p:nvPr/>
          </p:nvSpPr>
          <p:spPr bwMode="auto">
            <a:xfrm>
              <a:off x="77755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6" name="Rectangle 195"/>
            <p:cNvSpPr>
              <a:spLocks noChangeArrowheads="1"/>
            </p:cNvSpPr>
            <p:nvPr/>
          </p:nvSpPr>
          <p:spPr bwMode="auto">
            <a:xfrm>
              <a:off x="77755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7" name="Rectangle 196"/>
            <p:cNvSpPr>
              <a:spLocks noChangeArrowheads="1"/>
            </p:cNvSpPr>
            <p:nvPr/>
          </p:nvSpPr>
          <p:spPr bwMode="auto">
            <a:xfrm>
              <a:off x="77755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8" name="Rectangle 197"/>
            <p:cNvSpPr>
              <a:spLocks noChangeArrowheads="1"/>
            </p:cNvSpPr>
            <p:nvPr/>
          </p:nvSpPr>
          <p:spPr bwMode="auto">
            <a:xfrm>
              <a:off x="77755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9" name="Rectangle 198"/>
            <p:cNvSpPr>
              <a:spLocks noChangeArrowheads="1"/>
            </p:cNvSpPr>
            <p:nvPr/>
          </p:nvSpPr>
          <p:spPr bwMode="auto">
            <a:xfrm>
              <a:off x="77755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0" name="Rectangle 199"/>
            <p:cNvSpPr>
              <a:spLocks noChangeArrowheads="1"/>
            </p:cNvSpPr>
            <p:nvPr/>
          </p:nvSpPr>
          <p:spPr bwMode="auto">
            <a:xfrm>
              <a:off x="77755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1" name="Rectangle 200"/>
            <p:cNvSpPr>
              <a:spLocks noChangeArrowheads="1"/>
            </p:cNvSpPr>
            <p:nvPr/>
          </p:nvSpPr>
          <p:spPr bwMode="auto">
            <a:xfrm>
              <a:off x="77755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2" name="Line 201"/>
            <p:cNvSpPr>
              <a:spLocks noChangeShapeType="1"/>
            </p:cNvSpPr>
            <p:nvPr/>
          </p:nvSpPr>
          <p:spPr bwMode="auto">
            <a:xfrm>
              <a:off x="75596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3" name="Line 202"/>
            <p:cNvSpPr>
              <a:spLocks noChangeShapeType="1"/>
            </p:cNvSpPr>
            <p:nvPr/>
          </p:nvSpPr>
          <p:spPr bwMode="auto">
            <a:xfrm>
              <a:off x="75596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4" name="Line 203"/>
            <p:cNvSpPr>
              <a:spLocks noChangeShapeType="1"/>
            </p:cNvSpPr>
            <p:nvPr/>
          </p:nvSpPr>
          <p:spPr bwMode="auto">
            <a:xfrm>
              <a:off x="75596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5" name="Line 204"/>
            <p:cNvSpPr>
              <a:spLocks noChangeShapeType="1"/>
            </p:cNvSpPr>
            <p:nvPr/>
          </p:nvSpPr>
          <p:spPr bwMode="auto">
            <a:xfrm>
              <a:off x="75596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6" name="Line 205"/>
            <p:cNvSpPr>
              <a:spLocks noChangeShapeType="1"/>
            </p:cNvSpPr>
            <p:nvPr/>
          </p:nvSpPr>
          <p:spPr bwMode="auto">
            <a:xfrm>
              <a:off x="75596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7" name="Line 206"/>
            <p:cNvSpPr>
              <a:spLocks noChangeShapeType="1"/>
            </p:cNvSpPr>
            <p:nvPr/>
          </p:nvSpPr>
          <p:spPr bwMode="auto">
            <a:xfrm>
              <a:off x="75596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8" name="Line 207"/>
            <p:cNvSpPr>
              <a:spLocks noChangeShapeType="1"/>
            </p:cNvSpPr>
            <p:nvPr/>
          </p:nvSpPr>
          <p:spPr bwMode="auto">
            <a:xfrm>
              <a:off x="75596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9" name="Line 208"/>
            <p:cNvSpPr>
              <a:spLocks noChangeShapeType="1"/>
            </p:cNvSpPr>
            <p:nvPr/>
          </p:nvSpPr>
          <p:spPr bwMode="auto">
            <a:xfrm>
              <a:off x="75596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0" name="Line 209"/>
            <p:cNvSpPr>
              <a:spLocks noChangeShapeType="1"/>
            </p:cNvSpPr>
            <p:nvPr/>
          </p:nvSpPr>
          <p:spPr bwMode="auto">
            <a:xfrm>
              <a:off x="75596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1" name="Line 210"/>
            <p:cNvSpPr>
              <a:spLocks noChangeShapeType="1"/>
            </p:cNvSpPr>
            <p:nvPr/>
          </p:nvSpPr>
          <p:spPr bwMode="auto">
            <a:xfrm>
              <a:off x="75596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2" name="Line 211"/>
            <p:cNvSpPr>
              <a:spLocks noChangeShapeType="1"/>
            </p:cNvSpPr>
            <p:nvPr/>
          </p:nvSpPr>
          <p:spPr bwMode="auto">
            <a:xfrm>
              <a:off x="75596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3" name="Line 212"/>
            <p:cNvSpPr>
              <a:spLocks noChangeShapeType="1"/>
            </p:cNvSpPr>
            <p:nvPr/>
          </p:nvSpPr>
          <p:spPr bwMode="auto">
            <a:xfrm>
              <a:off x="75596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4" name="Line 213"/>
            <p:cNvSpPr>
              <a:spLocks noChangeShapeType="1"/>
            </p:cNvSpPr>
            <p:nvPr/>
          </p:nvSpPr>
          <p:spPr bwMode="auto">
            <a:xfrm>
              <a:off x="75596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5" name="Line 214"/>
            <p:cNvSpPr>
              <a:spLocks noChangeShapeType="1"/>
            </p:cNvSpPr>
            <p:nvPr/>
          </p:nvSpPr>
          <p:spPr bwMode="auto">
            <a:xfrm>
              <a:off x="75596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6" name="Line 215"/>
            <p:cNvSpPr>
              <a:spLocks noChangeShapeType="1"/>
            </p:cNvSpPr>
            <p:nvPr/>
          </p:nvSpPr>
          <p:spPr bwMode="auto">
            <a:xfrm>
              <a:off x="75596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7" name="Line 216"/>
            <p:cNvSpPr>
              <a:spLocks noChangeShapeType="1"/>
            </p:cNvSpPr>
            <p:nvPr/>
          </p:nvSpPr>
          <p:spPr bwMode="auto">
            <a:xfrm>
              <a:off x="75596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8" name="Line 217"/>
            <p:cNvSpPr>
              <a:spLocks noChangeShapeType="1"/>
            </p:cNvSpPr>
            <p:nvPr/>
          </p:nvSpPr>
          <p:spPr bwMode="auto">
            <a:xfrm>
              <a:off x="81359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9" name="Line 218"/>
            <p:cNvSpPr>
              <a:spLocks noChangeShapeType="1"/>
            </p:cNvSpPr>
            <p:nvPr/>
          </p:nvSpPr>
          <p:spPr bwMode="auto">
            <a:xfrm>
              <a:off x="81359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0" name="Line 219"/>
            <p:cNvSpPr>
              <a:spLocks noChangeShapeType="1"/>
            </p:cNvSpPr>
            <p:nvPr/>
          </p:nvSpPr>
          <p:spPr bwMode="auto">
            <a:xfrm>
              <a:off x="81359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1" name="Line 220"/>
            <p:cNvSpPr>
              <a:spLocks noChangeShapeType="1"/>
            </p:cNvSpPr>
            <p:nvPr/>
          </p:nvSpPr>
          <p:spPr bwMode="auto">
            <a:xfrm>
              <a:off x="81359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2" name="Line 221"/>
            <p:cNvSpPr>
              <a:spLocks noChangeShapeType="1"/>
            </p:cNvSpPr>
            <p:nvPr/>
          </p:nvSpPr>
          <p:spPr bwMode="auto">
            <a:xfrm>
              <a:off x="81359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3" name="Line 222"/>
            <p:cNvSpPr>
              <a:spLocks noChangeShapeType="1"/>
            </p:cNvSpPr>
            <p:nvPr/>
          </p:nvSpPr>
          <p:spPr bwMode="auto">
            <a:xfrm>
              <a:off x="81359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4" name="Line 223"/>
            <p:cNvSpPr>
              <a:spLocks noChangeShapeType="1"/>
            </p:cNvSpPr>
            <p:nvPr/>
          </p:nvSpPr>
          <p:spPr bwMode="auto">
            <a:xfrm>
              <a:off x="81359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5" name="Line 224"/>
            <p:cNvSpPr>
              <a:spLocks noChangeShapeType="1"/>
            </p:cNvSpPr>
            <p:nvPr/>
          </p:nvSpPr>
          <p:spPr bwMode="auto">
            <a:xfrm>
              <a:off x="81359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6" name="Line 225"/>
            <p:cNvSpPr>
              <a:spLocks noChangeShapeType="1"/>
            </p:cNvSpPr>
            <p:nvPr/>
          </p:nvSpPr>
          <p:spPr bwMode="auto">
            <a:xfrm>
              <a:off x="81359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7" name="Line 226"/>
            <p:cNvSpPr>
              <a:spLocks noChangeShapeType="1"/>
            </p:cNvSpPr>
            <p:nvPr/>
          </p:nvSpPr>
          <p:spPr bwMode="auto">
            <a:xfrm>
              <a:off x="81359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8" name="Line 227"/>
            <p:cNvSpPr>
              <a:spLocks noChangeShapeType="1"/>
            </p:cNvSpPr>
            <p:nvPr/>
          </p:nvSpPr>
          <p:spPr bwMode="auto">
            <a:xfrm>
              <a:off x="81359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9" name="Line 228"/>
            <p:cNvSpPr>
              <a:spLocks noChangeShapeType="1"/>
            </p:cNvSpPr>
            <p:nvPr/>
          </p:nvSpPr>
          <p:spPr bwMode="auto">
            <a:xfrm>
              <a:off x="81359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0" name="Line 229"/>
            <p:cNvSpPr>
              <a:spLocks noChangeShapeType="1"/>
            </p:cNvSpPr>
            <p:nvPr/>
          </p:nvSpPr>
          <p:spPr bwMode="auto">
            <a:xfrm>
              <a:off x="81359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1" name="Line 230"/>
            <p:cNvSpPr>
              <a:spLocks noChangeShapeType="1"/>
            </p:cNvSpPr>
            <p:nvPr/>
          </p:nvSpPr>
          <p:spPr bwMode="auto">
            <a:xfrm>
              <a:off x="81359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2" name="Line 231"/>
            <p:cNvSpPr>
              <a:spLocks noChangeShapeType="1"/>
            </p:cNvSpPr>
            <p:nvPr/>
          </p:nvSpPr>
          <p:spPr bwMode="auto">
            <a:xfrm>
              <a:off x="81359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3" name="Line 232"/>
            <p:cNvSpPr>
              <a:spLocks noChangeShapeType="1"/>
            </p:cNvSpPr>
            <p:nvPr/>
          </p:nvSpPr>
          <p:spPr bwMode="auto">
            <a:xfrm>
              <a:off x="81359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4" name="Line 233"/>
            <p:cNvSpPr>
              <a:spLocks noChangeShapeType="1"/>
            </p:cNvSpPr>
            <p:nvPr/>
          </p:nvSpPr>
          <p:spPr bwMode="auto">
            <a:xfrm>
              <a:off x="2951163" y="1835150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5" name="Line 234"/>
            <p:cNvSpPr>
              <a:spLocks noChangeShapeType="1"/>
            </p:cNvSpPr>
            <p:nvPr/>
          </p:nvSpPr>
          <p:spPr bwMode="auto">
            <a:xfrm>
              <a:off x="2941638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6" name="Line 235"/>
            <p:cNvSpPr>
              <a:spLocks noChangeShapeType="1"/>
            </p:cNvSpPr>
            <p:nvPr/>
          </p:nvSpPr>
          <p:spPr bwMode="auto">
            <a:xfrm flipV="1">
              <a:off x="2951163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7" name="Line 236"/>
            <p:cNvSpPr>
              <a:spLocks noChangeShapeType="1"/>
            </p:cNvSpPr>
            <p:nvPr/>
          </p:nvSpPr>
          <p:spPr bwMode="auto">
            <a:xfrm>
              <a:off x="2951163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8" name="Line 237"/>
            <p:cNvSpPr>
              <a:spLocks noChangeShapeType="1"/>
            </p:cNvSpPr>
            <p:nvPr/>
          </p:nvSpPr>
          <p:spPr bwMode="auto">
            <a:xfrm flipV="1">
              <a:off x="2951163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9" name="Line 238"/>
            <p:cNvSpPr>
              <a:spLocks noChangeShapeType="1"/>
            </p:cNvSpPr>
            <p:nvPr/>
          </p:nvSpPr>
          <p:spPr bwMode="auto">
            <a:xfrm>
              <a:off x="2951163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0" name="Line 239"/>
            <p:cNvSpPr>
              <a:spLocks noChangeShapeType="1"/>
            </p:cNvSpPr>
            <p:nvPr/>
          </p:nvSpPr>
          <p:spPr bwMode="auto">
            <a:xfrm flipV="1">
              <a:off x="2951163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1" name="Line 240"/>
            <p:cNvSpPr>
              <a:spLocks noChangeShapeType="1"/>
            </p:cNvSpPr>
            <p:nvPr/>
          </p:nvSpPr>
          <p:spPr bwMode="auto">
            <a:xfrm>
              <a:off x="2951163" y="4067175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2" name="Line 241"/>
            <p:cNvSpPr>
              <a:spLocks noChangeShapeType="1"/>
            </p:cNvSpPr>
            <p:nvPr/>
          </p:nvSpPr>
          <p:spPr bwMode="auto">
            <a:xfrm>
              <a:off x="2960688" y="4427538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3" name="Line 242"/>
            <p:cNvSpPr>
              <a:spLocks noChangeShapeType="1"/>
            </p:cNvSpPr>
            <p:nvPr/>
          </p:nvSpPr>
          <p:spPr bwMode="auto">
            <a:xfrm>
              <a:off x="2951163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4" name="Line 243"/>
            <p:cNvSpPr>
              <a:spLocks noChangeShapeType="1"/>
            </p:cNvSpPr>
            <p:nvPr/>
          </p:nvSpPr>
          <p:spPr bwMode="auto">
            <a:xfrm flipV="1">
              <a:off x="2960688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5" name="Line 244"/>
            <p:cNvSpPr>
              <a:spLocks noChangeShapeType="1"/>
            </p:cNvSpPr>
            <p:nvPr/>
          </p:nvSpPr>
          <p:spPr bwMode="auto">
            <a:xfrm>
              <a:off x="2960688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6" name="Line 245"/>
            <p:cNvSpPr>
              <a:spLocks noChangeShapeType="1"/>
            </p:cNvSpPr>
            <p:nvPr/>
          </p:nvSpPr>
          <p:spPr bwMode="auto">
            <a:xfrm flipV="1">
              <a:off x="2960688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7" name="Line 246"/>
            <p:cNvSpPr>
              <a:spLocks noChangeShapeType="1"/>
            </p:cNvSpPr>
            <p:nvPr/>
          </p:nvSpPr>
          <p:spPr bwMode="auto">
            <a:xfrm>
              <a:off x="2960688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8" name="Line 247"/>
            <p:cNvSpPr>
              <a:spLocks noChangeShapeType="1"/>
            </p:cNvSpPr>
            <p:nvPr/>
          </p:nvSpPr>
          <p:spPr bwMode="auto">
            <a:xfrm flipV="1">
              <a:off x="2960688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9" name="Line 248"/>
            <p:cNvSpPr>
              <a:spLocks noChangeShapeType="1"/>
            </p:cNvSpPr>
            <p:nvPr/>
          </p:nvSpPr>
          <p:spPr bwMode="auto">
            <a:xfrm>
              <a:off x="2960688" y="6659563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0" name="Line 251"/>
            <p:cNvSpPr>
              <a:spLocks noChangeShapeType="1"/>
            </p:cNvSpPr>
            <p:nvPr/>
          </p:nvSpPr>
          <p:spPr bwMode="auto">
            <a:xfrm flipV="1">
              <a:off x="7045325" y="1835150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1" name="Line 252"/>
            <p:cNvSpPr>
              <a:spLocks noChangeShapeType="1"/>
            </p:cNvSpPr>
            <p:nvPr/>
          </p:nvSpPr>
          <p:spPr bwMode="auto">
            <a:xfrm flipV="1">
              <a:off x="7035800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2" name="Line 253"/>
            <p:cNvSpPr>
              <a:spLocks noChangeShapeType="1"/>
            </p:cNvSpPr>
            <p:nvPr/>
          </p:nvSpPr>
          <p:spPr bwMode="auto">
            <a:xfrm>
              <a:off x="7045325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3" name="Line 254"/>
            <p:cNvSpPr>
              <a:spLocks noChangeShapeType="1"/>
            </p:cNvSpPr>
            <p:nvPr/>
          </p:nvSpPr>
          <p:spPr bwMode="auto">
            <a:xfrm flipV="1">
              <a:off x="7045325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4" name="Line 255"/>
            <p:cNvSpPr>
              <a:spLocks noChangeShapeType="1"/>
            </p:cNvSpPr>
            <p:nvPr/>
          </p:nvSpPr>
          <p:spPr bwMode="auto">
            <a:xfrm>
              <a:off x="7045325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5" name="Line 256"/>
            <p:cNvSpPr>
              <a:spLocks noChangeShapeType="1"/>
            </p:cNvSpPr>
            <p:nvPr/>
          </p:nvSpPr>
          <p:spPr bwMode="auto">
            <a:xfrm flipV="1">
              <a:off x="7045325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6" name="Line 257"/>
            <p:cNvSpPr>
              <a:spLocks noChangeShapeType="1"/>
            </p:cNvSpPr>
            <p:nvPr/>
          </p:nvSpPr>
          <p:spPr bwMode="auto">
            <a:xfrm>
              <a:off x="7045325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7" name="Line 258"/>
            <p:cNvSpPr>
              <a:spLocks noChangeShapeType="1"/>
            </p:cNvSpPr>
            <p:nvPr/>
          </p:nvSpPr>
          <p:spPr bwMode="auto">
            <a:xfrm flipV="1">
              <a:off x="7045325" y="4067175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8" name="Line 259"/>
            <p:cNvSpPr>
              <a:spLocks noChangeShapeType="1"/>
            </p:cNvSpPr>
            <p:nvPr/>
          </p:nvSpPr>
          <p:spPr bwMode="auto">
            <a:xfrm flipV="1">
              <a:off x="7054850" y="4427538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9" name="Line 260"/>
            <p:cNvSpPr>
              <a:spLocks noChangeShapeType="1"/>
            </p:cNvSpPr>
            <p:nvPr/>
          </p:nvSpPr>
          <p:spPr bwMode="auto">
            <a:xfrm flipV="1">
              <a:off x="7045325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0" name="Line 261"/>
            <p:cNvSpPr>
              <a:spLocks noChangeShapeType="1"/>
            </p:cNvSpPr>
            <p:nvPr/>
          </p:nvSpPr>
          <p:spPr bwMode="auto">
            <a:xfrm>
              <a:off x="70548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1" name="Line 262"/>
            <p:cNvSpPr>
              <a:spLocks noChangeShapeType="1"/>
            </p:cNvSpPr>
            <p:nvPr/>
          </p:nvSpPr>
          <p:spPr bwMode="auto">
            <a:xfrm flipV="1">
              <a:off x="7054850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2" name="Line 263"/>
            <p:cNvSpPr>
              <a:spLocks noChangeShapeType="1"/>
            </p:cNvSpPr>
            <p:nvPr/>
          </p:nvSpPr>
          <p:spPr bwMode="auto">
            <a:xfrm>
              <a:off x="7054850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3" name="Line 264"/>
            <p:cNvSpPr>
              <a:spLocks noChangeShapeType="1"/>
            </p:cNvSpPr>
            <p:nvPr/>
          </p:nvSpPr>
          <p:spPr bwMode="auto">
            <a:xfrm flipV="1">
              <a:off x="70548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4" name="Line 265"/>
            <p:cNvSpPr>
              <a:spLocks noChangeShapeType="1"/>
            </p:cNvSpPr>
            <p:nvPr/>
          </p:nvSpPr>
          <p:spPr bwMode="auto">
            <a:xfrm>
              <a:off x="7054850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5" name="Line 266"/>
            <p:cNvSpPr>
              <a:spLocks noChangeShapeType="1"/>
            </p:cNvSpPr>
            <p:nvPr/>
          </p:nvSpPr>
          <p:spPr bwMode="auto">
            <a:xfrm flipV="1">
              <a:off x="7054850" y="6659563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6" name="Rectangle 268"/>
            <p:cNvSpPr>
              <a:spLocks noChangeArrowheads="1"/>
            </p:cNvSpPr>
            <p:nvPr/>
          </p:nvSpPr>
          <p:spPr bwMode="auto">
            <a:xfrm>
              <a:off x="3671888" y="1763713"/>
              <a:ext cx="3168650" cy="10795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17" name="Line 269"/>
            <p:cNvSpPr>
              <a:spLocks noChangeShapeType="1"/>
            </p:cNvSpPr>
            <p:nvPr/>
          </p:nvSpPr>
          <p:spPr bwMode="auto">
            <a:xfrm>
              <a:off x="34559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8" name="Line 270"/>
            <p:cNvSpPr>
              <a:spLocks noChangeShapeType="1"/>
            </p:cNvSpPr>
            <p:nvPr/>
          </p:nvSpPr>
          <p:spPr bwMode="auto">
            <a:xfrm>
              <a:off x="34559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9" name="Line 271"/>
            <p:cNvSpPr>
              <a:spLocks noChangeShapeType="1"/>
            </p:cNvSpPr>
            <p:nvPr/>
          </p:nvSpPr>
          <p:spPr bwMode="auto">
            <a:xfrm>
              <a:off x="68405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0" name="Line 272"/>
            <p:cNvSpPr>
              <a:spLocks noChangeShapeType="1"/>
            </p:cNvSpPr>
            <p:nvPr/>
          </p:nvSpPr>
          <p:spPr bwMode="auto">
            <a:xfrm>
              <a:off x="68405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1" name="Line 273"/>
            <p:cNvSpPr>
              <a:spLocks noChangeShapeType="1"/>
            </p:cNvSpPr>
            <p:nvPr/>
          </p:nvSpPr>
          <p:spPr bwMode="auto">
            <a:xfrm>
              <a:off x="6840538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2" name="Line 274"/>
            <p:cNvSpPr>
              <a:spLocks noChangeShapeType="1"/>
            </p:cNvSpPr>
            <p:nvPr/>
          </p:nvSpPr>
          <p:spPr bwMode="auto">
            <a:xfrm>
              <a:off x="68405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3" name="Line 275"/>
            <p:cNvSpPr>
              <a:spLocks noChangeShapeType="1"/>
            </p:cNvSpPr>
            <p:nvPr/>
          </p:nvSpPr>
          <p:spPr bwMode="auto">
            <a:xfrm>
              <a:off x="6831013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4" name="Line 276"/>
            <p:cNvSpPr>
              <a:spLocks noChangeShapeType="1"/>
            </p:cNvSpPr>
            <p:nvPr/>
          </p:nvSpPr>
          <p:spPr bwMode="auto">
            <a:xfrm>
              <a:off x="6831013" y="34178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5" name="Line 277"/>
            <p:cNvSpPr>
              <a:spLocks noChangeShapeType="1"/>
            </p:cNvSpPr>
            <p:nvPr/>
          </p:nvSpPr>
          <p:spPr bwMode="auto">
            <a:xfrm>
              <a:off x="6831013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6" name="Line 278"/>
            <p:cNvSpPr>
              <a:spLocks noChangeShapeType="1"/>
            </p:cNvSpPr>
            <p:nvPr/>
          </p:nvSpPr>
          <p:spPr bwMode="auto">
            <a:xfrm>
              <a:off x="68405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7" name="Rectangle 279"/>
            <p:cNvSpPr>
              <a:spLocks noChangeArrowheads="1"/>
            </p:cNvSpPr>
            <p:nvPr/>
          </p:nvSpPr>
          <p:spPr bwMode="auto">
            <a:xfrm>
              <a:off x="3671888" y="3059113"/>
              <a:ext cx="3168650" cy="10795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28" name="Line 280"/>
            <p:cNvSpPr>
              <a:spLocks noChangeShapeType="1"/>
            </p:cNvSpPr>
            <p:nvPr/>
          </p:nvSpPr>
          <p:spPr bwMode="auto">
            <a:xfrm>
              <a:off x="3455988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9" name="Line 281"/>
            <p:cNvSpPr>
              <a:spLocks noChangeShapeType="1"/>
            </p:cNvSpPr>
            <p:nvPr/>
          </p:nvSpPr>
          <p:spPr bwMode="auto">
            <a:xfrm>
              <a:off x="34559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0" name="Line 282"/>
            <p:cNvSpPr>
              <a:spLocks noChangeShapeType="1"/>
            </p:cNvSpPr>
            <p:nvPr/>
          </p:nvSpPr>
          <p:spPr bwMode="auto">
            <a:xfrm>
              <a:off x="3455988" y="31321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1" name="Line 283"/>
            <p:cNvSpPr>
              <a:spLocks noChangeShapeType="1"/>
            </p:cNvSpPr>
            <p:nvPr/>
          </p:nvSpPr>
          <p:spPr bwMode="auto">
            <a:xfrm>
              <a:off x="34559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2" name="Line 284"/>
            <p:cNvSpPr>
              <a:spLocks noChangeShapeType="1"/>
            </p:cNvSpPr>
            <p:nvPr/>
          </p:nvSpPr>
          <p:spPr bwMode="auto">
            <a:xfrm>
              <a:off x="34559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3" name="Line 285"/>
            <p:cNvSpPr>
              <a:spLocks noChangeShapeType="1"/>
            </p:cNvSpPr>
            <p:nvPr/>
          </p:nvSpPr>
          <p:spPr bwMode="auto">
            <a:xfrm>
              <a:off x="34559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4" name="Rectangle 286"/>
            <p:cNvSpPr>
              <a:spLocks noChangeArrowheads="1"/>
            </p:cNvSpPr>
            <p:nvPr/>
          </p:nvSpPr>
          <p:spPr bwMode="auto">
            <a:xfrm>
              <a:off x="3671888" y="4357688"/>
              <a:ext cx="3168650" cy="10795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35" name="Line 287"/>
            <p:cNvSpPr>
              <a:spLocks noChangeShapeType="1"/>
            </p:cNvSpPr>
            <p:nvPr/>
          </p:nvSpPr>
          <p:spPr bwMode="auto">
            <a:xfrm>
              <a:off x="3455988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6" name="Line 288"/>
            <p:cNvSpPr>
              <a:spLocks noChangeShapeType="1"/>
            </p:cNvSpPr>
            <p:nvPr/>
          </p:nvSpPr>
          <p:spPr bwMode="auto">
            <a:xfrm>
              <a:off x="3455988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7" name="Line 289"/>
            <p:cNvSpPr>
              <a:spLocks noChangeShapeType="1"/>
            </p:cNvSpPr>
            <p:nvPr/>
          </p:nvSpPr>
          <p:spPr bwMode="auto">
            <a:xfrm>
              <a:off x="6840538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8" name="Line 290"/>
            <p:cNvSpPr>
              <a:spLocks noChangeShapeType="1"/>
            </p:cNvSpPr>
            <p:nvPr/>
          </p:nvSpPr>
          <p:spPr bwMode="auto">
            <a:xfrm>
              <a:off x="6840538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9" name="Line 291"/>
            <p:cNvSpPr>
              <a:spLocks noChangeShapeType="1"/>
            </p:cNvSpPr>
            <p:nvPr/>
          </p:nvSpPr>
          <p:spPr bwMode="auto">
            <a:xfrm>
              <a:off x="6840538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0" name="Line 292"/>
            <p:cNvSpPr>
              <a:spLocks noChangeShapeType="1"/>
            </p:cNvSpPr>
            <p:nvPr/>
          </p:nvSpPr>
          <p:spPr bwMode="auto">
            <a:xfrm>
              <a:off x="6840538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1" name="Line 293"/>
            <p:cNvSpPr>
              <a:spLocks noChangeShapeType="1"/>
            </p:cNvSpPr>
            <p:nvPr/>
          </p:nvSpPr>
          <p:spPr bwMode="auto">
            <a:xfrm>
              <a:off x="6831013" y="57245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2" name="Line 294"/>
            <p:cNvSpPr>
              <a:spLocks noChangeShapeType="1"/>
            </p:cNvSpPr>
            <p:nvPr/>
          </p:nvSpPr>
          <p:spPr bwMode="auto">
            <a:xfrm>
              <a:off x="6831013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3" name="Line 295"/>
            <p:cNvSpPr>
              <a:spLocks noChangeShapeType="1"/>
            </p:cNvSpPr>
            <p:nvPr/>
          </p:nvSpPr>
          <p:spPr bwMode="auto">
            <a:xfrm>
              <a:off x="6831013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4" name="Line 296"/>
            <p:cNvSpPr>
              <a:spLocks noChangeShapeType="1"/>
            </p:cNvSpPr>
            <p:nvPr/>
          </p:nvSpPr>
          <p:spPr bwMode="auto">
            <a:xfrm>
              <a:off x="6840538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5" name="Rectangle 297"/>
            <p:cNvSpPr>
              <a:spLocks noChangeArrowheads="1"/>
            </p:cNvSpPr>
            <p:nvPr/>
          </p:nvSpPr>
          <p:spPr bwMode="auto">
            <a:xfrm>
              <a:off x="3671888" y="5653088"/>
              <a:ext cx="3168650" cy="10795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46" name="Line 298"/>
            <p:cNvSpPr>
              <a:spLocks noChangeShapeType="1"/>
            </p:cNvSpPr>
            <p:nvPr/>
          </p:nvSpPr>
          <p:spPr bwMode="auto">
            <a:xfrm>
              <a:off x="3455988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7" name="Line 299"/>
            <p:cNvSpPr>
              <a:spLocks noChangeShapeType="1"/>
            </p:cNvSpPr>
            <p:nvPr/>
          </p:nvSpPr>
          <p:spPr bwMode="auto">
            <a:xfrm>
              <a:off x="3455988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8" name="Line 300"/>
            <p:cNvSpPr>
              <a:spLocks noChangeShapeType="1"/>
            </p:cNvSpPr>
            <p:nvPr/>
          </p:nvSpPr>
          <p:spPr bwMode="auto">
            <a:xfrm>
              <a:off x="3455988" y="57261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9" name="Line 301"/>
            <p:cNvSpPr>
              <a:spLocks noChangeShapeType="1"/>
            </p:cNvSpPr>
            <p:nvPr/>
          </p:nvSpPr>
          <p:spPr bwMode="auto">
            <a:xfrm>
              <a:off x="3455988" y="60134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0" name="Line 302"/>
            <p:cNvSpPr>
              <a:spLocks noChangeShapeType="1"/>
            </p:cNvSpPr>
            <p:nvPr/>
          </p:nvSpPr>
          <p:spPr bwMode="auto">
            <a:xfrm>
              <a:off x="3455988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1" name="Line 303"/>
            <p:cNvSpPr>
              <a:spLocks noChangeShapeType="1"/>
            </p:cNvSpPr>
            <p:nvPr/>
          </p:nvSpPr>
          <p:spPr bwMode="auto">
            <a:xfrm>
              <a:off x="3455988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2" name="Oval 312"/>
            <p:cNvSpPr>
              <a:spLocks noChangeArrowheads="1"/>
            </p:cNvSpPr>
            <p:nvPr/>
          </p:nvSpPr>
          <p:spPr bwMode="auto">
            <a:xfrm>
              <a:off x="576263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53" name="Oval 313"/>
            <p:cNvSpPr>
              <a:spLocks noChangeArrowheads="1"/>
            </p:cNvSpPr>
            <p:nvPr/>
          </p:nvSpPr>
          <p:spPr bwMode="auto">
            <a:xfrm>
              <a:off x="576263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254" name="Oval 314"/>
            <p:cNvSpPr>
              <a:spLocks noChangeArrowheads="1"/>
            </p:cNvSpPr>
            <p:nvPr/>
          </p:nvSpPr>
          <p:spPr bwMode="auto">
            <a:xfrm>
              <a:off x="576263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55" name="Oval 315"/>
            <p:cNvSpPr>
              <a:spLocks noChangeArrowheads="1"/>
            </p:cNvSpPr>
            <p:nvPr/>
          </p:nvSpPr>
          <p:spPr bwMode="auto">
            <a:xfrm>
              <a:off x="576263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56" name="Oval 316"/>
            <p:cNvSpPr>
              <a:spLocks noChangeArrowheads="1"/>
            </p:cNvSpPr>
            <p:nvPr/>
          </p:nvSpPr>
          <p:spPr bwMode="auto">
            <a:xfrm>
              <a:off x="576263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57" name="Oval 317"/>
            <p:cNvSpPr>
              <a:spLocks noChangeArrowheads="1"/>
            </p:cNvSpPr>
            <p:nvPr/>
          </p:nvSpPr>
          <p:spPr bwMode="auto">
            <a:xfrm>
              <a:off x="576263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58" name="Oval 318"/>
            <p:cNvSpPr>
              <a:spLocks noChangeArrowheads="1"/>
            </p:cNvSpPr>
            <p:nvPr/>
          </p:nvSpPr>
          <p:spPr bwMode="auto">
            <a:xfrm>
              <a:off x="576263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59" name="Oval 319"/>
            <p:cNvSpPr>
              <a:spLocks noChangeArrowheads="1"/>
            </p:cNvSpPr>
            <p:nvPr/>
          </p:nvSpPr>
          <p:spPr bwMode="auto">
            <a:xfrm>
              <a:off x="576263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260" name="Oval 320"/>
            <p:cNvSpPr>
              <a:spLocks noChangeArrowheads="1"/>
            </p:cNvSpPr>
            <p:nvPr/>
          </p:nvSpPr>
          <p:spPr bwMode="auto">
            <a:xfrm>
              <a:off x="576263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261" name="Oval 321"/>
            <p:cNvSpPr>
              <a:spLocks noChangeArrowheads="1"/>
            </p:cNvSpPr>
            <p:nvPr/>
          </p:nvSpPr>
          <p:spPr bwMode="auto">
            <a:xfrm>
              <a:off x="576263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262" name="Oval 322"/>
            <p:cNvSpPr>
              <a:spLocks noChangeArrowheads="1"/>
            </p:cNvSpPr>
            <p:nvPr/>
          </p:nvSpPr>
          <p:spPr bwMode="auto">
            <a:xfrm>
              <a:off x="576263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263" name="Oval 323"/>
            <p:cNvSpPr>
              <a:spLocks noChangeArrowheads="1"/>
            </p:cNvSpPr>
            <p:nvPr/>
          </p:nvSpPr>
          <p:spPr bwMode="auto">
            <a:xfrm>
              <a:off x="576263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64" name="Oval 324"/>
            <p:cNvSpPr>
              <a:spLocks noChangeArrowheads="1"/>
            </p:cNvSpPr>
            <p:nvPr/>
          </p:nvSpPr>
          <p:spPr bwMode="auto">
            <a:xfrm>
              <a:off x="576263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65" name="Oval 325"/>
            <p:cNvSpPr>
              <a:spLocks noChangeArrowheads="1"/>
            </p:cNvSpPr>
            <p:nvPr/>
          </p:nvSpPr>
          <p:spPr bwMode="auto">
            <a:xfrm>
              <a:off x="576263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266" name="Oval 326"/>
            <p:cNvSpPr>
              <a:spLocks noChangeArrowheads="1"/>
            </p:cNvSpPr>
            <p:nvPr/>
          </p:nvSpPr>
          <p:spPr bwMode="auto">
            <a:xfrm>
              <a:off x="576263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67" name="Oval 327"/>
            <p:cNvSpPr>
              <a:spLocks noChangeArrowheads="1"/>
            </p:cNvSpPr>
            <p:nvPr/>
          </p:nvSpPr>
          <p:spPr bwMode="auto">
            <a:xfrm>
              <a:off x="576263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68" name="Oval 328"/>
            <p:cNvSpPr>
              <a:spLocks noChangeArrowheads="1"/>
            </p:cNvSpPr>
            <p:nvPr/>
          </p:nvSpPr>
          <p:spPr bwMode="auto">
            <a:xfrm>
              <a:off x="9575800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69" name="Oval 329"/>
            <p:cNvSpPr>
              <a:spLocks noChangeArrowheads="1"/>
            </p:cNvSpPr>
            <p:nvPr/>
          </p:nvSpPr>
          <p:spPr bwMode="auto">
            <a:xfrm>
              <a:off x="9575800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270" name="Oval 330"/>
            <p:cNvSpPr>
              <a:spLocks noChangeArrowheads="1"/>
            </p:cNvSpPr>
            <p:nvPr/>
          </p:nvSpPr>
          <p:spPr bwMode="auto">
            <a:xfrm>
              <a:off x="9575800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71" name="Oval 331"/>
            <p:cNvSpPr>
              <a:spLocks noChangeArrowheads="1"/>
            </p:cNvSpPr>
            <p:nvPr/>
          </p:nvSpPr>
          <p:spPr bwMode="auto">
            <a:xfrm>
              <a:off x="9575800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72" name="Oval 332"/>
            <p:cNvSpPr>
              <a:spLocks noChangeArrowheads="1"/>
            </p:cNvSpPr>
            <p:nvPr/>
          </p:nvSpPr>
          <p:spPr bwMode="auto">
            <a:xfrm>
              <a:off x="9575800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73" name="Oval 333"/>
            <p:cNvSpPr>
              <a:spLocks noChangeArrowheads="1"/>
            </p:cNvSpPr>
            <p:nvPr/>
          </p:nvSpPr>
          <p:spPr bwMode="auto">
            <a:xfrm>
              <a:off x="9575800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74" name="Oval 334"/>
            <p:cNvSpPr>
              <a:spLocks noChangeArrowheads="1"/>
            </p:cNvSpPr>
            <p:nvPr/>
          </p:nvSpPr>
          <p:spPr bwMode="auto">
            <a:xfrm>
              <a:off x="9575800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75" name="Oval 335"/>
            <p:cNvSpPr>
              <a:spLocks noChangeArrowheads="1"/>
            </p:cNvSpPr>
            <p:nvPr/>
          </p:nvSpPr>
          <p:spPr bwMode="auto">
            <a:xfrm>
              <a:off x="9575800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276" name="Oval 336"/>
            <p:cNvSpPr>
              <a:spLocks noChangeArrowheads="1"/>
            </p:cNvSpPr>
            <p:nvPr/>
          </p:nvSpPr>
          <p:spPr bwMode="auto">
            <a:xfrm>
              <a:off x="9575800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277" name="Oval 337"/>
            <p:cNvSpPr>
              <a:spLocks noChangeArrowheads="1"/>
            </p:cNvSpPr>
            <p:nvPr/>
          </p:nvSpPr>
          <p:spPr bwMode="auto">
            <a:xfrm>
              <a:off x="9575800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278" name="Oval 338"/>
            <p:cNvSpPr>
              <a:spLocks noChangeArrowheads="1"/>
            </p:cNvSpPr>
            <p:nvPr/>
          </p:nvSpPr>
          <p:spPr bwMode="auto">
            <a:xfrm>
              <a:off x="9575800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279" name="Oval 339"/>
            <p:cNvSpPr>
              <a:spLocks noChangeArrowheads="1"/>
            </p:cNvSpPr>
            <p:nvPr/>
          </p:nvSpPr>
          <p:spPr bwMode="auto">
            <a:xfrm>
              <a:off x="9575800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80" name="Oval 340"/>
            <p:cNvSpPr>
              <a:spLocks noChangeArrowheads="1"/>
            </p:cNvSpPr>
            <p:nvPr/>
          </p:nvSpPr>
          <p:spPr bwMode="auto">
            <a:xfrm>
              <a:off x="9575800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81" name="Oval 341"/>
            <p:cNvSpPr>
              <a:spLocks noChangeArrowheads="1"/>
            </p:cNvSpPr>
            <p:nvPr/>
          </p:nvSpPr>
          <p:spPr bwMode="auto">
            <a:xfrm>
              <a:off x="9575800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282" name="Oval 342"/>
            <p:cNvSpPr>
              <a:spLocks noChangeArrowheads="1"/>
            </p:cNvSpPr>
            <p:nvPr/>
          </p:nvSpPr>
          <p:spPr bwMode="auto">
            <a:xfrm>
              <a:off x="9575800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83" name="Oval 343"/>
            <p:cNvSpPr>
              <a:spLocks noChangeArrowheads="1"/>
            </p:cNvSpPr>
            <p:nvPr/>
          </p:nvSpPr>
          <p:spPr bwMode="auto">
            <a:xfrm>
              <a:off x="9575800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grpSp>
          <p:nvGrpSpPr>
            <p:cNvPr id="284" name="Group 344"/>
            <p:cNvGrpSpPr>
              <a:grpSpLocks/>
            </p:cNvGrpSpPr>
            <p:nvPr/>
          </p:nvGrpSpPr>
          <p:grpSpPr bwMode="auto">
            <a:xfrm>
              <a:off x="4895850" y="1979613"/>
              <a:ext cx="792163" cy="576262"/>
              <a:chOff x="3175" y="2971"/>
              <a:chExt cx="726" cy="771"/>
            </a:xfrm>
          </p:grpSpPr>
          <p:sp>
            <p:nvSpPr>
              <p:cNvPr id="306" name="Line 345"/>
              <p:cNvSpPr>
                <a:spLocks noChangeShapeType="1"/>
              </p:cNvSpPr>
              <p:nvPr/>
            </p:nvSpPr>
            <p:spPr bwMode="auto">
              <a:xfrm flipH="1"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7" name="Line 346"/>
              <p:cNvSpPr>
                <a:spLocks noChangeShapeType="1"/>
              </p:cNvSpPr>
              <p:nvPr/>
            </p:nvSpPr>
            <p:spPr bwMode="auto">
              <a:xfrm flipH="1">
                <a:off x="3175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8" name="Line 347"/>
              <p:cNvSpPr>
                <a:spLocks noChangeShapeType="1"/>
              </p:cNvSpPr>
              <p:nvPr/>
            </p:nvSpPr>
            <p:spPr bwMode="auto">
              <a:xfrm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9" name="Line 348"/>
              <p:cNvSpPr>
                <a:spLocks noChangeShapeType="1"/>
              </p:cNvSpPr>
              <p:nvPr/>
            </p:nvSpPr>
            <p:spPr bwMode="auto">
              <a:xfrm flipH="1">
                <a:off x="3720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0" name="Line 349"/>
              <p:cNvSpPr>
                <a:spLocks noChangeShapeType="1"/>
              </p:cNvSpPr>
              <p:nvPr/>
            </p:nvSpPr>
            <p:spPr bwMode="auto">
              <a:xfrm flipH="1">
                <a:off x="3175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11" name="Line 350"/>
              <p:cNvSpPr>
                <a:spLocks noChangeShapeType="1"/>
              </p:cNvSpPr>
              <p:nvPr/>
            </p:nvSpPr>
            <p:spPr bwMode="auto">
              <a:xfrm flipH="1">
                <a:off x="3720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85" name="Group 351"/>
            <p:cNvGrpSpPr>
              <a:grpSpLocks/>
            </p:cNvGrpSpPr>
            <p:nvPr/>
          </p:nvGrpSpPr>
          <p:grpSpPr bwMode="auto">
            <a:xfrm>
              <a:off x="4895850" y="3275013"/>
              <a:ext cx="792163" cy="576262"/>
              <a:chOff x="3175" y="2971"/>
              <a:chExt cx="726" cy="771"/>
            </a:xfrm>
          </p:grpSpPr>
          <p:sp>
            <p:nvSpPr>
              <p:cNvPr id="300" name="Line 352"/>
              <p:cNvSpPr>
                <a:spLocks noChangeShapeType="1"/>
              </p:cNvSpPr>
              <p:nvPr/>
            </p:nvSpPr>
            <p:spPr bwMode="auto">
              <a:xfrm flipH="1"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1" name="Line 353"/>
              <p:cNvSpPr>
                <a:spLocks noChangeShapeType="1"/>
              </p:cNvSpPr>
              <p:nvPr/>
            </p:nvSpPr>
            <p:spPr bwMode="auto">
              <a:xfrm flipH="1">
                <a:off x="3175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2" name="Line 354"/>
              <p:cNvSpPr>
                <a:spLocks noChangeShapeType="1"/>
              </p:cNvSpPr>
              <p:nvPr/>
            </p:nvSpPr>
            <p:spPr bwMode="auto">
              <a:xfrm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3" name="Line 355"/>
              <p:cNvSpPr>
                <a:spLocks noChangeShapeType="1"/>
              </p:cNvSpPr>
              <p:nvPr/>
            </p:nvSpPr>
            <p:spPr bwMode="auto">
              <a:xfrm flipH="1">
                <a:off x="3720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4" name="Line 356"/>
              <p:cNvSpPr>
                <a:spLocks noChangeShapeType="1"/>
              </p:cNvSpPr>
              <p:nvPr/>
            </p:nvSpPr>
            <p:spPr bwMode="auto">
              <a:xfrm flipH="1">
                <a:off x="3175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305" name="Line 357"/>
              <p:cNvSpPr>
                <a:spLocks noChangeShapeType="1"/>
              </p:cNvSpPr>
              <p:nvPr/>
            </p:nvSpPr>
            <p:spPr bwMode="auto">
              <a:xfrm flipH="1">
                <a:off x="3720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86" name="Group 358"/>
            <p:cNvGrpSpPr>
              <a:grpSpLocks/>
            </p:cNvGrpSpPr>
            <p:nvPr/>
          </p:nvGrpSpPr>
          <p:grpSpPr bwMode="auto">
            <a:xfrm>
              <a:off x="4895850" y="4572000"/>
              <a:ext cx="792163" cy="576263"/>
              <a:chOff x="3175" y="2971"/>
              <a:chExt cx="726" cy="771"/>
            </a:xfrm>
          </p:grpSpPr>
          <p:sp>
            <p:nvSpPr>
              <p:cNvPr id="294" name="Line 359"/>
              <p:cNvSpPr>
                <a:spLocks noChangeShapeType="1"/>
              </p:cNvSpPr>
              <p:nvPr/>
            </p:nvSpPr>
            <p:spPr bwMode="auto">
              <a:xfrm flipH="1"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5" name="Line 360"/>
              <p:cNvSpPr>
                <a:spLocks noChangeShapeType="1"/>
              </p:cNvSpPr>
              <p:nvPr/>
            </p:nvSpPr>
            <p:spPr bwMode="auto">
              <a:xfrm flipH="1">
                <a:off x="3175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6" name="Line 361"/>
              <p:cNvSpPr>
                <a:spLocks noChangeShapeType="1"/>
              </p:cNvSpPr>
              <p:nvPr/>
            </p:nvSpPr>
            <p:spPr bwMode="auto">
              <a:xfrm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7" name="Line 362"/>
              <p:cNvSpPr>
                <a:spLocks noChangeShapeType="1"/>
              </p:cNvSpPr>
              <p:nvPr/>
            </p:nvSpPr>
            <p:spPr bwMode="auto">
              <a:xfrm flipH="1">
                <a:off x="3720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8" name="Line 363"/>
              <p:cNvSpPr>
                <a:spLocks noChangeShapeType="1"/>
              </p:cNvSpPr>
              <p:nvPr/>
            </p:nvSpPr>
            <p:spPr bwMode="auto">
              <a:xfrm flipH="1">
                <a:off x="3175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9" name="Line 364"/>
              <p:cNvSpPr>
                <a:spLocks noChangeShapeType="1"/>
              </p:cNvSpPr>
              <p:nvPr/>
            </p:nvSpPr>
            <p:spPr bwMode="auto">
              <a:xfrm flipH="1">
                <a:off x="3720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87" name="Group 365"/>
            <p:cNvGrpSpPr>
              <a:grpSpLocks/>
            </p:cNvGrpSpPr>
            <p:nvPr/>
          </p:nvGrpSpPr>
          <p:grpSpPr bwMode="auto">
            <a:xfrm>
              <a:off x="4895850" y="5867400"/>
              <a:ext cx="792163" cy="576263"/>
              <a:chOff x="3175" y="2971"/>
              <a:chExt cx="726" cy="771"/>
            </a:xfrm>
          </p:grpSpPr>
          <p:sp>
            <p:nvSpPr>
              <p:cNvPr id="288" name="Line 366"/>
              <p:cNvSpPr>
                <a:spLocks noChangeShapeType="1"/>
              </p:cNvSpPr>
              <p:nvPr/>
            </p:nvSpPr>
            <p:spPr bwMode="auto">
              <a:xfrm flipH="1"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89" name="Line 367"/>
              <p:cNvSpPr>
                <a:spLocks noChangeShapeType="1"/>
              </p:cNvSpPr>
              <p:nvPr/>
            </p:nvSpPr>
            <p:spPr bwMode="auto">
              <a:xfrm flipH="1">
                <a:off x="3175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0" name="Line 368"/>
              <p:cNvSpPr>
                <a:spLocks noChangeShapeType="1"/>
              </p:cNvSpPr>
              <p:nvPr/>
            </p:nvSpPr>
            <p:spPr bwMode="auto">
              <a:xfrm>
                <a:off x="3356" y="2971"/>
                <a:ext cx="363" cy="7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1" name="Line 369"/>
              <p:cNvSpPr>
                <a:spLocks noChangeShapeType="1"/>
              </p:cNvSpPr>
              <p:nvPr/>
            </p:nvSpPr>
            <p:spPr bwMode="auto">
              <a:xfrm flipH="1">
                <a:off x="3720" y="2971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2" name="Line 370"/>
              <p:cNvSpPr>
                <a:spLocks noChangeShapeType="1"/>
              </p:cNvSpPr>
              <p:nvPr/>
            </p:nvSpPr>
            <p:spPr bwMode="auto">
              <a:xfrm flipH="1">
                <a:off x="3175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293" name="Line 371"/>
              <p:cNvSpPr>
                <a:spLocks noChangeShapeType="1"/>
              </p:cNvSpPr>
              <p:nvPr/>
            </p:nvSpPr>
            <p:spPr bwMode="auto">
              <a:xfrm flipH="1">
                <a:off x="3720" y="374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</p:grpSp>
      <p:sp>
        <p:nvSpPr>
          <p:cNvPr id="328" name="Text Box 310"/>
          <p:cNvSpPr txBox="1">
            <a:spLocks noChangeArrowheads="1"/>
          </p:cNvSpPr>
          <p:nvPr/>
        </p:nvSpPr>
        <p:spPr bwMode="auto">
          <a:xfrm>
            <a:off x="2843808" y="6396880"/>
            <a:ext cx="3241675" cy="34448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9973" tIns="44986" rIns="89973" bIns="44986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013" indent="-214313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217488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/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16 port, </a:t>
            </a:r>
            <a:r>
              <a:rPr lang="en-GB" altLang="zh-TW" sz="1800" b="1" i="1" dirty="0">
                <a:solidFill>
                  <a:schemeClr val="accent2"/>
                </a:solidFill>
                <a:ea typeface="新細明體" panose="02020500000000000000" pitchFamily="18" charset="-120"/>
              </a:rPr>
              <a:t>5-stage Clos</a:t>
            </a:r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 network</a:t>
            </a:r>
          </a:p>
        </p:txBody>
      </p:sp>
      <p:sp>
        <p:nvSpPr>
          <p:cNvPr id="329" name="文字方塊 328"/>
          <p:cNvSpPr txBox="1"/>
          <p:nvPr/>
        </p:nvSpPr>
        <p:spPr>
          <a:xfrm>
            <a:off x="3347864" y="3131676"/>
            <a:ext cx="825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r>
              <a:rPr lang="en-US" altLang="zh-TW" sz="1200" dirty="0" smtClean="0"/>
              <a:t> x 4 crossbar</a:t>
            </a:r>
            <a:endParaRPr lang="zh-TW" altLang="en-US" sz="1200" dirty="0"/>
          </a:p>
        </p:txBody>
      </p:sp>
      <p:sp>
        <p:nvSpPr>
          <p:cNvPr id="330" name="文字方塊 329"/>
          <p:cNvSpPr txBox="1"/>
          <p:nvPr/>
        </p:nvSpPr>
        <p:spPr>
          <a:xfrm>
            <a:off x="3347864" y="3933056"/>
            <a:ext cx="825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r>
              <a:rPr lang="en-US" altLang="zh-TW" sz="1200" dirty="0" smtClean="0"/>
              <a:t> x 4 crossbar</a:t>
            </a:r>
            <a:endParaRPr lang="zh-TW" altLang="en-US" sz="1200" dirty="0"/>
          </a:p>
        </p:txBody>
      </p:sp>
      <p:sp>
        <p:nvSpPr>
          <p:cNvPr id="331" name="文字方塊 330"/>
          <p:cNvSpPr txBox="1"/>
          <p:nvPr/>
        </p:nvSpPr>
        <p:spPr>
          <a:xfrm>
            <a:off x="3347864" y="4725144"/>
            <a:ext cx="825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r>
              <a:rPr lang="en-US" altLang="zh-TW" sz="1200" dirty="0" smtClean="0"/>
              <a:t> x 4 crossbar</a:t>
            </a:r>
            <a:endParaRPr lang="zh-TW" altLang="en-US" sz="1200" dirty="0"/>
          </a:p>
        </p:txBody>
      </p:sp>
      <p:sp>
        <p:nvSpPr>
          <p:cNvPr id="332" name="文字方塊 331"/>
          <p:cNvSpPr txBox="1"/>
          <p:nvPr/>
        </p:nvSpPr>
        <p:spPr>
          <a:xfrm>
            <a:off x="3347864" y="5559623"/>
            <a:ext cx="825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r>
              <a:rPr lang="en-US" altLang="zh-TW" sz="1200" dirty="0" smtClean="0"/>
              <a:t> x 4 crossbar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82095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604441"/>
            <a:ext cx="7772400" cy="736327"/>
          </a:xfrm>
        </p:spPr>
        <p:txBody>
          <a:bodyPr/>
          <a:lstStyle/>
          <a:p>
            <a:pPr algn="ctr"/>
            <a:r>
              <a:rPr lang="en-US" altLang="zh-TW" dirty="0" smtClean="0"/>
              <a:t>The Benes MIN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683568" y="1620838"/>
            <a:ext cx="7920879" cy="4616474"/>
            <a:chOff x="576263" y="1620838"/>
            <a:chExt cx="9288462" cy="5327650"/>
          </a:xfrm>
        </p:grpSpPr>
        <p:sp>
          <p:nvSpPr>
            <p:cNvPr id="5" name="AutoShape 470"/>
            <p:cNvSpPr>
              <a:spLocks noChangeArrowheads="1"/>
            </p:cNvSpPr>
            <p:nvPr/>
          </p:nvSpPr>
          <p:spPr bwMode="auto">
            <a:xfrm>
              <a:off x="2016125" y="4284663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" name="AutoShape 471"/>
            <p:cNvSpPr>
              <a:spLocks noChangeArrowheads="1"/>
            </p:cNvSpPr>
            <p:nvPr/>
          </p:nvSpPr>
          <p:spPr bwMode="auto">
            <a:xfrm>
              <a:off x="2016125" y="1620838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" name="AutoShape 467"/>
            <p:cNvSpPr>
              <a:spLocks noChangeArrowheads="1"/>
            </p:cNvSpPr>
            <p:nvPr/>
          </p:nvSpPr>
          <p:spPr bwMode="auto">
            <a:xfrm>
              <a:off x="3527425" y="42846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" name="AutoShape 468"/>
            <p:cNvSpPr>
              <a:spLocks noChangeArrowheads="1"/>
            </p:cNvSpPr>
            <p:nvPr/>
          </p:nvSpPr>
          <p:spPr bwMode="auto">
            <a:xfrm>
              <a:off x="3527425" y="29892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" name="AutoShape 469"/>
            <p:cNvSpPr>
              <a:spLocks noChangeArrowheads="1"/>
            </p:cNvSpPr>
            <p:nvPr/>
          </p:nvSpPr>
          <p:spPr bwMode="auto">
            <a:xfrm>
              <a:off x="3527425" y="1692275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" name="AutoShape 466"/>
            <p:cNvSpPr>
              <a:spLocks noChangeArrowheads="1"/>
            </p:cNvSpPr>
            <p:nvPr/>
          </p:nvSpPr>
          <p:spPr bwMode="auto">
            <a:xfrm>
              <a:off x="3527425" y="55800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10810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" name="Rectangle 21"/>
            <p:cNvSpPr>
              <a:spLocks noChangeArrowheads="1"/>
            </p:cNvSpPr>
            <p:nvPr/>
          </p:nvSpPr>
          <p:spPr bwMode="auto">
            <a:xfrm>
              <a:off x="10810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" name="Rectangle 22"/>
            <p:cNvSpPr>
              <a:spLocks noChangeArrowheads="1"/>
            </p:cNvSpPr>
            <p:nvPr/>
          </p:nvSpPr>
          <p:spPr bwMode="auto">
            <a:xfrm>
              <a:off x="10810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" name="Rectangle 23"/>
            <p:cNvSpPr>
              <a:spLocks noChangeArrowheads="1"/>
            </p:cNvSpPr>
            <p:nvPr/>
          </p:nvSpPr>
          <p:spPr bwMode="auto">
            <a:xfrm>
              <a:off x="10810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" name="Rectangle 24"/>
            <p:cNvSpPr>
              <a:spLocks noChangeArrowheads="1"/>
            </p:cNvSpPr>
            <p:nvPr/>
          </p:nvSpPr>
          <p:spPr bwMode="auto">
            <a:xfrm>
              <a:off x="10810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" name="Rectangle 25"/>
            <p:cNvSpPr>
              <a:spLocks noChangeArrowheads="1"/>
            </p:cNvSpPr>
            <p:nvPr/>
          </p:nvSpPr>
          <p:spPr bwMode="auto">
            <a:xfrm>
              <a:off x="10810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7" name="Rectangle 26"/>
            <p:cNvSpPr>
              <a:spLocks noChangeArrowheads="1"/>
            </p:cNvSpPr>
            <p:nvPr/>
          </p:nvSpPr>
          <p:spPr bwMode="auto">
            <a:xfrm>
              <a:off x="10810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8" name="Rectangle 27"/>
            <p:cNvSpPr>
              <a:spLocks noChangeArrowheads="1"/>
            </p:cNvSpPr>
            <p:nvPr/>
          </p:nvSpPr>
          <p:spPr bwMode="auto">
            <a:xfrm>
              <a:off x="10810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>
              <a:off x="8651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" name="Line 29"/>
            <p:cNvSpPr>
              <a:spLocks noChangeShapeType="1"/>
            </p:cNvSpPr>
            <p:nvPr/>
          </p:nvSpPr>
          <p:spPr bwMode="auto">
            <a:xfrm>
              <a:off x="8651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" name="Line 30"/>
            <p:cNvSpPr>
              <a:spLocks noChangeShapeType="1"/>
            </p:cNvSpPr>
            <p:nvPr/>
          </p:nvSpPr>
          <p:spPr bwMode="auto">
            <a:xfrm>
              <a:off x="8651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" name="Line 31"/>
            <p:cNvSpPr>
              <a:spLocks noChangeShapeType="1"/>
            </p:cNvSpPr>
            <p:nvPr/>
          </p:nvSpPr>
          <p:spPr bwMode="auto">
            <a:xfrm>
              <a:off x="8651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" name="Line 32"/>
            <p:cNvSpPr>
              <a:spLocks noChangeShapeType="1"/>
            </p:cNvSpPr>
            <p:nvPr/>
          </p:nvSpPr>
          <p:spPr bwMode="auto">
            <a:xfrm>
              <a:off x="8651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" name="Line 33"/>
            <p:cNvSpPr>
              <a:spLocks noChangeShapeType="1"/>
            </p:cNvSpPr>
            <p:nvPr/>
          </p:nvSpPr>
          <p:spPr bwMode="auto">
            <a:xfrm>
              <a:off x="8651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" name="Line 34"/>
            <p:cNvSpPr>
              <a:spLocks noChangeShapeType="1"/>
            </p:cNvSpPr>
            <p:nvPr/>
          </p:nvSpPr>
          <p:spPr bwMode="auto">
            <a:xfrm>
              <a:off x="8651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" name="Line 35"/>
            <p:cNvSpPr>
              <a:spLocks noChangeShapeType="1"/>
            </p:cNvSpPr>
            <p:nvPr/>
          </p:nvSpPr>
          <p:spPr bwMode="auto">
            <a:xfrm>
              <a:off x="8651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" name="Line 36"/>
            <p:cNvSpPr>
              <a:spLocks noChangeShapeType="1"/>
            </p:cNvSpPr>
            <p:nvPr/>
          </p:nvSpPr>
          <p:spPr bwMode="auto">
            <a:xfrm>
              <a:off x="8651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" name="Line 37"/>
            <p:cNvSpPr>
              <a:spLocks noChangeShapeType="1"/>
            </p:cNvSpPr>
            <p:nvPr/>
          </p:nvSpPr>
          <p:spPr bwMode="auto">
            <a:xfrm>
              <a:off x="8651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" name="Line 38"/>
            <p:cNvSpPr>
              <a:spLocks noChangeShapeType="1"/>
            </p:cNvSpPr>
            <p:nvPr/>
          </p:nvSpPr>
          <p:spPr bwMode="auto">
            <a:xfrm>
              <a:off x="8651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" name="Line 39"/>
            <p:cNvSpPr>
              <a:spLocks noChangeShapeType="1"/>
            </p:cNvSpPr>
            <p:nvPr/>
          </p:nvSpPr>
          <p:spPr bwMode="auto">
            <a:xfrm>
              <a:off x="8651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" name="Line 40"/>
            <p:cNvSpPr>
              <a:spLocks noChangeShapeType="1"/>
            </p:cNvSpPr>
            <p:nvPr/>
          </p:nvSpPr>
          <p:spPr bwMode="auto">
            <a:xfrm>
              <a:off x="8651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>
              <a:off x="8651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>
              <a:off x="8651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" name="Line 43"/>
            <p:cNvSpPr>
              <a:spLocks noChangeShapeType="1"/>
            </p:cNvSpPr>
            <p:nvPr/>
          </p:nvSpPr>
          <p:spPr bwMode="auto">
            <a:xfrm>
              <a:off x="8651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" name="Line 44"/>
            <p:cNvSpPr>
              <a:spLocks noChangeShapeType="1"/>
            </p:cNvSpPr>
            <p:nvPr/>
          </p:nvSpPr>
          <p:spPr bwMode="auto">
            <a:xfrm>
              <a:off x="14414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" name="Line 45"/>
            <p:cNvSpPr>
              <a:spLocks noChangeShapeType="1"/>
            </p:cNvSpPr>
            <p:nvPr/>
          </p:nvSpPr>
          <p:spPr bwMode="auto">
            <a:xfrm>
              <a:off x="14414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" name="Line 46"/>
            <p:cNvSpPr>
              <a:spLocks noChangeShapeType="1"/>
            </p:cNvSpPr>
            <p:nvPr/>
          </p:nvSpPr>
          <p:spPr bwMode="auto">
            <a:xfrm>
              <a:off x="14414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" name="Line 47"/>
            <p:cNvSpPr>
              <a:spLocks noChangeShapeType="1"/>
            </p:cNvSpPr>
            <p:nvPr/>
          </p:nvSpPr>
          <p:spPr bwMode="auto">
            <a:xfrm>
              <a:off x="14414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" name="Line 48"/>
            <p:cNvSpPr>
              <a:spLocks noChangeShapeType="1"/>
            </p:cNvSpPr>
            <p:nvPr/>
          </p:nvSpPr>
          <p:spPr bwMode="auto">
            <a:xfrm>
              <a:off x="14414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" name="Line 49"/>
            <p:cNvSpPr>
              <a:spLocks noChangeShapeType="1"/>
            </p:cNvSpPr>
            <p:nvPr/>
          </p:nvSpPr>
          <p:spPr bwMode="auto">
            <a:xfrm>
              <a:off x="14414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1" name="Line 50"/>
            <p:cNvSpPr>
              <a:spLocks noChangeShapeType="1"/>
            </p:cNvSpPr>
            <p:nvPr/>
          </p:nvSpPr>
          <p:spPr bwMode="auto">
            <a:xfrm>
              <a:off x="14414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2" name="Line 51"/>
            <p:cNvSpPr>
              <a:spLocks noChangeShapeType="1"/>
            </p:cNvSpPr>
            <p:nvPr/>
          </p:nvSpPr>
          <p:spPr bwMode="auto">
            <a:xfrm>
              <a:off x="14414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" name="Line 52"/>
            <p:cNvSpPr>
              <a:spLocks noChangeShapeType="1"/>
            </p:cNvSpPr>
            <p:nvPr/>
          </p:nvSpPr>
          <p:spPr bwMode="auto">
            <a:xfrm>
              <a:off x="14414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" name="Line 53"/>
            <p:cNvSpPr>
              <a:spLocks noChangeShapeType="1"/>
            </p:cNvSpPr>
            <p:nvPr/>
          </p:nvSpPr>
          <p:spPr bwMode="auto">
            <a:xfrm>
              <a:off x="14414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5" name="Line 54"/>
            <p:cNvSpPr>
              <a:spLocks noChangeShapeType="1"/>
            </p:cNvSpPr>
            <p:nvPr/>
          </p:nvSpPr>
          <p:spPr bwMode="auto">
            <a:xfrm>
              <a:off x="14414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6" name="Line 55"/>
            <p:cNvSpPr>
              <a:spLocks noChangeShapeType="1"/>
            </p:cNvSpPr>
            <p:nvPr/>
          </p:nvSpPr>
          <p:spPr bwMode="auto">
            <a:xfrm>
              <a:off x="14414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7" name="Line 56"/>
            <p:cNvSpPr>
              <a:spLocks noChangeShapeType="1"/>
            </p:cNvSpPr>
            <p:nvPr/>
          </p:nvSpPr>
          <p:spPr bwMode="auto">
            <a:xfrm>
              <a:off x="14414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8" name="Line 57"/>
            <p:cNvSpPr>
              <a:spLocks noChangeShapeType="1"/>
            </p:cNvSpPr>
            <p:nvPr/>
          </p:nvSpPr>
          <p:spPr bwMode="auto">
            <a:xfrm>
              <a:off x="14414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9" name="Line 58"/>
            <p:cNvSpPr>
              <a:spLocks noChangeShapeType="1"/>
            </p:cNvSpPr>
            <p:nvPr/>
          </p:nvSpPr>
          <p:spPr bwMode="auto">
            <a:xfrm>
              <a:off x="14414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0" name="Line 59"/>
            <p:cNvSpPr>
              <a:spLocks noChangeShapeType="1"/>
            </p:cNvSpPr>
            <p:nvPr/>
          </p:nvSpPr>
          <p:spPr bwMode="auto">
            <a:xfrm>
              <a:off x="14414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grpSp>
          <p:nvGrpSpPr>
            <p:cNvPr id="51" name="Group 60"/>
            <p:cNvGrpSpPr>
              <a:grpSpLocks/>
            </p:cNvGrpSpPr>
            <p:nvPr/>
          </p:nvGrpSpPr>
          <p:grpSpPr bwMode="auto">
            <a:xfrm>
              <a:off x="1657350" y="1835150"/>
              <a:ext cx="503238" cy="4824413"/>
              <a:chOff x="2268" y="1156"/>
              <a:chExt cx="317" cy="3039"/>
            </a:xfrm>
          </p:grpSpPr>
          <p:sp>
            <p:nvSpPr>
              <p:cNvPr id="420" name="Line 61"/>
              <p:cNvSpPr>
                <a:spLocks noChangeShapeType="1"/>
              </p:cNvSpPr>
              <p:nvPr/>
            </p:nvSpPr>
            <p:spPr bwMode="auto">
              <a:xfrm>
                <a:off x="2268" y="1156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1" name="Line 62"/>
              <p:cNvSpPr>
                <a:spLocks noChangeShapeType="1"/>
              </p:cNvSpPr>
              <p:nvPr/>
            </p:nvSpPr>
            <p:spPr bwMode="auto">
              <a:xfrm>
                <a:off x="2268" y="4195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2" name="Line 63"/>
              <p:cNvSpPr>
                <a:spLocks noChangeShapeType="1"/>
              </p:cNvSpPr>
              <p:nvPr/>
            </p:nvSpPr>
            <p:spPr bwMode="auto">
              <a:xfrm>
                <a:off x="2268" y="1337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3" name="Line 64"/>
              <p:cNvSpPr>
                <a:spLocks noChangeShapeType="1"/>
              </p:cNvSpPr>
              <p:nvPr/>
            </p:nvSpPr>
            <p:spPr bwMode="auto">
              <a:xfrm flipV="1">
                <a:off x="2268" y="133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4" name="Line 65"/>
              <p:cNvSpPr>
                <a:spLocks noChangeShapeType="1"/>
              </p:cNvSpPr>
              <p:nvPr/>
            </p:nvSpPr>
            <p:spPr bwMode="auto">
              <a:xfrm flipV="1">
                <a:off x="2268" y="1564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5" name="Line 66"/>
              <p:cNvSpPr>
                <a:spLocks noChangeShapeType="1"/>
              </p:cNvSpPr>
              <p:nvPr/>
            </p:nvSpPr>
            <p:spPr bwMode="auto">
              <a:xfrm flipV="1">
                <a:off x="2268" y="1746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6" name="Line 67"/>
              <p:cNvSpPr>
                <a:spLocks noChangeShapeType="1"/>
              </p:cNvSpPr>
              <p:nvPr/>
            </p:nvSpPr>
            <p:spPr bwMode="auto">
              <a:xfrm flipV="1">
                <a:off x="2268" y="197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7" name="Line 68"/>
              <p:cNvSpPr>
                <a:spLocks noChangeShapeType="1"/>
              </p:cNvSpPr>
              <p:nvPr/>
            </p:nvSpPr>
            <p:spPr bwMode="auto">
              <a:xfrm flipV="1">
                <a:off x="2268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8" name="Line 69"/>
              <p:cNvSpPr>
                <a:spLocks noChangeShapeType="1"/>
              </p:cNvSpPr>
              <p:nvPr/>
            </p:nvSpPr>
            <p:spPr bwMode="auto">
              <a:xfrm flipV="1">
                <a:off x="2268" y="2381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29" name="Line 70"/>
              <p:cNvSpPr>
                <a:spLocks noChangeShapeType="1"/>
              </p:cNvSpPr>
              <p:nvPr/>
            </p:nvSpPr>
            <p:spPr bwMode="auto">
              <a:xfrm flipV="1">
                <a:off x="2268" y="2562"/>
                <a:ext cx="317" cy="14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0" name="Line 71"/>
              <p:cNvSpPr>
                <a:spLocks noChangeShapeType="1"/>
              </p:cNvSpPr>
              <p:nvPr/>
            </p:nvSpPr>
            <p:spPr bwMode="auto">
              <a:xfrm>
                <a:off x="2268" y="1746"/>
                <a:ext cx="317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1" name="Line 72"/>
              <p:cNvSpPr>
                <a:spLocks noChangeShapeType="1"/>
              </p:cNvSpPr>
              <p:nvPr/>
            </p:nvSpPr>
            <p:spPr bwMode="auto">
              <a:xfrm>
                <a:off x="2268" y="2154"/>
                <a:ext cx="317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2" name="Line 73"/>
              <p:cNvSpPr>
                <a:spLocks noChangeShapeType="1"/>
              </p:cNvSpPr>
              <p:nvPr/>
            </p:nvSpPr>
            <p:spPr bwMode="auto">
              <a:xfrm>
                <a:off x="2268" y="2562"/>
                <a:ext cx="317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3" name="Line 74"/>
              <p:cNvSpPr>
                <a:spLocks noChangeShapeType="1"/>
              </p:cNvSpPr>
              <p:nvPr/>
            </p:nvSpPr>
            <p:spPr bwMode="auto">
              <a:xfrm>
                <a:off x="2268" y="2970"/>
                <a:ext cx="317" cy="6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4" name="Line 75"/>
              <p:cNvSpPr>
                <a:spLocks noChangeShapeType="1"/>
              </p:cNvSpPr>
              <p:nvPr/>
            </p:nvSpPr>
            <p:spPr bwMode="auto">
              <a:xfrm>
                <a:off x="2268" y="3379"/>
                <a:ext cx="31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435" name="Line 76"/>
              <p:cNvSpPr>
                <a:spLocks noChangeShapeType="1"/>
              </p:cNvSpPr>
              <p:nvPr/>
            </p:nvSpPr>
            <p:spPr bwMode="auto">
              <a:xfrm>
                <a:off x="2268" y="3787"/>
                <a:ext cx="317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TW" altLang="en-US"/>
              </a:p>
            </p:txBody>
          </p:sp>
        </p:grpSp>
        <p:sp>
          <p:nvSpPr>
            <p:cNvPr id="52" name="Rectangle 79"/>
            <p:cNvSpPr>
              <a:spLocks noChangeArrowheads="1"/>
            </p:cNvSpPr>
            <p:nvPr/>
          </p:nvSpPr>
          <p:spPr bwMode="auto">
            <a:xfrm>
              <a:off x="90709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3" name="Rectangle 96"/>
            <p:cNvSpPr>
              <a:spLocks noChangeArrowheads="1"/>
            </p:cNvSpPr>
            <p:nvPr/>
          </p:nvSpPr>
          <p:spPr bwMode="auto">
            <a:xfrm>
              <a:off x="90709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4" name="Rectangle 97"/>
            <p:cNvSpPr>
              <a:spLocks noChangeArrowheads="1"/>
            </p:cNvSpPr>
            <p:nvPr/>
          </p:nvSpPr>
          <p:spPr bwMode="auto">
            <a:xfrm>
              <a:off x="90709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5" name="Rectangle 98"/>
            <p:cNvSpPr>
              <a:spLocks noChangeArrowheads="1"/>
            </p:cNvSpPr>
            <p:nvPr/>
          </p:nvSpPr>
          <p:spPr bwMode="auto">
            <a:xfrm>
              <a:off x="90709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6" name="Rectangle 99"/>
            <p:cNvSpPr>
              <a:spLocks noChangeArrowheads="1"/>
            </p:cNvSpPr>
            <p:nvPr/>
          </p:nvSpPr>
          <p:spPr bwMode="auto">
            <a:xfrm>
              <a:off x="90709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7" name="Rectangle 100"/>
            <p:cNvSpPr>
              <a:spLocks noChangeArrowheads="1"/>
            </p:cNvSpPr>
            <p:nvPr/>
          </p:nvSpPr>
          <p:spPr bwMode="auto">
            <a:xfrm>
              <a:off x="90709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8" name="Rectangle 101"/>
            <p:cNvSpPr>
              <a:spLocks noChangeArrowheads="1"/>
            </p:cNvSpPr>
            <p:nvPr/>
          </p:nvSpPr>
          <p:spPr bwMode="auto">
            <a:xfrm>
              <a:off x="90709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59" name="Rectangle 102"/>
            <p:cNvSpPr>
              <a:spLocks noChangeArrowheads="1"/>
            </p:cNvSpPr>
            <p:nvPr/>
          </p:nvSpPr>
          <p:spPr bwMode="auto">
            <a:xfrm>
              <a:off x="90709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0" name="Line 103"/>
            <p:cNvSpPr>
              <a:spLocks noChangeShapeType="1"/>
            </p:cNvSpPr>
            <p:nvPr/>
          </p:nvSpPr>
          <p:spPr bwMode="auto">
            <a:xfrm>
              <a:off x="88550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1" name="Line 104"/>
            <p:cNvSpPr>
              <a:spLocks noChangeShapeType="1"/>
            </p:cNvSpPr>
            <p:nvPr/>
          </p:nvSpPr>
          <p:spPr bwMode="auto">
            <a:xfrm>
              <a:off x="88550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2" name="Line 105"/>
            <p:cNvSpPr>
              <a:spLocks noChangeShapeType="1"/>
            </p:cNvSpPr>
            <p:nvPr/>
          </p:nvSpPr>
          <p:spPr bwMode="auto">
            <a:xfrm>
              <a:off x="88550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3" name="Line 106"/>
            <p:cNvSpPr>
              <a:spLocks noChangeShapeType="1"/>
            </p:cNvSpPr>
            <p:nvPr/>
          </p:nvSpPr>
          <p:spPr bwMode="auto">
            <a:xfrm>
              <a:off x="88550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4" name="Line 107"/>
            <p:cNvSpPr>
              <a:spLocks noChangeShapeType="1"/>
            </p:cNvSpPr>
            <p:nvPr/>
          </p:nvSpPr>
          <p:spPr bwMode="auto">
            <a:xfrm>
              <a:off x="88550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5" name="Line 108"/>
            <p:cNvSpPr>
              <a:spLocks noChangeShapeType="1"/>
            </p:cNvSpPr>
            <p:nvPr/>
          </p:nvSpPr>
          <p:spPr bwMode="auto">
            <a:xfrm>
              <a:off x="88550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6" name="Line 109"/>
            <p:cNvSpPr>
              <a:spLocks noChangeShapeType="1"/>
            </p:cNvSpPr>
            <p:nvPr/>
          </p:nvSpPr>
          <p:spPr bwMode="auto">
            <a:xfrm>
              <a:off x="88550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7" name="Line 110"/>
            <p:cNvSpPr>
              <a:spLocks noChangeShapeType="1"/>
            </p:cNvSpPr>
            <p:nvPr/>
          </p:nvSpPr>
          <p:spPr bwMode="auto">
            <a:xfrm>
              <a:off x="88550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8" name="Line 111"/>
            <p:cNvSpPr>
              <a:spLocks noChangeShapeType="1"/>
            </p:cNvSpPr>
            <p:nvPr/>
          </p:nvSpPr>
          <p:spPr bwMode="auto">
            <a:xfrm>
              <a:off x="88550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9" name="Line 112"/>
            <p:cNvSpPr>
              <a:spLocks noChangeShapeType="1"/>
            </p:cNvSpPr>
            <p:nvPr/>
          </p:nvSpPr>
          <p:spPr bwMode="auto">
            <a:xfrm>
              <a:off x="88550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0" name="Line 113"/>
            <p:cNvSpPr>
              <a:spLocks noChangeShapeType="1"/>
            </p:cNvSpPr>
            <p:nvPr/>
          </p:nvSpPr>
          <p:spPr bwMode="auto">
            <a:xfrm>
              <a:off x="88550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1" name="Line 114"/>
            <p:cNvSpPr>
              <a:spLocks noChangeShapeType="1"/>
            </p:cNvSpPr>
            <p:nvPr/>
          </p:nvSpPr>
          <p:spPr bwMode="auto">
            <a:xfrm>
              <a:off x="88550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2" name="Line 115"/>
            <p:cNvSpPr>
              <a:spLocks noChangeShapeType="1"/>
            </p:cNvSpPr>
            <p:nvPr/>
          </p:nvSpPr>
          <p:spPr bwMode="auto">
            <a:xfrm>
              <a:off x="88550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3" name="Line 116"/>
            <p:cNvSpPr>
              <a:spLocks noChangeShapeType="1"/>
            </p:cNvSpPr>
            <p:nvPr/>
          </p:nvSpPr>
          <p:spPr bwMode="auto">
            <a:xfrm>
              <a:off x="88550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4" name="Line 117"/>
            <p:cNvSpPr>
              <a:spLocks noChangeShapeType="1"/>
            </p:cNvSpPr>
            <p:nvPr/>
          </p:nvSpPr>
          <p:spPr bwMode="auto">
            <a:xfrm>
              <a:off x="88550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5" name="Line 118"/>
            <p:cNvSpPr>
              <a:spLocks noChangeShapeType="1"/>
            </p:cNvSpPr>
            <p:nvPr/>
          </p:nvSpPr>
          <p:spPr bwMode="auto">
            <a:xfrm>
              <a:off x="88550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6" name="Line 119"/>
            <p:cNvSpPr>
              <a:spLocks noChangeShapeType="1"/>
            </p:cNvSpPr>
            <p:nvPr/>
          </p:nvSpPr>
          <p:spPr bwMode="auto">
            <a:xfrm>
              <a:off x="94313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7" name="Line 120"/>
            <p:cNvSpPr>
              <a:spLocks noChangeShapeType="1"/>
            </p:cNvSpPr>
            <p:nvPr/>
          </p:nvSpPr>
          <p:spPr bwMode="auto">
            <a:xfrm>
              <a:off x="94313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8" name="Line 121"/>
            <p:cNvSpPr>
              <a:spLocks noChangeShapeType="1"/>
            </p:cNvSpPr>
            <p:nvPr/>
          </p:nvSpPr>
          <p:spPr bwMode="auto">
            <a:xfrm>
              <a:off x="94313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9" name="Line 122"/>
            <p:cNvSpPr>
              <a:spLocks noChangeShapeType="1"/>
            </p:cNvSpPr>
            <p:nvPr/>
          </p:nvSpPr>
          <p:spPr bwMode="auto">
            <a:xfrm>
              <a:off x="94313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0" name="Line 123"/>
            <p:cNvSpPr>
              <a:spLocks noChangeShapeType="1"/>
            </p:cNvSpPr>
            <p:nvPr/>
          </p:nvSpPr>
          <p:spPr bwMode="auto">
            <a:xfrm>
              <a:off x="94313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1" name="Line 124"/>
            <p:cNvSpPr>
              <a:spLocks noChangeShapeType="1"/>
            </p:cNvSpPr>
            <p:nvPr/>
          </p:nvSpPr>
          <p:spPr bwMode="auto">
            <a:xfrm>
              <a:off x="94313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2" name="Line 125"/>
            <p:cNvSpPr>
              <a:spLocks noChangeShapeType="1"/>
            </p:cNvSpPr>
            <p:nvPr/>
          </p:nvSpPr>
          <p:spPr bwMode="auto">
            <a:xfrm>
              <a:off x="94313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3" name="Line 126"/>
            <p:cNvSpPr>
              <a:spLocks noChangeShapeType="1"/>
            </p:cNvSpPr>
            <p:nvPr/>
          </p:nvSpPr>
          <p:spPr bwMode="auto">
            <a:xfrm>
              <a:off x="94313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4" name="Line 127"/>
            <p:cNvSpPr>
              <a:spLocks noChangeShapeType="1"/>
            </p:cNvSpPr>
            <p:nvPr/>
          </p:nvSpPr>
          <p:spPr bwMode="auto">
            <a:xfrm>
              <a:off x="94313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5" name="Line 128"/>
            <p:cNvSpPr>
              <a:spLocks noChangeShapeType="1"/>
            </p:cNvSpPr>
            <p:nvPr/>
          </p:nvSpPr>
          <p:spPr bwMode="auto">
            <a:xfrm>
              <a:off x="94313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6" name="Line 129"/>
            <p:cNvSpPr>
              <a:spLocks noChangeShapeType="1"/>
            </p:cNvSpPr>
            <p:nvPr/>
          </p:nvSpPr>
          <p:spPr bwMode="auto">
            <a:xfrm>
              <a:off x="94313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7" name="Line 130"/>
            <p:cNvSpPr>
              <a:spLocks noChangeShapeType="1"/>
            </p:cNvSpPr>
            <p:nvPr/>
          </p:nvSpPr>
          <p:spPr bwMode="auto">
            <a:xfrm>
              <a:off x="94313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8" name="Line 131"/>
            <p:cNvSpPr>
              <a:spLocks noChangeShapeType="1"/>
            </p:cNvSpPr>
            <p:nvPr/>
          </p:nvSpPr>
          <p:spPr bwMode="auto">
            <a:xfrm>
              <a:off x="94313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9" name="Line 132"/>
            <p:cNvSpPr>
              <a:spLocks noChangeShapeType="1"/>
            </p:cNvSpPr>
            <p:nvPr/>
          </p:nvSpPr>
          <p:spPr bwMode="auto">
            <a:xfrm>
              <a:off x="94313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0" name="Line 133"/>
            <p:cNvSpPr>
              <a:spLocks noChangeShapeType="1"/>
            </p:cNvSpPr>
            <p:nvPr/>
          </p:nvSpPr>
          <p:spPr bwMode="auto">
            <a:xfrm>
              <a:off x="94313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1" name="Line 134"/>
            <p:cNvSpPr>
              <a:spLocks noChangeShapeType="1"/>
            </p:cNvSpPr>
            <p:nvPr/>
          </p:nvSpPr>
          <p:spPr bwMode="auto">
            <a:xfrm>
              <a:off x="94313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2" name="Line 136"/>
            <p:cNvSpPr>
              <a:spLocks noChangeShapeType="1"/>
            </p:cNvSpPr>
            <p:nvPr/>
          </p:nvSpPr>
          <p:spPr bwMode="auto">
            <a:xfrm flipV="1">
              <a:off x="8351838" y="1835150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3" name="Line 137"/>
            <p:cNvSpPr>
              <a:spLocks noChangeShapeType="1"/>
            </p:cNvSpPr>
            <p:nvPr/>
          </p:nvSpPr>
          <p:spPr bwMode="auto">
            <a:xfrm flipV="1">
              <a:off x="8351838" y="6659563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4" name="Line 138"/>
            <p:cNvSpPr>
              <a:spLocks noChangeShapeType="1"/>
            </p:cNvSpPr>
            <p:nvPr/>
          </p:nvSpPr>
          <p:spPr bwMode="auto">
            <a:xfrm flipV="1">
              <a:off x="8351838" y="2122488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5" name="Line 139"/>
            <p:cNvSpPr>
              <a:spLocks noChangeShapeType="1"/>
            </p:cNvSpPr>
            <p:nvPr/>
          </p:nvSpPr>
          <p:spPr bwMode="auto">
            <a:xfrm>
              <a:off x="8351838" y="2122488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6" name="Line 140"/>
            <p:cNvSpPr>
              <a:spLocks noChangeShapeType="1"/>
            </p:cNvSpPr>
            <p:nvPr/>
          </p:nvSpPr>
          <p:spPr bwMode="auto">
            <a:xfrm>
              <a:off x="8351838" y="2482850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7" name="Line 141"/>
            <p:cNvSpPr>
              <a:spLocks noChangeShapeType="1"/>
            </p:cNvSpPr>
            <p:nvPr/>
          </p:nvSpPr>
          <p:spPr bwMode="auto">
            <a:xfrm>
              <a:off x="8351838" y="27717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8" name="Line 142"/>
            <p:cNvSpPr>
              <a:spLocks noChangeShapeType="1"/>
            </p:cNvSpPr>
            <p:nvPr/>
          </p:nvSpPr>
          <p:spPr bwMode="auto">
            <a:xfrm>
              <a:off x="8351838" y="3130550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9" name="Line 143"/>
            <p:cNvSpPr>
              <a:spLocks noChangeShapeType="1"/>
            </p:cNvSpPr>
            <p:nvPr/>
          </p:nvSpPr>
          <p:spPr bwMode="auto">
            <a:xfrm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0" name="Line 144"/>
            <p:cNvSpPr>
              <a:spLocks noChangeShapeType="1"/>
            </p:cNvSpPr>
            <p:nvPr/>
          </p:nvSpPr>
          <p:spPr bwMode="auto">
            <a:xfrm>
              <a:off x="8351838" y="3779838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1" name="Line 145"/>
            <p:cNvSpPr>
              <a:spLocks noChangeShapeType="1"/>
            </p:cNvSpPr>
            <p:nvPr/>
          </p:nvSpPr>
          <p:spPr bwMode="auto">
            <a:xfrm>
              <a:off x="8351838" y="4067175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2" name="Line 146"/>
            <p:cNvSpPr>
              <a:spLocks noChangeShapeType="1"/>
            </p:cNvSpPr>
            <p:nvPr/>
          </p:nvSpPr>
          <p:spPr bwMode="auto">
            <a:xfrm flipV="1">
              <a:off x="8351838" y="2771775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3" name="Line 147"/>
            <p:cNvSpPr>
              <a:spLocks noChangeShapeType="1"/>
            </p:cNvSpPr>
            <p:nvPr/>
          </p:nvSpPr>
          <p:spPr bwMode="auto">
            <a:xfrm flipV="1"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4" name="Line 148"/>
            <p:cNvSpPr>
              <a:spLocks noChangeShapeType="1"/>
            </p:cNvSpPr>
            <p:nvPr/>
          </p:nvSpPr>
          <p:spPr bwMode="auto">
            <a:xfrm flipV="1">
              <a:off x="8351838" y="4067175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5" name="Line 149"/>
            <p:cNvSpPr>
              <a:spLocks noChangeShapeType="1"/>
            </p:cNvSpPr>
            <p:nvPr/>
          </p:nvSpPr>
          <p:spPr bwMode="auto">
            <a:xfrm flipV="1">
              <a:off x="8351838" y="47148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6" name="Line 150"/>
            <p:cNvSpPr>
              <a:spLocks noChangeShapeType="1"/>
            </p:cNvSpPr>
            <p:nvPr/>
          </p:nvSpPr>
          <p:spPr bwMode="auto">
            <a:xfrm flipV="1">
              <a:off x="8351838" y="5364163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7" name="Line 151"/>
            <p:cNvSpPr>
              <a:spLocks noChangeShapeType="1"/>
            </p:cNvSpPr>
            <p:nvPr/>
          </p:nvSpPr>
          <p:spPr bwMode="auto">
            <a:xfrm flipV="1">
              <a:off x="8351838" y="6011863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8" name="Rectangle 152"/>
            <p:cNvSpPr>
              <a:spLocks noChangeArrowheads="1"/>
            </p:cNvSpPr>
            <p:nvPr/>
          </p:nvSpPr>
          <p:spPr bwMode="auto">
            <a:xfrm>
              <a:off x="23764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9" name="Rectangle 153"/>
            <p:cNvSpPr>
              <a:spLocks noChangeArrowheads="1"/>
            </p:cNvSpPr>
            <p:nvPr/>
          </p:nvSpPr>
          <p:spPr bwMode="auto">
            <a:xfrm>
              <a:off x="23764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0" name="Rectangle 154"/>
            <p:cNvSpPr>
              <a:spLocks noChangeArrowheads="1"/>
            </p:cNvSpPr>
            <p:nvPr/>
          </p:nvSpPr>
          <p:spPr bwMode="auto">
            <a:xfrm>
              <a:off x="23764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1" name="Rectangle 155"/>
            <p:cNvSpPr>
              <a:spLocks noChangeArrowheads="1"/>
            </p:cNvSpPr>
            <p:nvPr/>
          </p:nvSpPr>
          <p:spPr bwMode="auto">
            <a:xfrm>
              <a:off x="23764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2" name="Rectangle 156"/>
            <p:cNvSpPr>
              <a:spLocks noChangeArrowheads="1"/>
            </p:cNvSpPr>
            <p:nvPr/>
          </p:nvSpPr>
          <p:spPr bwMode="auto">
            <a:xfrm>
              <a:off x="23764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3" name="Rectangle 157"/>
            <p:cNvSpPr>
              <a:spLocks noChangeArrowheads="1"/>
            </p:cNvSpPr>
            <p:nvPr/>
          </p:nvSpPr>
          <p:spPr bwMode="auto">
            <a:xfrm>
              <a:off x="23764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4" name="Rectangle 158"/>
            <p:cNvSpPr>
              <a:spLocks noChangeArrowheads="1"/>
            </p:cNvSpPr>
            <p:nvPr/>
          </p:nvSpPr>
          <p:spPr bwMode="auto">
            <a:xfrm>
              <a:off x="23764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5" name="Rectangle 159"/>
            <p:cNvSpPr>
              <a:spLocks noChangeArrowheads="1"/>
            </p:cNvSpPr>
            <p:nvPr/>
          </p:nvSpPr>
          <p:spPr bwMode="auto">
            <a:xfrm>
              <a:off x="23764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6" name="Line 160"/>
            <p:cNvSpPr>
              <a:spLocks noChangeShapeType="1"/>
            </p:cNvSpPr>
            <p:nvPr/>
          </p:nvSpPr>
          <p:spPr bwMode="auto">
            <a:xfrm>
              <a:off x="21605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7" name="Line 161"/>
            <p:cNvSpPr>
              <a:spLocks noChangeShapeType="1"/>
            </p:cNvSpPr>
            <p:nvPr/>
          </p:nvSpPr>
          <p:spPr bwMode="auto">
            <a:xfrm>
              <a:off x="21605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8" name="Line 162"/>
            <p:cNvSpPr>
              <a:spLocks noChangeShapeType="1"/>
            </p:cNvSpPr>
            <p:nvPr/>
          </p:nvSpPr>
          <p:spPr bwMode="auto">
            <a:xfrm>
              <a:off x="21605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9" name="Line 163"/>
            <p:cNvSpPr>
              <a:spLocks noChangeShapeType="1"/>
            </p:cNvSpPr>
            <p:nvPr/>
          </p:nvSpPr>
          <p:spPr bwMode="auto">
            <a:xfrm>
              <a:off x="21605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0" name="Line 164"/>
            <p:cNvSpPr>
              <a:spLocks noChangeShapeType="1"/>
            </p:cNvSpPr>
            <p:nvPr/>
          </p:nvSpPr>
          <p:spPr bwMode="auto">
            <a:xfrm>
              <a:off x="21605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1" name="Line 165"/>
            <p:cNvSpPr>
              <a:spLocks noChangeShapeType="1"/>
            </p:cNvSpPr>
            <p:nvPr/>
          </p:nvSpPr>
          <p:spPr bwMode="auto">
            <a:xfrm>
              <a:off x="21605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2" name="Line 166"/>
            <p:cNvSpPr>
              <a:spLocks noChangeShapeType="1"/>
            </p:cNvSpPr>
            <p:nvPr/>
          </p:nvSpPr>
          <p:spPr bwMode="auto">
            <a:xfrm>
              <a:off x="21605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3" name="Line 167"/>
            <p:cNvSpPr>
              <a:spLocks noChangeShapeType="1"/>
            </p:cNvSpPr>
            <p:nvPr/>
          </p:nvSpPr>
          <p:spPr bwMode="auto">
            <a:xfrm>
              <a:off x="21605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4" name="Line 168"/>
            <p:cNvSpPr>
              <a:spLocks noChangeShapeType="1"/>
            </p:cNvSpPr>
            <p:nvPr/>
          </p:nvSpPr>
          <p:spPr bwMode="auto">
            <a:xfrm>
              <a:off x="21605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5" name="Line 169"/>
            <p:cNvSpPr>
              <a:spLocks noChangeShapeType="1"/>
            </p:cNvSpPr>
            <p:nvPr/>
          </p:nvSpPr>
          <p:spPr bwMode="auto">
            <a:xfrm>
              <a:off x="21605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6" name="Line 170"/>
            <p:cNvSpPr>
              <a:spLocks noChangeShapeType="1"/>
            </p:cNvSpPr>
            <p:nvPr/>
          </p:nvSpPr>
          <p:spPr bwMode="auto">
            <a:xfrm>
              <a:off x="21605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7" name="Line 171"/>
            <p:cNvSpPr>
              <a:spLocks noChangeShapeType="1"/>
            </p:cNvSpPr>
            <p:nvPr/>
          </p:nvSpPr>
          <p:spPr bwMode="auto">
            <a:xfrm>
              <a:off x="21605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8" name="Line 172"/>
            <p:cNvSpPr>
              <a:spLocks noChangeShapeType="1"/>
            </p:cNvSpPr>
            <p:nvPr/>
          </p:nvSpPr>
          <p:spPr bwMode="auto">
            <a:xfrm>
              <a:off x="21605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9" name="Line 173"/>
            <p:cNvSpPr>
              <a:spLocks noChangeShapeType="1"/>
            </p:cNvSpPr>
            <p:nvPr/>
          </p:nvSpPr>
          <p:spPr bwMode="auto">
            <a:xfrm>
              <a:off x="21605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0" name="Line 174"/>
            <p:cNvSpPr>
              <a:spLocks noChangeShapeType="1"/>
            </p:cNvSpPr>
            <p:nvPr/>
          </p:nvSpPr>
          <p:spPr bwMode="auto">
            <a:xfrm>
              <a:off x="21605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1" name="Line 175"/>
            <p:cNvSpPr>
              <a:spLocks noChangeShapeType="1"/>
            </p:cNvSpPr>
            <p:nvPr/>
          </p:nvSpPr>
          <p:spPr bwMode="auto">
            <a:xfrm>
              <a:off x="21605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2" name="Line 176"/>
            <p:cNvSpPr>
              <a:spLocks noChangeShapeType="1"/>
            </p:cNvSpPr>
            <p:nvPr/>
          </p:nvSpPr>
          <p:spPr bwMode="auto">
            <a:xfrm>
              <a:off x="27368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3" name="Line 177"/>
            <p:cNvSpPr>
              <a:spLocks noChangeShapeType="1"/>
            </p:cNvSpPr>
            <p:nvPr/>
          </p:nvSpPr>
          <p:spPr bwMode="auto">
            <a:xfrm>
              <a:off x="27368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4" name="Line 178"/>
            <p:cNvSpPr>
              <a:spLocks noChangeShapeType="1"/>
            </p:cNvSpPr>
            <p:nvPr/>
          </p:nvSpPr>
          <p:spPr bwMode="auto">
            <a:xfrm>
              <a:off x="27368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" name="Line 179"/>
            <p:cNvSpPr>
              <a:spLocks noChangeShapeType="1"/>
            </p:cNvSpPr>
            <p:nvPr/>
          </p:nvSpPr>
          <p:spPr bwMode="auto">
            <a:xfrm>
              <a:off x="27368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6" name="Line 180"/>
            <p:cNvSpPr>
              <a:spLocks noChangeShapeType="1"/>
            </p:cNvSpPr>
            <p:nvPr/>
          </p:nvSpPr>
          <p:spPr bwMode="auto">
            <a:xfrm>
              <a:off x="27368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7" name="Line 181"/>
            <p:cNvSpPr>
              <a:spLocks noChangeShapeType="1"/>
            </p:cNvSpPr>
            <p:nvPr/>
          </p:nvSpPr>
          <p:spPr bwMode="auto">
            <a:xfrm>
              <a:off x="27368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8" name="Line 182"/>
            <p:cNvSpPr>
              <a:spLocks noChangeShapeType="1"/>
            </p:cNvSpPr>
            <p:nvPr/>
          </p:nvSpPr>
          <p:spPr bwMode="auto">
            <a:xfrm>
              <a:off x="27368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9" name="Line 183"/>
            <p:cNvSpPr>
              <a:spLocks noChangeShapeType="1"/>
            </p:cNvSpPr>
            <p:nvPr/>
          </p:nvSpPr>
          <p:spPr bwMode="auto">
            <a:xfrm>
              <a:off x="27368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0" name="Line 184"/>
            <p:cNvSpPr>
              <a:spLocks noChangeShapeType="1"/>
            </p:cNvSpPr>
            <p:nvPr/>
          </p:nvSpPr>
          <p:spPr bwMode="auto">
            <a:xfrm>
              <a:off x="27368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1" name="Line 185"/>
            <p:cNvSpPr>
              <a:spLocks noChangeShapeType="1"/>
            </p:cNvSpPr>
            <p:nvPr/>
          </p:nvSpPr>
          <p:spPr bwMode="auto">
            <a:xfrm>
              <a:off x="27368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2" name="Line 186"/>
            <p:cNvSpPr>
              <a:spLocks noChangeShapeType="1"/>
            </p:cNvSpPr>
            <p:nvPr/>
          </p:nvSpPr>
          <p:spPr bwMode="auto">
            <a:xfrm>
              <a:off x="27368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3" name="Line 187"/>
            <p:cNvSpPr>
              <a:spLocks noChangeShapeType="1"/>
            </p:cNvSpPr>
            <p:nvPr/>
          </p:nvSpPr>
          <p:spPr bwMode="auto">
            <a:xfrm>
              <a:off x="27368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4" name="Line 188"/>
            <p:cNvSpPr>
              <a:spLocks noChangeShapeType="1"/>
            </p:cNvSpPr>
            <p:nvPr/>
          </p:nvSpPr>
          <p:spPr bwMode="auto">
            <a:xfrm>
              <a:off x="27368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5" name="Line 189"/>
            <p:cNvSpPr>
              <a:spLocks noChangeShapeType="1"/>
            </p:cNvSpPr>
            <p:nvPr/>
          </p:nvSpPr>
          <p:spPr bwMode="auto">
            <a:xfrm>
              <a:off x="27368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6" name="Line 190"/>
            <p:cNvSpPr>
              <a:spLocks noChangeShapeType="1"/>
            </p:cNvSpPr>
            <p:nvPr/>
          </p:nvSpPr>
          <p:spPr bwMode="auto">
            <a:xfrm>
              <a:off x="27368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7" name="Line 191"/>
            <p:cNvSpPr>
              <a:spLocks noChangeShapeType="1"/>
            </p:cNvSpPr>
            <p:nvPr/>
          </p:nvSpPr>
          <p:spPr bwMode="auto">
            <a:xfrm>
              <a:off x="27368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8" name="Rectangle 192"/>
            <p:cNvSpPr>
              <a:spLocks noChangeArrowheads="1"/>
            </p:cNvSpPr>
            <p:nvPr/>
          </p:nvSpPr>
          <p:spPr bwMode="auto">
            <a:xfrm>
              <a:off x="77755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9" name="Rectangle 193"/>
            <p:cNvSpPr>
              <a:spLocks noChangeArrowheads="1"/>
            </p:cNvSpPr>
            <p:nvPr/>
          </p:nvSpPr>
          <p:spPr bwMode="auto">
            <a:xfrm>
              <a:off x="77755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0" name="Rectangle 194"/>
            <p:cNvSpPr>
              <a:spLocks noChangeArrowheads="1"/>
            </p:cNvSpPr>
            <p:nvPr/>
          </p:nvSpPr>
          <p:spPr bwMode="auto">
            <a:xfrm>
              <a:off x="77755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1" name="Rectangle 195"/>
            <p:cNvSpPr>
              <a:spLocks noChangeArrowheads="1"/>
            </p:cNvSpPr>
            <p:nvPr/>
          </p:nvSpPr>
          <p:spPr bwMode="auto">
            <a:xfrm>
              <a:off x="77755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2" name="Rectangle 196"/>
            <p:cNvSpPr>
              <a:spLocks noChangeArrowheads="1"/>
            </p:cNvSpPr>
            <p:nvPr/>
          </p:nvSpPr>
          <p:spPr bwMode="auto">
            <a:xfrm>
              <a:off x="77755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3" name="Rectangle 197"/>
            <p:cNvSpPr>
              <a:spLocks noChangeArrowheads="1"/>
            </p:cNvSpPr>
            <p:nvPr/>
          </p:nvSpPr>
          <p:spPr bwMode="auto">
            <a:xfrm>
              <a:off x="77755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4" name="Rectangle 198"/>
            <p:cNvSpPr>
              <a:spLocks noChangeArrowheads="1"/>
            </p:cNvSpPr>
            <p:nvPr/>
          </p:nvSpPr>
          <p:spPr bwMode="auto">
            <a:xfrm>
              <a:off x="77755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5" name="Rectangle 199"/>
            <p:cNvSpPr>
              <a:spLocks noChangeArrowheads="1"/>
            </p:cNvSpPr>
            <p:nvPr/>
          </p:nvSpPr>
          <p:spPr bwMode="auto">
            <a:xfrm>
              <a:off x="77755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6" name="Line 200"/>
            <p:cNvSpPr>
              <a:spLocks noChangeShapeType="1"/>
            </p:cNvSpPr>
            <p:nvPr/>
          </p:nvSpPr>
          <p:spPr bwMode="auto">
            <a:xfrm>
              <a:off x="75596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7" name="Line 201"/>
            <p:cNvSpPr>
              <a:spLocks noChangeShapeType="1"/>
            </p:cNvSpPr>
            <p:nvPr/>
          </p:nvSpPr>
          <p:spPr bwMode="auto">
            <a:xfrm>
              <a:off x="75596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8" name="Line 202"/>
            <p:cNvSpPr>
              <a:spLocks noChangeShapeType="1"/>
            </p:cNvSpPr>
            <p:nvPr/>
          </p:nvSpPr>
          <p:spPr bwMode="auto">
            <a:xfrm>
              <a:off x="75596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9" name="Line 203"/>
            <p:cNvSpPr>
              <a:spLocks noChangeShapeType="1"/>
            </p:cNvSpPr>
            <p:nvPr/>
          </p:nvSpPr>
          <p:spPr bwMode="auto">
            <a:xfrm>
              <a:off x="75596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0" name="Line 204"/>
            <p:cNvSpPr>
              <a:spLocks noChangeShapeType="1"/>
            </p:cNvSpPr>
            <p:nvPr/>
          </p:nvSpPr>
          <p:spPr bwMode="auto">
            <a:xfrm>
              <a:off x="75596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1" name="Line 205"/>
            <p:cNvSpPr>
              <a:spLocks noChangeShapeType="1"/>
            </p:cNvSpPr>
            <p:nvPr/>
          </p:nvSpPr>
          <p:spPr bwMode="auto">
            <a:xfrm>
              <a:off x="75596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2" name="Line 206"/>
            <p:cNvSpPr>
              <a:spLocks noChangeShapeType="1"/>
            </p:cNvSpPr>
            <p:nvPr/>
          </p:nvSpPr>
          <p:spPr bwMode="auto">
            <a:xfrm>
              <a:off x="75596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3" name="Line 207"/>
            <p:cNvSpPr>
              <a:spLocks noChangeShapeType="1"/>
            </p:cNvSpPr>
            <p:nvPr/>
          </p:nvSpPr>
          <p:spPr bwMode="auto">
            <a:xfrm>
              <a:off x="75596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4" name="Line 208"/>
            <p:cNvSpPr>
              <a:spLocks noChangeShapeType="1"/>
            </p:cNvSpPr>
            <p:nvPr/>
          </p:nvSpPr>
          <p:spPr bwMode="auto">
            <a:xfrm>
              <a:off x="75596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5" name="Line 209"/>
            <p:cNvSpPr>
              <a:spLocks noChangeShapeType="1"/>
            </p:cNvSpPr>
            <p:nvPr/>
          </p:nvSpPr>
          <p:spPr bwMode="auto">
            <a:xfrm>
              <a:off x="75596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6" name="Line 210"/>
            <p:cNvSpPr>
              <a:spLocks noChangeShapeType="1"/>
            </p:cNvSpPr>
            <p:nvPr/>
          </p:nvSpPr>
          <p:spPr bwMode="auto">
            <a:xfrm>
              <a:off x="75596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7" name="Line 211"/>
            <p:cNvSpPr>
              <a:spLocks noChangeShapeType="1"/>
            </p:cNvSpPr>
            <p:nvPr/>
          </p:nvSpPr>
          <p:spPr bwMode="auto">
            <a:xfrm>
              <a:off x="75596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8" name="Line 212"/>
            <p:cNvSpPr>
              <a:spLocks noChangeShapeType="1"/>
            </p:cNvSpPr>
            <p:nvPr/>
          </p:nvSpPr>
          <p:spPr bwMode="auto">
            <a:xfrm>
              <a:off x="75596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9" name="Line 213"/>
            <p:cNvSpPr>
              <a:spLocks noChangeShapeType="1"/>
            </p:cNvSpPr>
            <p:nvPr/>
          </p:nvSpPr>
          <p:spPr bwMode="auto">
            <a:xfrm>
              <a:off x="75596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0" name="Line 214"/>
            <p:cNvSpPr>
              <a:spLocks noChangeShapeType="1"/>
            </p:cNvSpPr>
            <p:nvPr/>
          </p:nvSpPr>
          <p:spPr bwMode="auto">
            <a:xfrm>
              <a:off x="75596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1" name="Line 215"/>
            <p:cNvSpPr>
              <a:spLocks noChangeShapeType="1"/>
            </p:cNvSpPr>
            <p:nvPr/>
          </p:nvSpPr>
          <p:spPr bwMode="auto">
            <a:xfrm>
              <a:off x="75596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2" name="Line 216"/>
            <p:cNvSpPr>
              <a:spLocks noChangeShapeType="1"/>
            </p:cNvSpPr>
            <p:nvPr/>
          </p:nvSpPr>
          <p:spPr bwMode="auto">
            <a:xfrm>
              <a:off x="81359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3" name="Line 217"/>
            <p:cNvSpPr>
              <a:spLocks noChangeShapeType="1"/>
            </p:cNvSpPr>
            <p:nvPr/>
          </p:nvSpPr>
          <p:spPr bwMode="auto">
            <a:xfrm>
              <a:off x="81359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4" name="Line 218"/>
            <p:cNvSpPr>
              <a:spLocks noChangeShapeType="1"/>
            </p:cNvSpPr>
            <p:nvPr/>
          </p:nvSpPr>
          <p:spPr bwMode="auto">
            <a:xfrm>
              <a:off x="81359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5" name="Line 219"/>
            <p:cNvSpPr>
              <a:spLocks noChangeShapeType="1"/>
            </p:cNvSpPr>
            <p:nvPr/>
          </p:nvSpPr>
          <p:spPr bwMode="auto">
            <a:xfrm>
              <a:off x="81359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6" name="Line 220"/>
            <p:cNvSpPr>
              <a:spLocks noChangeShapeType="1"/>
            </p:cNvSpPr>
            <p:nvPr/>
          </p:nvSpPr>
          <p:spPr bwMode="auto">
            <a:xfrm>
              <a:off x="81359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7" name="Line 221"/>
            <p:cNvSpPr>
              <a:spLocks noChangeShapeType="1"/>
            </p:cNvSpPr>
            <p:nvPr/>
          </p:nvSpPr>
          <p:spPr bwMode="auto">
            <a:xfrm>
              <a:off x="81359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8" name="Line 222"/>
            <p:cNvSpPr>
              <a:spLocks noChangeShapeType="1"/>
            </p:cNvSpPr>
            <p:nvPr/>
          </p:nvSpPr>
          <p:spPr bwMode="auto">
            <a:xfrm>
              <a:off x="81359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9" name="Line 223"/>
            <p:cNvSpPr>
              <a:spLocks noChangeShapeType="1"/>
            </p:cNvSpPr>
            <p:nvPr/>
          </p:nvSpPr>
          <p:spPr bwMode="auto">
            <a:xfrm>
              <a:off x="81359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0" name="Line 224"/>
            <p:cNvSpPr>
              <a:spLocks noChangeShapeType="1"/>
            </p:cNvSpPr>
            <p:nvPr/>
          </p:nvSpPr>
          <p:spPr bwMode="auto">
            <a:xfrm>
              <a:off x="81359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1" name="Line 225"/>
            <p:cNvSpPr>
              <a:spLocks noChangeShapeType="1"/>
            </p:cNvSpPr>
            <p:nvPr/>
          </p:nvSpPr>
          <p:spPr bwMode="auto">
            <a:xfrm>
              <a:off x="81359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2" name="Line 226"/>
            <p:cNvSpPr>
              <a:spLocks noChangeShapeType="1"/>
            </p:cNvSpPr>
            <p:nvPr/>
          </p:nvSpPr>
          <p:spPr bwMode="auto">
            <a:xfrm>
              <a:off x="81359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3" name="Line 227"/>
            <p:cNvSpPr>
              <a:spLocks noChangeShapeType="1"/>
            </p:cNvSpPr>
            <p:nvPr/>
          </p:nvSpPr>
          <p:spPr bwMode="auto">
            <a:xfrm>
              <a:off x="81359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4" name="Line 228"/>
            <p:cNvSpPr>
              <a:spLocks noChangeShapeType="1"/>
            </p:cNvSpPr>
            <p:nvPr/>
          </p:nvSpPr>
          <p:spPr bwMode="auto">
            <a:xfrm>
              <a:off x="81359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5" name="Line 229"/>
            <p:cNvSpPr>
              <a:spLocks noChangeShapeType="1"/>
            </p:cNvSpPr>
            <p:nvPr/>
          </p:nvSpPr>
          <p:spPr bwMode="auto">
            <a:xfrm>
              <a:off x="81359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6" name="Line 230"/>
            <p:cNvSpPr>
              <a:spLocks noChangeShapeType="1"/>
            </p:cNvSpPr>
            <p:nvPr/>
          </p:nvSpPr>
          <p:spPr bwMode="auto">
            <a:xfrm>
              <a:off x="81359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7" name="Line 231"/>
            <p:cNvSpPr>
              <a:spLocks noChangeShapeType="1"/>
            </p:cNvSpPr>
            <p:nvPr/>
          </p:nvSpPr>
          <p:spPr bwMode="auto">
            <a:xfrm>
              <a:off x="81359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8" name="Line 232"/>
            <p:cNvSpPr>
              <a:spLocks noChangeShapeType="1"/>
            </p:cNvSpPr>
            <p:nvPr/>
          </p:nvSpPr>
          <p:spPr bwMode="auto">
            <a:xfrm>
              <a:off x="2951163" y="1835150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9" name="Line 233"/>
            <p:cNvSpPr>
              <a:spLocks noChangeShapeType="1"/>
            </p:cNvSpPr>
            <p:nvPr/>
          </p:nvSpPr>
          <p:spPr bwMode="auto">
            <a:xfrm>
              <a:off x="2941638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0" name="Line 234"/>
            <p:cNvSpPr>
              <a:spLocks noChangeShapeType="1"/>
            </p:cNvSpPr>
            <p:nvPr/>
          </p:nvSpPr>
          <p:spPr bwMode="auto">
            <a:xfrm flipV="1">
              <a:off x="2951163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1" name="Line 235"/>
            <p:cNvSpPr>
              <a:spLocks noChangeShapeType="1"/>
            </p:cNvSpPr>
            <p:nvPr/>
          </p:nvSpPr>
          <p:spPr bwMode="auto">
            <a:xfrm>
              <a:off x="2951163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2" name="Line 236"/>
            <p:cNvSpPr>
              <a:spLocks noChangeShapeType="1"/>
            </p:cNvSpPr>
            <p:nvPr/>
          </p:nvSpPr>
          <p:spPr bwMode="auto">
            <a:xfrm flipV="1">
              <a:off x="2951163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3" name="Line 237"/>
            <p:cNvSpPr>
              <a:spLocks noChangeShapeType="1"/>
            </p:cNvSpPr>
            <p:nvPr/>
          </p:nvSpPr>
          <p:spPr bwMode="auto">
            <a:xfrm>
              <a:off x="2951163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4" name="Line 238"/>
            <p:cNvSpPr>
              <a:spLocks noChangeShapeType="1"/>
            </p:cNvSpPr>
            <p:nvPr/>
          </p:nvSpPr>
          <p:spPr bwMode="auto">
            <a:xfrm flipV="1">
              <a:off x="2951163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5" name="Line 239"/>
            <p:cNvSpPr>
              <a:spLocks noChangeShapeType="1"/>
            </p:cNvSpPr>
            <p:nvPr/>
          </p:nvSpPr>
          <p:spPr bwMode="auto">
            <a:xfrm>
              <a:off x="2951163" y="4067175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6" name="Line 240"/>
            <p:cNvSpPr>
              <a:spLocks noChangeShapeType="1"/>
            </p:cNvSpPr>
            <p:nvPr/>
          </p:nvSpPr>
          <p:spPr bwMode="auto">
            <a:xfrm>
              <a:off x="2960688" y="4427538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7" name="Line 241"/>
            <p:cNvSpPr>
              <a:spLocks noChangeShapeType="1"/>
            </p:cNvSpPr>
            <p:nvPr/>
          </p:nvSpPr>
          <p:spPr bwMode="auto">
            <a:xfrm>
              <a:off x="2951163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8" name="Line 242"/>
            <p:cNvSpPr>
              <a:spLocks noChangeShapeType="1"/>
            </p:cNvSpPr>
            <p:nvPr/>
          </p:nvSpPr>
          <p:spPr bwMode="auto">
            <a:xfrm flipV="1">
              <a:off x="2960688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9" name="Line 243"/>
            <p:cNvSpPr>
              <a:spLocks noChangeShapeType="1"/>
            </p:cNvSpPr>
            <p:nvPr/>
          </p:nvSpPr>
          <p:spPr bwMode="auto">
            <a:xfrm>
              <a:off x="2960688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0" name="Line 244"/>
            <p:cNvSpPr>
              <a:spLocks noChangeShapeType="1"/>
            </p:cNvSpPr>
            <p:nvPr/>
          </p:nvSpPr>
          <p:spPr bwMode="auto">
            <a:xfrm flipV="1">
              <a:off x="2960688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1" name="Line 245"/>
            <p:cNvSpPr>
              <a:spLocks noChangeShapeType="1"/>
            </p:cNvSpPr>
            <p:nvPr/>
          </p:nvSpPr>
          <p:spPr bwMode="auto">
            <a:xfrm>
              <a:off x="2960688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2" name="Line 246"/>
            <p:cNvSpPr>
              <a:spLocks noChangeShapeType="1"/>
            </p:cNvSpPr>
            <p:nvPr/>
          </p:nvSpPr>
          <p:spPr bwMode="auto">
            <a:xfrm flipV="1">
              <a:off x="2960688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3" name="Line 247"/>
            <p:cNvSpPr>
              <a:spLocks noChangeShapeType="1"/>
            </p:cNvSpPr>
            <p:nvPr/>
          </p:nvSpPr>
          <p:spPr bwMode="auto">
            <a:xfrm>
              <a:off x="2960688" y="6659563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4" name="Line 248"/>
            <p:cNvSpPr>
              <a:spLocks noChangeShapeType="1"/>
            </p:cNvSpPr>
            <p:nvPr/>
          </p:nvSpPr>
          <p:spPr bwMode="auto">
            <a:xfrm flipV="1">
              <a:off x="7045325" y="1835150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5" name="Line 249"/>
            <p:cNvSpPr>
              <a:spLocks noChangeShapeType="1"/>
            </p:cNvSpPr>
            <p:nvPr/>
          </p:nvSpPr>
          <p:spPr bwMode="auto">
            <a:xfrm flipV="1">
              <a:off x="7035800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6" name="Line 250"/>
            <p:cNvSpPr>
              <a:spLocks noChangeShapeType="1"/>
            </p:cNvSpPr>
            <p:nvPr/>
          </p:nvSpPr>
          <p:spPr bwMode="auto">
            <a:xfrm>
              <a:off x="7045325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7" name="Line 251"/>
            <p:cNvSpPr>
              <a:spLocks noChangeShapeType="1"/>
            </p:cNvSpPr>
            <p:nvPr/>
          </p:nvSpPr>
          <p:spPr bwMode="auto">
            <a:xfrm flipV="1">
              <a:off x="7045325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8" name="Line 252"/>
            <p:cNvSpPr>
              <a:spLocks noChangeShapeType="1"/>
            </p:cNvSpPr>
            <p:nvPr/>
          </p:nvSpPr>
          <p:spPr bwMode="auto">
            <a:xfrm>
              <a:off x="7045325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9" name="Line 253"/>
            <p:cNvSpPr>
              <a:spLocks noChangeShapeType="1"/>
            </p:cNvSpPr>
            <p:nvPr/>
          </p:nvSpPr>
          <p:spPr bwMode="auto">
            <a:xfrm flipV="1">
              <a:off x="7045325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0" name="Line 254"/>
            <p:cNvSpPr>
              <a:spLocks noChangeShapeType="1"/>
            </p:cNvSpPr>
            <p:nvPr/>
          </p:nvSpPr>
          <p:spPr bwMode="auto">
            <a:xfrm>
              <a:off x="7045325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1" name="Line 255"/>
            <p:cNvSpPr>
              <a:spLocks noChangeShapeType="1"/>
            </p:cNvSpPr>
            <p:nvPr/>
          </p:nvSpPr>
          <p:spPr bwMode="auto">
            <a:xfrm flipV="1">
              <a:off x="7045325" y="4067175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2" name="Line 256"/>
            <p:cNvSpPr>
              <a:spLocks noChangeShapeType="1"/>
            </p:cNvSpPr>
            <p:nvPr/>
          </p:nvSpPr>
          <p:spPr bwMode="auto">
            <a:xfrm flipV="1">
              <a:off x="7054850" y="4427538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3" name="Line 257"/>
            <p:cNvSpPr>
              <a:spLocks noChangeShapeType="1"/>
            </p:cNvSpPr>
            <p:nvPr/>
          </p:nvSpPr>
          <p:spPr bwMode="auto">
            <a:xfrm flipV="1">
              <a:off x="7045325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4" name="Line 258"/>
            <p:cNvSpPr>
              <a:spLocks noChangeShapeType="1"/>
            </p:cNvSpPr>
            <p:nvPr/>
          </p:nvSpPr>
          <p:spPr bwMode="auto">
            <a:xfrm>
              <a:off x="70548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5" name="Line 259"/>
            <p:cNvSpPr>
              <a:spLocks noChangeShapeType="1"/>
            </p:cNvSpPr>
            <p:nvPr/>
          </p:nvSpPr>
          <p:spPr bwMode="auto">
            <a:xfrm flipV="1">
              <a:off x="7054850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6" name="Line 260"/>
            <p:cNvSpPr>
              <a:spLocks noChangeShapeType="1"/>
            </p:cNvSpPr>
            <p:nvPr/>
          </p:nvSpPr>
          <p:spPr bwMode="auto">
            <a:xfrm>
              <a:off x="7054850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7" name="Line 261"/>
            <p:cNvSpPr>
              <a:spLocks noChangeShapeType="1"/>
            </p:cNvSpPr>
            <p:nvPr/>
          </p:nvSpPr>
          <p:spPr bwMode="auto">
            <a:xfrm flipV="1">
              <a:off x="70548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8" name="Line 262"/>
            <p:cNvSpPr>
              <a:spLocks noChangeShapeType="1"/>
            </p:cNvSpPr>
            <p:nvPr/>
          </p:nvSpPr>
          <p:spPr bwMode="auto">
            <a:xfrm>
              <a:off x="7054850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9" name="Line 263"/>
            <p:cNvSpPr>
              <a:spLocks noChangeShapeType="1"/>
            </p:cNvSpPr>
            <p:nvPr/>
          </p:nvSpPr>
          <p:spPr bwMode="auto">
            <a:xfrm flipV="1">
              <a:off x="7054850" y="6659563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0" name="Line 265"/>
            <p:cNvSpPr>
              <a:spLocks noChangeShapeType="1"/>
            </p:cNvSpPr>
            <p:nvPr/>
          </p:nvSpPr>
          <p:spPr bwMode="auto">
            <a:xfrm>
              <a:off x="34559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1" name="Line 266"/>
            <p:cNvSpPr>
              <a:spLocks noChangeShapeType="1"/>
            </p:cNvSpPr>
            <p:nvPr/>
          </p:nvSpPr>
          <p:spPr bwMode="auto">
            <a:xfrm>
              <a:off x="34559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2" name="Line 267"/>
            <p:cNvSpPr>
              <a:spLocks noChangeShapeType="1"/>
            </p:cNvSpPr>
            <p:nvPr/>
          </p:nvSpPr>
          <p:spPr bwMode="auto">
            <a:xfrm>
              <a:off x="68389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3" name="Line 268"/>
            <p:cNvSpPr>
              <a:spLocks noChangeShapeType="1"/>
            </p:cNvSpPr>
            <p:nvPr/>
          </p:nvSpPr>
          <p:spPr bwMode="auto">
            <a:xfrm>
              <a:off x="68389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4" name="Line 269"/>
            <p:cNvSpPr>
              <a:spLocks noChangeShapeType="1"/>
            </p:cNvSpPr>
            <p:nvPr/>
          </p:nvSpPr>
          <p:spPr bwMode="auto">
            <a:xfrm>
              <a:off x="6838950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5" name="Line 270"/>
            <p:cNvSpPr>
              <a:spLocks noChangeShapeType="1"/>
            </p:cNvSpPr>
            <p:nvPr/>
          </p:nvSpPr>
          <p:spPr bwMode="auto">
            <a:xfrm>
              <a:off x="68389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6" name="Line 271"/>
            <p:cNvSpPr>
              <a:spLocks noChangeShapeType="1"/>
            </p:cNvSpPr>
            <p:nvPr/>
          </p:nvSpPr>
          <p:spPr bwMode="auto">
            <a:xfrm>
              <a:off x="682942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7" name="Line 272"/>
            <p:cNvSpPr>
              <a:spLocks noChangeShapeType="1"/>
            </p:cNvSpPr>
            <p:nvPr/>
          </p:nvSpPr>
          <p:spPr bwMode="auto">
            <a:xfrm>
              <a:off x="6829425" y="34178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8" name="Line 273"/>
            <p:cNvSpPr>
              <a:spLocks noChangeShapeType="1"/>
            </p:cNvSpPr>
            <p:nvPr/>
          </p:nvSpPr>
          <p:spPr bwMode="auto">
            <a:xfrm>
              <a:off x="682942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9" name="Line 274"/>
            <p:cNvSpPr>
              <a:spLocks noChangeShapeType="1"/>
            </p:cNvSpPr>
            <p:nvPr/>
          </p:nvSpPr>
          <p:spPr bwMode="auto">
            <a:xfrm>
              <a:off x="68389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0" name="Line 276"/>
            <p:cNvSpPr>
              <a:spLocks noChangeShapeType="1"/>
            </p:cNvSpPr>
            <p:nvPr/>
          </p:nvSpPr>
          <p:spPr bwMode="auto">
            <a:xfrm>
              <a:off x="3455988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1" name="Line 277"/>
            <p:cNvSpPr>
              <a:spLocks noChangeShapeType="1"/>
            </p:cNvSpPr>
            <p:nvPr/>
          </p:nvSpPr>
          <p:spPr bwMode="auto">
            <a:xfrm>
              <a:off x="34559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2" name="Line 278"/>
            <p:cNvSpPr>
              <a:spLocks noChangeShapeType="1"/>
            </p:cNvSpPr>
            <p:nvPr/>
          </p:nvSpPr>
          <p:spPr bwMode="auto">
            <a:xfrm>
              <a:off x="3455988" y="31321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3" name="Line 279"/>
            <p:cNvSpPr>
              <a:spLocks noChangeShapeType="1"/>
            </p:cNvSpPr>
            <p:nvPr/>
          </p:nvSpPr>
          <p:spPr bwMode="auto">
            <a:xfrm>
              <a:off x="34559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4" name="Line 280"/>
            <p:cNvSpPr>
              <a:spLocks noChangeShapeType="1"/>
            </p:cNvSpPr>
            <p:nvPr/>
          </p:nvSpPr>
          <p:spPr bwMode="auto">
            <a:xfrm>
              <a:off x="34559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5" name="Line 281"/>
            <p:cNvSpPr>
              <a:spLocks noChangeShapeType="1"/>
            </p:cNvSpPr>
            <p:nvPr/>
          </p:nvSpPr>
          <p:spPr bwMode="auto">
            <a:xfrm>
              <a:off x="34559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6" name="Line 283"/>
            <p:cNvSpPr>
              <a:spLocks noChangeShapeType="1"/>
            </p:cNvSpPr>
            <p:nvPr/>
          </p:nvSpPr>
          <p:spPr bwMode="auto">
            <a:xfrm>
              <a:off x="3455988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7" name="Line 284"/>
            <p:cNvSpPr>
              <a:spLocks noChangeShapeType="1"/>
            </p:cNvSpPr>
            <p:nvPr/>
          </p:nvSpPr>
          <p:spPr bwMode="auto">
            <a:xfrm>
              <a:off x="3455988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8" name="Line 285"/>
            <p:cNvSpPr>
              <a:spLocks noChangeShapeType="1"/>
            </p:cNvSpPr>
            <p:nvPr/>
          </p:nvSpPr>
          <p:spPr bwMode="auto">
            <a:xfrm>
              <a:off x="6838950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9" name="Line 286"/>
            <p:cNvSpPr>
              <a:spLocks noChangeShapeType="1"/>
            </p:cNvSpPr>
            <p:nvPr/>
          </p:nvSpPr>
          <p:spPr bwMode="auto">
            <a:xfrm>
              <a:off x="6838950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0" name="Line 287"/>
            <p:cNvSpPr>
              <a:spLocks noChangeShapeType="1"/>
            </p:cNvSpPr>
            <p:nvPr/>
          </p:nvSpPr>
          <p:spPr bwMode="auto">
            <a:xfrm>
              <a:off x="6838950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1" name="Line 288"/>
            <p:cNvSpPr>
              <a:spLocks noChangeShapeType="1"/>
            </p:cNvSpPr>
            <p:nvPr/>
          </p:nvSpPr>
          <p:spPr bwMode="auto">
            <a:xfrm>
              <a:off x="6838950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2" name="Line 289"/>
            <p:cNvSpPr>
              <a:spLocks noChangeShapeType="1"/>
            </p:cNvSpPr>
            <p:nvPr/>
          </p:nvSpPr>
          <p:spPr bwMode="auto">
            <a:xfrm>
              <a:off x="6829425" y="57245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3" name="Line 290"/>
            <p:cNvSpPr>
              <a:spLocks noChangeShapeType="1"/>
            </p:cNvSpPr>
            <p:nvPr/>
          </p:nvSpPr>
          <p:spPr bwMode="auto">
            <a:xfrm>
              <a:off x="682942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4" name="Line 291"/>
            <p:cNvSpPr>
              <a:spLocks noChangeShapeType="1"/>
            </p:cNvSpPr>
            <p:nvPr/>
          </p:nvSpPr>
          <p:spPr bwMode="auto">
            <a:xfrm>
              <a:off x="6829425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5" name="Line 292"/>
            <p:cNvSpPr>
              <a:spLocks noChangeShapeType="1"/>
            </p:cNvSpPr>
            <p:nvPr/>
          </p:nvSpPr>
          <p:spPr bwMode="auto">
            <a:xfrm>
              <a:off x="6838950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6" name="Line 294"/>
            <p:cNvSpPr>
              <a:spLocks noChangeShapeType="1"/>
            </p:cNvSpPr>
            <p:nvPr/>
          </p:nvSpPr>
          <p:spPr bwMode="auto">
            <a:xfrm>
              <a:off x="3455988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7" name="Line 295"/>
            <p:cNvSpPr>
              <a:spLocks noChangeShapeType="1"/>
            </p:cNvSpPr>
            <p:nvPr/>
          </p:nvSpPr>
          <p:spPr bwMode="auto">
            <a:xfrm>
              <a:off x="3455988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8" name="Line 296"/>
            <p:cNvSpPr>
              <a:spLocks noChangeShapeType="1"/>
            </p:cNvSpPr>
            <p:nvPr/>
          </p:nvSpPr>
          <p:spPr bwMode="auto">
            <a:xfrm>
              <a:off x="3455988" y="57261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9" name="Line 297"/>
            <p:cNvSpPr>
              <a:spLocks noChangeShapeType="1"/>
            </p:cNvSpPr>
            <p:nvPr/>
          </p:nvSpPr>
          <p:spPr bwMode="auto">
            <a:xfrm>
              <a:off x="3455988" y="60134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0" name="Line 298"/>
            <p:cNvSpPr>
              <a:spLocks noChangeShapeType="1"/>
            </p:cNvSpPr>
            <p:nvPr/>
          </p:nvSpPr>
          <p:spPr bwMode="auto">
            <a:xfrm>
              <a:off x="3455988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1" name="Line 299"/>
            <p:cNvSpPr>
              <a:spLocks noChangeShapeType="1"/>
            </p:cNvSpPr>
            <p:nvPr/>
          </p:nvSpPr>
          <p:spPr bwMode="auto">
            <a:xfrm>
              <a:off x="3455988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2" name="Rectangle 300"/>
            <p:cNvSpPr>
              <a:spLocks noChangeArrowheads="1"/>
            </p:cNvSpPr>
            <p:nvPr/>
          </p:nvSpPr>
          <p:spPr bwMode="auto">
            <a:xfrm>
              <a:off x="62642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53" name="Rectangle 301"/>
            <p:cNvSpPr>
              <a:spLocks noChangeArrowheads="1"/>
            </p:cNvSpPr>
            <p:nvPr/>
          </p:nvSpPr>
          <p:spPr bwMode="auto">
            <a:xfrm>
              <a:off x="62642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54" name="Rectangle 302"/>
            <p:cNvSpPr>
              <a:spLocks noChangeArrowheads="1"/>
            </p:cNvSpPr>
            <p:nvPr/>
          </p:nvSpPr>
          <p:spPr bwMode="auto">
            <a:xfrm>
              <a:off x="62642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55" name="Rectangle 303"/>
            <p:cNvSpPr>
              <a:spLocks noChangeArrowheads="1"/>
            </p:cNvSpPr>
            <p:nvPr/>
          </p:nvSpPr>
          <p:spPr bwMode="auto">
            <a:xfrm>
              <a:off x="62642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56" name="Rectangle 304"/>
            <p:cNvSpPr>
              <a:spLocks noChangeArrowheads="1"/>
            </p:cNvSpPr>
            <p:nvPr/>
          </p:nvSpPr>
          <p:spPr bwMode="auto">
            <a:xfrm>
              <a:off x="62642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57" name="Rectangle 305"/>
            <p:cNvSpPr>
              <a:spLocks noChangeArrowheads="1"/>
            </p:cNvSpPr>
            <p:nvPr/>
          </p:nvSpPr>
          <p:spPr bwMode="auto">
            <a:xfrm>
              <a:off x="62642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58" name="Rectangle 306"/>
            <p:cNvSpPr>
              <a:spLocks noChangeArrowheads="1"/>
            </p:cNvSpPr>
            <p:nvPr/>
          </p:nvSpPr>
          <p:spPr bwMode="auto">
            <a:xfrm>
              <a:off x="62642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59" name="Rectangle 307"/>
            <p:cNvSpPr>
              <a:spLocks noChangeArrowheads="1"/>
            </p:cNvSpPr>
            <p:nvPr/>
          </p:nvSpPr>
          <p:spPr bwMode="auto">
            <a:xfrm>
              <a:off x="62642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60" name="Line 308"/>
            <p:cNvSpPr>
              <a:spLocks noChangeShapeType="1"/>
            </p:cNvSpPr>
            <p:nvPr/>
          </p:nvSpPr>
          <p:spPr bwMode="auto">
            <a:xfrm>
              <a:off x="60483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1" name="Line 309"/>
            <p:cNvSpPr>
              <a:spLocks noChangeShapeType="1"/>
            </p:cNvSpPr>
            <p:nvPr/>
          </p:nvSpPr>
          <p:spPr bwMode="auto">
            <a:xfrm>
              <a:off x="60483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2" name="Line 310"/>
            <p:cNvSpPr>
              <a:spLocks noChangeShapeType="1"/>
            </p:cNvSpPr>
            <p:nvPr/>
          </p:nvSpPr>
          <p:spPr bwMode="auto">
            <a:xfrm>
              <a:off x="60483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3" name="Line 311"/>
            <p:cNvSpPr>
              <a:spLocks noChangeShapeType="1"/>
            </p:cNvSpPr>
            <p:nvPr/>
          </p:nvSpPr>
          <p:spPr bwMode="auto">
            <a:xfrm>
              <a:off x="60483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4" name="Line 312"/>
            <p:cNvSpPr>
              <a:spLocks noChangeShapeType="1"/>
            </p:cNvSpPr>
            <p:nvPr/>
          </p:nvSpPr>
          <p:spPr bwMode="auto">
            <a:xfrm>
              <a:off x="60483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5" name="Line 313"/>
            <p:cNvSpPr>
              <a:spLocks noChangeShapeType="1"/>
            </p:cNvSpPr>
            <p:nvPr/>
          </p:nvSpPr>
          <p:spPr bwMode="auto">
            <a:xfrm>
              <a:off x="60483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6" name="Line 314"/>
            <p:cNvSpPr>
              <a:spLocks noChangeShapeType="1"/>
            </p:cNvSpPr>
            <p:nvPr/>
          </p:nvSpPr>
          <p:spPr bwMode="auto">
            <a:xfrm>
              <a:off x="60483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7" name="Line 315"/>
            <p:cNvSpPr>
              <a:spLocks noChangeShapeType="1"/>
            </p:cNvSpPr>
            <p:nvPr/>
          </p:nvSpPr>
          <p:spPr bwMode="auto">
            <a:xfrm>
              <a:off x="60483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8" name="Line 316"/>
            <p:cNvSpPr>
              <a:spLocks noChangeShapeType="1"/>
            </p:cNvSpPr>
            <p:nvPr/>
          </p:nvSpPr>
          <p:spPr bwMode="auto">
            <a:xfrm>
              <a:off x="60483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9" name="Line 317"/>
            <p:cNvSpPr>
              <a:spLocks noChangeShapeType="1"/>
            </p:cNvSpPr>
            <p:nvPr/>
          </p:nvSpPr>
          <p:spPr bwMode="auto">
            <a:xfrm>
              <a:off x="60483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0" name="Line 318"/>
            <p:cNvSpPr>
              <a:spLocks noChangeShapeType="1"/>
            </p:cNvSpPr>
            <p:nvPr/>
          </p:nvSpPr>
          <p:spPr bwMode="auto">
            <a:xfrm>
              <a:off x="60483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1" name="Line 319"/>
            <p:cNvSpPr>
              <a:spLocks noChangeShapeType="1"/>
            </p:cNvSpPr>
            <p:nvPr/>
          </p:nvSpPr>
          <p:spPr bwMode="auto">
            <a:xfrm>
              <a:off x="60483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2" name="Line 320"/>
            <p:cNvSpPr>
              <a:spLocks noChangeShapeType="1"/>
            </p:cNvSpPr>
            <p:nvPr/>
          </p:nvSpPr>
          <p:spPr bwMode="auto">
            <a:xfrm>
              <a:off x="60483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3" name="Line 321"/>
            <p:cNvSpPr>
              <a:spLocks noChangeShapeType="1"/>
            </p:cNvSpPr>
            <p:nvPr/>
          </p:nvSpPr>
          <p:spPr bwMode="auto">
            <a:xfrm>
              <a:off x="60483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4" name="Line 322"/>
            <p:cNvSpPr>
              <a:spLocks noChangeShapeType="1"/>
            </p:cNvSpPr>
            <p:nvPr/>
          </p:nvSpPr>
          <p:spPr bwMode="auto">
            <a:xfrm>
              <a:off x="60483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5" name="Line 323"/>
            <p:cNvSpPr>
              <a:spLocks noChangeShapeType="1"/>
            </p:cNvSpPr>
            <p:nvPr/>
          </p:nvSpPr>
          <p:spPr bwMode="auto">
            <a:xfrm>
              <a:off x="60483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6" name="Line 324"/>
            <p:cNvSpPr>
              <a:spLocks noChangeShapeType="1"/>
            </p:cNvSpPr>
            <p:nvPr/>
          </p:nvSpPr>
          <p:spPr bwMode="auto">
            <a:xfrm>
              <a:off x="66246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7" name="Line 325"/>
            <p:cNvSpPr>
              <a:spLocks noChangeShapeType="1"/>
            </p:cNvSpPr>
            <p:nvPr/>
          </p:nvSpPr>
          <p:spPr bwMode="auto">
            <a:xfrm>
              <a:off x="66246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8" name="Line 326"/>
            <p:cNvSpPr>
              <a:spLocks noChangeShapeType="1"/>
            </p:cNvSpPr>
            <p:nvPr/>
          </p:nvSpPr>
          <p:spPr bwMode="auto">
            <a:xfrm>
              <a:off x="66246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9" name="Line 327"/>
            <p:cNvSpPr>
              <a:spLocks noChangeShapeType="1"/>
            </p:cNvSpPr>
            <p:nvPr/>
          </p:nvSpPr>
          <p:spPr bwMode="auto">
            <a:xfrm>
              <a:off x="66246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0" name="Line 328"/>
            <p:cNvSpPr>
              <a:spLocks noChangeShapeType="1"/>
            </p:cNvSpPr>
            <p:nvPr/>
          </p:nvSpPr>
          <p:spPr bwMode="auto">
            <a:xfrm>
              <a:off x="66246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1" name="Line 329"/>
            <p:cNvSpPr>
              <a:spLocks noChangeShapeType="1"/>
            </p:cNvSpPr>
            <p:nvPr/>
          </p:nvSpPr>
          <p:spPr bwMode="auto">
            <a:xfrm>
              <a:off x="66246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2" name="Line 330"/>
            <p:cNvSpPr>
              <a:spLocks noChangeShapeType="1"/>
            </p:cNvSpPr>
            <p:nvPr/>
          </p:nvSpPr>
          <p:spPr bwMode="auto">
            <a:xfrm>
              <a:off x="66246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3" name="Line 331"/>
            <p:cNvSpPr>
              <a:spLocks noChangeShapeType="1"/>
            </p:cNvSpPr>
            <p:nvPr/>
          </p:nvSpPr>
          <p:spPr bwMode="auto">
            <a:xfrm>
              <a:off x="66246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4" name="Line 332"/>
            <p:cNvSpPr>
              <a:spLocks noChangeShapeType="1"/>
            </p:cNvSpPr>
            <p:nvPr/>
          </p:nvSpPr>
          <p:spPr bwMode="auto">
            <a:xfrm>
              <a:off x="66246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5" name="Line 333"/>
            <p:cNvSpPr>
              <a:spLocks noChangeShapeType="1"/>
            </p:cNvSpPr>
            <p:nvPr/>
          </p:nvSpPr>
          <p:spPr bwMode="auto">
            <a:xfrm>
              <a:off x="66246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6" name="Line 334"/>
            <p:cNvSpPr>
              <a:spLocks noChangeShapeType="1"/>
            </p:cNvSpPr>
            <p:nvPr/>
          </p:nvSpPr>
          <p:spPr bwMode="auto">
            <a:xfrm>
              <a:off x="66246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7" name="Line 335"/>
            <p:cNvSpPr>
              <a:spLocks noChangeShapeType="1"/>
            </p:cNvSpPr>
            <p:nvPr/>
          </p:nvSpPr>
          <p:spPr bwMode="auto">
            <a:xfrm>
              <a:off x="66246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8" name="Line 336"/>
            <p:cNvSpPr>
              <a:spLocks noChangeShapeType="1"/>
            </p:cNvSpPr>
            <p:nvPr/>
          </p:nvSpPr>
          <p:spPr bwMode="auto">
            <a:xfrm>
              <a:off x="66246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9" name="Line 337"/>
            <p:cNvSpPr>
              <a:spLocks noChangeShapeType="1"/>
            </p:cNvSpPr>
            <p:nvPr/>
          </p:nvSpPr>
          <p:spPr bwMode="auto">
            <a:xfrm>
              <a:off x="66246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0" name="Line 338"/>
            <p:cNvSpPr>
              <a:spLocks noChangeShapeType="1"/>
            </p:cNvSpPr>
            <p:nvPr/>
          </p:nvSpPr>
          <p:spPr bwMode="auto">
            <a:xfrm>
              <a:off x="66246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1" name="Line 339"/>
            <p:cNvSpPr>
              <a:spLocks noChangeShapeType="1"/>
            </p:cNvSpPr>
            <p:nvPr/>
          </p:nvSpPr>
          <p:spPr bwMode="auto">
            <a:xfrm>
              <a:off x="66246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2" name="Rectangle 340"/>
            <p:cNvSpPr>
              <a:spLocks noChangeArrowheads="1"/>
            </p:cNvSpPr>
            <p:nvPr/>
          </p:nvSpPr>
          <p:spPr bwMode="auto">
            <a:xfrm>
              <a:off x="49688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93" name="Rectangle 341"/>
            <p:cNvSpPr>
              <a:spLocks noChangeArrowheads="1"/>
            </p:cNvSpPr>
            <p:nvPr/>
          </p:nvSpPr>
          <p:spPr bwMode="auto">
            <a:xfrm>
              <a:off x="49688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94" name="Rectangle 342"/>
            <p:cNvSpPr>
              <a:spLocks noChangeArrowheads="1"/>
            </p:cNvSpPr>
            <p:nvPr/>
          </p:nvSpPr>
          <p:spPr bwMode="auto">
            <a:xfrm>
              <a:off x="49688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95" name="Rectangle 343"/>
            <p:cNvSpPr>
              <a:spLocks noChangeArrowheads="1"/>
            </p:cNvSpPr>
            <p:nvPr/>
          </p:nvSpPr>
          <p:spPr bwMode="auto">
            <a:xfrm>
              <a:off x="49688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96" name="Rectangle 344"/>
            <p:cNvSpPr>
              <a:spLocks noChangeArrowheads="1"/>
            </p:cNvSpPr>
            <p:nvPr/>
          </p:nvSpPr>
          <p:spPr bwMode="auto">
            <a:xfrm>
              <a:off x="49688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97" name="Rectangle 345"/>
            <p:cNvSpPr>
              <a:spLocks noChangeArrowheads="1"/>
            </p:cNvSpPr>
            <p:nvPr/>
          </p:nvSpPr>
          <p:spPr bwMode="auto">
            <a:xfrm>
              <a:off x="49688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98" name="Rectangle 346"/>
            <p:cNvSpPr>
              <a:spLocks noChangeArrowheads="1"/>
            </p:cNvSpPr>
            <p:nvPr/>
          </p:nvSpPr>
          <p:spPr bwMode="auto">
            <a:xfrm>
              <a:off x="49688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99" name="Rectangle 347"/>
            <p:cNvSpPr>
              <a:spLocks noChangeArrowheads="1"/>
            </p:cNvSpPr>
            <p:nvPr/>
          </p:nvSpPr>
          <p:spPr bwMode="auto">
            <a:xfrm>
              <a:off x="49688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00" name="Line 348"/>
            <p:cNvSpPr>
              <a:spLocks noChangeShapeType="1"/>
            </p:cNvSpPr>
            <p:nvPr/>
          </p:nvSpPr>
          <p:spPr bwMode="auto">
            <a:xfrm>
              <a:off x="47529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1" name="Line 349"/>
            <p:cNvSpPr>
              <a:spLocks noChangeShapeType="1"/>
            </p:cNvSpPr>
            <p:nvPr/>
          </p:nvSpPr>
          <p:spPr bwMode="auto">
            <a:xfrm>
              <a:off x="47529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2" name="Line 350"/>
            <p:cNvSpPr>
              <a:spLocks noChangeShapeType="1"/>
            </p:cNvSpPr>
            <p:nvPr/>
          </p:nvSpPr>
          <p:spPr bwMode="auto">
            <a:xfrm>
              <a:off x="47529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3" name="Line 351"/>
            <p:cNvSpPr>
              <a:spLocks noChangeShapeType="1"/>
            </p:cNvSpPr>
            <p:nvPr/>
          </p:nvSpPr>
          <p:spPr bwMode="auto">
            <a:xfrm>
              <a:off x="47529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4" name="Line 352"/>
            <p:cNvSpPr>
              <a:spLocks noChangeShapeType="1"/>
            </p:cNvSpPr>
            <p:nvPr/>
          </p:nvSpPr>
          <p:spPr bwMode="auto">
            <a:xfrm>
              <a:off x="47529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5" name="Line 353"/>
            <p:cNvSpPr>
              <a:spLocks noChangeShapeType="1"/>
            </p:cNvSpPr>
            <p:nvPr/>
          </p:nvSpPr>
          <p:spPr bwMode="auto">
            <a:xfrm>
              <a:off x="47529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6" name="Line 354"/>
            <p:cNvSpPr>
              <a:spLocks noChangeShapeType="1"/>
            </p:cNvSpPr>
            <p:nvPr/>
          </p:nvSpPr>
          <p:spPr bwMode="auto">
            <a:xfrm>
              <a:off x="47529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7" name="Line 355"/>
            <p:cNvSpPr>
              <a:spLocks noChangeShapeType="1"/>
            </p:cNvSpPr>
            <p:nvPr/>
          </p:nvSpPr>
          <p:spPr bwMode="auto">
            <a:xfrm>
              <a:off x="47529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8" name="Line 356"/>
            <p:cNvSpPr>
              <a:spLocks noChangeShapeType="1"/>
            </p:cNvSpPr>
            <p:nvPr/>
          </p:nvSpPr>
          <p:spPr bwMode="auto">
            <a:xfrm>
              <a:off x="47529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9" name="Line 357"/>
            <p:cNvSpPr>
              <a:spLocks noChangeShapeType="1"/>
            </p:cNvSpPr>
            <p:nvPr/>
          </p:nvSpPr>
          <p:spPr bwMode="auto">
            <a:xfrm>
              <a:off x="47529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0" name="Line 358"/>
            <p:cNvSpPr>
              <a:spLocks noChangeShapeType="1"/>
            </p:cNvSpPr>
            <p:nvPr/>
          </p:nvSpPr>
          <p:spPr bwMode="auto">
            <a:xfrm>
              <a:off x="47529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1" name="Line 359"/>
            <p:cNvSpPr>
              <a:spLocks noChangeShapeType="1"/>
            </p:cNvSpPr>
            <p:nvPr/>
          </p:nvSpPr>
          <p:spPr bwMode="auto">
            <a:xfrm>
              <a:off x="47529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2" name="Line 360"/>
            <p:cNvSpPr>
              <a:spLocks noChangeShapeType="1"/>
            </p:cNvSpPr>
            <p:nvPr/>
          </p:nvSpPr>
          <p:spPr bwMode="auto">
            <a:xfrm>
              <a:off x="47529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3" name="Line 361"/>
            <p:cNvSpPr>
              <a:spLocks noChangeShapeType="1"/>
            </p:cNvSpPr>
            <p:nvPr/>
          </p:nvSpPr>
          <p:spPr bwMode="auto">
            <a:xfrm>
              <a:off x="47529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4" name="Line 362"/>
            <p:cNvSpPr>
              <a:spLocks noChangeShapeType="1"/>
            </p:cNvSpPr>
            <p:nvPr/>
          </p:nvSpPr>
          <p:spPr bwMode="auto">
            <a:xfrm>
              <a:off x="47529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5" name="Line 363"/>
            <p:cNvSpPr>
              <a:spLocks noChangeShapeType="1"/>
            </p:cNvSpPr>
            <p:nvPr/>
          </p:nvSpPr>
          <p:spPr bwMode="auto">
            <a:xfrm>
              <a:off x="47529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6" name="Line 364"/>
            <p:cNvSpPr>
              <a:spLocks noChangeShapeType="1"/>
            </p:cNvSpPr>
            <p:nvPr/>
          </p:nvSpPr>
          <p:spPr bwMode="auto">
            <a:xfrm>
              <a:off x="53292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7" name="Line 365"/>
            <p:cNvSpPr>
              <a:spLocks noChangeShapeType="1"/>
            </p:cNvSpPr>
            <p:nvPr/>
          </p:nvSpPr>
          <p:spPr bwMode="auto">
            <a:xfrm>
              <a:off x="53292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8" name="Line 366"/>
            <p:cNvSpPr>
              <a:spLocks noChangeShapeType="1"/>
            </p:cNvSpPr>
            <p:nvPr/>
          </p:nvSpPr>
          <p:spPr bwMode="auto">
            <a:xfrm>
              <a:off x="53292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9" name="Line 367"/>
            <p:cNvSpPr>
              <a:spLocks noChangeShapeType="1"/>
            </p:cNvSpPr>
            <p:nvPr/>
          </p:nvSpPr>
          <p:spPr bwMode="auto">
            <a:xfrm>
              <a:off x="53292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0" name="Line 368"/>
            <p:cNvSpPr>
              <a:spLocks noChangeShapeType="1"/>
            </p:cNvSpPr>
            <p:nvPr/>
          </p:nvSpPr>
          <p:spPr bwMode="auto">
            <a:xfrm>
              <a:off x="53292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1" name="Line 369"/>
            <p:cNvSpPr>
              <a:spLocks noChangeShapeType="1"/>
            </p:cNvSpPr>
            <p:nvPr/>
          </p:nvSpPr>
          <p:spPr bwMode="auto">
            <a:xfrm>
              <a:off x="53292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2" name="Line 370"/>
            <p:cNvSpPr>
              <a:spLocks noChangeShapeType="1"/>
            </p:cNvSpPr>
            <p:nvPr/>
          </p:nvSpPr>
          <p:spPr bwMode="auto">
            <a:xfrm>
              <a:off x="53292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3" name="Line 371"/>
            <p:cNvSpPr>
              <a:spLocks noChangeShapeType="1"/>
            </p:cNvSpPr>
            <p:nvPr/>
          </p:nvSpPr>
          <p:spPr bwMode="auto">
            <a:xfrm>
              <a:off x="53292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4" name="Line 372"/>
            <p:cNvSpPr>
              <a:spLocks noChangeShapeType="1"/>
            </p:cNvSpPr>
            <p:nvPr/>
          </p:nvSpPr>
          <p:spPr bwMode="auto">
            <a:xfrm>
              <a:off x="53292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5" name="Line 373"/>
            <p:cNvSpPr>
              <a:spLocks noChangeShapeType="1"/>
            </p:cNvSpPr>
            <p:nvPr/>
          </p:nvSpPr>
          <p:spPr bwMode="auto">
            <a:xfrm>
              <a:off x="53292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6" name="Line 374"/>
            <p:cNvSpPr>
              <a:spLocks noChangeShapeType="1"/>
            </p:cNvSpPr>
            <p:nvPr/>
          </p:nvSpPr>
          <p:spPr bwMode="auto">
            <a:xfrm>
              <a:off x="53292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7" name="Line 375"/>
            <p:cNvSpPr>
              <a:spLocks noChangeShapeType="1"/>
            </p:cNvSpPr>
            <p:nvPr/>
          </p:nvSpPr>
          <p:spPr bwMode="auto">
            <a:xfrm>
              <a:off x="53292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8" name="Line 376"/>
            <p:cNvSpPr>
              <a:spLocks noChangeShapeType="1"/>
            </p:cNvSpPr>
            <p:nvPr/>
          </p:nvSpPr>
          <p:spPr bwMode="auto">
            <a:xfrm>
              <a:off x="53292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9" name="Line 377"/>
            <p:cNvSpPr>
              <a:spLocks noChangeShapeType="1"/>
            </p:cNvSpPr>
            <p:nvPr/>
          </p:nvSpPr>
          <p:spPr bwMode="auto">
            <a:xfrm>
              <a:off x="53292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0" name="Line 378"/>
            <p:cNvSpPr>
              <a:spLocks noChangeShapeType="1"/>
            </p:cNvSpPr>
            <p:nvPr/>
          </p:nvSpPr>
          <p:spPr bwMode="auto">
            <a:xfrm>
              <a:off x="53292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1" name="Line 379"/>
            <p:cNvSpPr>
              <a:spLocks noChangeShapeType="1"/>
            </p:cNvSpPr>
            <p:nvPr/>
          </p:nvSpPr>
          <p:spPr bwMode="auto">
            <a:xfrm>
              <a:off x="53292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2" name="Rectangle 380"/>
            <p:cNvSpPr>
              <a:spLocks noChangeArrowheads="1"/>
            </p:cNvSpPr>
            <p:nvPr/>
          </p:nvSpPr>
          <p:spPr bwMode="auto">
            <a:xfrm>
              <a:off x="36718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33" name="Rectangle 381"/>
            <p:cNvSpPr>
              <a:spLocks noChangeArrowheads="1"/>
            </p:cNvSpPr>
            <p:nvPr/>
          </p:nvSpPr>
          <p:spPr bwMode="auto">
            <a:xfrm>
              <a:off x="36718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34" name="Rectangle 382"/>
            <p:cNvSpPr>
              <a:spLocks noChangeArrowheads="1"/>
            </p:cNvSpPr>
            <p:nvPr/>
          </p:nvSpPr>
          <p:spPr bwMode="auto">
            <a:xfrm>
              <a:off x="36718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35" name="Rectangle 383"/>
            <p:cNvSpPr>
              <a:spLocks noChangeArrowheads="1"/>
            </p:cNvSpPr>
            <p:nvPr/>
          </p:nvSpPr>
          <p:spPr bwMode="auto">
            <a:xfrm>
              <a:off x="36718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36" name="Rectangle 384"/>
            <p:cNvSpPr>
              <a:spLocks noChangeArrowheads="1"/>
            </p:cNvSpPr>
            <p:nvPr/>
          </p:nvSpPr>
          <p:spPr bwMode="auto">
            <a:xfrm>
              <a:off x="36718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37" name="Rectangle 385"/>
            <p:cNvSpPr>
              <a:spLocks noChangeArrowheads="1"/>
            </p:cNvSpPr>
            <p:nvPr/>
          </p:nvSpPr>
          <p:spPr bwMode="auto">
            <a:xfrm>
              <a:off x="36718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38" name="Rectangle 386"/>
            <p:cNvSpPr>
              <a:spLocks noChangeArrowheads="1"/>
            </p:cNvSpPr>
            <p:nvPr/>
          </p:nvSpPr>
          <p:spPr bwMode="auto">
            <a:xfrm>
              <a:off x="36718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39" name="Rectangle 387"/>
            <p:cNvSpPr>
              <a:spLocks noChangeArrowheads="1"/>
            </p:cNvSpPr>
            <p:nvPr/>
          </p:nvSpPr>
          <p:spPr bwMode="auto">
            <a:xfrm>
              <a:off x="36718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40" name="Line 404"/>
            <p:cNvSpPr>
              <a:spLocks noChangeShapeType="1"/>
            </p:cNvSpPr>
            <p:nvPr/>
          </p:nvSpPr>
          <p:spPr bwMode="auto">
            <a:xfrm>
              <a:off x="40322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1" name="Line 405"/>
            <p:cNvSpPr>
              <a:spLocks noChangeShapeType="1"/>
            </p:cNvSpPr>
            <p:nvPr/>
          </p:nvSpPr>
          <p:spPr bwMode="auto">
            <a:xfrm>
              <a:off x="40322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2" name="Line 406"/>
            <p:cNvSpPr>
              <a:spLocks noChangeShapeType="1"/>
            </p:cNvSpPr>
            <p:nvPr/>
          </p:nvSpPr>
          <p:spPr bwMode="auto">
            <a:xfrm>
              <a:off x="40322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3" name="Line 407"/>
            <p:cNvSpPr>
              <a:spLocks noChangeShapeType="1"/>
            </p:cNvSpPr>
            <p:nvPr/>
          </p:nvSpPr>
          <p:spPr bwMode="auto">
            <a:xfrm>
              <a:off x="40322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4" name="Line 408"/>
            <p:cNvSpPr>
              <a:spLocks noChangeShapeType="1"/>
            </p:cNvSpPr>
            <p:nvPr/>
          </p:nvSpPr>
          <p:spPr bwMode="auto">
            <a:xfrm>
              <a:off x="40322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5" name="Line 409"/>
            <p:cNvSpPr>
              <a:spLocks noChangeShapeType="1"/>
            </p:cNvSpPr>
            <p:nvPr/>
          </p:nvSpPr>
          <p:spPr bwMode="auto">
            <a:xfrm>
              <a:off x="40322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6" name="Line 410"/>
            <p:cNvSpPr>
              <a:spLocks noChangeShapeType="1"/>
            </p:cNvSpPr>
            <p:nvPr/>
          </p:nvSpPr>
          <p:spPr bwMode="auto">
            <a:xfrm>
              <a:off x="40322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7" name="Line 411"/>
            <p:cNvSpPr>
              <a:spLocks noChangeShapeType="1"/>
            </p:cNvSpPr>
            <p:nvPr/>
          </p:nvSpPr>
          <p:spPr bwMode="auto">
            <a:xfrm>
              <a:off x="40322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8" name="Line 412"/>
            <p:cNvSpPr>
              <a:spLocks noChangeShapeType="1"/>
            </p:cNvSpPr>
            <p:nvPr/>
          </p:nvSpPr>
          <p:spPr bwMode="auto">
            <a:xfrm>
              <a:off x="40322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9" name="Line 413"/>
            <p:cNvSpPr>
              <a:spLocks noChangeShapeType="1"/>
            </p:cNvSpPr>
            <p:nvPr/>
          </p:nvSpPr>
          <p:spPr bwMode="auto">
            <a:xfrm>
              <a:off x="40322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0" name="Line 414"/>
            <p:cNvSpPr>
              <a:spLocks noChangeShapeType="1"/>
            </p:cNvSpPr>
            <p:nvPr/>
          </p:nvSpPr>
          <p:spPr bwMode="auto">
            <a:xfrm>
              <a:off x="40322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1" name="Line 415"/>
            <p:cNvSpPr>
              <a:spLocks noChangeShapeType="1"/>
            </p:cNvSpPr>
            <p:nvPr/>
          </p:nvSpPr>
          <p:spPr bwMode="auto">
            <a:xfrm>
              <a:off x="40322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2" name="Line 416"/>
            <p:cNvSpPr>
              <a:spLocks noChangeShapeType="1"/>
            </p:cNvSpPr>
            <p:nvPr/>
          </p:nvSpPr>
          <p:spPr bwMode="auto">
            <a:xfrm>
              <a:off x="40322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3" name="Line 417"/>
            <p:cNvSpPr>
              <a:spLocks noChangeShapeType="1"/>
            </p:cNvSpPr>
            <p:nvPr/>
          </p:nvSpPr>
          <p:spPr bwMode="auto">
            <a:xfrm>
              <a:off x="40322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4" name="Line 418"/>
            <p:cNvSpPr>
              <a:spLocks noChangeShapeType="1"/>
            </p:cNvSpPr>
            <p:nvPr/>
          </p:nvSpPr>
          <p:spPr bwMode="auto">
            <a:xfrm>
              <a:off x="40322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5" name="Line 419"/>
            <p:cNvSpPr>
              <a:spLocks noChangeShapeType="1"/>
            </p:cNvSpPr>
            <p:nvPr/>
          </p:nvSpPr>
          <p:spPr bwMode="auto">
            <a:xfrm>
              <a:off x="40322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6" name="Line 420"/>
            <p:cNvSpPr>
              <a:spLocks noChangeShapeType="1"/>
            </p:cNvSpPr>
            <p:nvPr/>
          </p:nvSpPr>
          <p:spPr bwMode="auto">
            <a:xfrm>
              <a:off x="4248150" y="18351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7" name="Line 421"/>
            <p:cNvSpPr>
              <a:spLocks noChangeShapeType="1"/>
            </p:cNvSpPr>
            <p:nvPr/>
          </p:nvSpPr>
          <p:spPr bwMode="auto">
            <a:xfrm>
              <a:off x="42481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8" name="Line 422"/>
            <p:cNvSpPr>
              <a:spLocks noChangeShapeType="1"/>
            </p:cNvSpPr>
            <p:nvPr/>
          </p:nvSpPr>
          <p:spPr bwMode="auto">
            <a:xfrm flipV="1">
              <a:off x="42481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9" name="Line 423"/>
            <p:cNvSpPr>
              <a:spLocks noChangeShapeType="1"/>
            </p:cNvSpPr>
            <p:nvPr/>
          </p:nvSpPr>
          <p:spPr bwMode="auto">
            <a:xfrm>
              <a:off x="4248150" y="27717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0" name="Line 424"/>
            <p:cNvSpPr>
              <a:spLocks noChangeShapeType="1"/>
            </p:cNvSpPr>
            <p:nvPr/>
          </p:nvSpPr>
          <p:spPr bwMode="auto">
            <a:xfrm>
              <a:off x="4248150" y="31305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1" name="Line 425"/>
            <p:cNvSpPr>
              <a:spLocks noChangeShapeType="1"/>
            </p:cNvSpPr>
            <p:nvPr/>
          </p:nvSpPr>
          <p:spPr bwMode="auto">
            <a:xfrm>
              <a:off x="42481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2" name="Line 426"/>
            <p:cNvSpPr>
              <a:spLocks noChangeShapeType="1"/>
            </p:cNvSpPr>
            <p:nvPr/>
          </p:nvSpPr>
          <p:spPr bwMode="auto">
            <a:xfrm flipV="1">
              <a:off x="42481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3" name="Line 427"/>
            <p:cNvSpPr>
              <a:spLocks noChangeShapeType="1"/>
            </p:cNvSpPr>
            <p:nvPr/>
          </p:nvSpPr>
          <p:spPr bwMode="auto">
            <a:xfrm>
              <a:off x="4248150" y="40671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4" name="Line 428"/>
            <p:cNvSpPr>
              <a:spLocks noChangeShapeType="1"/>
            </p:cNvSpPr>
            <p:nvPr/>
          </p:nvSpPr>
          <p:spPr bwMode="auto">
            <a:xfrm>
              <a:off x="4248150" y="44275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5" name="Line 429"/>
            <p:cNvSpPr>
              <a:spLocks noChangeShapeType="1"/>
            </p:cNvSpPr>
            <p:nvPr/>
          </p:nvSpPr>
          <p:spPr bwMode="auto">
            <a:xfrm>
              <a:off x="42481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6" name="Line 430"/>
            <p:cNvSpPr>
              <a:spLocks noChangeShapeType="1"/>
            </p:cNvSpPr>
            <p:nvPr/>
          </p:nvSpPr>
          <p:spPr bwMode="auto">
            <a:xfrm flipV="1">
              <a:off x="42481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7" name="Line 431"/>
            <p:cNvSpPr>
              <a:spLocks noChangeShapeType="1"/>
            </p:cNvSpPr>
            <p:nvPr/>
          </p:nvSpPr>
          <p:spPr bwMode="auto">
            <a:xfrm>
              <a:off x="4248150" y="53641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8" name="Line 432"/>
            <p:cNvSpPr>
              <a:spLocks noChangeShapeType="1"/>
            </p:cNvSpPr>
            <p:nvPr/>
          </p:nvSpPr>
          <p:spPr bwMode="auto">
            <a:xfrm>
              <a:off x="4248150" y="57229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9" name="Line 433"/>
            <p:cNvSpPr>
              <a:spLocks noChangeShapeType="1"/>
            </p:cNvSpPr>
            <p:nvPr/>
          </p:nvSpPr>
          <p:spPr bwMode="auto">
            <a:xfrm>
              <a:off x="42481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0" name="Line 434"/>
            <p:cNvSpPr>
              <a:spLocks noChangeShapeType="1"/>
            </p:cNvSpPr>
            <p:nvPr/>
          </p:nvSpPr>
          <p:spPr bwMode="auto">
            <a:xfrm flipV="1">
              <a:off x="42481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1" name="Line 435"/>
            <p:cNvSpPr>
              <a:spLocks noChangeShapeType="1"/>
            </p:cNvSpPr>
            <p:nvPr/>
          </p:nvSpPr>
          <p:spPr bwMode="auto">
            <a:xfrm>
              <a:off x="4248150" y="66595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2" name="Line 436"/>
            <p:cNvSpPr>
              <a:spLocks noChangeShapeType="1"/>
            </p:cNvSpPr>
            <p:nvPr/>
          </p:nvSpPr>
          <p:spPr bwMode="auto">
            <a:xfrm>
              <a:off x="5543550" y="18351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3" name="Line 437"/>
            <p:cNvSpPr>
              <a:spLocks noChangeShapeType="1"/>
            </p:cNvSpPr>
            <p:nvPr/>
          </p:nvSpPr>
          <p:spPr bwMode="auto">
            <a:xfrm>
              <a:off x="55435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4" name="Line 438"/>
            <p:cNvSpPr>
              <a:spLocks noChangeShapeType="1"/>
            </p:cNvSpPr>
            <p:nvPr/>
          </p:nvSpPr>
          <p:spPr bwMode="auto">
            <a:xfrm flipV="1">
              <a:off x="55435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5" name="Line 439"/>
            <p:cNvSpPr>
              <a:spLocks noChangeShapeType="1"/>
            </p:cNvSpPr>
            <p:nvPr/>
          </p:nvSpPr>
          <p:spPr bwMode="auto">
            <a:xfrm>
              <a:off x="5543550" y="27717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6" name="Line 440"/>
            <p:cNvSpPr>
              <a:spLocks noChangeShapeType="1"/>
            </p:cNvSpPr>
            <p:nvPr/>
          </p:nvSpPr>
          <p:spPr bwMode="auto">
            <a:xfrm>
              <a:off x="5543550" y="31305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7" name="Line 441"/>
            <p:cNvSpPr>
              <a:spLocks noChangeShapeType="1"/>
            </p:cNvSpPr>
            <p:nvPr/>
          </p:nvSpPr>
          <p:spPr bwMode="auto">
            <a:xfrm>
              <a:off x="55435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8" name="Line 442"/>
            <p:cNvSpPr>
              <a:spLocks noChangeShapeType="1"/>
            </p:cNvSpPr>
            <p:nvPr/>
          </p:nvSpPr>
          <p:spPr bwMode="auto">
            <a:xfrm flipV="1">
              <a:off x="55435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9" name="Line 443"/>
            <p:cNvSpPr>
              <a:spLocks noChangeShapeType="1"/>
            </p:cNvSpPr>
            <p:nvPr/>
          </p:nvSpPr>
          <p:spPr bwMode="auto">
            <a:xfrm>
              <a:off x="5543550" y="40671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0" name="Line 444"/>
            <p:cNvSpPr>
              <a:spLocks noChangeShapeType="1"/>
            </p:cNvSpPr>
            <p:nvPr/>
          </p:nvSpPr>
          <p:spPr bwMode="auto">
            <a:xfrm>
              <a:off x="5543550" y="44275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1" name="Line 445"/>
            <p:cNvSpPr>
              <a:spLocks noChangeShapeType="1"/>
            </p:cNvSpPr>
            <p:nvPr/>
          </p:nvSpPr>
          <p:spPr bwMode="auto">
            <a:xfrm>
              <a:off x="55435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2" name="Line 446"/>
            <p:cNvSpPr>
              <a:spLocks noChangeShapeType="1"/>
            </p:cNvSpPr>
            <p:nvPr/>
          </p:nvSpPr>
          <p:spPr bwMode="auto">
            <a:xfrm flipV="1">
              <a:off x="55435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3" name="Line 447"/>
            <p:cNvSpPr>
              <a:spLocks noChangeShapeType="1"/>
            </p:cNvSpPr>
            <p:nvPr/>
          </p:nvSpPr>
          <p:spPr bwMode="auto">
            <a:xfrm>
              <a:off x="5543550" y="53641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4" name="Line 448"/>
            <p:cNvSpPr>
              <a:spLocks noChangeShapeType="1"/>
            </p:cNvSpPr>
            <p:nvPr/>
          </p:nvSpPr>
          <p:spPr bwMode="auto">
            <a:xfrm>
              <a:off x="5543550" y="57229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5" name="Line 449"/>
            <p:cNvSpPr>
              <a:spLocks noChangeShapeType="1"/>
            </p:cNvSpPr>
            <p:nvPr/>
          </p:nvSpPr>
          <p:spPr bwMode="auto">
            <a:xfrm>
              <a:off x="55435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6" name="Line 450"/>
            <p:cNvSpPr>
              <a:spLocks noChangeShapeType="1"/>
            </p:cNvSpPr>
            <p:nvPr/>
          </p:nvSpPr>
          <p:spPr bwMode="auto">
            <a:xfrm flipV="1">
              <a:off x="55435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7" name="Line 451"/>
            <p:cNvSpPr>
              <a:spLocks noChangeShapeType="1"/>
            </p:cNvSpPr>
            <p:nvPr/>
          </p:nvSpPr>
          <p:spPr bwMode="auto">
            <a:xfrm>
              <a:off x="5543550" y="66595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8" name="Oval 473"/>
            <p:cNvSpPr>
              <a:spLocks noChangeArrowheads="1"/>
            </p:cNvSpPr>
            <p:nvPr/>
          </p:nvSpPr>
          <p:spPr bwMode="auto">
            <a:xfrm>
              <a:off x="576263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389" name="Oval 474"/>
            <p:cNvSpPr>
              <a:spLocks noChangeArrowheads="1"/>
            </p:cNvSpPr>
            <p:nvPr/>
          </p:nvSpPr>
          <p:spPr bwMode="auto">
            <a:xfrm>
              <a:off x="576263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390" name="Oval 475"/>
            <p:cNvSpPr>
              <a:spLocks noChangeArrowheads="1"/>
            </p:cNvSpPr>
            <p:nvPr/>
          </p:nvSpPr>
          <p:spPr bwMode="auto">
            <a:xfrm>
              <a:off x="576263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391" name="Oval 476"/>
            <p:cNvSpPr>
              <a:spLocks noChangeArrowheads="1"/>
            </p:cNvSpPr>
            <p:nvPr/>
          </p:nvSpPr>
          <p:spPr bwMode="auto">
            <a:xfrm>
              <a:off x="576263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392" name="Oval 477"/>
            <p:cNvSpPr>
              <a:spLocks noChangeArrowheads="1"/>
            </p:cNvSpPr>
            <p:nvPr/>
          </p:nvSpPr>
          <p:spPr bwMode="auto">
            <a:xfrm>
              <a:off x="576263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93" name="Oval 478"/>
            <p:cNvSpPr>
              <a:spLocks noChangeArrowheads="1"/>
            </p:cNvSpPr>
            <p:nvPr/>
          </p:nvSpPr>
          <p:spPr bwMode="auto">
            <a:xfrm>
              <a:off x="576263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94" name="Oval 479"/>
            <p:cNvSpPr>
              <a:spLocks noChangeArrowheads="1"/>
            </p:cNvSpPr>
            <p:nvPr/>
          </p:nvSpPr>
          <p:spPr bwMode="auto">
            <a:xfrm>
              <a:off x="576263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95" name="Oval 480"/>
            <p:cNvSpPr>
              <a:spLocks noChangeArrowheads="1"/>
            </p:cNvSpPr>
            <p:nvPr/>
          </p:nvSpPr>
          <p:spPr bwMode="auto">
            <a:xfrm>
              <a:off x="576263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396" name="Oval 481"/>
            <p:cNvSpPr>
              <a:spLocks noChangeArrowheads="1"/>
            </p:cNvSpPr>
            <p:nvPr/>
          </p:nvSpPr>
          <p:spPr bwMode="auto">
            <a:xfrm>
              <a:off x="576263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397" name="Oval 482"/>
            <p:cNvSpPr>
              <a:spLocks noChangeArrowheads="1"/>
            </p:cNvSpPr>
            <p:nvPr/>
          </p:nvSpPr>
          <p:spPr bwMode="auto">
            <a:xfrm>
              <a:off x="576263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398" name="Oval 483"/>
            <p:cNvSpPr>
              <a:spLocks noChangeArrowheads="1"/>
            </p:cNvSpPr>
            <p:nvPr/>
          </p:nvSpPr>
          <p:spPr bwMode="auto">
            <a:xfrm>
              <a:off x="576263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399" name="Oval 484"/>
            <p:cNvSpPr>
              <a:spLocks noChangeArrowheads="1"/>
            </p:cNvSpPr>
            <p:nvPr/>
          </p:nvSpPr>
          <p:spPr bwMode="auto">
            <a:xfrm>
              <a:off x="576263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400" name="Oval 485"/>
            <p:cNvSpPr>
              <a:spLocks noChangeArrowheads="1"/>
            </p:cNvSpPr>
            <p:nvPr/>
          </p:nvSpPr>
          <p:spPr bwMode="auto">
            <a:xfrm>
              <a:off x="576263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01" name="Oval 486"/>
            <p:cNvSpPr>
              <a:spLocks noChangeArrowheads="1"/>
            </p:cNvSpPr>
            <p:nvPr/>
          </p:nvSpPr>
          <p:spPr bwMode="auto">
            <a:xfrm>
              <a:off x="576263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402" name="Oval 487"/>
            <p:cNvSpPr>
              <a:spLocks noChangeArrowheads="1"/>
            </p:cNvSpPr>
            <p:nvPr/>
          </p:nvSpPr>
          <p:spPr bwMode="auto">
            <a:xfrm>
              <a:off x="576263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403" name="Oval 488"/>
            <p:cNvSpPr>
              <a:spLocks noChangeArrowheads="1"/>
            </p:cNvSpPr>
            <p:nvPr/>
          </p:nvSpPr>
          <p:spPr bwMode="auto">
            <a:xfrm>
              <a:off x="576263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04" name="Oval 489"/>
            <p:cNvSpPr>
              <a:spLocks noChangeArrowheads="1"/>
            </p:cNvSpPr>
            <p:nvPr/>
          </p:nvSpPr>
          <p:spPr bwMode="auto">
            <a:xfrm>
              <a:off x="9575800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405" name="Oval 490"/>
            <p:cNvSpPr>
              <a:spLocks noChangeArrowheads="1"/>
            </p:cNvSpPr>
            <p:nvPr/>
          </p:nvSpPr>
          <p:spPr bwMode="auto">
            <a:xfrm>
              <a:off x="9575800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406" name="Oval 491"/>
            <p:cNvSpPr>
              <a:spLocks noChangeArrowheads="1"/>
            </p:cNvSpPr>
            <p:nvPr/>
          </p:nvSpPr>
          <p:spPr bwMode="auto">
            <a:xfrm>
              <a:off x="9575800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407" name="Oval 492"/>
            <p:cNvSpPr>
              <a:spLocks noChangeArrowheads="1"/>
            </p:cNvSpPr>
            <p:nvPr/>
          </p:nvSpPr>
          <p:spPr bwMode="auto">
            <a:xfrm>
              <a:off x="9575800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408" name="Oval 493"/>
            <p:cNvSpPr>
              <a:spLocks noChangeArrowheads="1"/>
            </p:cNvSpPr>
            <p:nvPr/>
          </p:nvSpPr>
          <p:spPr bwMode="auto">
            <a:xfrm>
              <a:off x="9575800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409" name="Oval 494"/>
            <p:cNvSpPr>
              <a:spLocks noChangeArrowheads="1"/>
            </p:cNvSpPr>
            <p:nvPr/>
          </p:nvSpPr>
          <p:spPr bwMode="auto">
            <a:xfrm>
              <a:off x="9575800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410" name="Oval 495"/>
            <p:cNvSpPr>
              <a:spLocks noChangeArrowheads="1"/>
            </p:cNvSpPr>
            <p:nvPr/>
          </p:nvSpPr>
          <p:spPr bwMode="auto">
            <a:xfrm>
              <a:off x="9575800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411" name="Oval 496"/>
            <p:cNvSpPr>
              <a:spLocks noChangeArrowheads="1"/>
            </p:cNvSpPr>
            <p:nvPr/>
          </p:nvSpPr>
          <p:spPr bwMode="auto">
            <a:xfrm>
              <a:off x="9575800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412" name="Oval 497"/>
            <p:cNvSpPr>
              <a:spLocks noChangeArrowheads="1"/>
            </p:cNvSpPr>
            <p:nvPr/>
          </p:nvSpPr>
          <p:spPr bwMode="auto">
            <a:xfrm>
              <a:off x="9575800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413" name="Oval 498"/>
            <p:cNvSpPr>
              <a:spLocks noChangeArrowheads="1"/>
            </p:cNvSpPr>
            <p:nvPr/>
          </p:nvSpPr>
          <p:spPr bwMode="auto">
            <a:xfrm>
              <a:off x="9575800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414" name="Oval 499"/>
            <p:cNvSpPr>
              <a:spLocks noChangeArrowheads="1"/>
            </p:cNvSpPr>
            <p:nvPr/>
          </p:nvSpPr>
          <p:spPr bwMode="auto">
            <a:xfrm>
              <a:off x="9575800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415" name="Oval 500"/>
            <p:cNvSpPr>
              <a:spLocks noChangeArrowheads="1"/>
            </p:cNvSpPr>
            <p:nvPr/>
          </p:nvSpPr>
          <p:spPr bwMode="auto">
            <a:xfrm>
              <a:off x="9575800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416" name="Oval 501"/>
            <p:cNvSpPr>
              <a:spLocks noChangeArrowheads="1"/>
            </p:cNvSpPr>
            <p:nvPr/>
          </p:nvSpPr>
          <p:spPr bwMode="auto">
            <a:xfrm>
              <a:off x="9575800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17" name="Oval 502"/>
            <p:cNvSpPr>
              <a:spLocks noChangeArrowheads="1"/>
            </p:cNvSpPr>
            <p:nvPr/>
          </p:nvSpPr>
          <p:spPr bwMode="auto">
            <a:xfrm>
              <a:off x="9575800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418" name="Oval 503"/>
            <p:cNvSpPr>
              <a:spLocks noChangeArrowheads="1"/>
            </p:cNvSpPr>
            <p:nvPr/>
          </p:nvSpPr>
          <p:spPr bwMode="auto">
            <a:xfrm>
              <a:off x="9575800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419" name="Oval 504"/>
            <p:cNvSpPr>
              <a:spLocks noChangeArrowheads="1"/>
            </p:cNvSpPr>
            <p:nvPr/>
          </p:nvSpPr>
          <p:spPr bwMode="auto">
            <a:xfrm>
              <a:off x="9575800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</p:grpSp>
      <p:sp>
        <p:nvSpPr>
          <p:cNvPr id="436" name="Text Box 472"/>
          <p:cNvSpPr txBox="1">
            <a:spLocks noChangeArrowheads="1"/>
          </p:cNvSpPr>
          <p:nvPr/>
        </p:nvSpPr>
        <p:spPr bwMode="auto">
          <a:xfrm>
            <a:off x="2051720" y="6309320"/>
            <a:ext cx="5203825" cy="34448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9973" tIns="44986" rIns="89973" bIns="44986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013" indent="-214313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217488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/>
            <a:r>
              <a:rPr lang="en-GB" altLang="zh-TW" sz="1800">
                <a:solidFill>
                  <a:schemeClr val="tx1"/>
                </a:solidFill>
                <a:ea typeface="新細明體" panose="02020500000000000000" pitchFamily="18" charset="-120"/>
              </a:rPr>
              <a:t>16 port, </a:t>
            </a:r>
            <a:r>
              <a:rPr lang="en-GB" altLang="zh-TW" sz="1800" b="1" i="1">
                <a:solidFill>
                  <a:schemeClr val="accent2"/>
                </a:solidFill>
                <a:ea typeface="新細明體" panose="02020500000000000000" pitchFamily="18" charset="-120"/>
              </a:rPr>
              <a:t>7 stage Clos</a:t>
            </a:r>
            <a:r>
              <a:rPr lang="en-GB" altLang="zh-TW" sz="1800">
                <a:solidFill>
                  <a:schemeClr val="tx1"/>
                </a:solidFill>
                <a:ea typeface="新細明體" panose="02020500000000000000" pitchFamily="18" charset="-120"/>
              </a:rPr>
              <a:t> network = </a:t>
            </a:r>
            <a:r>
              <a:rPr lang="en-GB" altLang="zh-TW" sz="1800" b="1" i="1">
                <a:solidFill>
                  <a:schemeClr val="accent2"/>
                </a:solidFill>
                <a:ea typeface="新細明體" panose="02020500000000000000" pitchFamily="18" charset="-120"/>
              </a:rPr>
              <a:t>Benes topology</a:t>
            </a:r>
          </a:p>
        </p:txBody>
      </p:sp>
    </p:spTree>
    <p:extLst>
      <p:ext uri="{BB962C8B-B14F-4D97-AF65-F5344CB8AC3E}">
        <p14:creationId xmlns:p14="http://schemas.microsoft.com/office/powerpoint/2010/main" val="3714225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Benes MIN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539552" y="1556792"/>
            <a:ext cx="8064896" cy="4688482"/>
            <a:chOff x="576263" y="1620838"/>
            <a:chExt cx="9288462" cy="5327650"/>
          </a:xfrm>
        </p:grpSpPr>
        <p:sp>
          <p:nvSpPr>
            <p:cNvPr id="5" name="AutoShape 448"/>
            <p:cNvSpPr>
              <a:spLocks noChangeArrowheads="1"/>
            </p:cNvSpPr>
            <p:nvPr/>
          </p:nvSpPr>
          <p:spPr bwMode="auto">
            <a:xfrm>
              <a:off x="2016125" y="4284663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" name="AutoShape 449"/>
            <p:cNvSpPr>
              <a:spLocks noChangeArrowheads="1"/>
            </p:cNvSpPr>
            <p:nvPr/>
          </p:nvSpPr>
          <p:spPr bwMode="auto">
            <a:xfrm>
              <a:off x="2016125" y="1620838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" name="AutoShape 450"/>
            <p:cNvSpPr>
              <a:spLocks noChangeArrowheads="1"/>
            </p:cNvSpPr>
            <p:nvPr/>
          </p:nvSpPr>
          <p:spPr bwMode="auto">
            <a:xfrm>
              <a:off x="3527425" y="42846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" name="AutoShape 451"/>
            <p:cNvSpPr>
              <a:spLocks noChangeArrowheads="1"/>
            </p:cNvSpPr>
            <p:nvPr/>
          </p:nvSpPr>
          <p:spPr bwMode="auto">
            <a:xfrm>
              <a:off x="3527425" y="29892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" name="AutoShape 452"/>
            <p:cNvSpPr>
              <a:spLocks noChangeArrowheads="1"/>
            </p:cNvSpPr>
            <p:nvPr/>
          </p:nvSpPr>
          <p:spPr bwMode="auto">
            <a:xfrm>
              <a:off x="3527425" y="1692275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" name="AutoShape 453"/>
            <p:cNvSpPr>
              <a:spLocks noChangeArrowheads="1"/>
            </p:cNvSpPr>
            <p:nvPr/>
          </p:nvSpPr>
          <p:spPr bwMode="auto">
            <a:xfrm>
              <a:off x="3527425" y="55800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0810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0810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810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810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0810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810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0810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810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8651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8651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8651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8651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8651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8651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8651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8651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8651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8651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8651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8651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8651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8651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8651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8651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14414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14414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14414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14414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14414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14414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>
              <a:off x="14414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14414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14414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14414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>
              <a:off x="14414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14414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>
              <a:off x="14414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>
              <a:off x="14414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9" name="Line 48"/>
            <p:cNvSpPr>
              <a:spLocks noChangeShapeType="1"/>
            </p:cNvSpPr>
            <p:nvPr/>
          </p:nvSpPr>
          <p:spPr bwMode="auto">
            <a:xfrm>
              <a:off x="14414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>
              <a:off x="14414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1657350" y="1835150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1657350" y="6659563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1657350" y="2122488"/>
              <a:ext cx="503238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4" name="Line 54"/>
            <p:cNvSpPr>
              <a:spLocks noChangeShapeType="1"/>
            </p:cNvSpPr>
            <p:nvPr/>
          </p:nvSpPr>
          <p:spPr bwMode="auto">
            <a:xfrm flipV="1">
              <a:off x="1657350" y="2122488"/>
              <a:ext cx="503238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5" name="Line 55"/>
            <p:cNvSpPr>
              <a:spLocks noChangeShapeType="1"/>
            </p:cNvSpPr>
            <p:nvPr/>
          </p:nvSpPr>
          <p:spPr bwMode="auto">
            <a:xfrm flipV="1">
              <a:off x="1657350" y="2482850"/>
              <a:ext cx="503238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6" name="Line 56"/>
            <p:cNvSpPr>
              <a:spLocks noChangeShapeType="1"/>
            </p:cNvSpPr>
            <p:nvPr/>
          </p:nvSpPr>
          <p:spPr bwMode="auto">
            <a:xfrm flipV="1">
              <a:off x="1657350" y="2771775"/>
              <a:ext cx="503238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7" name="Line 57"/>
            <p:cNvSpPr>
              <a:spLocks noChangeShapeType="1"/>
            </p:cNvSpPr>
            <p:nvPr/>
          </p:nvSpPr>
          <p:spPr bwMode="auto">
            <a:xfrm flipV="1">
              <a:off x="1657350" y="3130550"/>
              <a:ext cx="503238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8" name="Line 58"/>
            <p:cNvSpPr>
              <a:spLocks noChangeShapeType="1"/>
            </p:cNvSpPr>
            <p:nvPr/>
          </p:nvSpPr>
          <p:spPr bwMode="auto">
            <a:xfrm flipV="1">
              <a:off x="1657350" y="3419475"/>
              <a:ext cx="503238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9" name="Line 59"/>
            <p:cNvSpPr>
              <a:spLocks noChangeShapeType="1"/>
            </p:cNvSpPr>
            <p:nvPr/>
          </p:nvSpPr>
          <p:spPr bwMode="auto">
            <a:xfrm flipV="1">
              <a:off x="1657350" y="3779838"/>
              <a:ext cx="503238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0" name="Line 60"/>
            <p:cNvSpPr>
              <a:spLocks noChangeShapeType="1"/>
            </p:cNvSpPr>
            <p:nvPr/>
          </p:nvSpPr>
          <p:spPr bwMode="auto">
            <a:xfrm flipV="1">
              <a:off x="1657350" y="4067175"/>
              <a:ext cx="503238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1" name="Line 61"/>
            <p:cNvSpPr>
              <a:spLocks noChangeShapeType="1"/>
            </p:cNvSpPr>
            <p:nvPr/>
          </p:nvSpPr>
          <p:spPr bwMode="auto">
            <a:xfrm>
              <a:off x="1657350" y="2771775"/>
              <a:ext cx="503238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2" name="Line 62"/>
            <p:cNvSpPr>
              <a:spLocks noChangeShapeType="1"/>
            </p:cNvSpPr>
            <p:nvPr/>
          </p:nvSpPr>
          <p:spPr bwMode="auto">
            <a:xfrm>
              <a:off x="1657350" y="3419475"/>
              <a:ext cx="503238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3" name="Line 63"/>
            <p:cNvSpPr>
              <a:spLocks noChangeShapeType="1"/>
            </p:cNvSpPr>
            <p:nvPr/>
          </p:nvSpPr>
          <p:spPr bwMode="auto">
            <a:xfrm>
              <a:off x="1657350" y="4067175"/>
              <a:ext cx="503238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4" name="Line 64"/>
            <p:cNvSpPr>
              <a:spLocks noChangeShapeType="1"/>
            </p:cNvSpPr>
            <p:nvPr/>
          </p:nvSpPr>
          <p:spPr bwMode="auto">
            <a:xfrm>
              <a:off x="1657350" y="4714875"/>
              <a:ext cx="503238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5" name="Line 65"/>
            <p:cNvSpPr>
              <a:spLocks noChangeShapeType="1"/>
            </p:cNvSpPr>
            <p:nvPr/>
          </p:nvSpPr>
          <p:spPr bwMode="auto">
            <a:xfrm>
              <a:off x="1657350" y="5364163"/>
              <a:ext cx="503238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6" name="Line 66"/>
            <p:cNvSpPr>
              <a:spLocks noChangeShapeType="1"/>
            </p:cNvSpPr>
            <p:nvPr/>
          </p:nvSpPr>
          <p:spPr bwMode="auto">
            <a:xfrm>
              <a:off x="1657350" y="6011863"/>
              <a:ext cx="503238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7" name="Rectangle 67"/>
            <p:cNvSpPr>
              <a:spLocks noChangeArrowheads="1"/>
            </p:cNvSpPr>
            <p:nvPr/>
          </p:nvSpPr>
          <p:spPr bwMode="auto">
            <a:xfrm>
              <a:off x="90709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8" name="Rectangle 68"/>
            <p:cNvSpPr>
              <a:spLocks noChangeArrowheads="1"/>
            </p:cNvSpPr>
            <p:nvPr/>
          </p:nvSpPr>
          <p:spPr bwMode="auto">
            <a:xfrm>
              <a:off x="90709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9" name="Rectangle 69"/>
            <p:cNvSpPr>
              <a:spLocks noChangeArrowheads="1"/>
            </p:cNvSpPr>
            <p:nvPr/>
          </p:nvSpPr>
          <p:spPr bwMode="auto">
            <a:xfrm>
              <a:off x="90709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0" name="Rectangle 70"/>
            <p:cNvSpPr>
              <a:spLocks noChangeArrowheads="1"/>
            </p:cNvSpPr>
            <p:nvPr/>
          </p:nvSpPr>
          <p:spPr bwMode="auto">
            <a:xfrm>
              <a:off x="90709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1" name="Rectangle 71"/>
            <p:cNvSpPr>
              <a:spLocks noChangeArrowheads="1"/>
            </p:cNvSpPr>
            <p:nvPr/>
          </p:nvSpPr>
          <p:spPr bwMode="auto">
            <a:xfrm>
              <a:off x="90709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2" name="Rectangle 72"/>
            <p:cNvSpPr>
              <a:spLocks noChangeArrowheads="1"/>
            </p:cNvSpPr>
            <p:nvPr/>
          </p:nvSpPr>
          <p:spPr bwMode="auto">
            <a:xfrm>
              <a:off x="90709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90709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4" name="Rectangle 74"/>
            <p:cNvSpPr>
              <a:spLocks noChangeArrowheads="1"/>
            </p:cNvSpPr>
            <p:nvPr/>
          </p:nvSpPr>
          <p:spPr bwMode="auto">
            <a:xfrm>
              <a:off x="90709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5" name="Line 75"/>
            <p:cNvSpPr>
              <a:spLocks noChangeShapeType="1"/>
            </p:cNvSpPr>
            <p:nvPr/>
          </p:nvSpPr>
          <p:spPr bwMode="auto">
            <a:xfrm>
              <a:off x="88550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6" name="Line 76"/>
            <p:cNvSpPr>
              <a:spLocks noChangeShapeType="1"/>
            </p:cNvSpPr>
            <p:nvPr/>
          </p:nvSpPr>
          <p:spPr bwMode="auto">
            <a:xfrm>
              <a:off x="88550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7" name="Line 77"/>
            <p:cNvSpPr>
              <a:spLocks noChangeShapeType="1"/>
            </p:cNvSpPr>
            <p:nvPr/>
          </p:nvSpPr>
          <p:spPr bwMode="auto">
            <a:xfrm>
              <a:off x="88550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8" name="Line 78"/>
            <p:cNvSpPr>
              <a:spLocks noChangeShapeType="1"/>
            </p:cNvSpPr>
            <p:nvPr/>
          </p:nvSpPr>
          <p:spPr bwMode="auto">
            <a:xfrm>
              <a:off x="88550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9" name="Line 79"/>
            <p:cNvSpPr>
              <a:spLocks noChangeShapeType="1"/>
            </p:cNvSpPr>
            <p:nvPr/>
          </p:nvSpPr>
          <p:spPr bwMode="auto">
            <a:xfrm>
              <a:off x="88550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0" name="Line 80"/>
            <p:cNvSpPr>
              <a:spLocks noChangeShapeType="1"/>
            </p:cNvSpPr>
            <p:nvPr/>
          </p:nvSpPr>
          <p:spPr bwMode="auto">
            <a:xfrm>
              <a:off x="88550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>
              <a:off x="88550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2" name="Line 82"/>
            <p:cNvSpPr>
              <a:spLocks noChangeShapeType="1"/>
            </p:cNvSpPr>
            <p:nvPr/>
          </p:nvSpPr>
          <p:spPr bwMode="auto">
            <a:xfrm>
              <a:off x="88550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3" name="Line 83"/>
            <p:cNvSpPr>
              <a:spLocks noChangeShapeType="1"/>
            </p:cNvSpPr>
            <p:nvPr/>
          </p:nvSpPr>
          <p:spPr bwMode="auto">
            <a:xfrm>
              <a:off x="88550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4" name="Line 84"/>
            <p:cNvSpPr>
              <a:spLocks noChangeShapeType="1"/>
            </p:cNvSpPr>
            <p:nvPr/>
          </p:nvSpPr>
          <p:spPr bwMode="auto">
            <a:xfrm>
              <a:off x="88550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5" name="Line 85"/>
            <p:cNvSpPr>
              <a:spLocks noChangeShapeType="1"/>
            </p:cNvSpPr>
            <p:nvPr/>
          </p:nvSpPr>
          <p:spPr bwMode="auto">
            <a:xfrm>
              <a:off x="88550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6" name="Line 86"/>
            <p:cNvSpPr>
              <a:spLocks noChangeShapeType="1"/>
            </p:cNvSpPr>
            <p:nvPr/>
          </p:nvSpPr>
          <p:spPr bwMode="auto">
            <a:xfrm>
              <a:off x="88550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7" name="Line 87"/>
            <p:cNvSpPr>
              <a:spLocks noChangeShapeType="1"/>
            </p:cNvSpPr>
            <p:nvPr/>
          </p:nvSpPr>
          <p:spPr bwMode="auto">
            <a:xfrm>
              <a:off x="88550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8" name="Line 88"/>
            <p:cNvSpPr>
              <a:spLocks noChangeShapeType="1"/>
            </p:cNvSpPr>
            <p:nvPr/>
          </p:nvSpPr>
          <p:spPr bwMode="auto">
            <a:xfrm>
              <a:off x="88550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9" name="Line 89"/>
            <p:cNvSpPr>
              <a:spLocks noChangeShapeType="1"/>
            </p:cNvSpPr>
            <p:nvPr/>
          </p:nvSpPr>
          <p:spPr bwMode="auto">
            <a:xfrm>
              <a:off x="88550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0" name="Line 90"/>
            <p:cNvSpPr>
              <a:spLocks noChangeShapeType="1"/>
            </p:cNvSpPr>
            <p:nvPr/>
          </p:nvSpPr>
          <p:spPr bwMode="auto">
            <a:xfrm>
              <a:off x="88550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1" name="Line 91"/>
            <p:cNvSpPr>
              <a:spLocks noChangeShapeType="1"/>
            </p:cNvSpPr>
            <p:nvPr/>
          </p:nvSpPr>
          <p:spPr bwMode="auto">
            <a:xfrm>
              <a:off x="94313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2" name="Line 92"/>
            <p:cNvSpPr>
              <a:spLocks noChangeShapeType="1"/>
            </p:cNvSpPr>
            <p:nvPr/>
          </p:nvSpPr>
          <p:spPr bwMode="auto">
            <a:xfrm>
              <a:off x="94313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3" name="Line 93"/>
            <p:cNvSpPr>
              <a:spLocks noChangeShapeType="1"/>
            </p:cNvSpPr>
            <p:nvPr/>
          </p:nvSpPr>
          <p:spPr bwMode="auto">
            <a:xfrm>
              <a:off x="94313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4" name="Line 94"/>
            <p:cNvSpPr>
              <a:spLocks noChangeShapeType="1"/>
            </p:cNvSpPr>
            <p:nvPr/>
          </p:nvSpPr>
          <p:spPr bwMode="auto">
            <a:xfrm>
              <a:off x="94313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5" name="Line 95"/>
            <p:cNvSpPr>
              <a:spLocks noChangeShapeType="1"/>
            </p:cNvSpPr>
            <p:nvPr/>
          </p:nvSpPr>
          <p:spPr bwMode="auto">
            <a:xfrm>
              <a:off x="94313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6" name="Line 96"/>
            <p:cNvSpPr>
              <a:spLocks noChangeShapeType="1"/>
            </p:cNvSpPr>
            <p:nvPr/>
          </p:nvSpPr>
          <p:spPr bwMode="auto">
            <a:xfrm>
              <a:off x="94313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7" name="Line 97"/>
            <p:cNvSpPr>
              <a:spLocks noChangeShapeType="1"/>
            </p:cNvSpPr>
            <p:nvPr/>
          </p:nvSpPr>
          <p:spPr bwMode="auto">
            <a:xfrm>
              <a:off x="94313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8" name="Line 98"/>
            <p:cNvSpPr>
              <a:spLocks noChangeShapeType="1"/>
            </p:cNvSpPr>
            <p:nvPr/>
          </p:nvSpPr>
          <p:spPr bwMode="auto">
            <a:xfrm>
              <a:off x="94313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9" name="Line 99"/>
            <p:cNvSpPr>
              <a:spLocks noChangeShapeType="1"/>
            </p:cNvSpPr>
            <p:nvPr/>
          </p:nvSpPr>
          <p:spPr bwMode="auto">
            <a:xfrm>
              <a:off x="94313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0" name="Line 100"/>
            <p:cNvSpPr>
              <a:spLocks noChangeShapeType="1"/>
            </p:cNvSpPr>
            <p:nvPr/>
          </p:nvSpPr>
          <p:spPr bwMode="auto">
            <a:xfrm>
              <a:off x="94313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1" name="Line 101"/>
            <p:cNvSpPr>
              <a:spLocks noChangeShapeType="1"/>
            </p:cNvSpPr>
            <p:nvPr/>
          </p:nvSpPr>
          <p:spPr bwMode="auto">
            <a:xfrm>
              <a:off x="94313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2" name="Line 102"/>
            <p:cNvSpPr>
              <a:spLocks noChangeShapeType="1"/>
            </p:cNvSpPr>
            <p:nvPr/>
          </p:nvSpPr>
          <p:spPr bwMode="auto">
            <a:xfrm>
              <a:off x="94313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3" name="Line 103"/>
            <p:cNvSpPr>
              <a:spLocks noChangeShapeType="1"/>
            </p:cNvSpPr>
            <p:nvPr/>
          </p:nvSpPr>
          <p:spPr bwMode="auto">
            <a:xfrm>
              <a:off x="94313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4" name="Line 104"/>
            <p:cNvSpPr>
              <a:spLocks noChangeShapeType="1"/>
            </p:cNvSpPr>
            <p:nvPr/>
          </p:nvSpPr>
          <p:spPr bwMode="auto">
            <a:xfrm>
              <a:off x="94313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5" name="Line 105"/>
            <p:cNvSpPr>
              <a:spLocks noChangeShapeType="1"/>
            </p:cNvSpPr>
            <p:nvPr/>
          </p:nvSpPr>
          <p:spPr bwMode="auto">
            <a:xfrm>
              <a:off x="94313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6" name="Line 106"/>
            <p:cNvSpPr>
              <a:spLocks noChangeShapeType="1"/>
            </p:cNvSpPr>
            <p:nvPr/>
          </p:nvSpPr>
          <p:spPr bwMode="auto">
            <a:xfrm>
              <a:off x="94313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7" name="Line 107"/>
            <p:cNvSpPr>
              <a:spLocks noChangeShapeType="1"/>
            </p:cNvSpPr>
            <p:nvPr/>
          </p:nvSpPr>
          <p:spPr bwMode="auto">
            <a:xfrm flipV="1">
              <a:off x="8351838" y="1835150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8" name="Line 108"/>
            <p:cNvSpPr>
              <a:spLocks noChangeShapeType="1"/>
            </p:cNvSpPr>
            <p:nvPr/>
          </p:nvSpPr>
          <p:spPr bwMode="auto">
            <a:xfrm flipV="1">
              <a:off x="8351838" y="6659563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9" name="Line 109"/>
            <p:cNvSpPr>
              <a:spLocks noChangeShapeType="1"/>
            </p:cNvSpPr>
            <p:nvPr/>
          </p:nvSpPr>
          <p:spPr bwMode="auto">
            <a:xfrm flipV="1">
              <a:off x="8351838" y="2122488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0" name="Line 110"/>
            <p:cNvSpPr>
              <a:spLocks noChangeShapeType="1"/>
            </p:cNvSpPr>
            <p:nvPr/>
          </p:nvSpPr>
          <p:spPr bwMode="auto">
            <a:xfrm>
              <a:off x="8351838" y="2122488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1" name="Line 111"/>
            <p:cNvSpPr>
              <a:spLocks noChangeShapeType="1"/>
            </p:cNvSpPr>
            <p:nvPr/>
          </p:nvSpPr>
          <p:spPr bwMode="auto">
            <a:xfrm>
              <a:off x="8351838" y="2482850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2" name="Line 112"/>
            <p:cNvSpPr>
              <a:spLocks noChangeShapeType="1"/>
            </p:cNvSpPr>
            <p:nvPr/>
          </p:nvSpPr>
          <p:spPr bwMode="auto">
            <a:xfrm>
              <a:off x="8351838" y="27717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3" name="Line 113"/>
            <p:cNvSpPr>
              <a:spLocks noChangeShapeType="1"/>
            </p:cNvSpPr>
            <p:nvPr/>
          </p:nvSpPr>
          <p:spPr bwMode="auto">
            <a:xfrm>
              <a:off x="8351838" y="3130550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4" name="Line 114"/>
            <p:cNvSpPr>
              <a:spLocks noChangeShapeType="1"/>
            </p:cNvSpPr>
            <p:nvPr/>
          </p:nvSpPr>
          <p:spPr bwMode="auto">
            <a:xfrm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5" name="Line 115"/>
            <p:cNvSpPr>
              <a:spLocks noChangeShapeType="1"/>
            </p:cNvSpPr>
            <p:nvPr/>
          </p:nvSpPr>
          <p:spPr bwMode="auto">
            <a:xfrm>
              <a:off x="8351838" y="3779838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6" name="Line 116"/>
            <p:cNvSpPr>
              <a:spLocks noChangeShapeType="1"/>
            </p:cNvSpPr>
            <p:nvPr/>
          </p:nvSpPr>
          <p:spPr bwMode="auto">
            <a:xfrm>
              <a:off x="8351838" y="4067175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7" name="Line 117"/>
            <p:cNvSpPr>
              <a:spLocks noChangeShapeType="1"/>
            </p:cNvSpPr>
            <p:nvPr/>
          </p:nvSpPr>
          <p:spPr bwMode="auto">
            <a:xfrm flipV="1">
              <a:off x="8351838" y="2771775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8" name="Line 118"/>
            <p:cNvSpPr>
              <a:spLocks noChangeShapeType="1"/>
            </p:cNvSpPr>
            <p:nvPr/>
          </p:nvSpPr>
          <p:spPr bwMode="auto">
            <a:xfrm flipV="1"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9" name="Line 119"/>
            <p:cNvSpPr>
              <a:spLocks noChangeShapeType="1"/>
            </p:cNvSpPr>
            <p:nvPr/>
          </p:nvSpPr>
          <p:spPr bwMode="auto">
            <a:xfrm flipV="1">
              <a:off x="8351838" y="4067175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0" name="Line 120"/>
            <p:cNvSpPr>
              <a:spLocks noChangeShapeType="1"/>
            </p:cNvSpPr>
            <p:nvPr/>
          </p:nvSpPr>
          <p:spPr bwMode="auto">
            <a:xfrm flipV="1">
              <a:off x="8351838" y="47148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1" name="Line 121"/>
            <p:cNvSpPr>
              <a:spLocks noChangeShapeType="1"/>
            </p:cNvSpPr>
            <p:nvPr/>
          </p:nvSpPr>
          <p:spPr bwMode="auto">
            <a:xfrm flipV="1">
              <a:off x="8351838" y="5364163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2" name="Line 122"/>
            <p:cNvSpPr>
              <a:spLocks noChangeShapeType="1"/>
            </p:cNvSpPr>
            <p:nvPr/>
          </p:nvSpPr>
          <p:spPr bwMode="auto">
            <a:xfrm flipV="1">
              <a:off x="8351838" y="6011863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3" name="Rectangle 123"/>
            <p:cNvSpPr>
              <a:spLocks noChangeArrowheads="1"/>
            </p:cNvSpPr>
            <p:nvPr/>
          </p:nvSpPr>
          <p:spPr bwMode="auto">
            <a:xfrm>
              <a:off x="23764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4" name="Rectangle 124"/>
            <p:cNvSpPr>
              <a:spLocks noChangeArrowheads="1"/>
            </p:cNvSpPr>
            <p:nvPr/>
          </p:nvSpPr>
          <p:spPr bwMode="auto">
            <a:xfrm>
              <a:off x="23764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5" name="Rectangle 125"/>
            <p:cNvSpPr>
              <a:spLocks noChangeArrowheads="1"/>
            </p:cNvSpPr>
            <p:nvPr/>
          </p:nvSpPr>
          <p:spPr bwMode="auto">
            <a:xfrm>
              <a:off x="23764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6" name="Rectangle 126"/>
            <p:cNvSpPr>
              <a:spLocks noChangeArrowheads="1"/>
            </p:cNvSpPr>
            <p:nvPr/>
          </p:nvSpPr>
          <p:spPr bwMode="auto">
            <a:xfrm>
              <a:off x="23764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7" name="Rectangle 127"/>
            <p:cNvSpPr>
              <a:spLocks noChangeArrowheads="1"/>
            </p:cNvSpPr>
            <p:nvPr/>
          </p:nvSpPr>
          <p:spPr bwMode="auto">
            <a:xfrm>
              <a:off x="23764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8" name="Rectangle 128"/>
            <p:cNvSpPr>
              <a:spLocks noChangeArrowheads="1"/>
            </p:cNvSpPr>
            <p:nvPr/>
          </p:nvSpPr>
          <p:spPr bwMode="auto">
            <a:xfrm>
              <a:off x="23764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9" name="Rectangle 129"/>
            <p:cNvSpPr>
              <a:spLocks noChangeArrowheads="1"/>
            </p:cNvSpPr>
            <p:nvPr/>
          </p:nvSpPr>
          <p:spPr bwMode="auto">
            <a:xfrm>
              <a:off x="23764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0" name="Rectangle 130"/>
            <p:cNvSpPr>
              <a:spLocks noChangeArrowheads="1"/>
            </p:cNvSpPr>
            <p:nvPr/>
          </p:nvSpPr>
          <p:spPr bwMode="auto">
            <a:xfrm>
              <a:off x="23764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1" name="Line 131"/>
            <p:cNvSpPr>
              <a:spLocks noChangeShapeType="1"/>
            </p:cNvSpPr>
            <p:nvPr/>
          </p:nvSpPr>
          <p:spPr bwMode="auto">
            <a:xfrm>
              <a:off x="21605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2" name="Line 132"/>
            <p:cNvSpPr>
              <a:spLocks noChangeShapeType="1"/>
            </p:cNvSpPr>
            <p:nvPr/>
          </p:nvSpPr>
          <p:spPr bwMode="auto">
            <a:xfrm>
              <a:off x="21605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3" name="Line 133"/>
            <p:cNvSpPr>
              <a:spLocks noChangeShapeType="1"/>
            </p:cNvSpPr>
            <p:nvPr/>
          </p:nvSpPr>
          <p:spPr bwMode="auto">
            <a:xfrm>
              <a:off x="21605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4" name="Line 134"/>
            <p:cNvSpPr>
              <a:spLocks noChangeShapeType="1"/>
            </p:cNvSpPr>
            <p:nvPr/>
          </p:nvSpPr>
          <p:spPr bwMode="auto">
            <a:xfrm>
              <a:off x="21605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" name="Line 135"/>
            <p:cNvSpPr>
              <a:spLocks noChangeShapeType="1"/>
            </p:cNvSpPr>
            <p:nvPr/>
          </p:nvSpPr>
          <p:spPr bwMode="auto">
            <a:xfrm>
              <a:off x="21605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6" name="Line 136"/>
            <p:cNvSpPr>
              <a:spLocks noChangeShapeType="1"/>
            </p:cNvSpPr>
            <p:nvPr/>
          </p:nvSpPr>
          <p:spPr bwMode="auto">
            <a:xfrm>
              <a:off x="21605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7" name="Line 137"/>
            <p:cNvSpPr>
              <a:spLocks noChangeShapeType="1"/>
            </p:cNvSpPr>
            <p:nvPr/>
          </p:nvSpPr>
          <p:spPr bwMode="auto">
            <a:xfrm>
              <a:off x="21605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8" name="Line 138"/>
            <p:cNvSpPr>
              <a:spLocks noChangeShapeType="1"/>
            </p:cNvSpPr>
            <p:nvPr/>
          </p:nvSpPr>
          <p:spPr bwMode="auto">
            <a:xfrm>
              <a:off x="21605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9" name="Line 139"/>
            <p:cNvSpPr>
              <a:spLocks noChangeShapeType="1"/>
            </p:cNvSpPr>
            <p:nvPr/>
          </p:nvSpPr>
          <p:spPr bwMode="auto">
            <a:xfrm>
              <a:off x="21605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0" name="Line 140"/>
            <p:cNvSpPr>
              <a:spLocks noChangeShapeType="1"/>
            </p:cNvSpPr>
            <p:nvPr/>
          </p:nvSpPr>
          <p:spPr bwMode="auto">
            <a:xfrm>
              <a:off x="21605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1" name="Line 141"/>
            <p:cNvSpPr>
              <a:spLocks noChangeShapeType="1"/>
            </p:cNvSpPr>
            <p:nvPr/>
          </p:nvSpPr>
          <p:spPr bwMode="auto">
            <a:xfrm>
              <a:off x="21605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2" name="Line 142"/>
            <p:cNvSpPr>
              <a:spLocks noChangeShapeType="1"/>
            </p:cNvSpPr>
            <p:nvPr/>
          </p:nvSpPr>
          <p:spPr bwMode="auto">
            <a:xfrm>
              <a:off x="21605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3" name="Line 143"/>
            <p:cNvSpPr>
              <a:spLocks noChangeShapeType="1"/>
            </p:cNvSpPr>
            <p:nvPr/>
          </p:nvSpPr>
          <p:spPr bwMode="auto">
            <a:xfrm>
              <a:off x="21605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4" name="Line 144"/>
            <p:cNvSpPr>
              <a:spLocks noChangeShapeType="1"/>
            </p:cNvSpPr>
            <p:nvPr/>
          </p:nvSpPr>
          <p:spPr bwMode="auto">
            <a:xfrm>
              <a:off x="21605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5" name="Line 145"/>
            <p:cNvSpPr>
              <a:spLocks noChangeShapeType="1"/>
            </p:cNvSpPr>
            <p:nvPr/>
          </p:nvSpPr>
          <p:spPr bwMode="auto">
            <a:xfrm>
              <a:off x="21605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6" name="Line 146"/>
            <p:cNvSpPr>
              <a:spLocks noChangeShapeType="1"/>
            </p:cNvSpPr>
            <p:nvPr/>
          </p:nvSpPr>
          <p:spPr bwMode="auto">
            <a:xfrm>
              <a:off x="21605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7" name="Line 147"/>
            <p:cNvSpPr>
              <a:spLocks noChangeShapeType="1"/>
            </p:cNvSpPr>
            <p:nvPr/>
          </p:nvSpPr>
          <p:spPr bwMode="auto">
            <a:xfrm>
              <a:off x="27368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8" name="Line 148"/>
            <p:cNvSpPr>
              <a:spLocks noChangeShapeType="1"/>
            </p:cNvSpPr>
            <p:nvPr/>
          </p:nvSpPr>
          <p:spPr bwMode="auto">
            <a:xfrm>
              <a:off x="27368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9" name="Line 149"/>
            <p:cNvSpPr>
              <a:spLocks noChangeShapeType="1"/>
            </p:cNvSpPr>
            <p:nvPr/>
          </p:nvSpPr>
          <p:spPr bwMode="auto">
            <a:xfrm>
              <a:off x="27368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0" name="Line 150"/>
            <p:cNvSpPr>
              <a:spLocks noChangeShapeType="1"/>
            </p:cNvSpPr>
            <p:nvPr/>
          </p:nvSpPr>
          <p:spPr bwMode="auto">
            <a:xfrm>
              <a:off x="27368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1" name="Line 151"/>
            <p:cNvSpPr>
              <a:spLocks noChangeShapeType="1"/>
            </p:cNvSpPr>
            <p:nvPr/>
          </p:nvSpPr>
          <p:spPr bwMode="auto">
            <a:xfrm>
              <a:off x="27368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2" name="Line 152"/>
            <p:cNvSpPr>
              <a:spLocks noChangeShapeType="1"/>
            </p:cNvSpPr>
            <p:nvPr/>
          </p:nvSpPr>
          <p:spPr bwMode="auto">
            <a:xfrm>
              <a:off x="27368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3" name="Line 153"/>
            <p:cNvSpPr>
              <a:spLocks noChangeShapeType="1"/>
            </p:cNvSpPr>
            <p:nvPr/>
          </p:nvSpPr>
          <p:spPr bwMode="auto">
            <a:xfrm>
              <a:off x="27368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4" name="Line 154"/>
            <p:cNvSpPr>
              <a:spLocks noChangeShapeType="1"/>
            </p:cNvSpPr>
            <p:nvPr/>
          </p:nvSpPr>
          <p:spPr bwMode="auto">
            <a:xfrm>
              <a:off x="27368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5" name="Line 155"/>
            <p:cNvSpPr>
              <a:spLocks noChangeShapeType="1"/>
            </p:cNvSpPr>
            <p:nvPr/>
          </p:nvSpPr>
          <p:spPr bwMode="auto">
            <a:xfrm>
              <a:off x="27368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6" name="Line 156"/>
            <p:cNvSpPr>
              <a:spLocks noChangeShapeType="1"/>
            </p:cNvSpPr>
            <p:nvPr/>
          </p:nvSpPr>
          <p:spPr bwMode="auto">
            <a:xfrm>
              <a:off x="27368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7" name="Line 157"/>
            <p:cNvSpPr>
              <a:spLocks noChangeShapeType="1"/>
            </p:cNvSpPr>
            <p:nvPr/>
          </p:nvSpPr>
          <p:spPr bwMode="auto">
            <a:xfrm>
              <a:off x="27368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8" name="Line 158"/>
            <p:cNvSpPr>
              <a:spLocks noChangeShapeType="1"/>
            </p:cNvSpPr>
            <p:nvPr/>
          </p:nvSpPr>
          <p:spPr bwMode="auto">
            <a:xfrm>
              <a:off x="27368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9" name="Line 159"/>
            <p:cNvSpPr>
              <a:spLocks noChangeShapeType="1"/>
            </p:cNvSpPr>
            <p:nvPr/>
          </p:nvSpPr>
          <p:spPr bwMode="auto">
            <a:xfrm>
              <a:off x="27368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0" name="Line 160"/>
            <p:cNvSpPr>
              <a:spLocks noChangeShapeType="1"/>
            </p:cNvSpPr>
            <p:nvPr/>
          </p:nvSpPr>
          <p:spPr bwMode="auto">
            <a:xfrm>
              <a:off x="27368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1" name="Line 161"/>
            <p:cNvSpPr>
              <a:spLocks noChangeShapeType="1"/>
            </p:cNvSpPr>
            <p:nvPr/>
          </p:nvSpPr>
          <p:spPr bwMode="auto">
            <a:xfrm>
              <a:off x="27368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2" name="Line 162"/>
            <p:cNvSpPr>
              <a:spLocks noChangeShapeType="1"/>
            </p:cNvSpPr>
            <p:nvPr/>
          </p:nvSpPr>
          <p:spPr bwMode="auto">
            <a:xfrm>
              <a:off x="27368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3" name="Rectangle 163"/>
            <p:cNvSpPr>
              <a:spLocks noChangeArrowheads="1"/>
            </p:cNvSpPr>
            <p:nvPr/>
          </p:nvSpPr>
          <p:spPr bwMode="auto">
            <a:xfrm>
              <a:off x="77755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4" name="Rectangle 164"/>
            <p:cNvSpPr>
              <a:spLocks noChangeArrowheads="1"/>
            </p:cNvSpPr>
            <p:nvPr/>
          </p:nvSpPr>
          <p:spPr bwMode="auto">
            <a:xfrm>
              <a:off x="77755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5" name="Rectangle 165"/>
            <p:cNvSpPr>
              <a:spLocks noChangeArrowheads="1"/>
            </p:cNvSpPr>
            <p:nvPr/>
          </p:nvSpPr>
          <p:spPr bwMode="auto">
            <a:xfrm>
              <a:off x="77755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6" name="Rectangle 166"/>
            <p:cNvSpPr>
              <a:spLocks noChangeArrowheads="1"/>
            </p:cNvSpPr>
            <p:nvPr/>
          </p:nvSpPr>
          <p:spPr bwMode="auto">
            <a:xfrm>
              <a:off x="77755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7" name="Rectangle 167"/>
            <p:cNvSpPr>
              <a:spLocks noChangeArrowheads="1"/>
            </p:cNvSpPr>
            <p:nvPr/>
          </p:nvSpPr>
          <p:spPr bwMode="auto">
            <a:xfrm>
              <a:off x="77755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8" name="Rectangle 168"/>
            <p:cNvSpPr>
              <a:spLocks noChangeArrowheads="1"/>
            </p:cNvSpPr>
            <p:nvPr/>
          </p:nvSpPr>
          <p:spPr bwMode="auto">
            <a:xfrm>
              <a:off x="77755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9" name="Rectangle 169"/>
            <p:cNvSpPr>
              <a:spLocks noChangeArrowheads="1"/>
            </p:cNvSpPr>
            <p:nvPr/>
          </p:nvSpPr>
          <p:spPr bwMode="auto">
            <a:xfrm>
              <a:off x="77755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70" name="Rectangle 170"/>
            <p:cNvSpPr>
              <a:spLocks noChangeArrowheads="1"/>
            </p:cNvSpPr>
            <p:nvPr/>
          </p:nvSpPr>
          <p:spPr bwMode="auto">
            <a:xfrm>
              <a:off x="77755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71" name="Line 171"/>
            <p:cNvSpPr>
              <a:spLocks noChangeShapeType="1"/>
            </p:cNvSpPr>
            <p:nvPr/>
          </p:nvSpPr>
          <p:spPr bwMode="auto">
            <a:xfrm>
              <a:off x="75596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2" name="Line 172"/>
            <p:cNvSpPr>
              <a:spLocks noChangeShapeType="1"/>
            </p:cNvSpPr>
            <p:nvPr/>
          </p:nvSpPr>
          <p:spPr bwMode="auto">
            <a:xfrm>
              <a:off x="75596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3" name="Line 173"/>
            <p:cNvSpPr>
              <a:spLocks noChangeShapeType="1"/>
            </p:cNvSpPr>
            <p:nvPr/>
          </p:nvSpPr>
          <p:spPr bwMode="auto">
            <a:xfrm>
              <a:off x="75596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4" name="Line 174"/>
            <p:cNvSpPr>
              <a:spLocks noChangeShapeType="1"/>
            </p:cNvSpPr>
            <p:nvPr/>
          </p:nvSpPr>
          <p:spPr bwMode="auto">
            <a:xfrm>
              <a:off x="75596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5" name="Line 175"/>
            <p:cNvSpPr>
              <a:spLocks noChangeShapeType="1"/>
            </p:cNvSpPr>
            <p:nvPr/>
          </p:nvSpPr>
          <p:spPr bwMode="auto">
            <a:xfrm>
              <a:off x="75596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6" name="Line 176"/>
            <p:cNvSpPr>
              <a:spLocks noChangeShapeType="1"/>
            </p:cNvSpPr>
            <p:nvPr/>
          </p:nvSpPr>
          <p:spPr bwMode="auto">
            <a:xfrm>
              <a:off x="75596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7" name="Line 177"/>
            <p:cNvSpPr>
              <a:spLocks noChangeShapeType="1"/>
            </p:cNvSpPr>
            <p:nvPr/>
          </p:nvSpPr>
          <p:spPr bwMode="auto">
            <a:xfrm>
              <a:off x="75596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8" name="Line 178"/>
            <p:cNvSpPr>
              <a:spLocks noChangeShapeType="1"/>
            </p:cNvSpPr>
            <p:nvPr/>
          </p:nvSpPr>
          <p:spPr bwMode="auto">
            <a:xfrm>
              <a:off x="75596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9" name="Line 179"/>
            <p:cNvSpPr>
              <a:spLocks noChangeShapeType="1"/>
            </p:cNvSpPr>
            <p:nvPr/>
          </p:nvSpPr>
          <p:spPr bwMode="auto">
            <a:xfrm>
              <a:off x="75596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0" name="Line 180"/>
            <p:cNvSpPr>
              <a:spLocks noChangeShapeType="1"/>
            </p:cNvSpPr>
            <p:nvPr/>
          </p:nvSpPr>
          <p:spPr bwMode="auto">
            <a:xfrm>
              <a:off x="75596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1" name="Line 181"/>
            <p:cNvSpPr>
              <a:spLocks noChangeShapeType="1"/>
            </p:cNvSpPr>
            <p:nvPr/>
          </p:nvSpPr>
          <p:spPr bwMode="auto">
            <a:xfrm>
              <a:off x="75596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2" name="Line 182"/>
            <p:cNvSpPr>
              <a:spLocks noChangeShapeType="1"/>
            </p:cNvSpPr>
            <p:nvPr/>
          </p:nvSpPr>
          <p:spPr bwMode="auto">
            <a:xfrm>
              <a:off x="75596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3" name="Line 183"/>
            <p:cNvSpPr>
              <a:spLocks noChangeShapeType="1"/>
            </p:cNvSpPr>
            <p:nvPr/>
          </p:nvSpPr>
          <p:spPr bwMode="auto">
            <a:xfrm>
              <a:off x="75596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4" name="Line 184"/>
            <p:cNvSpPr>
              <a:spLocks noChangeShapeType="1"/>
            </p:cNvSpPr>
            <p:nvPr/>
          </p:nvSpPr>
          <p:spPr bwMode="auto">
            <a:xfrm>
              <a:off x="75596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5" name="Line 185"/>
            <p:cNvSpPr>
              <a:spLocks noChangeShapeType="1"/>
            </p:cNvSpPr>
            <p:nvPr/>
          </p:nvSpPr>
          <p:spPr bwMode="auto">
            <a:xfrm>
              <a:off x="75596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6" name="Line 186"/>
            <p:cNvSpPr>
              <a:spLocks noChangeShapeType="1"/>
            </p:cNvSpPr>
            <p:nvPr/>
          </p:nvSpPr>
          <p:spPr bwMode="auto">
            <a:xfrm>
              <a:off x="75596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7" name="Line 187"/>
            <p:cNvSpPr>
              <a:spLocks noChangeShapeType="1"/>
            </p:cNvSpPr>
            <p:nvPr/>
          </p:nvSpPr>
          <p:spPr bwMode="auto">
            <a:xfrm>
              <a:off x="81359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8" name="Line 188"/>
            <p:cNvSpPr>
              <a:spLocks noChangeShapeType="1"/>
            </p:cNvSpPr>
            <p:nvPr/>
          </p:nvSpPr>
          <p:spPr bwMode="auto">
            <a:xfrm>
              <a:off x="81359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9" name="Line 189"/>
            <p:cNvSpPr>
              <a:spLocks noChangeShapeType="1"/>
            </p:cNvSpPr>
            <p:nvPr/>
          </p:nvSpPr>
          <p:spPr bwMode="auto">
            <a:xfrm>
              <a:off x="81359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0" name="Line 190"/>
            <p:cNvSpPr>
              <a:spLocks noChangeShapeType="1"/>
            </p:cNvSpPr>
            <p:nvPr/>
          </p:nvSpPr>
          <p:spPr bwMode="auto">
            <a:xfrm>
              <a:off x="81359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1" name="Line 191"/>
            <p:cNvSpPr>
              <a:spLocks noChangeShapeType="1"/>
            </p:cNvSpPr>
            <p:nvPr/>
          </p:nvSpPr>
          <p:spPr bwMode="auto">
            <a:xfrm>
              <a:off x="81359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2" name="Line 192"/>
            <p:cNvSpPr>
              <a:spLocks noChangeShapeType="1"/>
            </p:cNvSpPr>
            <p:nvPr/>
          </p:nvSpPr>
          <p:spPr bwMode="auto">
            <a:xfrm>
              <a:off x="81359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3" name="Line 193"/>
            <p:cNvSpPr>
              <a:spLocks noChangeShapeType="1"/>
            </p:cNvSpPr>
            <p:nvPr/>
          </p:nvSpPr>
          <p:spPr bwMode="auto">
            <a:xfrm>
              <a:off x="81359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4" name="Line 194"/>
            <p:cNvSpPr>
              <a:spLocks noChangeShapeType="1"/>
            </p:cNvSpPr>
            <p:nvPr/>
          </p:nvSpPr>
          <p:spPr bwMode="auto">
            <a:xfrm>
              <a:off x="81359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5" name="Line 195"/>
            <p:cNvSpPr>
              <a:spLocks noChangeShapeType="1"/>
            </p:cNvSpPr>
            <p:nvPr/>
          </p:nvSpPr>
          <p:spPr bwMode="auto">
            <a:xfrm>
              <a:off x="81359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6" name="Line 196"/>
            <p:cNvSpPr>
              <a:spLocks noChangeShapeType="1"/>
            </p:cNvSpPr>
            <p:nvPr/>
          </p:nvSpPr>
          <p:spPr bwMode="auto">
            <a:xfrm>
              <a:off x="81359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7" name="Line 197"/>
            <p:cNvSpPr>
              <a:spLocks noChangeShapeType="1"/>
            </p:cNvSpPr>
            <p:nvPr/>
          </p:nvSpPr>
          <p:spPr bwMode="auto">
            <a:xfrm>
              <a:off x="81359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8" name="Line 198"/>
            <p:cNvSpPr>
              <a:spLocks noChangeShapeType="1"/>
            </p:cNvSpPr>
            <p:nvPr/>
          </p:nvSpPr>
          <p:spPr bwMode="auto">
            <a:xfrm>
              <a:off x="81359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9" name="Line 199"/>
            <p:cNvSpPr>
              <a:spLocks noChangeShapeType="1"/>
            </p:cNvSpPr>
            <p:nvPr/>
          </p:nvSpPr>
          <p:spPr bwMode="auto">
            <a:xfrm>
              <a:off x="81359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0" name="Line 200"/>
            <p:cNvSpPr>
              <a:spLocks noChangeShapeType="1"/>
            </p:cNvSpPr>
            <p:nvPr/>
          </p:nvSpPr>
          <p:spPr bwMode="auto">
            <a:xfrm>
              <a:off x="81359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1" name="Line 201"/>
            <p:cNvSpPr>
              <a:spLocks noChangeShapeType="1"/>
            </p:cNvSpPr>
            <p:nvPr/>
          </p:nvSpPr>
          <p:spPr bwMode="auto">
            <a:xfrm>
              <a:off x="81359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2" name="Line 202"/>
            <p:cNvSpPr>
              <a:spLocks noChangeShapeType="1"/>
            </p:cNvSpPr>
            <p:nvPr/>
          </p:nvSpPr>
          <p:spPr bwMode="auto">
            <a:xfrm>
              <a:off x="81359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3" name="Line 203"/>
            <p:cNvSpPr>
              <a:spLocks noChangeShapeType="1"/>
            </p:cNvSpPr>
            <p:nvPr/>
          </p:nvSpPr>
          <p:spPr bwMode="auto">
            <a:xfrm>
              <a:off x="2951163" y="1835150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4" name="Line 204"/>
            <p:cNvSpPr>
              <a:spLocks noChangeShapeType="1"/>
            </p:cNvSpPr>
            <p:nvPr/>
          </p:nvSpPr>
          <p:spPr bwMode="auto">
            <a:xfrm>
              <a:off x="2941638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5" name="Line 205"/>
            <p:cNvSpPr>
              <a:spLocks noChangeShapeType="1"/>
            </p:cNvSpPr>
            <p:nvPr/>
          </p:nvSpPr>
          <p:spPr bwMode="auto">
            <a:xfrm flipV="1">
              <a:off x="2951163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6" name="Line 206"/>
            <p:cNvSpPr>
              <a:spLocks noChangeShapeType="1"/>
            </p:cNvSpPr>
            <p:nvPr/>
          </p:nvSpPr>
          <p:spPr bwMode="auto">
            <a:xfrm>
              <a:off x="2951163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7" name="Line 207"/>
            <p:cNvSpPr>
              <a:spLocks noChangeShapeType="1"/>
            </p:cNvSpPr>
            <p:nvPr/>
          </p:nvSpPr>
          <p:spPr bwMode="auto">
            <a:xfrm flipV="1">
              <a:off x="2951163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8" name="Line 208"/>
            <p:cNvSpPr>
              <a:spLocks noChangeShapeType="1"/>
            </p:cNvSpPr>
            <p:nvPr/>
          </p:nvSpPr>
          <p:spPr bwMode="auto">
            <a:xfrm>
              <a:off x="2951163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9" name="Line 209"/>
            <p:cNvSpPr>
              <a:spLocks noChangeShapeType="1"/>
            </p:cNvSpPr>
            <p:nvPr/>
          </p:nvSpPr>
          <p:spPr bwMode="auto">
            <a:xfrm flipV="1">
              <a:off x="2951163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0" name="Line 210"/>
            <p:cNvSpPr>
              <a:spLocks noChangeShapeType="1"/>
            </p:cNvSpPr>
            <p:nvPr/>
          </p:nvSpPr>
          <p:spPr bwMode="auto">
            <a:xfrm>
              <a:off x="2951163" y="4067175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1" name="Line 211"/>
            <p:cNvSpPr>
              <a:spLocks noChangeShapeType="1"/>
            </p:cNvSpPr>
            <p:nvPr/>
          </p:nvSpPr>
          <p:spPr bwMode="auto">
            <a:xfrm>
              <a:off x="2960688" y="4427538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2" name="Line 212"/>
            <p:cNvSpPr>
              <a:spLocks noChangeShapeType="1"/>
            </p:cNvSpPr>
            <p:nvPr/>
          </p:nvSpPr>
          <p:spPr bwMode="auto">
            <a:xfrm>
              <a:off x="2951163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3" name="Line 213"/>
            <p:cNvSpPr>
              <a:spLocks noChangeShapeType="1"/>
            </p:cNvSpPr>
            <p:nvPr/>
          </p:nvSpPr>
          <p:spPr bwMode="auto">
            <a:xfrm flipV="1">
              <a:off x="2960688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4" name="Line 214"/>
            <p:cNvSpPr>
              <a:spLocks noChangeShapeType="1"/>
            </p:cNvSpPr>
            <p:nvPr/>
          </p:nvSpPr>
          <p:spPr bwMode="auto">
            <a:xfrm>
              <a:off x="2960688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5" name="Line 215"/>
            <p:cNvSpPr>
              <a:spLocks noChangeShapeType="1"/>
            </p:cNvSpPr>
            <p:nvPr/>
          </p:nvSpPr>
          <p:spPr bwMode="auto">
            <a:xfrm flipV="1">
              <a:off x="2960688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6" name="Line 216"/>
            <p:cNvSpPr>
              <a:spLocks noChangeShapeType="1"/>
            </p:cNvSpPr>
            <p:nvPr/>
          </p:nvSpPr>
          <p:spPr bwMode="auto">
            <a:xfrm>
              <a:off x="2960688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7" name="Line 217"/>
            <p:cNvSpPr>
              <a:spLocks noChangeShapeType="1"/>
            </p:cNvSpPr>
            <p:nvPr/>
          </p:nvSpPr>
          <p:spPr bwMode="auto">
            <a:xfrm flipV="1">
              <a:off x="2960688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8" name="Line 218"/>
            <p:cNvSpPr>
              <a:spLocks noChangeShapeType="1"/>
            </p:cNvSpPr>
            <p:nvPr/>
          </p:nvSpPr>
          <p:spPr bwMode="auto">
            <a:xfrm>
              <a:off x="2960688" y="6659563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9" name="Line 219"/>
            <p:cNvSpPr>
              <a:spLocks noChangeShapeType="1"/>
            </p:cNvSpPr>
            <p:nvPr/>
          </p:nvSpPr>
          <p:spPr bwMode="auto">
            <a:xfrm flipV="1">
              <a:off x="7045325" y="1835150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0" name="Line 220"/>
            <p:cNvSpPr>
              <a:spLocks noChangeShapeType="1"/>
            </p:cNvSpPr>
            <p:nvPr/>
          </p:nvSpPr>
          <p:spPr bwMode="auto">
            <a:xfrm flipV="1">
              <a:off x="7035800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1" name="Line 221"/>
            <p:cNvSpPr>
              <a:spLocks noChangeShapeType="1"/>
            </p:cNvSpPr>
            <p:nvPr/>
          </p:nvSpPr>
          <p:spPr bwMode="auto">
            <a:xfrm>
              <a:off x="7045325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2" name="Line 222"/>
            <p:cNvSpPr>
              <a:spLocks noChangeShapeType="1"/>
            </p:cNvSpPr>
            <p:nvPr/>
          </p:nvSpPr>
          <p:spPr bwMode="auto">
            <a:xfrm flipV="1">
              <a:off x="7045325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3" name="Line 223"/>
            <p:cNvSpPr>
              <a:spLocks noChangeShapeType="1"/>
            </p:cNvSpPr>
            <p:nvPr/>
          </p:nvSpPr>
          <p:spPr bwMode="auto">
            <a:xfrm>
              <a:off x="7045325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4" name="Line 224"/>
            <p:cNvSpPr>
              <a:spLocks noChangeShapeType="1"/>
            </p:cNvSpPr>
            <p:nvPr/>
          </p:nvSpPr>
          <p:spPr bwMode="auto">
            <a:xfrm flipV="1">
              <a:off x="7045325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5" name="Line 225"/>
            <p:cNvSpPr>
              <a:spLocks noChangeShapeType="1"/>
            </p:cNvSpPr>
            <p:nvPr/>
          </p:nvSpPr>
          <p:spPr bwMode="auto">
            <a:xfrm>
              <a:off x="7045325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6" name="Line 226"/>
            <p:cNvSpPr>
              <a:spLocks noChangeShapeType="1"/>
            </p:cNvSpPr>
            <p:nvPr/>
          </p:nvSpPr>
          <p:spPr bwMode="auto">
            <a:xfrm flipV="1">
              <a:off x="7045325" y="4067175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7" name="Line 227"/>
            <p:cNvSpPr>
              <a:spLocks noChangeShapeType="1"/>
            </p:cNvSpPr>
            <p:nvPr/>
          </p:nvSpPr>
          <p:spPr bwMode="auto">
            <a:xfrm flipV="1">
              <a:off x="7054850" y="4427538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8" name="Line 228"/>
            <p:cNvSpPr>
              <a:spLocks noChangeShapeType="1"/>
            </p:cNvSpPr>
            <p:nvPr/>
          </p:nvSpPr>
          <p:spPr bwMode="auto">
            <a:xfrm flipV="1">
              <a:off x="7045325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9" name="Line 229"/>
            <p:cNvSpPr>
              <a:spLocks noChangeShapeType="1"/>
            </p:cNvSpPr>
            <p:nvPr/>
          </p:nvSpPr>
          <p:spPr bwMode="auto">
            <a:xfrm>
              <a:off x="70548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0" name="Line 230"/>
            <p:cNvSpPr>
              <a:spLocks noChangeShapeType="1"/>
            </p:cNvSpPr>
            <p:nvPr/>
          </p:nvSpPr>
          <p:spPr bwMode="auto">
            <a:xfrm flipV="1">
              <a:off x="7054850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1" name="Line 231"/>
            <p:cNvSpPr>
              <a:spLocks noChangeShapeType="1"/>
            </p:cNvSpPr>
            <p:nvPr/>
          </p:nvSpPr>
          <p:spPr bwMode="auto">
            <a:xfrm>
              <a:off x="7054850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2" name="Line 232"/>
            <p:cNvSpPr>
              <a:spLocks noChangeShapeType="1"/>
            </p:cNvSpPr>
            <p:nvPr/>
          </p:nvSpPr>
          <p:spPr bwMode="auto">
            <a:xfrm flipV="1">
              <a:off x="70548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3" name="Line 233"/>
            <p:cNvSpPr>
              <a:spLocks noChangeShapeType="1"/>
            </p:cNvSpPr>
            <p:nvPr/>
          </p:nvSpPr>
          <p:spPr bwMode="auto">
            <a:xfrm>
              <a:off x="7054850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4" name="Line 234"/>
            <p:cNvSpPr>
              <a:spLocks noChangeShapeType="1"/>
            </p:cNvSpPr>
            <p:nvPr/>
          </p:nvSpPr>
          <p:spPr bwMode="auto">
            <a:xfrm flipV="1">
              <a:off x="7054850" y="6659563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5" name="Line 235"/>
            <p:cNvSpPr>
              <a:spLocks noChangeShapeType="1"/>
            </p:cNvSpPr>
            <p:nvPr/>
          </p:nvSpPr>
          <p:spPr bwMode="auto">
            <a:xfrm>
              <a:off x="34559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6" name="Line 236"/>
            <p:cNvSpPr>
              <a:spLocks noChangeShapeType="1"/>
            </p:cNvSpPr>
            <p:nvPr/>
          </p:nvSpPr>
          <p:spPr bwMode="auto">
            <a:xfrm>
              <a:off x="34559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7" name="Line 237"/>
            <p:cNvSpPr>
              <a:spLocks noChangeShapeType="1"/>
            </p:cNvSpPr>
            <p:nvPr/>
          </p:nvSpPr>
          <p:spPr bwMode="auto">
            <a:xfrm>
              <a:off x="68389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8" name="Line 238"/>
            <p:cNvSpPr>
              <a:spLocks noChangeShapeType="1"/>
            </p:cNvSpPr>
            <p:nvPr/>
          </p:nvSpPr>
          <p:spPr bwMode="auto">
            <a:xfrm>
              <a:off x="68389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9" name="Line 239"/>
            <p:cNvSpPr>
              <a:spLocks noChangeShapeType="1"/>
            </p:cNvSpPr>
            <p:nvPr/>
          </p:nvSpPr>
          <p:spPr bwMode="auto">
            <a:xfrm>
              <a:off x="6838950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0" name="Line 240"/>
            <p:cNvSpPr>
              <a:spLocks noChangeShapeType="1"/>
            </p:cNvSpPr>
            <p:nvPr/>
          </p:nvSpPr>
          <p:spPr bwMode="auto">
            <a:xfrm>
              <a:off x="68389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1" name="Line 241"/>
            <p:cNvSpPr>
              <a:spLocks noChangeShapeType="1"/>
            </p:cNvSpPr>
            <p:nvPr/>
          </p:nvSpPr>
          <p:spPr bwMode="auto">
            <a:xfrm>
              <a:off x="682942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2" name="Line 242"/>
            <p:cNvSpPr>
              <a:spLocks noChangeShapeType="1"/>
            </p:cNvSpPr>
            <p:nvPr/>
          </p:nvSpPr>
          <p:spPr bwMode="auto">
            <a:xfrm>
              <a:off x="6829425" y="34178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3" name="Line 243"/>
            <p:cNvSpPr>
              <a:spLocks noChangeShapeType="1"/>
            </p:cNvSpPr>
            <p:nvPr/>
          </p:nvSpPr>
          <p:spPr bwMode="auto">
            <a:xfrm>
              <a:off x="682942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4" name="Line 244"/>
            <p:cNvSpPr>
              <a:spLocks noChangeShapeType="1"/>
            </p:cNvSpPr>
            <p:nvPr/>
          </p:nvSpPr>
          <p:spPr bwMode="auto">
            <a:xfrm>
              <a:off x="68389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5" name="Line 245"/>
            <p:cNvSpPr>
              <a:spLocks noChangeShapeType="1"/>
            </p:cNvSpPr>
            <p:nvPr/>
          </p:nvSpPr>
          <p:spPr bwMode="auto">
            <a:xfrm>
              <a:off x="3455988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6" name="Line 246"/>
            <p:cNvSpPr>
              <a:spLocks noChangeShapeType="1"/>
            </p:cNvSpPr>
            <p:nvPr/>
          </p:nvSpPr>
          <p:spPr bwMode="auto">
            <a:xfrm>
              <a:off x="34559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7" name="Line 247"/>
            <p:cNvSpPr>
              <a:spLocks noChangeShapeType="1"/>
            </p:cNvSpPr>
            <p:nvPr/>
          </p:nvSpPr>
          <p:spPr bwMode="auto">
            <a:xfrm>
              <a:off x="3455988" y="31321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8" name="Line 248"/>
            <p:cNvSpPr>
              <a:spLocks noChangeShapeType="1"/>
            </p:cNvSpPr>
            <p:nvPr/>
          </p:nvSpPr>
          <p:spPr bwMode="auto">
            <a:xfrm>
              <a:off x="34559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9" name="Line 249"/>
            <p:cNvSpPr>
              <a:spLocks noChangeShapeType="1"/>
            </p:cNvSpPr>
            <p:nvPr/>
          </p:nvSpPr>
          <p:spPr bwMode="auto">
            <a:xfrm>
              <a:off x="34559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0" name="Line 250"/>
            <p:cNvSpPr>
              <a:spLocks noChangeShapeType="1"/>
            </p:cNvSpPr>
            <p:nvPr/>
          </p:nvSpPr>
          <p:spPr bwMode="auto">
            <a:xfrm>
              <a:off x="34559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1" name="Line 251"/>
            <p:cNvSpPr>
              <a:spLocks noChangeShapeType="1"/>
            </p:cNvSpPr>
            <p:nvPr/>
          </p:nvSpPr>
          <p:spPr bwMode="auto">
            <a:xfrm>
              <a:off x="3455988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2" name="Line 252"/>
            <p:cNvSpPr>
              <a:spLocks noChangeShapeType="1"/>
            </p:cNvSpPr>
            <p:nvPr/>
          </p:nvSpPr>
          <p:spPr bwMode="auto">
            <a:xfrm>
              <a:off x="3455988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3" name="Line 253"/>
            <p:cNvSpPr>
              <a:spLocks noChangeShapeType="1"/>
            </p:cNvSpPr>
            <p:nvPr/>
          </p:nvSpPr>
          <p:spPr bwMode="auto">
            <a:xfrm>
              <a:off x="6838950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4" name="Line 254"/>
            <p:cNvSpPr>
              <a:spLocks noChangeShapeType="1"/>
            </p:cNvSpPr>
            <p:nvPr/>
          </p:nvSpPr>
          <p:spPr bwMode="auto">
            <a:xfrm>
              <a:off x="6838950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5" name="Line 255"/>
            <p:cNvSpPr>
              <a:spLocks noChangeShapeType="1"/>
            </p:cNvSpPr>
            <p:nvPr/>
          </p:nvSpPr>
          <p:spPr bwMode="auto">
            <a:xfrm>
              <a:off x="6838950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6" name="Line 256"/>
            <p:cNvSpPr>
              <a:spLocks noChangeShapeType="1"/>
            </p:cNvSpPr>
            <p:nvPr/>
          </p:nvSpPr>
          <p:spPr bwMode="auto">
            <a:xfrm>
              <a:off x="6838950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7" name="Line 257"/>
            <p:cNvSpPr>
              <a:spLocks noChangeShapeType="1"/>
            </p:cNvSpPr>
            <p:nvPr/>
          </p:nvSpPr>
          <p:spPr bwMode="auto">
            <a:xfrm>
              <a:off x="6829425" y="57245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8" name="Line 258"/>
            <p:cNvSpPr>
              <a:spLocks noChangeShapeType="1"/>
            </p:cNvSpPr>
            <p:nvPr/>
          </p:nvSpPr>
          <p:spPr bwMode="auto">
            <a:xfrm>
              <a:off x="682942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9" name="Line 259"/>
            <p:cNvSpPr>
              <a:spLocks noChangeShapeType="1"/>
            </p:cNvSpPr>
            <p:nvPr/>
          </p:nvSpPr>
          <p:spPr bwMode="auto">
            <a:xfrm>
              <a:off x="6829425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0" name="Line 260"/>
            <p:cNvSpPr>
              <a:spLocks noChangeShapeType="1"/>
            </p:cNvSpPr>
            <p:nvPr/>
          </p:nvSpPr>
          <p:spPr bwMode="auto">
            <a:xfrm>
              <a:off x="6838950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1" name="Line 261"/>
            <p:cNvSpPr>
              <a:spLocks noChangeShapeType="1"/>
            </p:cNvSpPr>
            <p:nvPr/>
          </p:nvSpPr>
          <p:spPr bwMode="auto">
            <a:xfrm>
              <a:off x="3455988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2" name="Line 262"/>
            <p:cNvSpPr>
              <a:spLocks noChangeShapeType="1"/>
            </p:cNvSpPr>
            <p:nvPr/>
          </p:nvSpPr>
          <p:spPr bwMode="auto">
            <a:xfrm>
              <a:off x="3455988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3" name="Line 263"/>
            <p:cNvSpPr>
              <a:spLocks noChangeShapeType="1"/>
            </p:cNvSpPr>
            <p:nvPr/>
          </p:nvSpPr>
          <p:spPr bwMode="auto">
            <a:xfrm>
              <a:off x="3455988" y="57261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4" name="Line 264"/>
            <p:cNvSpPr>
              <a:spLocks noChangeShapeType="1"/>
            </p:cNvSpPr>
            <p:nvPr/>
          </p:nvSpPr>
          <p:spPr bwMode="auto">
            <a:xfrm>
              <a:off x="3455988" y="60134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5" name="Line 265"/>
            <p:cNvSpPr>
              <a:spLocks noChangeShapeType="1"/>
            </p:cNvSpPr>
            <p:nvPr/>
          </p:nvSpPr>
          <p:spPr bwMode="auto">
            <a:xfrm>
              <a:off x="3455988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6" name="Line 266"/>
            <p:cNvSpPr>
              <a:spLocks noChangeShapeType="1"/>
            </p:cNvSpPr>
            <p:nvPr/>
          </p:nvSpPr>
          <p:spPr bwMode="auto">
            <a:xfrm>
              <a:off x="3455988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7" name="Rectangle 267"/>
            <p:cNvSpPr>
              <a:spLocks noChangeArrowheads="1"/>
            </p:cNvSpPr>
            <p:nvPr/>
          </p:nvSpPr>
          <p:spPr bwMode="auto">
            <a:xfrm>
              <a:off x="62642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68" name="Rectangle 268"/>
            <p:cNvSpPr>
              <a:spLocks noChangeArrowheads="1"/>
            </p:cNvSpPr>
            <p:nvPr/>
          </p:nvSpPr>
          <p:spPr bwMode="auto">
            <a:xfrm>
              <a:off x="62642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69" name="Rectangle 269"/>
            <p:cNvSpPr>
              <a:spLocks noChangeArrowheads="1"/>
            </p:cNvSpPr>
            <p:nvPr/>
          </p:nvSpPr>
          <p:spPr bwMode="auto">
            <a:xfrm>
              <a:off x="62642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0" name="Rectangle 270"/>
            <p:cNvSpPr>
              <a:spLocks noChangeArrowheads="1"/>
            </p:cNvSpPr>
            <p:nvPr/>
          </p:nvSpPr>
          <p:spPr bwMode="auto">
            <a:xfrm>
              <a:off x="62642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1" name="Rectangle 271"/>
            <p:cNvSpPr>
              <a:spLocks noChangeArrowheads="1"/>
            </p:cNvSpPr>
            <p:nvPr/>
          </p:nvSpPr>
          <p:spPr bwMode="auto">
            <a:xfrm>
              <a:off x="62642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2" name="Rectangle 272"/>
            <p:cNvSpPr>
              <a:spLocks noChangeArrowheads="1"/>
            </p:cNvSpPr>
            <p:nvPr/>
          </p:nvSpPr>
          <p:spPr bwMode="auto">
            <a:xfrm>
              <a:off x="62642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3" name="Rectangle 273"/>
            <p:cNvSpPr>
              <a:spLocks noChangeArrowheads="1"/>
            </p:cNvSpPr>
            <p:nvPr/>
          </p:nvSpPr>
          <p:spPr bwMode="auto">
            <a:xfrm>
              <a:off x="62642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4" name="Rectangle 274"/>
            <p:cNvSpPr>
              <a:spLocks noChangeArrowheads="1"/>
            </p:cNvSpPr>
            <p:nvPr/>
          </p:nvSpPr>
          <p:spPr bwMode="auto">
            <a:xfrm>
              <a:off x="62642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5" name="Line 275"/>
            <p:cNvSpPr>
              <a:spLocks noChangeShapeType="1"/>
            </p:cNvSpPr>
            <p:nvPr/>
          </p:nvSpPr>
          <p:spPr bwMode="auto">
            <a:xfrm>
              <a:off x="60483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6" name="Line 276"/>
            <p:cNvSpPr>
              <a:spLocks noChangeShapeType="1"/>
            </p:cNvSpPr>
            <p:nvPr/>
          </p:nvSpPr>
          <p:spPr bwMode="auto">
            <a:xfrm>
              <a:off x="60483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7" name="Line 277"/>
            <p:cNvSpPr>
              <a:spLocks noChangeShapeType="1"/>
            </p:cNvSpPr>
            <p:nvPr/>
          </p:nvSpPr>
          <p:spPr bwMode="auto">
            <a:xfrm>
              <a:off x="60483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8" name="Line 278"/>
            <p:cNvSpPr>
              <a:spLocks noChangeShapeType="1"/>
            </p:cNvSpPr>
            <p:nvPr/>
          </p:nvSpPr>
          <p:spPr bwMode="auto">
            <a:xfrm>
              <a:off x="60483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9" name="Line 279"/>
            <p:cNvSpPr>
              <a:spLocks noChangeShapeType="1"/>
            </p:cNvSpPr>
            <p:nvPr/>
          </p:nvSpPr>
          <p:spPr bwMode="auto">
            <a:xfrm>
              <a:off x="60483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0" name="Line 280"/>
            <p:cNvSpPr>
              <a:spLocks noChangeShapeType="1"/>
            </p:cNvSpPr>
            <p:nvPr/>
          </p:nvSpPr>
          <p:spPr bwMode="auto">
            <a:xfrm>
              <a:off x="60483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1" name="Line 281"/>
            <p:cNvSpPr>
              <a:spLocks noChangeShapeType="1"/>
            </p:cNvSpPr>
            <p:nvPr/>
          </p:nvSpPr>
          <p:spPr bwMode="auto">
            <a:xfrm>
              <a:off x="60483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2" name="Line 282"/>
            <p:cNvSpPr>
              <a:spLocks noChangeShapeType="1"/>
            </p:cNvSpPr>
            <p:nvPr/>
          </p:nvSpPr>
          <p:spPr bwMode="auto">
            <a:xfrm>
              <a:off x="60483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3" name="Line 283"/>
            <p:cNvSpPr>
              <a:spLocks noChangeShapeType="1"/>
            </p:cNvSpPr>
            <p:nvPr/>
          </p:nvSpPr>
          <p:spPr bwMode="auto">
            <a:xfrm>
              <a:off x="60483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4" name="Line 284"/>
            <p:cNvSpPr>
              <a:spLocks noChangeShapeType="1"/>
            </p:cNvSpPr>
            <p:nvPr/>
          </p:nvSpPr>
          <p:spPr bwMode="auto">
            <a:xfrm>
              <a:off x="60483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5" name="Line 285"/>
            <p:cNvSpPr>
              <a:spLocks noChangeShapeType="1"/>
            </p:cNvSpPr>
            <p:nvPr/>
          </p:nvSpPr>
          <p:spPr bwMode="auto">
            <a:xfrm>
              <a:off x="60483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6" name="Line 286"/>
            <p:cNvSpPr>
              <a:spLocks noChangeShapeType="1"/>
            </p:cNvSpPr>
            <p:nvPr/>
          </p:nvSpPr>
          <p:spPr bwMode="auto">
            <a:xfrm>
              <a:off x="60483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7" name="Line 287"/>
            <p:cNvSpPr>
              <a:spLocks noChangeShapeType="1"/>
            </p:cNvSpPr>
            <p:nvPr/>
          </p:nvSpPr>
          <p:spPr bwMode="auto">
            <a:xfrm>
              <a:off x="60483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8" name="Line 288"/>
            <p:cNvSpPr>
              <a:spLocks noChangeShapeType="1"/>
            </p:cNvSpPr>
            <p:nvPr/>
          </p:nvSpPr>
          <p:spPr bwMode="auto">
            <a:xfrm>
              <a:off x="60483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9" name="Line 289"/>
            <p:cNvSpPr>
              <a:spLocks noChangeShapeType="1"/>
            </p:cNvSpPr>
            <p:nvPr/>
          </p:nvSpPr>
          <p:spPr bwMode="auto">
            <a:xfrm>
              <a:off x="60483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0" name="Line 290"/>
            <p:cNvSpPr>
              <a:spLocks noChangeShapeType="1"/>
            </p:cNvSpPr>
            <p:nvPr/>
          </p:nvSpPr>
          <p:spPr bwMode="auto">
            <a:xfrm>
              <a:off x="60483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1" name="Line 291"/>
            <p:cNvSpPr>
              <a:spLocks noChangeShapeType="1"/>
            </p:cNvSpPr>
            <p:nvPr/>
          </p:nvSpPr>
          <p:spPr bwMode="auto">
            <a:xfrm>
              <a:off x="66246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2" name="Line 292"/>
            <p:cNvSpPr>
              <a:spLocks noChangeShapeType="1"/>
            </p:cNvSpPr>
            <p:nvPr/>
          </p:nvSpPr>
          <p:spPr bwMode="auto">
            <a:xfrm>
              <a:off x="66246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3" name="Line 293"/>
            <p:cNvSpPr>
              <a:spLocks noChangeShapeType="1"/>
            </p:cNvSpPr>
            <p:nvPr/>
          </p:nvSpPr>
          <p:spPr bwMode="auto">
            <a:xfrm>
              <a:off x="66246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4" name="Line 294"/>
            <p:cNvSpPr>
              <a:spLocks noChangeShapeType="1"/>
            </p:cNvSpPr>
            <p:nvPr/>
          </p:nvSpPr>
          <p:spPr bwMode="auto">
            <a:xfrm>
              <a:off x="66246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5" name="Line 295"/>
            <p:cNvSpPr>
              <a:spLocks noChangeShapeType="1"/>
            </p:cNvSpPr>
            <p:nvPr/>
          </p:nvSpPr>
          <p:spPr bwMode="auto">
            <a:xfrm>
              <a:off x="66246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6" name="Line 296"/>
            <p:cNvSpPr>
              <a:spLocks noChangeShapeType="1"/>
            </p:cNvSpPr>
            <p:nvPr/>
          </p:nvSpPr>
          <p:spPr bwMode="auto">
            <a:xfrm>
              <a:off x="66246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7" name="Line 297"/>
            <p:cNvSpPr>
              <a:spLocks noChangeShapeType="1"/>
            </p:cNvSpPr>
            <p:nvPr/>
          </p:nvSpPr>
          <p:spPr bwMode="auto">
            <a:xfrm>
              <a:off x="66246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8" name="Line 298"/>
            <p:cNvSpPr>
              <a:spLocks noChangeShapeType="1"/>
            </p:cNvSpPr>
            <p:nvPr/>
          </p:nvSpPr>
          <p:spPr bwMode="auto">
            <a:xfrm>
              <a:off x="66246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9" name="Line 299"/>
            <p:cNvSpPr>
              <a:spLocks noChangeShapeType="1"/>
            </p:cNvSpPr>
            <p:nvPr/>
          </p:nvSpPr>
          <p:spPr bwMode="auto">
            <a:xfrm>
              <a:off x="66246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0" name="Line 300"/>
            <p:cNvSpPr>
              <a:spLocks noChangeShapeType="1"/>
            </p:cNvSpPr>
            <p:nvPr/>
          </p:nvSpPr>
          <p:spPr bwMode="auto">
            <a:xfrm>
              <a:off x="66246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1" name="Line 301"/>
            <p:cNvSpPr>
              <a:spLocks noChangeShapeType="1"/>
            </p:cNvSpPr>
            <p:nvPr/>
          </p:nvSpPr>
          <p:spPr bwMode="auto">
            <a:xfrm>
              <a:off x="66246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2" name="Line 302"/>
            <p:cNvSpPr>
              <a:spLocks noChangeShapeType="1"/>
            </p:cNvSpPr>
            <p:nvPr/>
          </p:nvSpPr>
          <p:spPr bwMode="auto">
            <a:xfrm>
              <a:off x="66246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3" name="Line 303"/>
            <p:cNvSpPr>
              <a:spLocks noChangeShapeType="1"/>
            </p:cNvSpPr>
            <p:nvPr/>
          </p:nvSpPr>
          <p:spPr bwMode="auto">
            <a:xfrm>
              <a:off x="66246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4" name="Line 304"/>
            <p:cNvSpPr>
              <a:spLocks noChangeShapeType="1"/>
            </p:cNvSpPr>
            <p:nvPr/>
          </p:nvSpPr>
          <p:spPr bwMode="auto">
            <a:xfrm>
              <a:off x="66246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5" name="Line 305"/>
            <p:cNvSpPr>
              <a:spLocks noChangeShapeType="1"/>
            </p:cNvSpPr>
            <p:nvPr/>
          </p:nvSpPr>
          <p:spPr bwMode="auto">
            <a:xfrm>
              <a:off x="66246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6" name="Line 306"/>
            <p:cNvSpPr>
              <a:spLocks noChangeShapeType="1"/>
            </p:cNvSpPr>
            <p:nvPr/>
          </p:nvSpPr>
          <p:spPr bwMode="auto">
            <a:xfrm>
              <a:off x="66246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7" name="Rectangle 307"/>
            <p:cNvSpPr>
              <a:spLocks noChangeArrowheads="1"/>
            </p:cNvSpPr>
            <p:nvPr/>
          </p:nvSpPr>
          <p:spPr bwMode="auto">
            <a:xfrm>
              <a:off x="49688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08" name="Rectangle 308"/>
            <p:cNvSpPr>
              <a:spLocks noChangeArrowheads="1"/>
            </p:cNvSpPr>
            <p:nvPr/>
          </p:nvSpPr>
          <p:spPr bwMode="auto">
            <a:xfrm>
              <a:off x="49688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09" name="Rectangle 309"/>
            <p:cNvSpPr>
              <a:spLocks noChangeArrowheads="1"/>
            </p:cNvSpPr>
            <p:nvPr/>
          </p:nvSpPr>
          <p:spPr bwMode="auto">
            <a:xfrm>
              <a:off x="49688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0" name="Rectangle 310"/>
            <p:cNvSpPr>
              <a:spLocks noChangeArrowheads="1"/>
            </p:cNvSpPr>
            <p:nvPr/>
          </p:nvSpPr>
          <p:spPr bwMode="auto">
            <a:xfrm>
              <a:off x="49688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1" name="Rectangle 311"/>
            <p:cNvSpPr>
              <a:spLocks noChangeArrowheads="1"/>
            </p:cNvSpPr>
            <p:nvPr/>
          </p:nvSpPr>
          <p:spPr bwMode="auto">
            <a:xfrm>
              <a:off x="49688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2" name="Rectangle 312"/>
            <p:cNvSpPr>
              <a:spLocks noChangeArrowheads="1"/>
            </p:cNvSpPr>
            <p:nvPr/>
          </p:nvSpPr>
          <p:spPr bwMode="auto">
            <a:xfrm>
              <a:off x="49688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3" name="Rectangle 313"/>
            <p:cNvSpPr>
              <a:spLocks noChangeArrowheads="1"/>
            </p:cNvSpPr>
            <p:nvPr/>
          </p:nvSpPr>
          <p:spPr bwMode="auto">
            <a:xfrm>
              <a:off x="49688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4" name="Rectangle 314"/>
            <p:cNvSpPr>
              <a:spLocks noChangeArrowheads="1"/>
            </p:cNvSpPr>
            <p:nvPr/>
          </p:nvSpPr>
          <p:spPr bwMode="auto">
            <a:xfrm>
              <a:off x="49688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5" name="Line 315"/>
            <p:cNvSpPr>
              <a:spLocks noChangeShapeType="1"/>
            </p:cNvSpPr>
            <p:nvPr/>
          </p:nvSpPr>
          <p:spPr bwMode="auto">
            <a:xfrm>
              <a:off x="47529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6" name="Line 316"/>
            <p:cNvSpPr>
              <a:spLocks noChangeShapeType="1"/>
            </p:cNvSpPr>
            <p:nvPr/>
          </p:nvSpPr>
          <p:spPr bwMode="auto">
            <a:xfrm>
              <a:off x="47529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7" name="Line 317"/>
            <p:cNvSpPr>
              <a:spLocks noChangeShapeType="1"/>
            </p:cNvSpPr>
            <p:nvPr/>
          </p:nvSpPr>
          <p:spPr bwMode="auto">
            <a:xfrm>
              <a:off x="47529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8" name="Line 318"/>
            <p:cNvSpPr>
              <a:spLocks noChangeShapeType="1"/>
            </p:cNvSpPr>
            <p:nvPr/>
          </p:nvSpPr>
          <p:spPr bwMode="auto">
            <a:xfrm>
              <a:off x="47529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9" name="Line 319"/>
            <p:cNvSpPr>
              <a:spLocks noChangeShapeType="1"/>
            </p:cNvSpPr>
            <p:nvPr/>
          </p:nvSpPr>
          <p:spPr bwMode="auto">
            <a:xfrm>
              <a:off x="47529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0" name="Line 320"/>
            <p:cNvSpPr>
              <a:spLocks noChangeShapeType="1"/>
            </p:cNvSpPr>
            <p:nvPr/>
          </p:nvSpPr>
          <p:spPr bwMode="auto">
            <a:xfrm>
              <a:off x="47529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1" name="Line 321"/>
            <p:cNvSpPr>
              <a:spLocks noChangeShapeType="1"/>
            </p:cNvSpPr>
            <p:nvPr/>
          </p:nvSpPr>
          <p:spPr bwMode="auto">
            <a:xfrm>
              <a:off x="47529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2" name="Line 322"/>
            <p:cNvSpPr>
              <a:spLocks noChangeShapeType="1"/>
            </p:cNvSpPr>
            <p:nvPr/>
          </p:nvSpPr>
          <p:spPr bwMode="auto">
            <a:xfrm>
              <a:off x="47529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3" name="Line 323"/>
            <p:cNvSpPr>
              <a:spLocks noChangeShapeType="1"/>
            </p:cNvSpPr>
            <p:nvPr/>
          </p:nvSpPr>
          <p:spPr bwMode="auto">
            <a:xfrm>
              <a:off x="47529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4" name="Line 324"/>
            <p:cNvSpPr>
              <a:spLocks noChangeShapeType="1"/>
            </p:cNvSpPr>
            <p:nvPr/>
          </p:nvSpPr>
          <p:spPr bwMode="auto">
            <a:xfrm>
              <a:off x="47529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5" name="Line 325"/>
            <p:cNvSpPr>
              <a:spLocks noChangeShapeType="1"/>
            </p:cNvSpPr>
            <p:nvPr/>
          </p:nvSpPr>
          <p:spPr bwMode="auto">
            <a:xfrm>
              <a:off x="47529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6" name="Line 326"/>
            <p:cNvSpPr>
              <a:spLocks noChangeShapeType="1"/>
            </p:cNvSpPr>
            <p:nvPr/>
          </p:nvSpPr>
          <p:spPr bwMode="auto">
            <a:xfrm>
              <a:off x="47529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7" name="Line 327"/>
            <p:cNvSpPr>
              <a:spLocks noChangeShapeType="1"/>
            </p:cNvSpPr>
            <p:nvPr/>
          </p:nvSpPr>
          <p:spPr bwMode="auto">
            <a:xfrm>
              <a:off x="47529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8" name="Line 328"/>
            <p:cNvSpPr>
              <a:spLocks noChangeShapeType="1"/>
            </p:cNvSpPr>
            <p:nvPr/>
          </p:nvSpPr>
          <p:spPr bwMode="auto">
            <a:xfrm>
              <a:off x="47529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9" name="Line 329"/>
            <p:cNvSpPr>
              <a:spLocks noChangeShapeType="1"/>
            </p:cNvSpPr>
            <p:nvPr/>
          </p:nvSpPr>
          <p:spPr bwMode="auto">
            <a:xfrm>
              <a:off x="47529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0" name="Line 330"/>
            <p:cNvSpPr>
              <a:spLocks noChangeShapeType="1"/>
            </p:cNvSpPr>
            <p:nvPr/>
          </p:nvSpPr>
          <p:spPr bwMode="auto">
            <a:xfrm>
              <a:off x="47529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1" name="Line 331"/>
            <p:cNvSpPr>
              <a:spLocks noChangeShapeType="1"/>
            </p:cNvSpPr>
            <p:nvPr/>
          </p:nvSpPr>
          <p:spPr bwMode="auto">
            <a:xfrm>
              <a:off x="53292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2" name="Line 332"/>
            <p:cNvSpPr>
              <a:spLocks noChangeShapeType="1"/>
            </p:cNvSpPr>
            <p:nvPr/>
          </p:nvSpPr>
          <p:spPr bwMode="auto">
            <a:xfrm>
              <a:off x="53292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3" name="Line 333"/>
            <p:cNvSpPr>
              <a:spLocks noChangeShapeType="1"/>
            </p:cNvSpPr>
            <p:nvPr/>
          </p:nvSpPr>
          <p:spPr bwMode="auto">
            <a:xfrm>
              <a:off x="53292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4" name="Line 334"/>
            <p:cNvSpPr>
              <a:spLocks noChangeShapeType="1"/>
            </p:cNvSpPr>
            <p:nvPr/>
          </p:nvSpPr>
          <p:spPr bwMode="auto">
            <a:xfrm>
              <a:off x="53292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5" name="Line 335"/>
            <p:cNvSpPr>
              <a:spLocks noChangeShapeType="1"/>
            </p:cNvSpPr>
            <p:nvPr/>
          </p:nvSpPr>
          <p:spPr bwMode="auto">
            <a:xfrm>
              <a:off x="53292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6" name="Line 336"/>
            <p:cNvSpPr>
              <a:spLocks noChangeShapeType="1"/>
            </p:cNvSpPr>
            <p:nvPr/>
          </p:nvSpPr>
          <p:spPr bwMode="auto">
            <a:xfrm>
              <a:off x="53292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7" name="Line 337"/>
            <p:cNvSpPr>
              <a:spLocks noChangeShapeType="1"/>
            </p:cNvSpPr>
            <p:nvPr/>
          </p:nvSpPr>
          <p:spPr bwMode="auto">
            <a:xfrm>
              <a:off x="53292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8" name="Line 338"/>
            <p:cNvSpPr>
              <a:spLocks noChangeShapeType="1"/>
            </p:cNvSpPr>
            <p:nvPr/>
          </p:nvSpPr>
          <p:spPr bwMode="auto">
            <a:xfrm>
              <a:off x="53292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9" name="Line 339"/>
            <p:cNvSpPr>
              <a:spLocks noChangeShapeType="1"/>
            </p:cNvSpPr>
            <p:nvPr/>
          </p:nvSpPr>
          <p:spPr bwMode="auto">
            <a:xfrm>
              <a:off x="53292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0" name="Line 340"/>
            <p:cNvSpPr>
              <a:spLocks noChangeShapeType="1"/>
            </p:cNvSpPr>
            <p:nvPr/>
          </p:nvSpPr>
          <p:spPr bwMode="auto">
            <a:xfrm>
              <a:off x="53292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1" name="Line 341"/>
            <p:cNvSpPr>
              <a:spLocks noChangeShapeType="1"/>
            </p:cNvSpPr>
            <p:nvPr/>
          </p:nvSpPr>
          <p:spPr bwMode="auto">
            <a:xfrm>
              <a:off x="53292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2" name="Line 342"/>
            <p:cNvSpPr>
              <a:spLocks noChangeShapeType="1"/>
            </p:cNvSpPr>
            <p:nvPr/>
          </p:nvSpPr>
          <p:spPr bwMode="auto">
            <a:xfrm>
              <a:off x="53292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3" name="Line 343"/>
            <p:cNvSpPr>
              <a:spLocks noChangeShapeType="1"/>
            </p:cNvSpPr>
            <p:nvPr/>
          </p:nvSpPr>
          <p:spPr bwMode="auto">
            <a:xfrm>
              <a:off x="53292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4" name="Line 344"/>
            <p:cNvSpPr>
              <a:spLocks noChangeShapeType="1"/>
            </p:cNvSpPr>
            <p:nvPr/>
          </p:nvSpPr>
          <p:spPr bwMode="auto">
            <a:xfrm>
              <a:off x="53292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5" name="Line 345"/>
            <p:cNvSpPr>
              <a:spLocks noChangeShapeType="1"/>
            </p:cNvSpPr>
            <p:nvPr/>
          </p:nvSpPr>
          <p:spPr bwMode="auto">
            <a:xfrm>
              <a:off x="53292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6" name="Line 346"/>
            <p:cNvSpPr>
              <a:spLocks noChangeShapeType="1"/>
            </p:cNvSpPr>
            <p:nvPr/>
          </p:nvSpPr>
          <p:spPr bwMode="auto">
            <a:xfrm>
              <a:off x="53292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7" name="Rectangle 347"/>
            <p:cNvSpPr>
              <a:spLocks noChangeArrowheads="1"/>
            </p:cNvSpPr>
            <p:nvPr/>
          </p:nvSpPr>
          <p:spPr bwMode="auto">
            <a:xfrm>
              <a:off x="36718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48" name="Rectangle 348"/>
            <p:cNvSpPr>
              <a:spLocks noChangeArrowheads="1"/>
            </p:cNvSpPr>
            <p:nvPr/>
          </p:nvSpPr>
          <p:spPr bwMode="auto">
            <a:xfrm>
              <a:off x="36718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49" name="Rectangle 349"/>
            <p:cNvSpPr>
              <a:spLocks noChangeArrowheads="1"/>
            </p:cNvSpPr>
            <p:nvPr/>
          </p:nvSpPr>
          <p:spPr bwMode="auto">
            <a:xfrm>
              <a:off x="36718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0" name="Rectangle 350"/>
            <p:cNvSpPr>
              <a:spLocks noChangeArrowheads="1"/>
            </p:cNvSpPr>
            <p:nvPr/>
          </p:nvSpPr>
          <p:spPr bwMode="auto">
            <a:xfrm>
              <a:off x="36718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1" name="Rectangle 351"/>
            <p:cNvSpPr>
              <a:spLocks noChangeArrowheads="1"/>
            </p:cNvSpPr>
            <p:nvPr/>
          </p:nvSpPr>
          <p:spPr bwMode="auto">
            <a:xfrm>
              <a:off x="36718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2" name="Rectangle 352"/>
            <p:cNvSpPr>
              <a:spLocks noChangeArrowheads="1"/>
            </p:cNvSpPr>
            <p:nvPr/>
          </p:nvSpPr>
          <p:spPr bwMode="auto">
            <a:xfrm>
              <a:off x="36718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3" name="Rectangle 353"/>
            <p:cNvSpPr>
              <a:spLocks noChangeArrowheads="1"/>
            </p:cNvSpPr>
            <p:nvPr/>
          </p:nvSpPr>
          <p:spPr bwMode="auto">
            <a:xfrm>
              <a:off x="36718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4" name="Rectangle 354"/>
            <p:cNvSpPr>
              <a:spLocks noChangeArrowheads="1"/>
            </p:cNvSpPr>
            <p:nvPr/>
          </p:nvSpPr>
          <p:spPr bwMode="auto">
            <a:xfrm>
              <a:off x="36718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5" name="Line 355"/>
            <p:cNvSpPr>
              <a:spLocks noChangeShapeType="1"/>
            </p:cNvSpPr>
            <p:nvPr/>
          </p:nvSpPr>
          <p:spPr bwMode="auto">
            <a:xfrm>
              <a:off x="40322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6" name="Line 356"/>
            <p:cNvSpPr>
              <a:spLocks noChangeShapeType="1"/>
            </p:cNvSpPr>
            <p:nvPr/>
          </p:nvSpPr>
          <p:spPr bwMode="auto">
            <a:xfrm>
              <a:off x="40322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7" name="Line 357"/>
            <p:cNvSpPr>
              <a:spLocks noChangeShapeType="1"/>
            </p:cNvSpPr>
            <p:nvPr/>
          </p:nvSpPr>
          <p:spPr bwMode="auto">
            <a:xfrm>
              <a:off x="40322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8" name="Line 358"/>
            <p:cNvSpPr>
              <a:spLocks noChangeShapeType="1"/>
            </p:cNvSpPr>
            <p:nvPr/>
          </p:nvSpPr>
          <p:spPr bwMode="auto">
            <a:xfrm>
              <a:off x="40322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9" name="Line 359"/>
            <p:cNvSpPr>
              <a:spLocks noChangeShapeType="1"/>
            </p:cNvSpPr>
            <p:nvPr/>
          </p:nvSpPr>
          <p:spPr bwMode="auto">
            <a:xfrm>
              <a:off x="40322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0" name="Line 360"/>
            <p:cNvSpPr>
              <a:spLocks noChangeShapeType="1"/>
            </p:cNvSpPr>
            <p:nvPr/>
          </p:nvSpPr>
          <p:spPr bwMode="auto">
            <a:xfrm>
              <a:off x="40322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1" name="Line 361"/>
            <p:cNvSpPr>
              <a:spLocks noChangeShapeType="1"/>
            </p:cNvSpPr>
            <p:nvPr/>
          </p:nvSpPr>
          <p:spPr bwMode="auto">
            <a:xfrm>
              <a:off x="40322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2" name="Line 362"/>
            <p:cNvSpPr>
              <a:spLocks noChangeShapeType="1"/>
            </p:cNvSpPr>
            <p:nvPr/>
          </p:nvSpPr>
          <p:spPr bwMode="auto">
            <a:xfrm>
              <a:off x="40322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3" name="Line 363"/>
            <p:cNvSpPr>
              <a:spLocks noChangeShapeType="1"/>
            </p:cNvSpPr>
            <p:nvPr/>
          </p:nvSpPr>
          <p:spPr bwMode="auto">
            <a:xfrm>
              <a:off x="40322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4" name="Line 364"/>
            <p:cNvSpPr>
              <a:spLocks noChangeShapeType="1"/>
            </p:cNvSpPr>
            <p:nvPr/>
          </p:nvSpPr>
          <p:spPr bwMode="auto">
            <a:xfrm>
              <a:off x="40322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5" name="Line 365"/>
            <p:cNvSpPr>
              <a:spLocks noChangeShapeType="1"/>
            </p:cNvSpPr>
            <p:nvPr/>
          </p:nvSpPr>
          <p:spPr bwMode="auto">
            <a:xfrm>
              <a:off x="40322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6" name="Line 366"/>
            <p:cNvSpPr>
              <a:spLocks noChangeShapeType="1"/>
            </p:cNvSpPr>
            <p:nvPr/>
          </p:nvSpPr>
          <p:spPr bwMode="auto">
            <a:xfrm>
              <a:off x="40322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7" name="Line 367"/>
            <p:cNvSpPr>
              <a:spLocks noChangeShapeType="1"/>
            </p:cNvSpPr>
            <p:nvPr/>
          </p:nvSpPr>
          <p:spPr bwMode="auto">
            <a:xfrm>
              <a:off x="40322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8" name="Line 368"/>
            <p:cNvSpPr>
              <a:spLocks noChangeShapeType="1"/>
            </p:cNvSpPr>
            <p:nvPr/>
          </p:nvSpPr>
          <p:spPr bwMode="auto">
            <a:xfrm>
              <a:off x="40322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9" name="Line 369"/>
            <p:cNvSpPr>
              <a:spLocks noChangeShapeType="1"/>
            </p:cNvSpPr>
            <p:nvPr/>
          </p:nvSpPr>
          <p:spPr bwMode="auto">
            <a:xfrm>
              <a:off x="40322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0" name="Line 370"/>
            <p:cNvSpPr>
              <a:spLocks noChangeShapeType="1"/>
            </p:cNvSpPr>
            <p:nvPr/>
          </p:nvSpPr>
          <p:spPr bwMode="auto">
            <a:xfrm>
              <a:off x="40322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1" name="Line 371"/>
            <p:cNvSpPr>
              <a:spLocks noChangeShapeType="1"/>
            </p:cNvSpPr>
            <p:nvPr/>
          </p:nvSpPr>
          <p:spPr bwMode="auto">
            <a:xfrm>
              <a:off x="4248150" y="18351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2" name="Line 372"/>
            <p:cNvSpPr>
              <a:spLocks noChangeShapeType="1"/>
            </p:cNvSpPr>
            <p:nvPr/>
          </p:nvSpPr>
          <p:spPr bwMode="auto">
            <a:xfrm>
              <a:off x="42481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3" name="Line 373"/>
            <p:cNvSpPr>
              <a:spLocks noChangeShapeType="1"/>
            </p:cNvSpPr>
            <p:nvPr/>
          </p:nvSpPr>
          <p:spPr bwMode="auto">
            <a:xfrm flipV="1">
              <a:off x="42481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4" name="Line 374"/>
            <p:cNvSpPr>
              <a:spLocks noChangeShapeType="1"/>
            </p:cNvSpPr>
            <p:nvPr/>
          </p:nvSpPr>
          <p:spPr bwMode="auto">
            <a:xfrm>
              <a:off x="4248150" y="27717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5" name="Line 375"/>
            <p:cNvSpPr>
              <a:spLocks noChangeShapeType="1"/>
            </p:cNvSpPr>
            <p:nvPr/>
          </p:nvSpPr>
          <p:spPr bwMode="auto">
            <a:xfrm>
              <a:off x="4248150" y="31305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6" name="Line 376"/>
            <p:cNvSpPr>
              <a:spLocks noChangeShapeType="1"/>
            </p:cNvSpPr>
            <p:nvPr/>
          </p:nvSpPr>
          <p:spPr bwMode="auto">
            <a:xfrm>
              <a:off x="42481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7" name="Line 377"/>
            <p:cNvSpPr>
              <a:spLocks noChangeShapeType="1"/>
            </p:cNvSpPr>
            <p:nvPr/>
          </p:nvSpPr>
          <p:spPr bwMode="auto">
            <a:xfrm flipV="1">
              <a:off x="42481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8" name="Line 378"/>
            <p:cNvSpPr>
              <a:spLocks noChangeShapeType="1"/>
            </p:cNvSpPr>
            <p:nvPr/>
          </p:nvSpPr>
          <p:spPr bwMode="auto">
            <a:xfrm>
              <a:off x="4248150" y="40671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9" name="Line 379"/>
            <p:cNvSpPr>
              <a:spLocks noChangeShapeType="1"/>
            </p:cNvSpPr>
            <p:nvPr/>
          </p:nvSpPr>
          <p:spPr bwMode="auto">
            <a:xfrm>
              <a:off x="4248150" y="44275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0" name="Line 380"/>
            <p:cNvSpPr>
              <a:spLocks noChangeShapeType="1"/>
            </p:cNvSpPr>
            <p:nvPr/>
          </p:nvSpPr>
          <p:spPr bwMode="auto">
            <a:xfrm>
              <a:off x="42481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1" name="Line 381"/>
            <p:cNvSpPr>
              <a:spLocks noChangeShapeType="1"/>
            </p:cNvSpPr>
            <p:nvPr/>
          </p:nvSpPr>
          <p:spPr bwMode="auto">
            <a:xfrm flipV="1">
              <a:off x="42481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2" name="Line 382"/>
            <p:cNvSpPr>
              <a:spLocks noChangeShapeType="1"/>
            </p:cNvSpPr>
            <p:nvPr/>
          </p:nvSpPr>
          <p:spPr bwMode="auto">
            <a:xfrm>
              <a:off x="4248150" y="53641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3" name="Line 383"/>
            <p:cNvSpPr>
              <a:spLocks noChangeShapeType="1"/>
            </p:cNvSpPr>
            <p:nvPr/>
          </p:nvSpPr>
          <p:spPr bwMode="auto">
            <a:xfrm>
              <a:off x="4248150" y="57229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4" name="Line 384"/>
            <p:cNvSpPr>
              <a:spLocks noChangeShapeType="1"/>
            </p:cNvSpPr>
            <p:nvPr/>
          </p:nvSpPr>
          <p:spPr bwMode="auto">
            <a:xfrm>
              <a:off x="42481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5" name="Line 385"/>
            <p:cNvSpPr>
              <a:spLocks noChangeShapeType="1"/>
            </p:cNvSpPr>
            <p:nvPr/>
          </p:nvSpPr>
          <p:spPr bwMode="auto">
            <a:xfrm flipV="1">
              <a:off x="42481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6" name="Line 386"/>
            <p:cNvSpPr>
              <a:spLocks noChangeShapeType="1"/>
            </p:cNvSpPr>
            <p:nvPr/>
          </p:nvSpPr>
          <p:spPr bwMode="auto">
            <a:xfrm>
              <a:off x="4248150" y="66595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7" name="Line 387"/>
            <p:cNvSpPr>
              <a:spLocks noChangeShapeType="1"/>
            </p:cNvSpPr>
            <p:nvPr/>
          </p:nvSpPr>
          <p:spPr bwMode="auto">
            <a:xfrm>
              <a:off x="5543550" y="18351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8" name="Line 388"/>
            <p:cNvSpPr>
              <a:spLocks noChangeShapeType="1"/>
            </p:cNvSpPr>
            <p:nvPr/>
          </p:nvSpPr>
          <p:spPr bwMode="auto">
            <a:xfrm>
              <a:off x="55435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9" name="Line 389"/>
            <p:cNvSpPr>
              <a:spLocks noChangeShapeType="1"/>
            </p:cNvSpPr>
            <p:nvPr/>
          </p:nvSpPr>
          <p:spPr bwMode="auto">
            <a:xfrm flipV="1">
              <a:off x="55435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0" name="Line 390"/>
            <p:cNvSpPr>
              <a:spLocks noChangeShapeType="1"/>
            </p:cNvSpPr>
            <p:nvPr/>
          </p:nvSpPr>
          <p:spPr bwMode="auto">
            <a:xfrm>
              <a:off x="5543550" y="27717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1" name="Line 391"/>
            <p:cNvSpPr>
              <a:spLocks noChangeShapeType="1"/>
            </p:cNvSpPr>
            <p:nvPr/>
          </p:nvSpPr>
          <p:spPr bwMode="auto">
            <a:xfrm>
              <a:off x="5543550" y="31305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2" name="Line 392"/>
            <p:cNvSpPr>
              <a:spLocks noChangeShapeType="1"/>
            </p:cNvSpPr>
            <p:nvPr/>
          </p:nvSpPr>
          <p:spPr bwMode="auto">
            <a:xfrm>
              <a:off x="55435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3" name="Line 393"/>
            <p:cNvSpPr>
              <a:spLocks noChangeShapeType="1"/>
            </p:cNvSpPr>
            <p:nvPr/>
          </p:nvSpPr>
          <p:spPr bwMode="auto">
            <a:xfrm flipV="1">
              <a:off x="55435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4" name="Line 394"/>
            <p:cNvSpPr>
              <a:spLocks noChangeShapeType="1"/>
            </p:cNvSpPr>
            <p:nvPr/>
          </p:nvSpPr>
          <p:spPr bwMode="auto">
            <a:xfrm>
              <a:off x="5543550" y="40671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5" name="Line 395"/>
            <p:cNvSpPr>
              <a:spLocks noChangeShapeType="1"/>
            </p:cNvSpPr>
            <p:nvPr/>
          </p:nvSpPr>
          <p:spPr bwMode="auto">
            <a:xfrm>
              <a:off x="5543550" y="44275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6" name="Line 396"/>
            <p:cNvSpPr>
              <a:spLocks noChangeShapeType="1"/>
            </p:cNvSpPr>
            <p:nvPr/>
          </p:nvSpPr>
          <p:spPr bwMode="auto">
            <a:xfrm>
              <a:off x="55435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7" name="Line 397"/>
            <p:cNvSpPr>
              <a:spLocks noChangeShapeType="1"/>
            </p:cNvSpPr>
            <p:nvPr/>
          </p:nvSpPr>
          <p:spPr bwMode="auto">
            <a:xfrm flipV="1">
              <a:off x="55435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8" name="Line 398"/>
            <p:cNvSpPr>
              <a:spLocks noChangeShapeType="1"/>
            </p:cNvSpPr>
            <p:nvPr/>
          </p:nvSpPr>
          <p:spPr bwMode="auto">
            <a:xfrm>
              <a:off x="5543550" y="53641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9" name="Line 399"/>
            <p:cNvSpPr>
              <a:spLocks noChangeShapeType="1"/>
            </p:cNvSpPr>
            <p:nvPr/>
          </p:nvSpPr>
          <p:spPr bwMode="auto">
            <a:xfrm>
              <a:off x="5543550" y="572452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0" name="Line 400"/>
            <p:cNvSpPr>
              <a:spLocks noChangeShapeType="1"/>
            </p:cNvSpPr>
            <p:nvPr/>
          </p:nvSpPr>
          <p:spPr bwMode="auto">
            <a:xfrm>
              <a:off x="55435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1" name="Line 401"/>
            <p:cNvSpPr>
              <a:spLocks noChangeShapeType="1"/>
            </p:cNvSpPr>
            <p:nvPr/>
          </p:nvSpPr>
          <p:spPr bwMode="auto">
            <a:xfrm flipV="1">
              <a:off x="55435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2" name="Line 402"/>
            <p:cNvSpPr>
              <a:spLocks noChangeShapeType="1"/>
            </p:cNvSpPr>
            <p:nvPr/>
          </p:nvSpPr>
          <p:spPr bwMode="auto">
            <a:xfrm>
              <a:off x="5543550" y="66595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3" name="Oval 404"/>
            <p:cNvSpPr>
              <a:spLocks noChangeArrowheads="1"/>
            </p:cNvSpPr>
            <p:nvPr/>
          </p:nvSpPr>
          <p:spPr bwMode="auto">
            <a:xfrm>
              <a:off x="576263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404" name="Oval 405"/>
            <p:cNvSpPr>
              <a:spLocks noChangeArrowheads="1"/>
            </p:cNvSpPr>
            <p:nvPr/>
          </p:nvSpPr>
          <p:spPr bwMode="auto">
            <a:xfrm>
              <a:off x="576263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405" name="Oval 406"/>
            <p:cNvSpPr>
              <a:spLocks noChangeArrowheads="1"/>
            </p:cNvSpPr>
            <p:nvPr/>
          </p:nvSpPr>
          <p:spPr bwMode="auto">
            <a:xfrm>
              <a:off x="576263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406" name="Oval 407"/>
            <p:cNvSpPr>
              <a:spLocks noChangeArrowheads="1"/>
            </p:cNvSpPr>
            <p:nvPr/>
          </p:nvSpPr>
          <p:spPr bwMode="auto">
            <a:xfrm>
              <a:off x="576263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407" name="Oval 408"/>
            <p:cNvSpPr>
              <a:spLocks noChangeArrowheads="1"/>
            </p:cNvSpPr>
            <p:nvPr/>
          </p:nvSpPr>
          <p:spPr bwMode="auto">
            <a:xfrm>
              <a:off x="576263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408" name="Oval 409"/>
            <p:cNvSpPr>
              <a:spLocks noChangeArrowheads="1"/>
            </p:cNvSpPr>
            <p:nvPr/>
          </p:nvSpPr>
          <p:spPr bwMode="auto">
            <a:xfrm>
              <a:off x="576263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409" name="Oval 410"/>
            <p:cNvSpPr>
              <a:spLocks noChangeArrowheads="1"/>
            </p:cNvSpPr>
            <p:nvPr/>
          </p:nvSpPr>
          <p:spPr bwMode="auto">
            <a:xfrm>
              <a:off x="576263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410" name="Oval 411"/>
            <p:cNvSpPr>
              <a:spLocks noChangeArrowheads="1"/>
            </p:cNvSpPr>
            <p:nvPr/>
          </p:nvSpPr>
          <p:spPr bwMode="auto">
            <a:xfrm>
              <a:off x="576263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411" name="Oval 412"/>
            <p:cNvSpPr>
              <a:spLocks noChangeArrowheads="1"/>
            </p:cNvSpPr>
            <p:nvPr/>
          </p:nvSpPr>
          <p:spPr bwMode="auto">
            <a:xfrm>
              <a:off x="576263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412" name="Oval 413"/>
            <p:cNvSpPr>
              <a:spLocks noChangeArrowheads="1"/>
            </p:cNvSpPr>
            <p:nvPr/>
          </p:nvSpPr>
          <p:spPr bwMode="auto">
            <a:xfrm>
              <a:off x="576263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413" name="Oval 414"/>
            <p:cNvSpPr>
              <a:spLocks noChangeArrowheads="1"/>
            </p:cNvSpPr>
            <p:nvPr/>
          </p:nvSpPr>
          <p:spPr bwMode="auto">
            <a:xfrm>
              <a:off x="576263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414" name="Oval 415"/>
            <p:cNvSpPr>
              <a:spLocks noChangeArrowheads="1"/>
            </p:cNvSpPr>
            <p:nvPr/>
          </p:nvSpPr>
          <p:spPr bwMode="auto">
            <a:xfrm>
              <a:off x="576263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415" name="Oval 416"/>
            <p:cNvSpPr>
              <a:spLocks noChangeArrowheads="1"/>
            </p:cNvSpPr>
            <p:nvPr/>
          </p:nvSpPr>
          <p:spPr bwMode="auto">
            <a:xfrm>
              <a:off x="576263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16" name="Oval 417"/>
            <p:cNvSpPr>
              <a:spLocks noChangeArrowheads="1"/>
            </p:cNvSpPr>
            <p:nvPr/>
          </p:nvSpPr>
          <p:spPr bwMode="auto">
            <a:xfrm>
              <a:off x="576263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417" name="Oval 418"/>
            <p:cNvSpPr>
              <a:spLocks noChangeArrowheads="1"/>
            </p:cNvSpPr>
            <p:nvPr/>
          </p:nvSpPr>
          <p:spPr bwMode="auto">
            <a:xfrm>
              <a:off x="576263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418" name="Oval 419"/>
            <p:cNvSpPr>
              <a:spLocks noChangeArrowheads="1"/>
            </p:cNvSpPr>
            <p:nvPr/>
          </p:nvSpPr>
          <p:spPr bwMode="auto">
            <a:xfrm>
              <a:off x="576263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19" name="Oval 420"/>
            <p:cNvSpPr>
              <a:spLocks noChangeArrowheads="1"/>
            </p:cNvSpPr>
            <p:nvPr/>
          </p:nvSpPr>
          <p:spPr bwMode="auto">
            <a:xfrm>
              <a:off x="9575800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420" name="Oval 421"/>
            <p:cNvSpPr>
              <a:spLocks noChangeArrowheads="1"/>
            </p:cNvSpPr>
            <p:nvPr/>
          </p:nvSpPr>
          <p:spPr bwMode="auto">
            <a:xfrm>
              <a:off x="9575800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421" name="Oval 422"/>
            <p:cNvSpPr>
              <a:spLocks noChangeArrowheads="1"/>
            </p:cNvSpPr>
            <p:nvPr/>
          </p:nvSpPr>
          <p:spPr bwMode="auto">
            <a:xfrm>
              <a:off x="9575800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422" name="Oval 423"/>
            <p:cNvSpPr>
              <a:spLocks noChangeArrowheads="1"/>
            </p:cNvSpPr>
            <p:nvPr/>
          </p:nvSpPr>
          <p:spPr bwMode="auto">
            <a:xfrm>
              <a:off x="9575800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423" name="Oval 424"/>
            <p:cNvSpPr>
              <a:spLocks noChangeArrowheads="1"/>
            </p:cNvSpPr>
            <p:nvPr/>
          </p:nvSpPr>
          <p:spPr bwMode="auto">
            <a:xfrm>
              <a:off x="9575800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424" name="Oval 425"/>
            <p:cNvSpPr>
              <a:spLocks noChangeArrowheads="1"/>
            </p:cNvSpPr>
            <p:nvPr/>
          </p:nvSpPr>
          <p:spPr bwMode="auto">
            <a:xfrm>
              <a:off x="9575800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425" name="Oval 426"/>
            <p:cNvSpPr>
              <a:spLocks noChangeArrowheads="1"/>
            </p:cNvSpPr>
            <p:nvPr/>
          </p:nvSpPr>
          <p:spPr bwMode="auto">
            <a:xfrm>
              <a:off x="9575800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426" name="Oval 427"/>
            <p:cNvSpPr>
              <a:spLocks noChangeArrowheads="1"/>
            </p:cNvSpPr>
            <p:nvPr/>
          </p:nvSpPr>
          <p:spPr bwMode="auto">
            <a:xfrm>
              <a:off x="9575800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427" name="Oval 428"/>
            <p:cNvSpPr>
              <a:spLocks noChangeArrowheads="1"/>
            </p:cNvSpPr>
            <p:nvPr/>
          </p:nvSpPr>
          <p:spPr bwMode="auto">
            <a:xfrm>
              <a:off x="9575800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428" name="Oval 429"/>
            <p:cNvSpPr>
              <a:spLocks noChangeArrowheads="1"/>
            </p:cNvSpPr>
            <p:nvPr/>
          </p:nvSpPr>
          <p:spPr bwMode="auto">
            <a:xfrm>
              <a:off x="9575800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429" name="Oval 430"/>
            <p:cNvSpPr>
              <a:spLocks noChangeArrowheads="1"/>
            </p:cNvSpPr>
            <p:nvPr/>
          </p:nvSpPr>
          <p:spPr bwMode="auto">
            <a:xfrm>
              <a:off x="9575800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430" name="Oval 431"/>
            <p:cNvSpPr>
              <a:spLocks noChangeArrowheads="1"/>
            </p:cNvSpPr>
            <p:nvPr/>
          </p:nvSpPr>
          <p:spPr bwMode="auto">
            <a:xfrm>
              <a:off x="9575800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431" name="Oval 432"/>
            <p:cNvSpPr>
              <a:spLocks noChangeArrowheads="1"/>
            </p:cNvSpPr>
            <p:nvPr/>
          </p:nvSpPr>
          <p:spPr bwMode="auto">
            <a:xfrm>
              <a:off x="9575800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32" name="Oval 433"/>
            <p:cNvSpPr>
              <a:spLocks noChangeArrowheads="1"/>
            </p:cNvSpPr>
            <p:nvPr/>
          </p:nvSpPr>
          <p:spPr bwMode="auto">
            <a:xfrm>
              <a:off x="9575800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433" name="Oval 434"/>
            <p:cNvSpPr>
              <a:spLocks noChangeArrowheads="1"/>
            </p:cNvSpPr>
            <p:nvPr/>
          </p:nvSpPr>
          <p:spPr bwMode="auto">
            <a:xfrm>
              <a:off x="9575800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434" name="Oval 435"/>
            <p:cNvSpPr>
              <a:spLocks noChangeArrowheads="1"/>
            </p:cNvSpPr>
            <p:nvPr/>
          </p:nvSpPr>
          <p:spPr bwMode="auto">
            <a:xfrm>
              <a:off x="9575800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35" name="Freeform 440"/>
            <p:cNvSpPr>
              <a:spLocks/>
            </p:cNvSpPr>
            <p:nvPr/>
          </p:nvSpPr>
          <p:spPr bwMode="auto">
            <a:xfrm>
              <a:off x="863600" y="1833563"/>
              <a:ext cx="8716963" cy="261937"/>
            </a:xfrm>
            <a:custGeom>
              <a:avLst/>
              <a:gdLst>
                <a:gd name="T0" fmla="*/ 0 w 5491"/>
                <a:gd name="T1" fmla="*/ 0 h 165"/>
                <a:gd name="T2" fmla="*/ 136 w 5491"/>
                <a:gd name="T3" fmla="*/ 0 h 165"/>
                <a:gd name="T4" fmla="*/ 363 w 5491"/>
                <a:gd name="T5" fmla="*/ 0 h 165"/>
                <a:gd name="T6" fmla="*/ 5145 w 5491"/>
                <a:gd name="T7" fmla="*/ 6 h 165"/>
                <a:gd name="T8" fmla="*/ 5384 w 5491"/>
                <a:gd name="T9" fmla="*/ 165 h 165"/>
                <a:gd name="T10" fmla="*/ 5491 w 5491"/>
                <a:gd name="T11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91" h="165">
                  <a:moveTo>
                    <a:pt x="0" y="0"/>
                  </a:moveTo>
                  <a:lnTo>
                    <a:pt x="136" y="0"/>
                  </a:lnTo>
                  <a:lnTo>
                    <a:pt x="363" y="0"/>
                  </a:lnTo>
                  <a:lnTo>
                    <a:pt x="5145" y="6"/>
                  </a:lnTo>
                  <a:lnTo>
                    <a:pt x="5384" y="165"/>
                  </a:lnTo>
                  <a:lnTo>
                    <a:pt x="5491" y="165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6" name="Freeform 441"/>
            <p:cNvSpPr>
              <a:spLocks/>
            </p:cNvSpPr>
            <p:nvPr/>
          </p:nvSpPr>
          <p:spPr bwMode="auto">
            <a:xfrm>
              <a:off x="863600" y="1838325"/>
              <a:ext cx="8731250" cy="2589213"/>
            </a:xfrm>
            <a:custGeom>
              <a:avLst/>
              <a:gdLst>
                <a:gd name="T0" fmla="*/ 0 w 5500"/>
                <a:gd name="T1" fmla="*/ 11 h 1631"/>
                <a:gd name="T2" fmla="*/ 129 w 5500"/>
                <a:gd name="T3" fmla="*/ 0 h 1631"/>
                <a:gd name="T4" fmla="*/ 351 w 5500"/>
                <a:gd name="T5" fmla="*/ 168 h 1631"/>
                <a:gd name="T6" fmla="*/ 493 w 5500"/>
                <a:gd name="T7" fmla="*/ 168 h 1631"/>
                <a:gd name="T8" fmla="*/ 812 w 5500"/>
                <a:gd name="T9" fmla="*/ 1622 h 1631"/>
                <a:gd name="T10" fmla="*/ 4720 w 5500"/>
                <a:gd name="T11" fmla="*/ 1631 h 1631"/>
                <a:gd name="T12" fmla="*/ 5030 w 5500"/>
                <a:gd name="T13" fmla="*/ 186 h 1631"/>
                <a:gd name="T14" fmla="*/ 5172 w 5500"/>
                <a:gd name="T15" fmla="*/ 186 h 1631"/>
                <a:gd name="T16" fmla="*/ 5393 w 5500"/>
                <a:gd name="T17" fmla="*/ 162 h 1631"/>
                <a:gd name="T18" fmla="*/ 5500 w 5500"/>
                <a:gd name="T19" fmla="*/ 136 h 1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00" h="1631">
                  <a:moveTo>
                    <a:pt x="0" y="11"/>
                  </a:moveTo>
                  <a:lnTo>
                    <a:pt x="129" y="0"/>
                  </a:lnTo>
                  <a:lnTo>
                    <a:pt x="351" y="168"/>
                  </a:lnTo>
                  <a:lnTo>
                    <a:pt x="493" y="168"/>
                  </a:lnTo>
                  <a:lnTo>
                    <a:pt x="812" y="1622"/>
                  </a:lnTo>
                  <a:lnTo>
                    <a:pt x="4720" y="1631"/>
                  </a:lnTo>
                  <a:lnTo>
                    <a:pt x="5030" y="186"/>
                  </a:lnTo>
                  <a:lnTo>
                    <a:pt x="5172" y="186"/>
                  </a:lnTo>
                  <a:lnTo>
                    <a:pt x="5393" y="162"/>
                  </a:lnTo>
                  <a:lnTo>
                    <a:pt x="5500" y="136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7" name="Freeform 442"/>
            <p:cNvSpPr>
              <a:spLocks/>
            </p:cNvSpPr>
            <p:nvPr/>
          </p:nvSpPr>
          <p:spPr bwMode="auto">
            <a:xfrm>
              <a:off x="863600" y="1863725"/>
              <a:ext cx="8716963" cy="3873500"/>
            </a:xfrm>
            <a:custGeom>
              <a:avLst/>
              <a:gdLst>
                <a:gd name="T0" fmla="*/ 0 w 5491"/>
                <a:gd name="T1" fmla="*/ 11 h 2440"/>
                <a:gd name="T2" fmla="*/ 129 w 5491"/>
                <a:gd name="T3" fmla="*/ 0 h 2440"/>
                <a:gd name="T4" fmla="*/ 351 w 5491"/>
                <a:gd name="T5" fmla="*/ 168 h 2440"/>
                <a:gd name="T6" fmla="*/ 493 w 5491"/>
                <a:gd name="T7" fmla="*/ 168 h 2440"/>
                <a:gd name="T8" fmla="*/ 812 w 5491"/>
                <a:gd name="T9" fmla="*/ 1622 h 2440"/>
                <a:gd name="T10" fmla="*/ 971 w 5491"/>
                <a:gd name="T11" fmla="*/ 1633 h 2440"/>
                <a:gd name="T12" fmla="*/ 1184 w 5491"/>
                <a:gd name="T13" fmla="*/ 1811 h 2440"/>
                <a:gd name="T14" fmla="*/ 1317 w 5491"/>
                <a:gd name="T15" fmla="*/ 1811 h 2440"/>
                <a:gd name="T16" fmla="*/ 1618 w 5491"/>
                <a:gd name="T17" fmla="*/ 2431 h 2440"/>
                <a:gd name="T18" fmla="*/ 3887 w 5491"/>
                <a:gd name="T19" fmla="*/ 2440 h 2440"/>
                <a:gd name="T20" fmla="*/ 4197 w 5491"/>
                <a:gd name="T21" fmla="*/ 1811 h 2440"/>
                <a:gd name="T22" fmla="*/ 4348 w 5491"/>
                <a:gd name="T23" fmla="*/ 1811 h 2440"/>
                <a:gd name="T24" fmla="*/ 4720 w 5491"/>
                <a:gd name="T25" fmla="*/ 1631 h 2440"/>
                <a:gd name="T26" fmla="*/ 5030 w 5491"/>
                <a:gd name="T27" fmla="*/ 186 h 2440"/>
                <a:gd name="T28" fmla="*/ 5172 w 5491"/>
                <a:gd name="T29" fmla="*/ 186 h 2440"/>
                <a:gd name="T30" fmla="*/ 5384 w 5491"/>
                <a:gd name="T31" fmla="*/ 146 h 2440"/>
                <a:gd name="T32" fmla="*/ 5491 w 5491"/>
                <a:gd name="T33" fmla="*/ 138 h 2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91" h="2440">
                  <a:moveTo>
                    <a:pt x="0" y="11"/>
                  </a:moveTo>
                  <a:lnTo>
                    <a:pt x="129" y="0"/>
                  </a:lnTo>
                  <a:lnTo>
                    <a:pt x="351" y="168"/>
                  </a:lnTo>
                  <a:lnTo>
                    <a:pt x="493" y="168"/>
                  </a:lnTo>
                  <a:lnTo>
                    <a:pt x="812" y="1622"/>
                  </a:lnTo>
                  <a:lnTo>
                    <a:pt x="971" y="1633"/>
                  </a:lnTo>
                  <a:lnTo>
                    <a:pt x="1184" y="1811"/>
                  </a:lnTo>
                  <a:lnTo>
                    <a:pt x="1317" y="1811"/>
                  </a:lnTo>
                  <a:lnTo>
                    <a:pt x="1618" y="2431"/>
                  </a:lnTo>
                  <a:lnTo>
                    <a:pt x="3887" y="2440"/>
                  </a:lnTo>
                  <a:lnTo>
                    <a:pt x="4197" y="1811"/>
                  </a:lnTo>
                  <a:lnTo>
                    <a:pt x="4348" y="1811"/>
                  </a:lnTo>
                  <a:lnTo>
                    <a:pt x="4720" y="1631"/>
                  </a:lnTo>
                  <a:lnTo>
                    <a:pt x="5030" y="186"/>
                  </a:lnTo>
                  <a:lnTo>
                    <a:pt x="5172" y="186"/>
                  </a:lnTo>
                  <a:lnTo>
                    <a:pt x="5384" y="146"/>
                  </a:lnTo>
                  <a:lnTo>
                    <a:pt x="5491" y="138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8" name="Freeform 443"/>
            <p:cNvSpPr>
              <a:spLocks/>
            </p:cNvSpPr>
            <p:nvPr/>
          </p:nvSpPr>
          <p:spPr bwMode="auto">
            <a:xfrm>
              <a:off x="863600" y="1835150"/>
              <a:ext cx="8716963" cy="1308100"/>
            </a:xfrm>
            <a:custGeom>
              <a:avLst/>
              <a:gdLst>
                <a:gd name="T0" fmla="*/ 0 w 5491"/>
                <a:gd name="T1" fmla="*/ 34 h 824"/>
                <a:gd name="T2" fmla="*/ 129 w 5491"/>
                <a:gd name="T3" fmla="*/ 23 h 824"/>
                <a:gd name="T4" fmla="*/ 954 w 5491"/>
                <a:gd name="T5" fmla="*/ 9 h 824"/>
                <a:gd name="T6" fmla="*/ 1175 w 5491"/>
                <a:gd name="T7" fmla="*/ 169 h 824"/>
                <a:gd name="T8" fmla="*/ 1308 w 5491"/>
                <a:gd name="T9" fmla="*/ 186 h 824"/>
                <a:gd name="T10" fmla="*/ 1627 w 5491"/>
                <a:gd name="T11" fmla="*/ 824 h 824"/>
                <a:gd name="T12" fmla="*/ 3904 w 5491"/>
                <a:gd name="T13" fmla="*/ 824 h 824"/>
                <a:gd name="T14" fmla="*/ 4215 w 5491"/>
                <a:gd name="T15" fmla="*/ 177 h 824"/>
                <a:gd name="T16" fmla="*/ 4356 w 5491"/>
                <a:gd name="T17" fmla="*/ 186 h 824"/>
                <a:gd name="T18" fmla="*/ 4569 w 5491"/>
                <a:gd name="T19" fmla="*/ 0 h 824"/>
                <a:gd name="T20" fmla="*/ 5163 w 5491"/>
                <a:gd name="T21" fmla="*/ 9 h 824"/>
                <a:gd name="T22" fmla="*/ 5384 w 5491"/>
                <a:gd name="T23" fmla="*/ 173 h 824"/>
                <a:gd name="T24" fmla="*/ 5491 w 5491"/>
                <a:gd name="T25" fmla="*/ 182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91" h="824">
                  <a:moveTo>
                    <a:pt x="0" y="34"/>
                  </a:moveTo>
                  <a:lnTo>
                    <a:pt x="129" y="23"/>
                  </a:lnTo>
                  <a:lnTo>
                    <a:pt x="954" y="9"/>
                  </a:lnTo>
                  <a:lnTo>
                    <a:pt x="1175" y="169"/>
                  </a:lnTo>
                  <a:lnTo>
                    <a:pt x="1308" y="186"/>
                  </a:lnTo>
                  <a:lnTo>
                    <a:pt x="1627" y="824"/>
                  </a:lnTo>
                  <a:lnTo>
                    <a:pt x="3904" y="824"/>
                  </a:lnTo>
                  <a:lnTo>
                    <a:pt x="4215" y="177"/>
                  </a:lnTo>
                  <a:lnTo>
                    <a:pt x="4356" y="186"/>
                  </a:lnTo>
                  <a:lnTo>
                    <a:pt x="4569" y="0"/>
                  </a:lnTo>
                  <a:lnTo>
                    <a:pt x="5163" y="9"/>
                  </a:lnTo>
                  <a:lnTo>
                    <a:pt x="5384" y="173"/>
                  </a:lnTo>
                  <a:lnTo>
                    <a:pt x="5491" y="182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9" name="Freeform 444"/>
            <p:cNvSpPr>
              <a:spLocks/>
            </p:cNvSpPr>
            <p:nvPr/>
          </p:nvSpPr>
          <p:spPr bwMode="auto">
            <a:xfrm>
              <a:off x="863600" y="1844675"/>
              <a:ext cx="8731250" cy="1935163"/>
            </a:xfrm>
            <a:custGeom>
              <a:avLst/>
              <a:gdLst>
                <a:gd name="T0" fmla="*/ 0 w 5500"/>
                <a:gd name="T1" fmla="*/ 34 h 1219"/>
                <a:gd name="T2" fmla="*/ 129 w 5500"/>
                <a:gd name="T3" fmla="*/ 23 h 1219"/>
                <a:gd name="T4" fmla="*/ 954 w 5500"/>
                <a:gd name="T5" fmla="*/ 9 h 1219"/>
                <a:gd name="T6" fmla="*/ 1175 w 5500"/>
                <a:gd name="T7" fmla="*/ 169 h 1219"/>
                <a:gd name="T8" fmla="*/ 1308 w 5500"/>
                <a:gd name="T9" fmla="*/ 186 h 1219"/>
                <a:gd name="T10" fmla="*/ 1627 w 5500"/>
                <a:gd name="T11" fmla="*/ 824 h 1219"/>
                <a:gd name="T12" fmla="*/ 1778 w 5500"/>
                <a:gd name="T13" fmla="*/ 811 h 1219"/>
                <a:gd name="T14" fmla="*/ 1973 w 5500"/>
                <a:gd name="T15" fmla="*/ 997 h 1219"/>
                <a:gd name="T16" fmla="*/ 2123 w 5500"/>
                <a:gd name="T17" fmla="*/ 997 h 1219"/>
                <a:gd name="T18" fmla="*/ 2433 w 5500"/>
                <a:gd name="T19" fmla="*/ 1219 h 1219"/>
                <a:gd name="T20" fmla="*/ 2939 w 5500"/>
                <a:gd name="T21" fmla="*/ 1219 h 1219"/>
                <a:gd name="T22" fmla="*/ 3258 w 5500"/>
                <a:gd name="T23" fmla="*/ 1006 h 1219"/>
                <a:gd name="T24" fmla="*/ 3408 w 5500"/>
                <a:gd name="T25" fmla="*/ 997 h 1219"/>
                <a:gd name="T26" fmla="*/ 3612 w 5500"/>
                <a:gd name="T27" fmla="*/ 802 h 1219"/>
                <a:gd name="T28" fmla="*/ 3904 w 5500"/>
                <a:gd name="T29" fmla="*/ 824 h 1219"/>
                <a:gd name="T30" fmla="*/ 4215 w 5500"/>
                <a:gd name="T31" fmla="*/ 177 h 1219"/>
                <a:gd name="T32" fmla="*/ 4356 w 5500"/>
                <a:gd name="T33" fmla="*/ 186 h 1219"/>
                <a:gd name="T34" fmla="*/ 4569 w 5500"/>
                <a:gd name="T35" fmla="*/ 0 h 1219"/>
                <a:gd name="T36" fmla="*/ 5163 w 5500"/>
                <a:gd name="T37" fmla="*/ 9 h 1219"/>
                <a:gd name="T38" fmla="*/ 5384 w 5500"/>
                <a:gd name="T39" fmla="*/ 150 h 1219"/>
                <a:gd name="T40" fmla="*/ 5500 w 5500"/>
                <a:gd name="T41" fmla="*/ 167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500" h="1219">
                  <a:moveTo>
                    <a:pt x="0" y="34"/>
                  </a:moveTo>
                  <a:lnTo>
                    <a:pt x="129" y="23"/>
                  </a:lnTo>
                  <a:lnTo>
                    <a:pt x="954" y="9"/>
                  </a:lnTo>
                  <a:lnTo>
                    <a:pt x="1175" y="169"/>
                  </a:lnTo>
                  <a:lnTo>
                    <a:pt x="1308" y="186"/>
                  </a:lnTo>
                  <a:lnTo>
                    <a:pt x="1627" y="824"/>
                  </a:lnTo>
                  <a:lnTo>
                    <a:pt x="1778" y="811"/>
                  </a:lnTo>
                  <a:lnTo>
                    <a:pt x="1973" y="997"/>
                  </a:lnTo>
                  <a:lnTo>
                    <a:pt x="2123" y="997"/>
                  </a:lnTo>
                  <a:lnTo>
                    <a:pt x="2433" y="1219"/>
                  </a:lnTo>
                  <a:lnTo>
                    <a:pt x="2939" y="1219"/>
                  </a:lnTo>
                  <a:lnTo>
                    <a:pt x="3258" y="1006"/>
                  </a:lnTo>
                  <a:lnTo>
                    <a:pt x="3408" y="997"/>
                  </a:lnTo>
                  <a:lnTo>
                    <a:pt x="3612" y="802"/>
                  </a:lnTo>
                  <a:lnTo>
                    <a:pt x="3904" y="824"/>
                  </a:lnTo>
                  <a:lnTo>
                    <a:pt x="4215" y="177"/>
                  </a:lnTo>
                  <a:lnTo>
                    <a:pt x="4356" y="186"/>
                  </a:lnTo>
                  <a:lnTo>
                    <a:pt x="4569" y="0"/>
                  </a:lnTo>
                  <a:lnTo>
                    <a:pt x="5163" y="9"/>
                  </a:lnTo>
                  <a:lnTo>
                    <a:pt x="5384" y="150"/>
                  </a:lnTo>
                  <a:lnTo>
                    <a:pt x="5500" y="167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0" name="Freeform 445"/>
            <p:cNvSpPr>
              <a:spLocks/>
            </p:cNvSpPr>
            <p:nvPr/>
          </p:nvSpPr>
          <p:spPr bwMode="auto">
            <a:xfrm>
              <a:off x="863600" y="1814513"/>
              <a:ext cx="8702675" cy="688975"/>
            </a:xfrm>
            <a:custGeom>
              <a:avLst/>
              <a:gdLst>
                <a:gd name="T0" fmla="*/ 0 w 5482"/>
                <a:gd name="T1" fmla="*/ 47 h 434"/>
                <a:gd name="T2" fmla="*/ 129 w 5482"/>
                <a:gd name="T3" fmla="*/ 36 h 434"/>
                <a:gd name="T4" fmla="*/ 954 w 5482"/>
                <a:gd name="T5" fmla="*/ 22 h 434"/>
                <a:gd name="T6" fmla="*/ 1787 w 5482"/>
                <a:gd name="T7" fmla="*/ 0 h 434"/>
                <a:gd name="T8" fmla="*/ 2008 w 5482"/>
                <a:gd name="T9" fmla="*/ 186 h 434"/>
                <a:gd name="T10" fmla="*/ 2150 w 5482"/>
                <a:gd name="T11" fmla="*/ 195 h 434"/>
                <a:gd name="T12" fmla="*/ 2451 w 5482"/>
                <a:gd name="T13" fmla="*/ 434 h 434"/>
                <a:gd name="T14" fmla="*/ 2956 w 5482"/>
                <a:gd name="T15" fmla="*/ 408 h 434"/>
                <a:gd name="T16" fmla="*/ 3275 w 5482"/>
                <a:gd name="T17" fmla="*/ 177 h 434"/>
                <a:gd name="T18" fmla="*/ 3408 w 5482"/>
                <a:gd name="T19" fmla="*/ 186 h 434"/>
                <a:gd name="T20" fmla="*/ 3630 w 5482"/>
                <a:gd name="T21" fmla="*/ 0 h 434"/>
                <a:gd name="T22" fmla="*/ 4569 w 5482"/>
                <a:gd name="T23" fmla="*/ 13 h 434"/>
                <a:gd name="T24" fmla="*/ 5163 w 5482"/>
                <a:gd name="T25" fmla="*/ 22 h 434"/>
                <a:gd name="T26" fmla="*/ 5384 w 5482"/>
                <a:gd name="T27" fmla="*/ 177 h 434"/>
                <a:gd name="T28" fmla="*/ 5482 w 5482"/>
                <a:gd name="T29" fmla="*/ 186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2" h="434">
                  <a:moveTo>
                    <a:pt x="0" y="47"/>
                  </a:moveTo>
                  <a:lnTo>
                    <a:pt x="129" y="36"/>
                  </a:lnTo>
                  <a:lnTo>
                    <a:pt x="954" y="22"/>
                  </a:lnTo>
                  <a:lnTo>
                    <a:pt x="1787" y="0"/>
                  </a:lnTo>
                  <a:lnTo>
                    <a:pt x="2008" y="186"/>
                  </a:lnTo>
                  <a:lnTo>
                    <a:pt x="2150" y="195"/>
                  </a:lnTo>
                  <a:lnTo>
                    <a:pt x="2451" y="434"/>
                  </a:lnTo>
                  <a:lnTo>
                    <a:pt x="2956" y="408"/>
                  </a:lnTo>
                  <a:lnTo>
                    <a:pt x="3275" y="177"/>
                  </a:lnTo>
                  <a:lnTo>
                    <a:pt x="3408" y="186"/>
                  </a:lnTo>
                  <a:lnTo>
                    <a:pt x="3630" y="0"/>
                  </a:lnTo>
                  <a:lnTo>
                    <a:pt x="4569" y="13"/>
                  </a:lnTo>
                  <a:lnTo>
                    <a:pt x="5163" y="22"/>
                  </a:lnTo>
                  <a:lnTo>
                    <a:pt x="5384" y="177"/>
                  </a:lnTo>
                  <a:lnTo>
                    <a:pt x="5482" y="186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1" name="Freeform 446"/>
            <p:cNvSpPr>
              <a:spLocks/>
            </p:cNvSpPr>
            <p:nvPr/>
          </p:nvSpPr>
          <p:spPr bwMode="auto">
            <a:xfrm>
              <a:off x="863600" y="1792288"/>
              <a:ext cx="8731250" cy="3286125"/>
            </a:xfrm>
            <a:custGeom>
              <a:avLst/>
              <a:gdLst>
                <a:gd name="T0" fmla="*/ 0 w 5500"/>
                <a:gd name="T1" fmla="*/ 12 h 2070"/>
                <a:gd name="T2" fmla="*/ 129 w 5500"/>
                <a:gd name="T3" fmla="*/ 0 h 2070"/>
                <a:gd name="T4" fmla="*/ 351 w 5500"/>
                <a:gd name="T5" fmla="*/ 171 h 2070"/>
                <a:gd name="T6" fmla="*/ 493 w 5500"/>
                <a:gd name="T7" fmla="*/ 171 h 2070"/>
                <a:gd name="T8" fmla="*/ 812 w 5500"/>
                <a:gd name="T9" fmla="*/ 1651 h 2070"/>
                <a:gd name="T10" fmla="*/ 1760 w 5500"/>
                <a:gd name="T11" fmla="*/ 1645 h 2070"/>
                <a:gd name="T12" fmla="*/ 1964 w 5500"/>
                <a:gd name="T13" fmla="*/ 1848 h 2070"/>
                <a:gd name="T14" fmla="*/ 2132 w 5500"/>
                <a:gd name="T15" fmla="*/ 1857 h 2070"/>
                <a:gd name="T16" fmla="*/ 2425 w 5500"/>
                <a:gd name="T17" fmla="*/ 2070 h 2070"/>
                <a:gd name="T18" fmla="*/ 2947 w 5500"/>
                <a:gd name="T19" fmla="*/ 2061 h 2070"/>
                <a:gd name="T20" fmla="*/ 3275 w 5500"/>
                <a:gd name="T21" fmla="*/ 1831 h 2070"/>
                <a:gd name="T22" fmla="*/ 3639 w 5500"/>
                <a:gd name="T23" fmla="*/ 1645 h 2070"/>
                <a:gd name="T24" fmla="*/ 4720 w 5500"/>
                <a:gd name="T25" fmla="*/ 1660 h 2070"/>
                <a:gd name="T26" fmla="*/ 5030 w 5500"/>
                <a:gd name="T27" fmla="*/ 190 h 2070"/>
                <a:gd name="T28" fmla="*/ 5172 w 5500"/>
                <a:gd name="T29" fmla="*/ 190 h 2070"/>
                <a:gd name="T30" fmla="*/ 5384 w 5500"/>
                <a:gd name="T31" fmla="*/ 191 h 2070"/>
                <a:gd name="T32" fmla="*/ 5500 w 5500"/>
                <a:gd name="T33" fmla="*/ 183 h 2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500" h="2070">
                  <a:moveTo>
                    <a:pt x="0" y="12"/>
                  </a:moveTo>
                  <a:lnTo>
                    <a:pt x="129" y="0"/>
                  </a:lnTo>
                  <a:lnTo>
                    <a:pt x="351" y="171"/>
                  </a:lnTo>
                  <a:lnTo>
                    <a:pt x="493" y="171"/>
                  </a:lnTo>
                  <a:lnTo>
                    <a:pt x="812" y="1651"/>
                  </a:lnTo>
                  <a:lnTo>
                    <a:pt x="1760" y="1645"/>
                  </a:lnTo>
                  <a:lnTo>
                    <a:pt x="1964" y="1848"/>
                  </a:lnTo>
                  <a:lnTo>
                    <a:pt x="2132" y="1857"/>
                  </a:lnTo>
                  <a:lnTo>
                    <a:pt x="2425" y="2070"/>
                  </a:lnTo>
                  <a:lnTo>
                    <a:pt x="2947" y="2061"/>
                  </a:lnTo>
                  <a:lnTo>
                    <a:pt x="3275" y="1831"/>
                  </a:lnTo>
                  <a:lnTo>
                    <a:pt x="3639" y="1645"/>
                  </a:lnTo>
                  <a:lnTo>
                    <a:pt x="4720" y="1660"/>
                  </a:lnTo>
                  <a:lnTo>
                    <a:pt x="5030" y="190"/>
                  </a:lnTo>
                  <a:lnTo>
                    <a:pt x="5172" y="190"/>
                  </a:lnTo>
                  <a:lnTo>
                    <a:pt x="5384" y="191"/>
                  </a:lnTo>
                  <a:lnTo>
                    <a:pt x="5500" y="183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2" name="Freeform 447"/>
            <p:cNvSpPr>
              <a:spLocks/>
            </p:cNvSpPr>
            <p:nvPr/>
          </p:nvSpPr>
          <p:spPr bwMode="auto">
            <a:xfrm>
              <a:off x="863600" y="1863725"/>
              <a:ext cx="8702675" cy="4508500"/>
            </a:xfrm>
            <a:custGeom>
              <a:avLst/>
              <a:gdLst>
                <a:gd name="T0" fmla="*/ 0 w 5482"/>
                <a:gd name="T1" fmla="*/ 11 h 2840"/>
                <a:gd name="T2" fmla="*/ 129 w 5482"/>
                <a:gd name="T3" fmla="*/ 0 h 2840"/>
                <a:gd name="T4" fmla="*/ 351 w 5482"/>
                <a:gd name="T5" fmla="*/ 168 h 2840"/>
                <a:gd name="T6" fmla="*/ 493 w 5482"/>
                <a:gd name="T7" fmla="*/ 168 h 2840"/>
                <a:gd name="T8" fmla="*/ 812 w 5482"/>
                <a:gd name="T9" fmla="*/ 1622 h 2840"/>
                <a:gd name="T10" fmla="*/ 971 w 5482"/>
                <a:gd name="T11" fmla="*/ 1633 h 2840"/>
                <a:gd name="T12" fmla="*/ 1184 w 5482"/>
                <a:gd name="T13" fmla="*/ 1811 h 2840"/>
                <a:gd name="T14" fmla="*/ 1317 w 5482"/>
                <a:gd name="T15" fmla="*/ 1811 h 2840"/>
                <a:gd name="T16" fmla="*/ 1618 w 5482"/>
                <a:gd name="T17" fmla="*/ 2431 h 2840"/>
                <a:gd name="T18" fmla="*/ 1769 w 5482"/>
                <a:gd name="T19" fmla="*/ 2424 h 2840"/>
                <a:gd name="T20" fmla="*/ 1973 w 5482"/>
                <a:gd name="T21" fmla="*/ 2610 h 2840"/>
                <a:gd name="T22" fmla="*/ 2114 w 5482"/>
                <a:gd name="T23" fmla="*/ 2610 h 2840"/>
                <a:gd name="T24" fmla="*/ 2460 w 5482"/>
                <a:gd name="T25" fmla="*/ 2840 h 2840"/>
                <a:gd name="T26" fmla="*/ 2921 w 5482"/>
                <a:gd name="T27" fmla="*/ 2831 h 2840"/>
                <a:gd name="T28" fmla="*/ 3258 w 5482"/>
                <a:gd name="T29" fmla="*/ 2610 h 2840"/>
                <a:gd name="T30" fmla="*/ 3382 w 5482"/>
                <a:gd name="T31" fmla="*/ 2619 h 2840"/>
                <a:gd name="T32" fmla="*/ 3621 w 5482"/>
                <a:gd name="T33" fmla="*/ 2424 h 2840"/>
                <a:gd name="T34" fmla="*/ 3887 w 5482"/>
                <a:gd name="T35" fmla="*/ 2440 h 2840"/>
                <a:gd name="T36" fmla="*/ 4197 w 5482"/>
                <a:gd name="T37" fmla="*/ 1811 h 2840"/>
                <a:gd name="T38" fmla="*/ 4348 w 5482"/>
                <a:gd name="T39" fmla="*/ 1811 h 2840"/>
                <a:gd name="T40" fmla="*/ 4720 w 5482"/>
                <a:gd name="T41" fmla="*/ 1631 h 2840"/>
                <a:gd name="T42" fmla="*/ 5030 w 5482"/>
                <a:gd name="T43" fmla="*/ 186 h 2840"/>
                <a:gd name="T44" fmla="*/ 5172 w 5482"/>
                <a:gd name="T45" fmla="*/ 186 h 2840"/>
                <a:gd name="T46" fmla="*/ 5393 w 5482"/>
                <a:gd name="T47" fmla="*/ 155 h 2840"/>
                <a:gd name="T48" fmla="*/ 5482 w 5482"/>
                <a:gd name="T49" fmla="*/ 129 h 2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82" h="2840">
                  <a:moveTo>
                    <a:pt x="0" y="11"/>
                  </a:moveTo>
                  <a:lnTo>
                    <a:pt x="129" y="0"/>
                  </a:lnTo>
                  <a:lnTo>
                    <a:pt x="351" y="168"/>
                  </a:lnTo>
                  <a:lnTo>
                    <a:pt x="493" y="168"/>
                  </a:lnTo>
                  <a:lnTo>
                    <a:pt x="812" y="1622"/>
                  </a:lnTo>
                  <a:lnTo>
                    <a:pt x="971" y="1633"/>
                  </a:lnTo>
                  <a:lnTo>
                    <a:pt x="1184" y="1811"/>
                  </a:lnTo>
                  <a:lnTo>
                    <a:pt x="1317" y="1811"/>
                  </a:lnTo>
                  <a:lnTo>
                    <a:pt x="1618" y="2431"/>
                  </a:lnTo>
                  <a:lnTo>
                    <a:pt x="1769" y="2424"/>
                  </a:lnTo>
                  <a:lnTo>
                    <a:pt x="1973" y="2610"/>
                  </a:lnTo>
                  <a:lnTo>
                    <a:pt x="2114" y="2610"/>
                  </a:lnTo>
                  <a:lnTo>
                    <a:pt x="2460" y="2840"/>
                  </a:lnTo>
                  <a:lnTo>
                    <a:pt x="2921" y="2831"/>
                  </a:lnTo>
                  <a:lnTo>
                    <a:pt x="3258" y="2610"/>
                  </a:lnTo>
                  <a:lnTo>
                    <a:pt x="3382" y="2619"/>
                  </a:lnTo>
                  <a:lnTo>
                    <a:pt x="3621" y="2424"/>
                  </a:lnTo>
                  <a:lnTo>
                    <a:pt x="3887" y="2440"/>
                  </a:lnTo>
                  <a:lnTo>
                    <a:pt x="4197" y="1811"/>
                  </a:lnTo>
                  <a:lnTo>
                    <a:pt x="4348" y="1811"/>
                  </a:lnTo>
                  <a:lnTo>
                    <a:pt x="4720" y="1631"/>
                  </a:lnTo>
                  <a:lnTo>
                    <a:pt x="5030" y="186"/>
                  </a:lnTo>
                  <a:lnTo>
                    <a:pt x="5172" y="186"/>
                  </a:lnTo>
                  <a:lnTo>
                    <a:pt x="5393" y="155"/>
                  </a:lnTo>
                  <a:lnTo>
                    <a:pt x="5482" y="12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</p:grpSp>
      <p:sp>
        <p:nvSpPr>
          <p:cNvPr id="443" name="Text Box 403"/>
          <p:cNvSpPr txBox="1">
            <a:spLocks noChangeArrowheads="1"/>
          </p:cNvSpPr>
          <p:nvPr/>
        </p:nvSpPr>
        <p:spPr bwMode="auto">
          <a:xfrm>
            <a:off x="847716" y="6309320"/>
            <a:ext cx="6965612" cy="34848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9973" tIns="44986" rIns="89973" bIns="44986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013" indent="-214313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217488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/>
            <a:r>
              <a:rPr lang="en-GB" altLang="zh-TW" sz="1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There are 8 alternative </a:t>
            </a:r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paths from </a:t>
            </a:r>
            <a:r>
              <a:rPr lang="en-GB" altLang="zh-TW" sz="1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node 0 </a:t>
            </a:r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to </a:t>
            </a:r>
            <a:r>
              <a:rPr lang="en-GB" altLang="zh-TW" sz="1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node 1 in Benes MIN</a:t>
            </a:r>
            <a:endParaRPr lang="en-GB" altLang="zh-TW" sz="1800" i="1" dirty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5613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Benes MIN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576263" y="1484784"/>
            <a:ext cx="7956177" cy="4688482"/>
            <a:chOff x="576263" y="1620838"/>
            <a:chExt cx="9288462" cy="5327650"/>
          </a:xfrm>
        </p:grpSpPr>
        <p:sp>
          <p:nvSpPr>
            <p:cNvPr id="5" name="AutoShape 446"/>
            <p:cNvSpPr>
              <a:spLocks noChangeArrowheads="1"/>
            </p:cNvSpPr>
            <p:nvPr/>
          </p:nvSpPr>
          <p:spPr bwMode="auto">
            <a:xfrm>
              <a:off x="2016125" y="4284663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" name="AutoShape 447"/>
            <p:cNvSpPr>
              <a:spLocks noChangeArrowheads="1"/>
            </p:cNvSpPr>
            <p:nvPr/>
          </p:nvSpPr>
          <p:spPr bwMode="auto">
            <a:xfrm>
              <a:off x="2016125" y="1620838"/>
              <a:ext cx="6480175" cy="2663825"/>
            </a:xfrm>
            <a:prstGeom prst="roundRect">
              <a:avLst>
                <a:gd name="adj" fmla="val 16667"/>
              </a:avLst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" name="AutoShape 448"/>
            <p:cNvSpPr>
              <a:spLocks noChangeArrowheads="1"/>
            </p:cNvSpPr>
            <p:nvPr/>
          </p:nvSpPr>
          <p:spPr bwMode="auto">
            <a:xfrm>
              <a:off x="3527425" y="42846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8" name="AutoShape 449"/>
            <p:cNvSpPr>
              <a:spLocks noChangeArrowheads="1"/>
            </p:cNvSpPr>
            <p:nvPr/>
          </p:nvSpPr>
          <p:spPr bwMode="auto">
            <a:xfrm>
              <a:off x="3527425" y="29892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9" name="AutoShape 450"/>
            <p:cNvSpPr>
              <a:spLocks noChangeArrowheads="1"/>
            </p:cNvSpPr>
            <p:nvPr/>
          </p:nvSpPr>
          <p:spPr bwMode="auto">
            <a:xfrm>
              <a:off x="3527425" y="1692275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0" name="AutoShape 451"/>
            <p:cNvSpPr>
              <a:spLocks noChangeArrowheads="1"/>
            </p:cNvSpPr>
            <p:nvPr/>
          </p:nvSpPr>
          <p:spPr bwMode="auto">
            <a:xfrm>
              <a:off x="3527425" y="5580063"/>
              <a:ext cx="3313113" cy="12954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10810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0810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0810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10810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0810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10810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10810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10810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8651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8651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8651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8651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8651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8651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8651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>
              <a:off x="8651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8651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8651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8651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8651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8651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8651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8651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8651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14414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14414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14414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14414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14414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" name="Line 33"/>
            <p:cNvSpPr>
              <a:spLocks noChangeShapeType="1"/>
            </p:cNvSpPr>
            <p:nvPr/>
          </p:nvSpPr>
          <p:spPr bwMode="auto">
            <a:xfrm>
              <a:off x="14414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1" name="Line 34"/>
            <p:cNvSpPr>
              <a:spLocks noChangeShapeType="1"/>
            </p:cNvSpPr>
            <p:nvPr/>
          </p:nvSpPr>
          <p:spPr bwMode="auto">
            <a:xfrm>
              <a:off x="14414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2" name="Line 35"/>
            <p:cNvSpPr>
              <a:spLocks noChangeShapeType="1"/>
            </p:cNvSpPr>
            <p:nvPr/>
          </p:nvSpPr>
          <p:spPr bwMode="auto">
            <a:xfrm>
              <a:off x="14414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" name="Line 36"/>
            <p:cNvSpPr>
              <a:spLocks noChangeShapeType="1"/>
            </p:cNvSpPr>
            <p:nvPr/>
          </p:nvSpPr>
          <p:spPr bwMode="auto">
            <a:xfrm>
              <a:off x="14414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14414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14414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6" name="Line 39"/>
            <p:cNvSpPr>
              <a:spLocks noChangeShapeType="1"/>
            </p:cNvSpPr>
            <p:nvPr/>
          </p:nvSpPr>
          <p:spPr bwMode="auto">
            <a:xfrm>
              <a:off x="14414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14414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8" name="Line 41"/>
            <p:cNvSpPr>
              <a:spLocks noChangeShapeType="1"/>
            </p:cNvSpPr>
            <p:nvPr/>
          </p:nvSpPr>
          <p:spPr bwMode="auto">
            <a:xfrm>
              <a:off x="14414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9" name="Line 42"/>
            <p:cNvSpPr>
              <a:spLocks noChangeShapeType="1"/>
            </p:cNvSpPr>
            <p:nvPr/>
          </p:nvSpPr>
          <p:spPr bwMode="auto">
            <a:xfrm>
              <a:off x="14414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0" name="Line 43"/>
            <p:cNvSpPr>
              <a:spLocks noChangeShapeType="1"/>
            </p:cNvSpPr>
            <p:nvPr/>
          </p:nvSpPr>
          <p:spPr bwMode="auto">
            <a:xfrm>
              <a:off x="14414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1" name="Line 44"/>
            <p:cNvSpPr>
              <a:spLocks noChangeShapeType="1"/>
            </p:cNvSpPr>
            <p:nvPr/>
          </p:nvSpPr>
          <p:spPr bwMode="auto">
            <a:xfrm>
              <a:off x="1657350" y="1835150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1657350" y="6659563"/>
              <a:ext cx="503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3" name="Line 46"/>
            <p:cNvSpPr>
              <a:spLocks noChangeShapeType="1"/>
            </p:cNvSpPr>
            <p:nvPr/>
          </p:nvSpPr>
          <p:spPr bwMode="auto">
            <a:xfrm>
              <a:off x="1657350" y="2122488"/>
              <a:ext cx="503238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4" name="Line 47"/>
            <p:cNvSpPr>
              <a:spLocks noChangeShapeType="1"/>
            </p:cNvSpPr>
            <p:nvPr/>
          </p:nvSpPr>
          <p:spPr bwMode="auto">
            <a:xfrm flipV="1">
              <a:off x="1657350" y="2122488"/>
              <a:ext cx="503238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5" name="Line 48"/>
            <p:cNvSpPr>
              <a:spLocks noChangeShapeType="1"/>
            </p:cNvSpPr>
            <p:nvPr/>
          </p:nvSpPr>
          <p:spPr bwMode="auto">
            <a:xfrm flipV="1">
              <a:off x="1657350" y="2482850"/>
              <a:ext cx="503238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6" name="Line 49"/>
            <p:cNvSpPr>
              <a:spLocks noChangeShapeType="1"/>
            </p:cNvSpPr>
            <p:nvPr/>
          </p:nvSpPr>
          <p:spPr bwMode="auto">
            <a:xfrm flipV="1">
              <a:off x="1657350" y="2771775"/>
              <a:ext cx="503238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7" name="Line 50"/>
            <p:cNvSpPr>
              <a:spLocks noChangeShapeType="1"/>
            </p:cNvSpPr>
            <p:nvPr/>
          </p:nvSpPr>
          <p:spPr bwMode="auto">
            <a:xfrm flipV="1">
              <a:off x="1657350" y="3130550"/>
              <a:ext cx="503238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8" name="Line 51"/>
            <p:cNvSpPr>
              <a:spLocks noChangeShapeType="1"/>
            </p:cNvSpPr>
            <p:nvPr/>
          </p:nvSpPr>
          <p:spPr bwMode="auto">
            <a:xfrm flipV="1">
              <a:off x="1657350" y="3419475"/>
              <a:ext cx="503238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59" name="Line 52"/>
            <p:cNvSpPr>
              <a:spLocks noChangeShapeType="1"/>
            </p:cNvSpPr>
            <p:nvPr/>
          </p:nvSpPr>
          <p:spPr bwMode="auto">
            <a:xfrm flipV="1">
              <a:off x="1657350" y="3779838"/>
              <a:ext cx="503238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0" name="Line 53"/>
            <p:cNvSpPr>
              <a:spLocks noChangeShapeType="1"/>
            </p:cNvSpPr>
            <p:nvPr/>
          </p:nvSpPr>
          <p:spPr bwMode="auto">
            <a:xfrm flipV="1">
              <a:off x="1657350" y="4067175"/>
              <a:ext cx="503238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1" name="Line 54"/>
            <p:cNvSpPr>
              <a:spLocks noChangeShapeType="1"/>
            </p:cNvSpPr>
            <p:nvPr/>
          </p:nvSpPr>
          <p:spPr bwMode="auto">
            <a:xfrm>
              <a:off x="1657350" y="2771775"/>
              <a:ext cx="503238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2" name="Line 55"/>
            <p:cNvSpPr>
              <a:spLocks noChangeShapeType="1"/>
            </p:cNvSpPr>
            <p:nvPr/>
          </p:nvSpPr>
          <p:spPr bwMode="auto">
            <a:xfrm>
              <a:off x="1657350" y="3419475"/>
              <a:ext cx="503238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3" name="Line 56"/>
            <p:cNvSpPr>
              <a:spLocks noChangeShapeType="1"/>
            </p:cNvSpPr>
            <p:nvPr/>
          </p:nvSpPr>
          <p:spPr bwMode="auto">
            <a:xfrm>
              <a:off x="1657350" y="4067175"/>
              <a:ext cx="503238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4" name="Line 57"/>
            <p:cNvSpPr>
              <a:spLocks noChangeShapeType="1"/>
            </p:cNvSpPr>
            <p:nvPr/>
          </p:nvSpPr>
          <p:spPr bwMode="auto">
            <a:xfrm>
              <a:off x="1657350" y="4714875"/>
              <a:ext cx="503238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5" name="Line 58"/>
            <p:cNvSpPr>
              <a:spLocks noChangeShapeType="1"/>
            </p:cNvSpPr>
            <p:nvPr/>
          </p:nvSpPr>
          <p:spPr bwMode="auto">
            <a:xfrm>
              <a:off x="1657350" y="5364163"/>
              <a:ext cx="503238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6" name="Line 59"/>
            <p:cNvSpPr>
              <a:spLocks noChangeShapeType="1"/>
            </p:cNvSpPr>
            <p:nvPr/>
          </p:nvSpPr>
          <p:spPr bwMode="auto">
            <a:xfrm>
              <a:off x="1657350" y="6011863"/>
              <a:ext cx="503238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67" name="Rectangle 60"/>
            <p:cNvSpPr>
              <a:spLocks noChangeArrowheads="1"/>
            </p:cNvSpPr>
            <p:nvPr/>
          </p:nvSpPr>
          <p:spPr bwMode="auto">
            <a:xfrm>
              <a:off x="90709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8" name="Rectangle 61"/>
            <p:cNvSpPr>
              <a:spLocks noChangeArrowheads="1"/>
            </p:cNvSpPr>
            <p:nvPr/>
          </p:nvSpPr>
          <p:spPr bwMode="auto">
            <a:xfrm>
              <a:off x="90709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69" name="Rectangle 62"/>
            <p:cNvSpPr>
              <a:spLocks noChangeArrowheads="1"/>
            </p:cNvSpPr>
            <p:nvPr/>
          </p:nvSpPr>
          <p:spPr bwMode="auto">
            <a:xfrm>
              <a:off x="90709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0" name="Rectangle 63"/>
            <p:cNvSpPr>
              <a:spLocks noChangeArrowheads="1"/>
            </p:cNvSpPr>
            <p:nvPr/>
          </p:nvSpPr>
          <p:spPr bwMode="auto">
            <a:xfrm>
              <a:off x="90709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1" name="Rectangle 64"/>
            <p:cNvSpPr>
              <a:spLocks noChangeArrowheads="1"/>
            </p:cNvSpPr>
            <p:nvPr/>
          </p:nvSpPr>
          <p:spPr bwMode="auto">
            <a:xfrm>
              <a:off x="90709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2" name="Rectangle 65"/>
            <p:cNvSpPr>
              <a:spLocks noChangeArrowheads="1"/>
            </p:cNvSpPr>
            <p:nvPr/>
          </p:nvSpPr>
          <p:spPr bwMode="auto">
            <a:xfrm>
              <a:off x="90709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3" name="Rectangle 66"/>
            <p:cNvSpPr>
              <a:spLocks noChangeArrowheads="1"/>
            </p:cNvSpPr>
            <p:nvPr/>
          </p:nvSpPr>
          <p:spPr bwMode="auto">
            <a:xfrm>
              <a:off x="90709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4" name="Rectangle 67"/>
            <p:cNvSpPr>
              <a:spLocks noChangeArrowheads="1"/>
            </p:cNvSpPr>
            <p:nvPr/>
          </p:nvSpPr>
          <p:spPr bwMode="auto">
            <a:xfrm>
              <a:off x="90709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75" name="Line 68"/>
            <p:cNvSpPr>
              <a:spLocks noChangeShapeType="1"/>
            </p:cNvSpPr>
            <p:nvPr/>
          </p:nvSpPr>
          <p:spPr bwMode="auto">
            <a:xfrm>
              <a:off x="88550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6" name="Line 69"/>
            <p:cNvSpPr>
              <a:spLocks noChangeShapeType="1"/>
            </p:cNvSpPr>
            <p:nvPr/>
          </p:nvSpPr>
          <p:spPr bwMode="auto">
            <a:xfrm>
              <a:off x="88550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7" name="Line 70"/>
            <p:cNvSpPr>
              <a:spLocks noChangeShapeType="1"/>
            </p:cNvSpPr>
            <p:nvPr/>
          </p:nvSpPr>
          <p:spPr bwMode="auto">
            <a:xfrm>
              <a:off x="88550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8" name="Line 71"/>
            <p:cNvSpPr>
              <a:spLocks noChangeShapeType="1"/>
            </p:cNvSpPr>
            <p:nvPr/>
          </p:nvSpPr>
          <p:spPr bwMode="auto">
            <a:xfrm>
              <a:off x="88550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79" name="Line 72"/>
            <p:cNvSpPr>
              <a:spLocks noChangeShapeType="1"/>
            </p:cNvSpPr>
            <p:nvPr/>
          </p:nvSpPr>
          <p:spPr bwMode="auto">
            <a:xfrm>
              <a:off x="88550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0" name="Line 73"/>
            <p:cNvSpPr>
              <a:spLocks noChangeShapeType="1"/>
            </p:cNvSpPr>
            <p:nvPr/>
          </p:nvSpPr>
          <p:spPr bwMode="auto">
            <a:xfrm>
              <a:off x="88550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1" name="Line 74"/>
            <p:cNvSpPr>
              <a:spLocks noChangeShapeType="1"/>
            </p:cNvSpPr>
            <p:nvPr/>
          </p:nvSpPr>
          <p:spPr bwMode="auto">
            <a:xfrm>
              <a:off x="88550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2" name="Line 75"/>
            <p:cNvSpPr>
              <a:spLocks noChangeShapeType="1"/>
            </p:cNvSpPr>
            <p:nvPr/>
          </p:nvSpPr>
          <p:spPr bwMode="auto">
            <a:xfrm>
              <a:off x="88550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3" name="Line 76"/>
            <p:cNvSpPr>
              <a:spLocks noChangeShapeType="1"/>
            </p:cNvSpPr>
            <p:nvPr/>
          </p:nvSpPr>
          <p:spPr bwMode="auto">
            <a:xfrm>
              <a:off x="88550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4" name="Line 77"/>
            <p:cNvSpPr>
              <a:spLocks noChangeShapeType="1"/>
            </p:cNvSpPr>
            <p:nvPr/>
          </p:nvSpPr>
          <p:spPr bwMode="auto">
            <a:xfrm>
              <a:off x="88550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5" name="Line 78"/>
            <p:cNvSpPr>
              <a:spLocks noChangeShapeType="1"/>
            </p:cNvSpPr>
            <p:nvPr/>
          </p:nvSpPr>
          <p:spPr bwMode="auto">
            <a:xfrm>
              <a:off x="88550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6" name="Line 79"/>
            <p:cNvSpPr>
              <a:spLocks noChangeShapeType="1"/>
            </p:cNvSpPr>
            <p:nvPr/>
          </p:nvSpPr>
          <p:spPr bwMode="auto">
            <a:xfrm>
              <a:off x="88550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7" name="Line 80"/>
            <p:cNvSpPr>
              <a:spLocks noChangeShapeType="1"/>
            </p:cNvSpPr>
            <p:nvPr/>
          </p:nvSpPr>
          <p:spPr bwMode="auto">
            <a:xfrm>
              <a:off x="88550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8" name="Line 81"/>
            <p:cNvSpPr>
              <a:spLocks noChangeShapeType="1"/>
            </p:cNvSpPr>
            <p:nvPr/>
          </p:nvSpPr>
          <p:spPr bwMode="auto">
            <a:xfrm>
              <a:off x="88550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89" name="Line 82"/>
            <p:cNvSpPr>
              <a:spLocks noChangeShapeType="1"/>
            </p:cNvSpPr>
            <p:nvPr/>
          </p:nvSpPr>
          <p:spPr bwMode="auto">
            <a:xfrm>
              <a:off x="88550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0" name="Line 83"/>
            <p:cNvSpPr>
              <a:spLocks noChangeShapeType="1"/>
            </p:cNvSpPr>
            <p:nvPr/>
          </p:nvSpPr>
          <p:spPr bwMode="auto">
            <a:xfrm>
              <a:off x="88550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1" name="Line 84"/>
            <p:cNvSpPr>
              <a:spLocks noChangeShapeType="1"/>
            </p:cNvSpPr>
            <p:nvPr/>
          </p:nvSpPr>
          <p:spPr bwMode="auto">
            <a:xfrm>
              <a:off x="94313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2" name="Line 85"/>
            <p:cNvSpPr>
              <a:spLocks noChangeShapeType="1"/>
            </p:cNvSpPr>
            <p:nvPr/>
          </p:nvSpPr>
          <p:spPr bwMode="auto">
            <a:xfrm>
              <a:off x="94313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3" name="Line 86"/>
            <p:cNvSpPr>
              <a:spLocks noChangeShapeType="1"/>
            </p:cNvSpPr>
            <p:nvPr/>
          </p:nvSpPr>
          <p:spPr bwMode="auto">
            <a:xfrm>
              <a:off x="94313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4" name="Line 87"/>
            <p:cNvSpPr>
              <a:spLocks noChangeShapeType="1"/>
            </p:cNvSpPr>
            <p:nvPr/>
          </p:nvSpPr>
          <p:spPr bwMode="auto">
            <a:xfrm>
              <a:off x="94313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5" name="Line 88"/>
            <p:cNvSpPr>
              <a:spLocks noChangeShapeType="1"/>
            </p:cNvSpPr>
            <p:nvPr/>
          </p:nvSpPr>
          <p:spPr bwMode="auto">
            <a:xfrm>
              <a:off x="94313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6" name="Line 89"/>
            <p:cNvSpPr>
              <a:spLocks noChangeShapeType="1"/>
            </p:cNvSpPr>
            <p:nvPr/>
          </p:nvSpPr>
          <p:spPr bwMode="auto">
            <a:xfrm>
              <a:off x="94313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7" name="Line 90"/>
            <p:cNvSpPr>
              <a:spLocks noChangeShapeType="1"/>
            </p:cNvSpPr>
            <p:nvPr/>
          </p:nvSpPr>
          <p:spPr bwMode="auto">
            <a:xfrm>
              <a:off x="94313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8" name="Line 91"/>
            <p:cNvSpPr>
              <a:spLocks noChangeShapeType="1"/>
            </p:cNvSpPr>
            <p:nvPr/>
          </p:nvSpPr>
          <p:spPr bwMode="auto">
            <a:xfrm>
              <a:off x="94313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99" name="Line 92"/>
            <p:cNvSpPr>
              <a:spLocks noChangeShapeType="1"/>
            </p:cNvSpPr>
            <p:nvPr/>
          </p:nvSpPr>
          <p:spPr bwMode="auto">
            <a:xfrm>
              <a:off x="94313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0" name="Line 93"/>
            <p:cNvSpPr>
              <a:spLocks noChangeShapeType="1"/>
            </p:cNvSpPr>
            <p:nvPr/>
          </p:nvSpPr>
          <p:spPr bwMode="auto">
            <a:xfrm>
              <a:off x="94313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1" name="Line 94"/>
            <p:cNvSpPr>
              <a:spLocks noChangeShapeType="1"/>
            </p:cNvSpPr>
            <p:nvPr/>
          </p:nvSpPr>
          <p:spPr bwMode="auto">
            <a:xfrm>
              <a:off x="94313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2" name="Line 95"/>
            <p:cNvSpPr>
              <a:spLocks noChangeShapeType="1"/>
            </p:cNvSpPr>
            <p:nvPr/>
          </p:nvSpPr>
          <p:spPr bwMode="auto">
            <a:xfrm>
              <a:off x="94313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3" name="Line 96"/>
            <p:cNvSpPr>
              <a:spLocks noChangeShapeType="1"/>
            </p:cNvSpPr>
            <p:nvPr/>
          </p:nvSpPr>
          <p:spPr bwMode="auto">
            <a:xfrm>
              <a:off x="94313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4" name="Line 97"/>
            <p:cNvSpPr>
              <a:spLocks noChangeShapeType="1"/>
            </p:cNvSpPr>
            <p:nvPr/>
          </p:nvSpPr>
          <p:spPr bwMode="auto">
            <a:xfrm>
              <a:off x="94313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5" name="Line 98"/>
            <p:cNvSpPr>
              <a:spLocks noChangeShapeType="1"/>
            </p:cNvSpPr>
            <p:nvPr/>
          </p:nvSpPr>
          <p:spPr bwMode="auto">
            <a:xfrm>
              <a:off x="94313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6" name="Line 99"/>
            <p:cNvSpPr>
              <a:spLocks noChangeShapeType="1"/>
            </p:cNvSpPr>
            <p:nvPr/>
          </p:nvSpPr>
          <p:spPr bwMode="auto">
            <a:xfrm>
              <a:off x="94313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7" name="Line 100"/>
            <p:cNvSpPr>
              <a:spLocks noChangeShapeType="1"/>
            </p:cNvSpPr>
            <p:nvPr/>
          </p:nvSpPr>
          <p:spPr bwMode="auto">
            <a:xfrm flipV="1">
              <a:off x="8351838" y="1835150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8" name="Line 101"/>
            <p:cNvSpPr>
              <a:spLocks noChangeShapeType="1"/>
            </p:cNvSpPr>
            <p:nvPr/>
          </p:nvSpPr>
          <p:spPr bwMode="auto">
            <a:xfrm flipV="1">
              <a:off x="8351838" y="6659563"/>
              <a:ext cx="503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09" name="Line 102"/>
            <p:cNvSpPr>
              <a:spLocks noChangeShapeType="1"/>
            </p:cNvSpPr>
            <p:nvPr/>
          </p:nvSpPr>
          <p:spPr bwMode="auto">
            <a:xfrm flipV="1">
              <a:off x="8351838" y="2122488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0" name="Line 103"/>
            <p:cNvSpPr>
              <a:spLocks noChangeShapeType="1"/>
            </p:cNvSpPr>
            <p:nvPr/>
          </p:nvSpPr>
          <p:spPr bwMode="auto">
            <a:xfrm>
              <a:off x="8351838" y="2122488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1" name="Line 104"/>
            <p:cNvSpPr>
              <a:spLocks noChangeShapeType="1"/>
            </p:cNvSpPr>
            <p:nvPr/>
          </p:nvSpPr>
          <p:spPr bwMode="auto">
            <a:xfrm>
              <a:off x="8351838" y="2482850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2" name="Line 105"/>
            <p:cNvSpPr>
              <a:spLocks noChangeShapeType="1"/>
            </p:cNvSpPr>
            <p:nvPr/>
          </p:nvSpPr>
          <p:spPr bwMode="auto">
            <a:xfrm>
              <a:off x="8351838" y="27717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3" name="Line 106"/>
            <p:cNvSpPr>
              <a:spLocks noChangeShapeType="1"/>
            </p:cNvSpPr>
            <p:nvPr/>
          </p:nvSpPr>
          <p:spPr bwMode="auto">
            <a:xfrm>
              <a:off x="8351838" y="3130550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4" name="Line 107"/>
            <p:cNvSpPr>
              <a:spLocks noChangeShapeType="1"/>
            </p:cNvSpPr>
            <p:nvPr/>
          </p:nvSpPr>
          <p:spPr bwMode="auto">
            <a:xfrm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5" name="Line 108"/>
            <p:cNvSpPr>
              <a:spLocks noChangeShapeType="1"/>
            </p:cNvSpPr>
            <p:nvPr/>
          </p:nvSpPr>
          <p:spPr bwMode="auto">
            <a:xfrm>
              <a:off x="8351838" y="3779838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6" name="Line 109"/>
            <p:cNvSpPr>
              <a:spLocks noChangeShapeType="1"/>
            </p:cNvSpPr>
            <p:nvPr/>
          </p:nvSpPr>
          <p:spPr bwMode="auto">
            <a:xfrm>
              <a:off x="8351838" y="4067175"/>
              <a:ext cx="503237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7" name="Line 110"/>
            <p:cNvSpPr>
              <a:spLocks noChangeShapeType="1"/>
            </p:cNvSpPr>
            <p:nvPr/>
          </p:nvSpPr>
          <p:spPr bwMode="auto">
            <a:xfrm flipV="1">
              <a:off x="8351838" y="2771775"/>
              <a:ext cx="503237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8" name="Line 111"/>
            <p:cNvSpPr>
              <a:spLocks noChangeShapeType="1"/>
            </p:cNvSpPr>
            <p:nvPr/>
          </p:nvSpPr>
          <p:spPr bwMode="auto">
            <a:xfrm flipV="1">
              <a:off x="8351838" y="3419475"/>
              <a:ext cx="503237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 flipV="1">
              <a:off x="8351838" y="4067175"/>
              <a:ext cx="5032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0" name="Line 113"/>
            <p:cNvSpPr>
              <a:spLocks noChangeShapeType="1"/>
            </p:cNvSpPr>
            <p:nvPr/>
          </p:nvSpPr>
          <p:spPr bwMode="auto">
            <a:xfrm flipV="1">
              <a:off x="8351838" y="4714875"/>
              <a:ext cx="503237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 flipV="1">
              <a:off x="8351838" y="5364163"/>
              <a:ext cx="503237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2" name="Line 115"/>
            <p:cNvSpPr>
              <a:spLocks noChangeShapeType="1"/>
            </p:cNvSpPr>
            <p:nvPr/>
          </p:nvSpPr>
          <p:spPr bwMode="auto">
            <a:xfrm flipV="1">
              <a:off x="8351838" y="6011863"/>
              <a:ext cx="503237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23" name="Rectangle 116"/>
            <p:cNvSpPr>
              <a:spLocks noChangeArrowheads="1"/>
            </p:cNvSpPr>
            <p:nvPr/>
          </p:nvSpPr>
          <p:spPr bwMode="auto">
            <a:xfrm>
              <a:off x="23764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4" name="Rectangle 117"/>
            <p:cNvSpPr>
              <a:spLocks noChangeArrowheads="1"/>
            </p:cNvSpPr>
            <p:nvPr/>
          </p:nvSpPr>
          <p:spPr bwMode="auto">
            <a:xfrm>
              <a:off x="23764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5" name="Rectangle 118"/>
            <p:cNvSpPr>
              <a:spLocks noChangeArrowheads="1"/>
            </p:cNvSpPr>
            <p:nvPr/>
          </p:nvSpPr>
          <p:spPr bwMode="auto">
            <a:xfrm>
              <a:off x="23764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6" name="Rectangle 119"/>
            <p:cNvSpPr>
              <a:spLocks noChangeArrowheads="1"/>
            </p:cNvSpPr>
            <p:nvPr/>
          </p:nvSpPr>
          <p:spPr bwMode="auto">
            <a:xfrm>
              <a:off x="23764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7" name="Rectangle 120"/>
            <p:cNvSpPr>
              <a:spLocks noChangeArrowheads="1"/>
            </p:cNvSpPr>
            <p:nvPr/>
          </p:nvSpPr>
          <p:spPr bwMode="auto">
            <a:xfrm>
              <a:off x="23764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8" name="Rectangle 121"/>
            <p:cNvSpPr>
              <a:spLocks noChangeArrowheads="1"/>
            </p:cNvSpPr>
            <p:nvPr/>
          </p:nvSpPr>
          <p:spPr bwMode="auto">
            <a:xfrm>
              <a:off x="23764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29" name="Rectangle 122"/>
            <p:cNvSpPr>
              <a:spLocks noChangeArrowheads="1"/>
            </p:cNvSpPr>
            <p:nvPr/>
          </p:nvSpPr>
          <p:spPr bwMode="auto">
            <a:xfrm>
              <a:off x="23764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0" name="Rectangle 123"/>
            <p:cNvSpPr>
              <a:spLocks noChangeArrowheads="1"/>
            </p:cNvSpPr>
            <p:nvPr/>
          </p:nvSpPr>
          <p:spPr bwMode="auto">
            <a:xfrm>
              <a:off x="23764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1" name="Line 124"/>
            <p:cNvSpPr>
              <a:spLocks noChangeShapeType="1"/>
            </p:cNvSpPr>
            <p:nvPr/>
          </p:nvSpPr>
          <p:spPr bwMode="auto">
            <a:xfrm>
              <a:off x="21605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2" name="Line 125"/>
            <p:cNvSpPr>
              <a:spLocks noChangeShapeType="1"/>
            </p:cNvSpPr>
            <p:nvPr/>
          </p:nvSpPr>
          <p:spPr bwMode="auto">
            <a:xfrm>
              <a:off x="21605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3" name="Line 126"/>
            <p:cNvSpPr>
              <a:spLocks noChangeShapeType="1"/>
            </p:cNvSpPr>
            <p:nvPr/>
          </p:nvSpPr>
          <p:spPr bwMode="auto">
            <a:xfrm>
              <a:off x="216058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4" name="Line 127"/>
            <p:cNvSpPr>
              <a:spLocks noChangeShapeType="1"/>
            </p:cNvSpPr>
            <p:nvPr/>
          </p:nvSpPr>
          <p:spPr bwMode="auto">
            <a:xfrm>
              <a:off x="21605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" name="Line 128"/>
            <p:cNvSpPr>
              <a:spLocks noChangeShapeType="1"/>
            </p:cNvSpPr>
            <p:nvPr/>
          </p:nvSpPr>
          <p:spPr bwMode="auto">
            <a:xfrm>
              <a:off x="216058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6" name="Line 129"/>
            <p:cNvSpPr>
              <a:spLocks noChangeShapeType="1"/>
            </p:cNvSpPr>
            <p:nvPr/>
          </p:nvSpPr>
          <p:spPr bwMode="auto">
            <a:xfrm>
              <a:off x="21605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7" name="Line 130"/>
            <p:cNvSpPr>
              <a:spLocks noChangeShapeType="1"/>
            </p:cNvSpPr>
            <p:nvPr/>
          </p:nvSpPr>
          <p:spPr bwMode="auto">
            <a:xfrm>
              <a:off x="21605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8" name="Line 131"/>
            <p:cNvSpPr>
              <a:spLocks noChangeShapeType="1"/>
            </p:cNvSpPr>
            <p:nvPr/>
          </p:nvSpPr>
          <p:spPr bwMode="auto">
            <a:xfrm>
              <a:off x="21605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39" name="Line 132"/>
            <p:cNvSpPr>
              <a:spLocks noChangeShapeType="1"/>
            </p:cNvSpPr>
            <p:nvPr/>
          </p:nvSpPr>
          <p:spPr bwMode="auto">
            <a:xfrm>
              <a:off x="216058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0" name="Line 133"/>
            <p:cNvSpPr>
              <a:spLocks noChangeShapeType="1"/>
            </p:cNvSpPr>
            <p:nvPr/>
          </p:nvSpPr>
          <p:spPr bwMode="auto">
            <a:xfrm>
              <a:off x="216058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1" name="Line 134"/>
            <p:cNvSpPr>
              <a:spLocks noChangeShapeType="1"/>
            </p:cNvSpPr>
            <p:nvPr/>
          </p:nvSpPr>
          <p:spPr bwMode="auto">
            <a:xfrm>
              <a:off x="216058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2" name="Line 135"/>
            <p:cNvSpPr>
              <a:spLocks noChangeShapeType="1"/>
            </p:cNvSpPr>
            <p:nvPr/>
          </p:nvSpPr>
          <p:spPr bwMode="auto">
            <a:xfrm>
              <a:off x="216058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3" name="Line 136"/>
            <p:cNvSpPr>
              <a:spLocks noChangeShapeType="1"/>
            </p:cNvSpPr>
            <p:nvPr/>
          </p:nvSpPr>
          <p:spPr bwMode="auto">
            <a:xfrm>
              <a:off x="216058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4" name="Line 137"/>
            <p:cNvSpPr>
              <a:spLocks noChangeShapeType="1"/>
            </p:cNvSpPr>
            <p:nvPr/>
          </p:nvSpPr>
          <p:spPr bwMode="auto">
            <a:xfrm>
              <a:off x="216058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5" name="Line 138"/>
            <p:cNvSpPr>
              <a:spLocks noChangeShapeType="1"/>
            </p:cNvSpPr>
            <p:nvPr/>
          </p:nvSpPr>
          <p:spPr bwMode="auto">
            <a:xfrm>
              <a:off x="216058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6" name="Line 139"/>
            <p:cNvSpPr>
              <a:spLocks noChangeShapeType="1"/>
            </p:cNvSpPr>
            <p:nvPr/>
          </p:nvSpPr>
          <p:spPr bwMode="auto">
            <a:xfrm>
              <a:off x="216058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7" name="Line 140"/>
            <p:cNvSpPr>
              <a:spLocks noChangeShapeType="1"/>
            </p:cNvSpPr>
            <p:nvPr/>
          </p:nvSpPr>
          <p:spPr bwMode="auto">
            <a:xfrm>
              <a:off x="27368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8" name="Line 141"/>
            <p:cNvSpPr>
              <a:spLocks noChangeShapeType="1"/>
            </p:cNvSpPr>
            <p:nvPr/>
          </p:nvSpPr>
          <p:spPr bwMode="auto">
            <a:xfrm>
              <a:off x="27368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49" name="Line 142"/>
            <p:cNvSpPr>
              <a:spLocks noChangeShapeType="1"/>
            </p:cNvSpPr>
            <p:nvPr/>
          </p:nvSpPr>
          <p:spPr bwMode="auto">
            <a:xfrm>
              <a:off x="27368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0" name="Line 143"/>
            <p:cNvSpPr>
              <a:spLocks noChangeShapeType="1"/>
            </p:cNvSpPr>
            <p:nvPr/>
          </p:nvSpPr>
          <p:spPr bwMode="auto">
            <a:xfrm>
              <a:off x="27368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1" name="Line 144"/>
            <p:cNvSpPr>
              <a:spLocks noChangeShapeType="1"/>
            </p:cNvSpPr>
            <p:nvPr/>
          </p:nvSpPr>
          <p:spPr bwMode="auto">
            <a:xfrm>
              <a:off x="27368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2" name="Line 145"/>
            <p:cNvSpPr>
              <a:spLocks noChangeShapeType="1"/>
            </p:cNvSpPr>
            <p:nvPr/>
          </p:nvSpPr>
          <p:spPr bwMode="auto">
            <a:xfrm>
              <a:off x="27368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3" name="Line 146"/>
            <p:cNvSpPr>
              <a:spLocks noChangeShapeType="1"/>
            </p:cNvSpPr>
            <p:nvPr/>
          </p:nvSpPr>
          <p:spPr bwMode="auto">
            <a:xfrm>
              <a:off x="27368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4" name="Line 147"/>
            <p:cNvSpPr>
              <a:spLocks noChangeShapeType="1"/>
            </p:cNvSpPr>
            <p:nvPr/>
          </p:nvSpPr>
          <p:spPr bwMode="auto">
            <a:xfrm>
              <a:off x="27368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5" name="Line 148"/>
            <p:cNvSpPr>
              <a:spLocks noChangeShapeType="1"/>
            </p:cNvSpPr>
            <p:nvPr/>
          </p:nvSpPr>
          <p:spPr bwMode="auto">
            <a:xfrm>
              <a:off x="27368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6" name="Line 149"/>
            <p:cNvSpPr>
              <a:spLocks noChangeShapeType="1"/>
            </p:cNvSpPr>
            <p:nvPr/>
          </p:nvSpPr>
          <p:spPr bwMode="auto">
            <a:xfrm>
              <a:off x="27368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7" name="Line 150"/>
            <p:cNvSpPr>
              <a:spLocks noChangeShapeType="1"/>
            </p:cNvSpPr>
            <p:nvPr/>
          </p:nvSpPr>
          <p:spPr bwMode="auto">
            <a:xfrm>
              <a:off x="27368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8" name="Line 151"/>
            <p:cNvSpPr>
              <a:spLocks noChangeShapeType="1"/>
            </p:cNvSpPr>
            <p:nvPr/>
          </p:nvSpPr>
          <p:spPr bwMode="auto">
            <a:xfrm>
              <a:off x="27368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59" name="Line 152"/>
            <p:cNvSpPr>
              <a:spLocks noChangeShapeType="1"/>
            </p:cNvSpPr>
            <p:nvPr/>
          </p:nvSpPr>
          <p:spPr bwMode="auto">
            <a:xfrm>
              <a:off x="27368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0" name="Line 153"/>
            <p:cNvSpPr>
              <a:spLocks noChangeShapeType="1"/>
            </p:cNvSpPr>
            <p:nvPr/>
          </p:nvSpPr>
          <p:spPr bwMode="auto">
            <a:xfrm>
              <a:off x="27368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1" name="Line 154"/>
            <p:cNvSpPr>
              <a:spLocks noChangeShapeType="1"/>
            </p:cNvSpPr>
            <p:nvPr/>
          </p:nvSpPr>
          <p:spPr bwMode="auto">
            <a:xfrm>
              <a:off x="27368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2" name="Line 155"/>
            <p:cNvSpPr>
              <a:spLocks noChangeShapeType="1"/>
            </p:cNvSpPr>
            <p:nvPr/>
          </p:nvSpPr>
          <p:spPr bwMode="auto">
            <a:xfrm>
              <a:off x="27368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63" name="Rectangle 156"/>
            <p:cNvSpPr>
              <a:spLocks noChangeArrowheads="1"/>
            </p:cNvSpPr>
            <p:nvPr/>
          </p:nvSpPr>
          <p:spPr bwMode="auto">
            <a:xfrm>
              <a:off x="77755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4" name="Rectangle 157"/>
            <p:cNvSpPr>
              <a:spLocks noChangeArrowheads="1"/>
            </p:cNvSpPr>
            <p:nvPr/>
          </p:nvSpPr>
          <p:spPr bwMode="auto">
            <a:xfrm>
              <a:off x="77755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5" name="Rectangle 158"/>
            <p:cNvSpPr>
              <a:spLocks noChangeArrowheads="1"/>
            </p:cNvSpPr>
            <p:nvPr/>
          </p:nvSpPr>
          <p:spPr bwMode="auto">
            <a:xfrm>
              <a:off x="77755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6" name="Rectangle 159"/>
            <p:cNvSpPr>
              <a:spLocks noChangeArrowheads="1"/>
            </p:cNvSpPr>
            <p:nvPr/>
          </p:nvSpPr>
          <p:spPr bwMode="auto">
            <a:xfrm>
              <a:off x="77755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7" name="Rectangle 160"/>
            <p:cNvSpPr>
              <a:spLocks noChangeArrowheads="1"/>
            </p:cNvSpPr>
            <p:nvPr/>
          </p:nvSpPr>
          <p:spPr bwMode="auto">
            <a:xfrm>
              <a:off x="77755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8" name="Rectangle 161"/>
            <p:cNvSpPr>
              <a:spLocks noChangeArrowheads="1"/>
            </p:cNvSpPr>
            <p:nvPr/>
          </p:nvSpPr>
          <p:spPr bwMode="auto">
            <a:xfrm>
              <a:off x="77755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69" name="Rectangle 162"/>
            <p:cNvSpPr>
              <a:spLocks noChangeArrowheads="1"/>
            </p:cNvSpPr>
            <p:nvPr/>
          </p:nvSpPr>
          <p:spPr bwMode="auto">
            <a:xfrm>
              <a:off x="77755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70" name="Rectangle 163"/>
            <p:cNvSpPr>
              <a:spLocks noChangeArrowheads="1"/>
            </p:cNvSpPr>
            <p:nvPr/>
          </p:nvSpPr>
          <p:spPr bwMode="auto">
            <a:xfrm>
              <a:off x="77755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71" name="Line 164"/>
            <p:cNvSpPr>
              <a:spLocks noChangeShapeType="1"/>
            </p:cNvSpPr>
            <p:nvPr/>
          </p:nvSpPr>
          <p:spPr bwMode="auto">
            <a:xfrm>
              <a:off x="75596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2" name="Line 165"/>
            <p:cNvSpPr>
              <a:spLocks noChangeShapeType="1"/>
            </p:cNvSpPr>
            <p:nvPr/>
          </p:nvSpPr>
          <p:spPr bwMode="auto">
            <a:xfrm>
              <a:off x="75596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3" name="Line 166"/>
            <p:cNvSpPr>
              <a:spLocks noChangeShapeType="1"/>
            </p:cNvSpPr>
            <p:nvPr/>
          </p:nvSpPr>
          <p:spPr bwMode="auto">
            <a:xfrm>
              <a:off x="75596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4" name="Line 167"/>
            <p:cNvSpPr>
              <a:spLocks noChangeShapeType="1"/>
            </p:cNvSpPr>
            <p:nvPr/>
          </p:nvSpPr>
          <p:spPr bwMode="auto">
            <a:xfrm>
              <a:off x="75596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5" name="Line 168"/>
            <p:cNvSpPr>
              <a:spLocks noChangeShapeType="1"/>
            </p:cNvSpPr>
            <p:nvPr/>
          </p:nvSpPr>
          <p:spPr bwMode="auto">
            <a:xfrm>
              <a:off x="75596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6" name="Line 169"/>
            <p:cNvSpPr>
              <a:spLocks noChangeShapeType="1"/>
            </p:cNvSpPr>
            <p:nvPr/>
          </p:nvSpPr>
          <p:spPr bwMode="auto">
            <a:xfrm>
              <a:off x="75596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7" name="Line 170"/>
            <p:cNvSpPr>
              <a:spLocks noChangeShapeType="1"/>
            </p:cNvSpPr>
            <p:nvPr/>
          </p:nvSpPr>
          <p:spPr bwMode="auto">
            <a:xfrm>
              <a:off x="75596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8" name="Line 171"/>
            <p:cNvSpPr>
              <a:spLocks noChangeShapeType="1"/>
            </p:cNvSpPr>
            <p:nvPr/>
          </p:nvSpPr>
          <p:spPr bwMode="auto">
            <a:xfrm>
              <a:off x="75596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79" name="Line 172"/>
            <p:cNvSpPr>
              <a:spLocks noChangeShapeType="1"/>
            </p:cNvSpPr>
            <p:nvPr/>
          </p:nvSpPr>
          <p:spPr bwMode="auto">
            <a:xfrm>
              <a:off x="75596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0" name="Line 173"/>
            <p:cNvSpPr>
              <a:spLocks noChangeShapeType="1"/>
            </p:cNvSpPr>
            <p:nvPr/>
          </p:nvSpPr>
          <p:spPr bwMode="auto">
            <a:xfrm>
              <a:off x="75596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1" name="Line 174"/>
            <p:cNvSpPr>
              <a:spLocks noChangeShapeType="1"/>
            </p:cNvSpPr>
            <p:nvPr/>
          </p:nvSpPr>
          <p:spPr bwMode="auto">
            <a:xfrm>
              <a:off x="75596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2" name="Line 175"/>
            <p:cNvSpPr>
              <a:spLocks noChangeShapeType="1"/>
            </p:cNvSpPr>
            <p:nvPr/>
          </p:nvSpPr>
          <p:spPr bwMode="auto">
            <a:xfrm>
              <a:off x="75596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3" name="Line 176"/>
            <p:cNvSpPr>
              <a:spLocks noChangeShapeType="1"/>
            </p:cNvSpPr>
            <p:nvPr/>
          </p:nvSpPr>
          <p:spPr bwMode="auto">
            <a:xfrm>
              <a:off x="75596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4" name="Line 177"/>
            <p:cNvSpPr>
              <a:spLocks noChangeShapeType="1"/>
            </p:cNvSpPr>
            <p:nvPr/>
          </p:nvSpPr>
          <p:spPr bwMode="auto">
            <a:xfrm>
              <a:off x="75596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5" name="Line 178"/>
            <p:cNvSpPr>
              <a:spLocks noChangeShapeType="1"/>
            </p:cNvSpPr>
            <p:nvPr/>
          </p:nvSpPr>
          <p:spPr bwMode="auto">
            <a:xfrm>
              <a:off x="75596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6" name="Line 179"/>
            <p:cNvSpPr>
              <a:spLocks noChangeShapeType="1"/>
            </p:cNvSpPr>
            <p:nvPr/>
          </p:nvSpPr>
          <p:spPr bwMode="auto">
            <a:xfrm>
              <a:off x="75596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7" name="Line 180"/>
            <p:cNvSpPr>
              <a:spLocks noChangeShapeType="1"/>
            </p:cNvSpPr>
            <p:nvPr/>
          </p:nvSpPr>
          <p:spPr bwMode="auto">
            <a:xfrm>
              <a:off x="81359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8" name="Line 181"/>
            <p:cNvSpPr>
              <a:spLocks noChangeShapeType="1"/>
            </p:cNvSpPr>
            <p:nvPr/>
          </p:nvSpPr>
          <p:spPr bwMode="auto">
            <a:xfrm>
              <a:off x="81359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89" name="Line 182"/>
            <p:cNvSpPr>
              <a:spLocks noChangeShapeType="1"/>
            </p:cNvSpPr>
            <p:nvPr/>
          </p:nvSpPr>
          <p:spPr bwMode="auto">
            <a:xfrm>
              <a:off x="81359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0" name="Line 183"/>
            <p:cNvSpPr>
              <a:spLocks noChangeShapeType="1"/>
            </p:cNvSpPr>
            <p:nvPr/>
          </p:nvSpPr>
          <p:spPr bwMode="auto">
            <a:xfrm>
              <a:off x="81359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1" name="Line 184"/>
            <p:cNvSpPr>
              <a:spLocks noChangeShapeType="1"/>
            </p:cNvSpPr>
            <p:nvPr/>
          </p:nvSpPr>
          <p:spPr bwMode="auto">
            <a:xfrm>
              <a:off x="81359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2" name="Line 185"/>
            <p:cNvSpPr>
              <a:spLocks noChangeShapeType="1"/>
            </p:cNvSpPr>
            <p:nvPr/>
          </p:nvSpPr>
          <p:spPr bwMode="auto">
            <a:xfrm>
              <a:off x="81359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3" name="Line 186"/>
            <p:cNvSpPr>
              <a:spLocks noChangeShapeType="1"/>
            </p:cNvSpPr>
            <p:nvPr/>
          </p:nvSpPr>
          <p:spPr bwMode="auto">
            <a:xfrm>
              <a:off x="81359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4" name="Line 187"/>
            <p:cNvSpPr>
              <a:spLocks noChangeShapeType="1"/>
            </p:cNvSpPr>
            <p:nvPr/>
          </p:nvSpPr>
          <p:spPr bwMode="auto">
            <a:xfrm>
              <a:off x="81359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5" name="Line 188"/>
            <p:cNvSpPr>
              <a:spLocks noChangeShapeType="1"/>
            </p:cNvSpPr>
            <p:nvPr/>
          </p:nvSpPr>
          <p:spPr bwMode="auto">
            <a:xfrm>
              <a:off x="81359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6" name="Line 189"/>
            <p:cNvSpPr>
              <a:spLocks noChangeShapeType="1"/>
            </p:cNvSpPr>
            <p:nvPr/>
          </p:nvSpPr>
          <p:spPr bwMode="auto">
            <a:xfrm>
              <a:off x="81359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7" name="Line 190"/>
            <p:cNvSpPr>
              <a:spLocks noChangeShapeType="1"/>
            </p:cNvSpPr>
            <p:nvPr/>
          </p:nvSpPr>
          <p:spPr bwMode="auto">
            <a:xfrm>
              <a:off x="81359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8" name="Line 191"/>
            <p:cNvSpPr>
              <a:spLocks noChangeShapeType="1"/>
            </p:cNvSpPr>
            <p:nvPr/>
          </p:nvSpPr>
          <p:spPr bwMode="auto">
            <a:xfrm>
              <a:off x="81359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199" name="Line 192"/>
            <p:cNvSpPr>
              <a:spLocks noChangeShapeType="1"/>
            </p:cNvSpPr>
            <p:nvPr/>
          </p:nvSpPr>
          <p:spPr bwMode="auto">
            <a:xfrm>
              <a:off x="81359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0" name="Line 193"/>
            <p:cNvSpPr>
              <a:spLocks noChangeShapeType="1"/>
            </p:cNvSpPr>
            <p:nvPr/>
          </p:nvSpPr>
          <p:spPr bwMode="auto">
            <a:xfrm>
              <a:off x="81359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1" name="Line 194"/>
            <p:cNvSpPr>
              <a:spLocks noChangeShapeType="1"/>
            </p:cNvSpPr>
            <p:nvPr/>
          </p:nvSpPr>
          <p:spPr bwMode="auto">
            <a:xfrm>
              <a:off x="81359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2" name="Line 195"/>
            <p:cNvSpPr>
              <a:spLocks noChangeShapeType="1"/>
            </p:cNvSpPr>
            <p:nvPr/>
          </p:nvSpPr>
          <p:spPr bwMode="auto">
            <a:xfrm>
              <a:off x="81359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3" name="Line 196"/>
            <p:cNvSpPr>
              <a:spLocks noChangeShapeType="1"/>
            </p:cNvSpPr>
            <p:nvPr/>
          </p:nvSpPr>
          <p:spPr bwMode="auto">
            <a:xfrm>
              <a:off x="2951163" y="1835150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4" name="Line 197"/>
            <p:cNvSpPr>
              <a:spLocks noChangeShapeType="1"/>
            </p:cNvSpPr>
            <p:nvPr/>
          </p:nvSpPr>
          <p:spPr bwMode="auto">
            <a:xfrm>
              <a:off x="2941638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5" name="Line 198"/>
            <p:cNvSpPr>
              <a:spLocks noChangeShapeType="1"/>
            </p:cNvSpPr>
            <p:nvPr/>
          </p:nvSpPr>
          <p:spPr bwMode="auto">
            <a:xfrm flipV="1">
              <a:off x="2951163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6" name="Line 199"/>
            <p:cNvSpPr>
              <a:spLocks noChangeShapeType="1"/>
            </p:cNvSpPr>
            <p:nvPr/>
          </p:nvSpPr>
          <p:spPr bwMode="auto">
            <a:xfrm>
              <a:off x="2951163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7" name="Line 200"/>
            <p:cNvSpPr>
              <a:spLocks noChangeShapeType="1"/>
            </p:cNvSpPr>
            <p:nvPr/>
          </p:nvSpPr>
          <p:spPr bwMode="auto">
            <a:xfrm flipV="1">
              <a:off x="2951163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8" name="Line 201"/>
            <p:cNvSpPr>
              <a:spLocks noChangeShapeType="1"/>
            </p:cNvSpPr>
            <p:nvPr/>
          </p:nvSpPr>
          <p:spPr bwMode="auto">
            <a:xfrm>
              <a:off x="2951163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09" name="Line 202"/>
            <p:cNvSpPr>
              <a:spLocks noChangeShapeType="1"/>
            </p:cNvSpPr>
            <p:nvPr/>
          </p:nvSpPr>
          <p:spPr bwMode="auto">
            <a:xfrm flipV="1">
              <a:off x="2951163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0" name="Line 203"/>
            <p:cNvSpPr>
              <a:spLocks noChangeShapeType="1"/>
            </p:cNvSpPr>
            <p:nvPr/>
          </p:nvSpPr>
          <p:spPr bwMode="auto">
            <a:xfrm>
              <a:off x="2951163" y="4067175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1" name="Line 204"/>
            <p:cNvSpPr>
              <a:spLocks noChangeShapeType="1"/>
            </p:cNvSpPr>
            <p:nvPr/>
          </p:nvSpPr>
          <p:spPr bwMode="auto">
            <a:xfrm>
              <a:off x="2960688" y="4427538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2" name="Line 205"/>
            <p:cNvSpPr>
              <a:spLocks noChangeShapeType="1"/>
            </p:cNvSpPr>
            <p:nvPr/>
          </p:nvSpPr>
          <p:spPr bwMode="auto">
            <a:xfrm>
              <a:off x="2951163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3" name="Line 206"/>
            <p:cNvSpPr>
              <a:spLocks noChangeShapeType="1"/>
            </p:cNvSpPr>
            <p:nvPr/>
          </p:nvSpPr>
          <p:spPr bwMode="auto">
            <a:xfrm flipV="1">
              <a:off x="2960688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4" name="Line 207"/>
            <p:cNvSpPr>
              <a:spLocks noChangeShapeType="1"/>
            </p:cNvSpPr>
            <p:nvPr/>
          </p:nvSpPr>
          <p:spPr bwMode="auto">
            <a:xfrm>
              <a:off x="2960688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5" name="Line 208"/>
            <p:cNvSpPr>
              <a:spLocks noChangeShapeType="1"/>
            </p:cNvSpPr>
            <p:nvPr/>
          </p:nvSpPr>
          <p:spPr bwMode="auto">
            <a:xfrm flipV="1">
              <a:off x="2960688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6" name="Line 209"/>
            <p:cNvSpPr>
              <a:spLocks noChangeShapeType="1"/>
            </p:cNvSpPr>
            <p:nvPr/>
          </p:nvSpPr>
          <p:spPr bwMode="auto">
            <a:xfrm>
              <a:off x="2960688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7" name="Line 210"/>
            <p:cNvSpPr>
              <a:spLocks noChangeShapeType="1"/>
            </p:cNvSpPr>
            <p:nvPr/>
          </p:nvSpPr>
          <p:spPr bwMode="auto">
            <a:xfrm flipV="1">
              <a:off x="2960688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8" name="Line 211"/>
            <p:cNvSpPr>
              <a:spLocks noChangeShapeType="1"/>
            </p:cNvSpPr>
            <p:nvPr/>
          </p:nvSpPr>
          <p:spPr bwMode="auto">
            <a:xfrm>
              <a:off x="2960688" y="6659563"/>
              <a:ext cx="576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19" name="Line 212"/>
            <p:cNvSpPr>
              <a:spLocks noChangeShapeType="1"/>
            </p:cNvSpPr>
            <p:nvPr/>
          </p:nvSpPr>
          <p:spPr bwMode="auto">
            <a:xfrm flipV="1">
              <a:off x="7045325" y="1835150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0" name="Line 213"/>
            <p:cNvSpPr>
              <a:spLocks noChangeShapeType="1"/>
            </p:cNvSpPr>
            <p:nvPr/>
          </p:nvSpPr>
          <p:spPr bwMode="auto">
            <a:xfrm flipV="1">
              <a:off x="7035800" y="2114550"/>
              <a:ext cx="514350" cy="1017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1" name="Line 214"/>
            <p:cNvSpPr>
              <a:spLocks noChangeShapeType="1"/>
            </p:cNvSpPr>
            <p:nvPr/>
          </p:nvSpPr>
          <p:spPr bwMode="auto">
            <a:xfrm>
              <a:off x="7045325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2" name="Line 215"/>
            <p:cNvSpPr>
              <a:spLocks noChangeShapeType="1"/>
            </p:cNvSpPr>
            <p:nvPr/>
          </p:nvSpPr>
          <p:spPr bwMode="auto">
            <a:xfrm flipV="1">
              <a:off x="7045325" y="277177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3" name="Line 216"/>
            <p:cNvSpPr>
              <a:spLocks noChangeShapeType="1"/>
            </p:cNvSpPr>
            <p:nvPr/>
          </p:nvSpPr>
          <p:spPr bwMode="auto">
            <a:xfrm>
              <a:off x="7045325" y="2484438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4" name="Line 217"/>
            <p:cNvSpPr>
              <a:spLocks noChangeShapeType="1"/>
            </p:cNvSpPr>
            <p:nvPr/>
          </p:nvSpPr>
          <p:spPr bwMode="auto">
            <a:xfrm flipV="1">
              <a:off x="7045325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5" name="Line 218"/>
            <p:cNvSpPr>
              <a:spLocks noChangeShapeType="1"/>
            </p:cNvSpPr>
            <p:nvPr/>
          </p:nvSpPr>
          <p:spPr bwMode="auto">
            <a:xfrm>
              <a:off x="7045325" y="2771775"/>
              <a:ext cx="5048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6" name="Line 219"/>
            <p:cNvSpPr>
              <a:spLocks noChangeShapeType="1"/>
            </p:cNvSpPr>
            <p:nvPr/>
          </p:nvSpPr>
          <p:spPr bwMode="auto">
            <a:xfrm flipV="1">
              <a:off x="7045325" y="4067175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7" name="Line 220"/>
            <p:cNvSpPr>
              <a:spLocks noChangeShapeType="1"/>
            </p:cNvSpPr>
            <p:nvPr/>
          </p:nvSpPr>
          <p:spPr bwMode="auto">
            <a:xfrm flipV="1">
              <a:off x="7054850" y="4427538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8" name="Line 221"/>
            <p:cNvSpPr>
              <a:spLocks noChangeShapeType="1"/>
            </p:cNvSpPr>
            <p:nvPr/>
          </p:nvSpPr>
          <p:spPr bwMode="auto">
            <a:xfrm flipV="1">
              <a:off x="7045325" y="4706938"/>
              <a:ext cx="514350" cy="1017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29" name="Line 222"/>
            <p:cNvSpPr>
              <a:spLocks noChangeShapeType="1"/>
            </p:cNvSpPr>
            <p:nvPr/>
          </p:nvSpPr>
          <p:spPr bwMode="auto">
            <a:xfrm>
              <a:off x="70548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0" name="Line 223"/>
            <p:cNvSpPr>
              <a:spLocks noChangeShapeType="1"/>
            </p:cNvSpPr>
            <p:nvPr/>
          </p:nvSpPr>
          <p:spPr bwMode="auto">
            <a:xfrm flipV="1">
              <a:off x="7054850" y="5364163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1" name="Line 224"/>
            <p:cNvSpPr>
              <a:spLocks noChangeShapeType="1"/>
            </p:cNvSpPr>
            <p:nvPr/>
          </p:nvSpPr>
          <p:spPr bwMode="auto">
            <a:xfrm>
              <a:off x="7054850" y="5076825"/>
              <a:ext cx="5048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2" name="Line 225"/>
            <p:cNvSpPr>
              <a:spLocks noChangeShapeType="1"/>
            </p:cNvSpPr>
            <p:nvPr/>
          </p:nvSpPr>
          <p:spPr bwMode="auto">
            <a:xfrm flipV="1">
              <a:off x="70548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3" name="Line 226"/>
            <p:cNvSpPr>
              <a:spLocks noChangeShapeType="1"/>
            </p:cNvSpPr>
            <p:nvPr/>
          </p:nvSpPr>
          <p:spPr bwMode="auto">
            <a:xfrm>
              <a:off x="7054850" y="5364163"/>
              <a:ext cx="50482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4" name="Line 227"/>
            <p:cNvSpPr>
              <a:spLocks noChangeShapeType="1"/>
            </p:cNvSpPr>
            <p:nvPr/>
          </p:nvSpPr>
          <p:spPr bwMode="auto">
            <a:xfrm flipV="1">
              <a:off x="7054850" y="6659563"/>
              <a:ext cx="576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5" name="Line 228"/>
            <p:cNvSpPr>
              <a:spLocks noChangeShapeType="1"/>
            </p:cNvSpPr>
            <p:nvPr/>
          </p:nvSpPr>
          <p:spPr bwMode="auto">
            <a:xfrm>
              <a:off x="345598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6" name="Line 229"/>
            <p:cNvSpPr>
              <a:spLocks noChangeShapeType="1"/>
            </p:cNvSpPr>
            <p:nvPr/>
          </p:nvSpPr>
          <p:spPr bwMode="auto">
            <a:xfrm>
              <a:off x="345598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7" name="Line 230"/>
            <p:cNvSpPr>
              <a:spLocks noChangeShapeType="1"/>
            </p:cNvSpPr>
            <p:nvPr/>
          </p:nvSpPr>
          <p:spPr bwMode="auto">
            <a:xfrm>
              <a:off x="68389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8" name="Line 231"/>
            <p:cNvSpPr>
              <a:spLocks noChangeShapeType="1"/>
            </p:cNvSpPr>
            <p:nvPr/>
          </p:nvSpPr>
          <p:spPr bwMode="auto">
            <a:xfrm>
              <a:off x="68389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39" name="Line 232"/>
            <p:cNvSpPr>
              <a:spLocks noChangeShapeType="1"/>
            </p:cNvSpPr>
            <p:nvPr/>
          </p:nvSpPr>
          <p:spPr bwMode="auto">
            <a:xfrm>
              <a:off x="6838950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0" name="Line 233"/>
            <p:cNvSpPr>
              <a:spLocks noChangeShapeType="1"/>
            </p:cNvSpPr>
            <p:nvPr/>
          </p:nvSpPr>
          <p:spPr bwMode="auto">
            <a:xfrm>
              <a:off x="68389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1" name="Line 234"/>
            <p:cNvSpPr>
              <a:spLocks noChangeShapeType="1"/>
            </p:cNvSpPr>
            <p:nvPr/>
          </p:nvSpPr>
          <p:spPr bwMode="auto">
            <a:xfrm>
              <a:off x="682942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2" name="Line 235"/>
            <p:cNvSpPr>
              <a:spLocks noChangeShapeType="1"/>
            </p:cNvSpPr>
            <p:nvPr/>
          </p:nvSpPr>
          <p:spPr bwMode="auto">
            <a:xfrm>
              <a:off x="6829425" y="34178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3" name="Line 236"/>
            <p:cNvSpPr>
              <a:spLocks noChangeShapeType="1"/>
            </p:cNvSpPr>
            <p:nvPr/>
          </p:nvSpPr>
          <p:spPr bwMode="auto">
            <a:xfrm>
              <a:off x="682942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4" name="Line 237"/>
            <p:cNvSpPr>
              <a:spLocks noChangeShapeType="1"/>
            </p:cNvSpPr>
            <p:nvPr/>
          </p:nvSpPr>
          <p:spPr bwMode="auto">
            <a:xfrm>
              <a:off x="68389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5" name="Line 238"/>
            <p:cNvSpPr>
              <a:spLocks noChangeShapeType="1"/>
            </p:cNvSpPr>
            <p:nvPr/>
          </p:nvSpPr>
          <p:spPr bwMode="auto">
            <a:xfrm>
              <a:off x="3455988" y="24844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6" name="Line 239"/>
            <p:cNvSpPr>
              <a:spLocks noChangeShapeType="1"/>
            </p:cNvSpPr>
            <p:nvPr/>
          </p:nvSpPr>
          <p:spPr bwMode="auto">
            <a:xfrm>
              <a:off x="345598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7" name="Line 240"/>
            <p:cNvSpPr>
              <a:spLocks noChangeShapeType="1"/>
            </p:cNvSpPr>
            <p:nvPr/>
          </p:nvSpPr>
          <p:spPr bwMode="auto">
            <a:xfrm>
              <a:off x="3455988" y="31321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8" name="Line 241"/>
            <p:cNvSpPr>
              <a:spLocks noChangeShapeType="1"/>
            </p:cNvSpPr>
            <p:nvPr/>
          </p:nvSpPr>
          <p:spPr bwMode="auto">
            <a:xfrm>
              <a:off x="345598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49" name="Line 242"/>
            <p:cNvSpPr>
              <a:spLocks noChangeShapeType="1"/>
            </p:cNvSpPr>
            <p:nvPr/>
          </p:nvSpPr>
          <p:spPr bwMode="auto">
            <a:xfrm>
              <a:off x="345598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0" name="Line 243"/>
            <p:cNvSpPr>
              <a:spLocks noChangeShapeType="1"/>
            </p:cNvSpPr>
            <p:nvPr/>
          </p:nvSpPr>
          <p:spPr bwMode="auto">
            <a:xfrm>
              <a:off x="345598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1" name="Line 244"/>
            <p:cNvSpPr>
              <a:spLocks noChangeShapeType="1"/>
            </p:cNvSpPr>
            <p:nvPr/>
          </p:nvSpPr>
          <p:spPr bwMode="auto">
            <a:xfrm>
              <a:off x="3455988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2" name="Line 245"/>
            <p:cNvSpPr>
              <a:spLocks noChangeShapeType="1"/>
            </p:cNvSpPr>
            <p:nvPr/>
          </p:nvSpPr>
          <p:spPr bwMode="auto">
            <a:xfrm>
              <a:off x="3455988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3" name="Line 246"/>
            <p:cNvSpPr>
              <a:spLocks noChangeShapeType="1"/>
            </p:cNvSpPr>
            <p:nvPr/>
          </p:nvSpPr>
          <p:spPr bwMode="auto">
            <a:xfrm>
              <a:off x="6838950" y="44291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4" name="Line 247"/>
            <p:cNvSpPr>
              <a:spLocks noChangeShapeType="1"/>
            </p:cNvSpPr>
            <p:nvPr/>
          </p:nvSpPr>
          <p:spPr bwMode="auto">
            <a:xfrm>
              <a:off x="6838950" y="47164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5" name="Line 248"/>
            <p:cNvSpPr>
              <a:spLocks noChangeShapeType="1"/>
            </p:cNvSpPr>
            <p:nvPr/>
          </p:nvSpPr>
          <p:spPr bwMode="auto">
            <a:xfrm>
              <a:off x="6838950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6" name="Line 249"/>
            <p:cNvSpPr>
              <a:spLocks noChangeShapeType="1"/>
            </p:cNvSpPr>
            <p:nvPr/>
          </p:nvSpPr>
          <p:spPr bwMode="auto">
            <a:xfrm>
              <a:off x="6838950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7" name="Line 250"/>
            <p:cNvSpPr>
              <a:spLocks noChangeShapeType="1"/>
            </p:cNvSpPr>
            <p:nvPr/>
          </p:nvSpPr>
          <p:spPr bwMode="auto">
            <a:xfrm>
              <a:off x="6829425" y="57245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8" name="Line 251"/>
            <p:cNvSpPr>
              <a:spLocks noChangeShapeType="1"/>
            </p:cNvSpPr>
            <p:nvPr/>
          </p:nvSpPr>
          <p:spPr bwMode="auto">
            <a:xfrm>
              <a:off x="682942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59" name="Line 252"/>
            <p:cNvSpPr>
              <a:spLocks noChangeShapeType="1"/>
            </p:cNvSpPr>
            <p:nvPr/>
          </p:nvSpPr>
          <p:spPr bwMode="auto">
            <a:xfrm>
              <a:off x="6829425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0" name="Line 253"/>
            <p:cNvSpPr>
              <a:spLocks noChangeShapeType="1"/>
            </p:cNvSpPr>
            <p:nvPr/>
          </p:nvSpPr>
          <p:spPr bwMode="auto">
            <a:xfrm>
              <a:off x="6838950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1" name="Line 254"/>
            <p:cNvSpPr>
              <a:spLocks noChangeShapeType="1"/>
            </p:cNvSpPr>
            <p:nvPr/>
          </p:nvSpPr>
          <p:spPr bwMode="auto">
            <a:xfrm>
              <a:off x="3455988" y="50784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2" name="Line 255"/>
            <p:cNvSpPr>
              <a:spLocks noChangeShapeType="1"/>
            </p:cNvSpPr>
            <p:nvPr/>
          </p:nvSpPr>
          <p:spPr bwMode="auto">
            <a:xfrm>
              <a:off x="3455988" y="53657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3" name="Line 256"/>
            <p:cNvSpPr>
              <a:spLocks noChangeShapeType="1"/>
            </p:cNvSpPr>
            <p:nvPr/>
          </p:nvSpPr>
          <p:spPr bwMode="auto">
            <a:xfrm>
              <a:off x="3455988" y="57261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4" name="Line 257"/>
            <p:cNvSpPr>
              <a:spLocks noChangeShapeType="1"/>
            </p:cNvSpPr>
            <p:nvPr/>
          </p:nvSpPr>
          <p:spPr bwMode="auto">
            <a:xfrm>
              <a:off x="3455988" y="60134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5" name="Line 258"/>
            <p:cNvSpPr>
              <a:spLocks noChangeShapeType="1"/>
            </p:cNvSpPr>
            <p:nvPr/>
          </p:nvSpPr>
          <p:spPr bwMode="auto">
            <a:xfrm>
              <a:off x="3455988" y="637381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6" name="Line 259"/>
            <p:cNvSpPr>
              <a:spLocks noChangeShapeType="1"/>
            </p:cNvSpPr>
            <p:nvPr/>
          </p:nvSpPr>
          <p:spPr bwMode="auto">
            <a:xfrm>
              <a:off x="3455988" y="6661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67" name="Rectangle 260"/>
            <p:cNvSpPr>
              <a:spLocks noChangeArrowheads="1"/>
            </p:cNvSpPr>
            <p:nvPr/>
          </p:nvSpPr>
          <p:spPr bwMode="auto">
            <a:xfrm>
              <a:off x="62642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68" name="Rectangle 261"/>
            <p:cNvSpPr>
              <a:spLocks noChangeArrowheads="1"/>
            </p:cNvSpPr>
            <p:nvPr/>
          </p:nvSpPr>
          <p:spPr bwMode="auto">
            <a:xfrm>
              <a:off x="62642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69" name="Rectangle 262"/>
            <p:cNvSpPr>
              <a:spLocks noChangeArrowheads="1"/>
            </p:cNvSpPr>
            <p:nvPr/>
          </p:nvSpPr>
          <p:spPr bwMode="auto">
            <a:xfrm>
              <a:off x="62642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0" name="Rectangle 263"/>
            <p:cNvSpPr>
              <a:spLocks noChangeArrowheads="1"/>
            </p:cNvSpPr>
            <p:nvPr/>
          </p:nvSpPr>
          <p:spPr bwMode="auto">
            <a:xfrm>
              <a:off x="62642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1" name="Rectangle 264"/>
            <p:cNvSpPr>
              <a:spLocks noChangeArrowheads="1"/>
            </p:cNvSpPr>
            <p:nvPr/>
          </p:nvSpPr>
          <p:spPr bwMode="auto">
            <a:xfrm>
              <a:off x="62642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2" name="Rectangle 265"/>
            <p:cNvSpPr>
              <a:spLocks noChangeArrowheads="1"/>
            </p:cNvSpPr>
            <p:nvPr/>
          </p:nvSpPr>
          <p:spPr bwMode="auto">
            <a:xfrm>
              <a:off x="62642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3" name="Rectangle 266"/>
            <p:cNvSpPr>
              <a:spLocks noChangeArrowheads="1"/>
            </p:cNvSpPr>
            <p:nvPr/>
          </p:nvSpPr>
          <p:spPr bwMode="auto">
            <a:xfrm>
              <a:off x="62642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4" name="Rectangle 267"/>
            <p:cNvSpPr>
              <a:spLocks noChangeArrowheads="1"/>
            </p:cNvSpPr>
            <p:nvPr/>
          </p:nvSpPr>
          <p:spPr bwMode="auto">
            <a:xfrm>
              <a:off x="62642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275" name="Line 268"/>
            <p:cNvSpPr>
              <a:spLocks noChangeShapeType="1"/>
            </p:cNvSpPr>
            <p:nvPr/>
          </p:nvSpPr>
          <p:spPr bwMode="auto">
            <a:xfrm>
              <a:off x="60483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6" name="Line 269"/>
            <p:cNvSpPr>
              <a:spLocks noChangeShapeType="1"/>
            </p:cNvSpPr>
            <p:nvPr/>
          </p:nvSpPr>
          <p:spPr bwMode="auto">
            <a:xfrm>
              <a:off x="60483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7" name="Line 270"/>
            <p:cNvSpPr>
              <a:spLocks noChangeShapeType="1"/>
            </p:cNvSpPr>
            <p:nvPr/>
          </p:nvSpPr>
          <p:spPr bwMode="auto">
            <a:xfrm>
              <a:off x="60483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8" name="Line 271"/>
            <p:cNvSpPr>
              <a:spLocks noChangeShapeType="1"/>
            </p:cNvSpPr>
            <p:nvPr/>
          </p:nvSpPr>
          <p:spPr bwMode="auto">
            <a:xfrm>
              <a:off x="60483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79" name="Line 272"/>
            <p:cNvSpPr>
              <a:spLocks noChangeShapeType="1"/>
            </p:cNvSpPr>
            <p:nvPr/>
          </p:nvSpPr>
          <p:spPr bwMode="auto">
            <a:xfrm>
              <a:off x="60483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0" name="Line 273"/>
            <p:cNvSpPr>
              <a:spLocks noChangeShapeType="1"/>
            </p:cNvSpPr>
            <p:nvPr/>
          </p:nvSpPr>
          <p:spPr bwMode="auto">
            <a:xfrm>
              <a:off x="60483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1" name="Line 274"/>
            <p:cNvSpPr>
              <a:spLocks noChangeShapeType="1"/>
            </p:cNvSpPr>
            <p:nvPr/>
          </p:nvSpPr>
          <p:spPr bwMode="auto">
            <a:xfrm>
              <a:off x="60483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2" name="Line 275"/>
            <p:cNvSpPr>
              <a:spLocks noChangeShapeType="1"/>
            </p:cNvSpPr>
            <p:nvPr/>
          </p:nvSpPr>
          <p:spPr bwMode="auto">
            <a:xfrm>
              <a:off x="60483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3" name="Line 276"/>
            <p:cNvSpPr>
              <a:spLocks noChangeShapeType="1"/>
            </p:cNvSpPr>
            <p:nvPr/>
          </p:nvSpPr>
          <p:spPr bwMode="auto">
            <a:xfrm>
              <a:off x="60483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4" name="Line 277"/>
            <p:cNvSpPr>
              <a:spLocks noChangeShapeType="1"/>
            </p:cNvSpPr>
            <p:nvPr/>
          </p:nvSpPr>
          <p:spPr bwMode="auto">
            <a:xfrm>
              <a:off x="60483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5" name="Line 278"/>
            <p:cNvSpPr>
              <a:spLocks noChangeShapeType="1"/>
            </p:cNvSpPr>
            <p:nvPr/>
          </p:nvSpPr>
          <p:spPr bwMode="auto">
            <a:xfrm>
              <a:off x="60483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6" name="Line 279"/>
            <p:cNvSpPr>
              <a:spLocks noChangeShapeType="1"/>
            </p:cNvSpPr>
            <p:nvPr/>
          </p:nvSpPr>
          <p:spPr bwMode="auto">
            <a:xfrm>
              <a:off x="60483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7" name="Line 280"/>
            <p:cNvSpPr>
              <a:spLocks noChangeShapeType="1"/>
            </p:cNvSpPr>
            <p:nvPr/>
          </p:nvSpPr>
          <p:spPr bwMode="auto">
            <a:xfrm>
              <a:off x="60483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8" name="Line 281"/>
            <p:cNvSpPr>
              <a:spLocks noChangeShapeType="1"/>
            </p:cNvSpPr>
            <p:nvPr/>
          </p:nvSpPr>
          <p:spPr bwMode="auto">
            <a:xfrm>
              <a:off x="60483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89" name="Line 282"/>
            <p:cNvSpPr>
              <a:spLocks noChangeShapeType="1"/>
            </p:cNvSpPr>
            <p:nvPr/>
          </p:nvSpPr>
          <p:spPr bwMode="auto">
            <a:xfrm>
              <a:off x="60483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0" name="Line 283"/>
            <p:cNvSpPr>
              <a:spLocks noChangeShapeType="1"/>
            </p:cNvSpPr>
            <p:nvPr/>
          </p:nvSpPr>
          <p:spPr bwMode="auto">
            <a:xfrm>
              <a:off x="60483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1" name="Line 284"/>
            <p:cNvSpPr>
              <a:spLocks noChangeShapeType="1"/>
            </p:cNvSpPr>
            <p:nvPr/>
          </p:nvSpPr>
          <p:spPr bwMode="auto">
            <a:xfrm>
              <a:off x="66246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2" name="Line 285"/>
            <p:cNvSpPr>
              <a:spLocks noChangeShapeType="1"/>
            </p:cNvSpPr>
            <p:nvPr/>
          </p:nvSpPr>
          <p:spPr bwMode="auto">
            <a:xfrm>
              <a:off x="66246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3" name="Line 286"/>
            <p:cNvSpPr>
              <a:spLocks noChangeShapeType="1"/>
            </p:cNvSpPr>
            <p:nvPr/>
          </p:nvSpPr>
          <p:spPr bwMode="auto">
            <a:xfrm>
              <a:off x="66246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4" name="Line 287"/>
            <p:cNvSpPr>
              <a:spLocks noChangeShapeType="1"/>
            </p:cNvSpPr>
            <p:nvPr/>
          </p:nvSpPr>
          <p:spPr bwMode="auto">
            <a:xfrm>
              <a:off x="66246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5" name="Line 288"/>
            <p:cNvSpPr>
              <a:spLocks noChangeShapeType="1"/>
            </p:cNvSpPr>
            <p:nvPr/>
          </p:nvSpPr>
          <p:spPr bwMode="auto">
            <a:xfrm>
              <a:off x="66246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6" name="Line 289"/>
            <p:cNvSpPr>
              <a:spLocks noChangeShapeType="1"/>
            </p:cNvSpPr>
            <p:nvPr/>
          </p:nvSpPr>
          <p:spPr bwMode="auto">
            <a:xfrm>
              <a:off x="66246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7" name="Line 290"/>
            <p:cNvSpPr>
              <a:spLocks noChangeShapeType="1"/>
            </p:cNvSpPr>
            <p:nvPr/>
          </p:nvSpPr>
          <p:spPr bwMode="auto">
            <a:xfrm>
              <a:off x="66246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8" name="Line 291"/>
            <p:cNvSpPr>
              <a:spLocks noChangeShapeType="1"/>
            </p:cNvSpPr>
            <p:nvPr/>
          </p:nvSpPr>
          <p:spPr bwMode="auto">
            <a:xfrm>
              <a:off x="66246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299" name="Line 292"/>
            <p:cNvSpPr>
              <a:spLocks noChangeShapeType="1"/>
            </p:cNvSpPr>
            <p:nvPr/>
          </p:nvSpPr>
          <p:spPr bwMode="auto">
            <a:xfrm>
              <a:off x="66246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0" name="Line 293"/>
            <p:cNvSpPr>
              <a:spLocks noChangeShapeType="1"/>
            </p:cNvSpPr>
            <p:nvPr/>
          </p:nvSpPr>
          <p:spPr bwMode="auto">
            <a:xfrm>
              <a:off x="66246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1" name="Line 294"/>
            <p:cNvSpPr>
              <a:spLocks noChangeShapeType="1"/>
            </p:cNvSpPr>
            <p:nvPr/>
          </p:nvSpPr>
          <p:spPr bwMode="auto">
            <a:xfrm>
              <a:off x="66246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2" name="Line 295"/>
            <p:cNvSpPr>
              <a:spLocks noChangeShapeType="1"/>
            </p:cNvSpPr>
            <p:nvPr/>
          </p:nvSpPr>
          <p:spPr bwMode="auto">
            <a:xfrm>
              <a:off x="66246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3" name="Line 296"/>
            <p:cNvSpPr>
              <a:spLocks noChangeShapeType="1"/>
            </p:cNvSpPr>
            <p:nvPr/>
          </p:nvSpPr>
          <p:spPr bwMode="auto">
            <a:xfrm>
              <a:off x="66246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4" name="Line 297"/>
            <p:cNvSpPr>
              <a:spLocks noChangeShapeType="1"/>
            </p:cNvSpPr>
            <p:nvPr/>
          </p:nvSpPr>
          <p:spPr bwMode="auto">
            <a:xfrm>
              <a:off x="66246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5" name="Line 298"/>
            <p:cNvSpPr>
              <a:spLocks noChangeShapeType="1"/>
            </p:cNvSpPr>
            <p:nvPr/>
          </p:nvSpPr>
          <p:spPr bwMode="auto">
            <a:xfrm>
              <a:off x="66246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6" name="Line 299"/>
            <p:cNvSpPr>
              <a:spLocks noChangeShapeType="1"/>
            </p:cNvSpPr>
            <p:nvPr/>
          </p:nvSpPr>
          <p:spPr bwMode="auto">
            <a:xfrm>
              <a:off x="66246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07" name="Rectangle 300"/>
            <p:cNvSpPr>
              <a:spLocks noChangeArrowheads="1"/>
            </p:cNvSpPr>
            <p:nvPr/>
          </p:nvSpPr>
          <p:spPr bwMode="auto">
            <a:xfrm>
              <a:off x="4968875" y="17637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08" name="Rectangle 301"/>
            <p:cNvSpPr>
              <a:spLocks noChangeArrowheads="1"/>
            </p:cNvSpPr>
            <p:nvPr/>
          </p:nvSpPr>
          <p:spPr bwMode="auto">
            <a:xfrm>
              <a:off x="4968875" y="24114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09" name="Rectangle 302"/>
            <p:cNvSpPr>
              <a:spLocks noChangeArrowheads="1"/>
            </p:cNvSpPr>
            <p:nvPr/>
          </p:nvSpPr>
          <p:spPr bwMode="auto">
            <a:xfrm>
              <a:off x="4968875" y="3059113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0" name="Rectangle 303"/>
            <p:cNvSpPr>
              <a:spLocks noChangeArrowheads="1"/>
            </p:cNvSpPr>
            <p:nvPr/>
          </p:nvSpPr>
          <p:spPr bwMode="auto">
            <a:xfrm>
              <a:off x="4968875" y="37084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1" name="Rectangle 304"/>
            <p:cNvSpPr>
              <a:spLocks noChangeArrowheads="1"/>
            </p:cNvSpPr>
            <p:nvPr/>
          </p:nvSpPr>
          <p:spPr bwMode="auto">
            <a:xfrm>
              <a:off x="4968875" y="43561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2" name="Rectangle 305"/>
            <p:cNvSpPr>
              <a:spLocks noChangeArrowheads="1"/>
            </p:cNvSpPr>
            <p:nvPr/>
          </p:nvSpPr>
          <p:spPr bwMode="auto">
            <a:xfrm>
              <a:off x="4968875" y="50038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3" name="Rectangle 306"/>
            <p:cNvSpPr>
              <a:spLocks noChangeArrowheads="1"/>
            </p:cNvSpPr>
            <p:nvPr/>
          </p:nvSpPr>
          <p:spPr bwMode="auto">
            <a:xfrm>
              <a:off x="4968875" y="5651500"/>
              <a:ext cx="360363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4" name="Rectangle 307"/>
            <p:cNvSpPr>
              <a:spLocks noChangeArrowheads="1"/>
            </p:cNvSpPr>
            <p:nvPr/>
          </p:nvSpPr>
          <p:spPr bwMode="auto">
            <a:xfrm>
              <a:off x="4968875" y="6300788"/>
              <a:ext cx="360363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15" name="Line 308"/>
            <p:cNvSpPr>
              <a:spLocks noChangeShapeType="1"/>
            </p:cNvSpPr>
            <p:nvPr/>
          </p:nvSpPr>
          <p:spPr bwMode="auto">
            <a:xfrm>
              <a:off x="4752975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6" name="Line 309"/>
            <p:cNvSpPr>
              <a:spLocks noChangeShapeType="1"/>
            </p:cNvSpPr>
            <p:nvPr/>
          </p:nvSpPr>
          <p:spPr bwMode="auto">
            <a:xfrm>
              <a:off x="4752975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7" name="Line 310"/>
            <p:cNvSpPr>
              <a:spLocks noChangeShapeType="1"/>
            </p:cNvSpPr>
            <p:nvPr/>
          </p:nvSpPr>
          <p:spPr bwMode="auto">
            <a:xfrm>
              <a:off x="4752975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8" name="Line 311"/>
            <p:cNvSpPr>
              <a:spLocks noChangeShapeType="1"/>
            </p:cNvSpPr>
            <p:nvPr/>
          </p:nvSpPr>
          <p:spPr bwMode="auto">
            <a:xfrm>
              <a:off x="4752975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19" name="Line 312"/>
            <p:cNvSpPr>
              <a:spLocks noChangeShapeType="1"/>
            </p:cNvSpPr>
            <p:nvPr/>
          </p:nvSpPr>
          <p:spPr bwMode="auto">
            <a:xfrm>
              <a:off x="4752975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0" name="Line 313"/>
            <p:cNvSpPr>
              <a:spLocks noChangeShapeType="1"/>
            </p:cNvSpPr>
            <p:nvPr/>
          </p:nvSpPr>
          <p:spPr bwMode="auto">
            <a:xfrm>
              <a:off x="4752975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1" name="Line 314"/>
            <p:cNvSpPr>
              <a:spLocks noChangeShapeType="1"/>
            </p:cNvSpPr>
            <p:nvPr/>
          </p:nvSpPr>
          <p:spPr bwMode="auto">
            <a:xfrm>
              <a:off x="4752975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2" name="Line 315"/>
            <p:cNvSpPr>
              <a:spLocks noChangeShapeType="1"/>
            </p:cNvSpPr>
            <p:nvPr/>
          </p:nvSpPr>
          <p:spPr bwMode="auto">
            <a:xfrm>
              <a:off x="4752975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3" name="Line 316"/>
            <p:cNvSpPr>
              <a:spLocks noChangeShapeType="1"/>
            </p:cNvSpPr>
            <p:nvPr/>
          </p:nvSpPr>
          <p:spPr bwMode="auto">
            <a:xfrm>
              <a:off x="4752975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4" name="Line 317"/>
            <p:cNvSpPr>
              <a:spLocks noChangeShapeType="1"/>
            </p:cNvSpPr>
            <p:nvPr/>
          </p:nvSpPr>
          <p:spPr bwMode="auto">
            <a:xfrm>
              <a:off x="4752975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5" name="Line 318"/>
            <p:cNvSpPr>
              <a:spLocks noChangeShapeType="1"/>
            </p:cNvSpPr>
            <p:nvPr/>
          </p:nvSpPr>
          <p:spPr bwMode="auto">
            <a:xfrm>
              <a:off x="4752975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6" name="Line 319"/>
            <p:cNvSpPr>
              <a:spLocks noChangeShapeType="1"/>
            </p:cNvSpPr>
            <p:nvPr/>
          </p:nvSpPr>
          <p:spPr bwMode="auto">
            <a:xfrm>
              <a:off x="4752975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7" name="Line 320"/>
            <p:cNvSpPr>
              <a:spLocks noChangeShapeType="1"/>
            </p:cNvSpPr>
            <p:nvPr/>
          </p:nvSpPr>
          <p:spPr bwMode="auto">
            <a:xfrm>
              <a:off x="4752975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8" name="Line 321"/>
            <p:cNvSpPr>
              <a:spLocks noChangeShapeType="1"/>
            </p:cNvSpPr>
            <p:nvPr/>
          </p:nvSpPr>
          <p:spPr bwMode="auto">
            <a:xfrm>
              <a:off x="4752975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29" name="Line 322"/>
            <p:cNvSpPr>
              <a:spLocks noChangeShapeType="1"/>
            </p:cNvSpPr>
            <p:nvPr/>
          </p:nvSpPr>
          <p:spPr bwMode="auto">
            <a:xfrm>
              <a:off x="4752975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0" name="Line 323"/>
            <p:cNvSpPr>
              <a:spLocks noChangeShapeType="1"/>
            </p:cNvSpPr>
            <p:nvPr/>
          </p:nvSpPr>
          <p:spPr bwMode="auto">
            <a:xfrm>
              <a:off x="4752975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1" name="Line 324"/>
            <p:cNvSpPr>
              <a:spLocks noChangeShapeType="1"/>
            </p:cNvSpPr>
            <p:nvPr/>
          </p:nvSpPr>
          <p:spPr bwMode="auto">
            <a:xfrm>
              <a:off x="5329238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2" name="Line 325"/>
            <p:cNvSpPr>
              <a:spLocks noChangeShapeType="1"/>
            </p:cNvSpPr>
            <p:nvPr/>
          </p:nvSpPr>
          <p:spPr bwMode="auto">
            <a:xfrm>
              <a:off x="5329238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3" name="Line 326"/>
            <p:cNvSpPr>
              <a:spLocks noChangeShapeType="1"/>
            </p:cNvSpPr>
            <p:nvPr/>
          </p:nvSpPr>
          <p:spPr bwMode="auto">
            <a:xfrm>
              <a:off x="5329238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4" name="Line 327"/>
            <p:cNvSpPr>
              <a:spLocks noChangeShapeType="1"/>
            </p:cNvSpPr>
            <p:nvPr/>
          </p:nvSpPr>
          <p:spPr bwMode="auto">
            <a:xfrm>
              <a:off x="5329238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5" name="Line 328"/>
            <p:cNvSpPr>
              <a:spLocks noChangeShapeType="1"/>
            </p:cNvSpPr>
            <p:nvPr/>
          </p:nvSpPr>
          <p:spPr bwMode="auto">
            <a:xfrm>
              <a:off x="5329238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6" name="Line 329"/>
            <p:cNvSpPr>
              <a:spLocks noChangeShapeType="1"/>
            </p:cNvSpPr>
            <p:nvPr/>
          </p:nvSpPr>
          <p:spPr bwMode="auto">
            <a:xfrm>
              <a:off x="5329238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7" name="Line 330"/>
            <p:cNvSpPr>
              <a:spLocks noChangeShapeType="1"/>
            </p:cNvSpPr>
            <p:nvPr/>
          </p:nvSpPr>
          <p:spPr bwMode="auto">
            <a:xfrm>
              <a:off x="5329238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8" name="Line 331"/>
            <p:cNvSpPr>
              <a:spLocks noChangeShapeType="1"/>
            </p:cNvSpPr>
            <p:nvPr/>
          </p:nvSpPr>
          <p:spPr bwMode="auto">
            <a:xfrm>
              <a:off x="5329238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39" name="Line 332"/>
            <p:cNvSpPr>
              <a:spLocks noChangeShapeType="1"/>
            </p:cNvSpPr>
            <p:nvPr/>
          </p:nvSpPr>
          <p:spPr bwMode="auto">
            <a:xfrm>
              <a:off x="5329238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0" name="Line 333"/>
            <p:cNvSpPr>
              <a:spLocks noChangeShapeType="1"/>
            </p:cNvSpPr>
            <p:nvPr/>
          </p:nvSpPr>
          <p:spPr bwMode="auto">
            <a:xfrm>
              <a:off x="5329238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1" name="Line 334"/>
            <p:cNvSpPr>
              <a:spLocks noChangeShapeType="1"/>
            </p:cNvSpPr>
            <p:nvPr/>
          </p:nvSpPr>
          <p:spPr bwMode="auto">
            <a:xfrm>
              <a:off x="5329238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2" name="Line 335"/>
            <p:cNvSpPr>
              <a:spLocks noChangeShapeType="1"/>
            </p:cNvSpPr>
            <p:nvPr/>
          </p:nvSpPr>
          <p:spPr bwMode="auto">
            <a:xfrm>
              <a:off x="5329238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3" name="Line 336"/>
            <p:cNvSpPr>
              <a:spLocks noChangeShapeType="1"/>
            </p:cNvSpPr>
            <p:nvPr/>
          </p:nvSpPr>
          <p:spPr bwMode="auto">
            <a:xfrm>
              <a:off x="5329238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4" name="Line 337"/>
            <p:cNvSpPr>
              <a:spLocks noChangeShapeType="1"/>
            </p:cNvSpPr>
            <p:nvPr/>
          </p:nvSpPr>
          <p:spPr bwMode="auto">
            <a:xfrm>
              <a:off x="5329238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5" name="Line 338"/>
            <p:cNvSpPr>
              <a:spLocks noChangeShapeType="1"/>
            </p:cNvSpPr>
            <p:nvPr/>
          </p:nvSpPr>
          <p:spPr bwMode="auto">
            <a:xfrm>
              <a:off x="5329238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6" name="Line 339"/>
            <p:cNvSpPr>
              <a:spLocks noChangeShapeType="1"/>
            </p:cNvSpPr>
            <p:nvPr/>
          </p:nvSpPr>
          <p:spPr bwMode="auto">
            <a:xfrm>
              <a:off x="5329238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47" name="Rectangle 340"/>
            <p:cNvSpPr>
              <a:spLocks noChangeArrowheads="1"/>
            </p:cNvSpPr>
            <p:nvPr/>
          </p:nvSpPr>
          <p:spPr bwMode="auto">
            <a:xfrm>
              <a:off x="3671888" y="17637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48" name="Rectangle 341"/>
            <p:cNvSpPr>
              <a:spLocks noChangeArrowheads="1"/>
            </p:cNvSpPr>
            <p:nvPr/>
          </p:nvSpPr>
          <p:spPr bwMode="auto">
            <a:xfrm>
              <a:off x="3671888" y="24114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49" name="Rectangle 342"/>
            <p:cNvSpPr>
              <a:spLocks noChangeArrowheads="1"/>
            </p:cNvSpPr>
            <p:nvPr/>
          </p:nvSpPr>
          <p:spPr bwMode="auto">
            <a:xfrm>
              <a:off x="3671888" y="3059113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0" name="Rectangle 343"/>
            <p:cNvSpPr>
              <a:spLocks noChangeArrowheads="1"/>
            </p:cNvSpPr>
            <p:nvPr/>
          </p:nvSpPr>
          <p:spPr bwMode="auto">
            <a:xfrm>
              <a:off x="3671888" y="37084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1" name="Rectangle 344"/>
            <p:cNvSpPr>
              <a:spLocks noChangeArrowheads="1"/>
            </p:cNvSpPr>
            <p:nvPr/>
          </p:nvSpPr>
          <p:spPr bwMode="auto">
            <a:xfrm>
              <a:off x="3671888" y="43561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2" name="Rectangle 345"/>
            <p:cNvSpPr>
              <a:spLocks noChangeArrowheads="1"/>
            </p:cNvSpPr>
            <p:nvPr/>
          </p:nvSpPr>
          <p:spPr bwMode="auto">
            <a:xfrm>
              <a:off x="3671888" y="50038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3" name="Rectangle 346"/>
            <p:cNvSpPr>
              <a:spLocks noChangeArrowheads="1"/>
            </p:cNvSpPr>
            <p:nvPr/>
          </p:nvSpPr>
          <p:spPr bwMode="auto">
            <a:xfrm>
              <a:off x="3671888" y="5651500"/>
              <a:ext cx="360362" cy="503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4" name="Rectangle 347"/>
            <p:cNvSpPr>
              <a:spLocks noChangeArrowheads="1"/>
            </p:cNvSpPr>
            <p:nvPr/>
          </p:nvSpPr>
          <p:spPr bwMode="auto">
            <a:xfrm>
              <a:off x="3671888" y="6300788"/>
              <a:ext cx="360362" cy="50323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355" name="Line 348"/>
            <p:cNvSpPr>
              <a:spLocks noChangeShapeType="1"/>
            </p:cNvSpPr>
            <p:nvPr/>
          </p:nvSpPr>
          <p:spPr bwMode="auto">
            <a:xfrm>
              <a:off x="4032250" y="18351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6" name="Line 349"/>
            <p:cNvSpPr>
              <a:spLocks noChangeShapeType="1"/>
            </p:cNvSpPr>
            <p:nvPr/>
          </p:nvSpPr>
          <p:spPr bwMode="auto">
            <a:xfrm>
              <a:off x="4032250" y="212248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7" name="Line 350"/>
            <p:cNvSpPr>
              <a:spLocks noChangeShapeType="1"/>
            </p:cNvSpPr>
            <p:nvPr/>
          </p:nvSpPr>
          <p:spPr bwMode="auto">
            <a:xfrm>
              <a:off x="4032250" y="24828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8" name="Line 351"/>
            <p:cNvSpPr>
              <a:spLocks noChangeShapeType="1"/>
            </p:cNvSpPr>
            <p:nvPr/>
          </p:nvSpPr>
          <p:spPr bwMode="auto">
            <a:xfrm>
              <a:off x="4032250" y="27717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59" name="Line 352"/>
            <p:cNvSpPr>
              <a:spLocks noChangeShapeType="1"/>
            </p:cNvSpPr>
            <p:nvPr/>
          </p:nvSpPr>
          <p:spPr bwMode="auto">
            <a:xfrm>
              <a:off x="4032250" y="3130550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0" name="Line 353"/>
            <p:cNvSpPr>
              <a:spLocks noChangeShapeType="1"/>
            </p:cNvSpPr>
            <p:nvPr/>
          </p:nvSpPr>
          <p:spPr bwMode="auto">
            <a:xfrm>
              <a:off x="4032250" y="34194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1" name="Line 354"/>
            <p:cNvSpPr>
              <a:spLocks noChangeShapeType="1"/>
            </p:cNvSpPr>
            <p:nvPr/>
          </p:nvSpPr>
          <p:spPr bwMode="auto">
            <a:xfrm>
              <a:off x="4032250" y="37798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2" name="Line 355"/>
            <p:cNvSpPr>
              <a:spLocks noChangeShapeType="1"/>
            </p:cNvSpPr>
            <p:nvPr/>
          </p:nvSpPr>
          <p:spPr bwMode="auto">
            <a:xfrm>
              <a:off x="4032250" y="40671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3" name="Line 356"/>
            <p:cNvSpPr>
              <a:spLocks noChangeShapeType="1"/>
            </p:cNvSpPr>
            <p:nvPr/>
          </p:nvSpPr>
          <p:spPr bwMode="auto">
            <a:xfrm>
              <a:off x="4032250" y="44275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4" name="Line 357"/>
            <p:cNvSpPr>
              <a:spLocks noChangeShapeType="1"/>
            </p:cNvSpPr>
            <p:nvPr/>
          </p:nvSpPr>
          <p:spPr bwMode="auto">
            <a:xfrm>
              <a:off x="4032250" y="471487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5" name="Line 358"/>
            <p:cNvSpPr>
              <a:spLocks noChangeShapeType="1"/>
            </p:cNvSpPr>
            <p:nvPr/>
          </p:nvSpPr>
          <p:spPr bwMode="auto">
            <a:xfrm>
              <a:off x="4032250" y="50752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6" name="Line 359"/>
            <p:cNvSpPr>
              <a:spLocks noChangeShapeType="1"/>
            </p:cNvSpPr>
            <p:nvPr/>
          </p:nvSpPr>
          <p:spPr bwMode="auto">
            <a:xfrm>
              <a:off x="4032250" y="53641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7" name="Line 360"/>
            <p:cNvSpPr>
              <a:spLocks noChangeShapeType="1"/>
            </p:cNvSpPr>
            <p:nvPr/>
          </p:nvSpPr>
          <p:spPr bwMode="auto">
            <a:xfrm>
              <a:off x="4032250" y="5722938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8" name="Line 361"/>
            <p:cNvSpPr>
              <a:spLocks noChangeShapeType="1"/>
            </p:cNvSpPr>
            <p:nvPr/>
          </p:nvSpPr>
          <p:spPr bwMode="auto">
            <a:xfrm>
              <a:off x="4032250" y="60118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69" name="Line 362"/>
            <p:cNvSpPr>
              <a:spLocks noChangeShapeType="1"/>
            </p:cNvSpPr>
            <p:nvPr/>
          </p:nvSpPr>
          <p:spPr bwMode="auto">
            <a:xfrm>
              <a:off x="4032250" y="6372225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0" name="Line 363"/>
            <p:cNvSpPr>
              <a:spLocks noChangeShapeType="1"/>
            </p:cNvSpPr>
            <p:nvPr/>
          </p:nvSpPr>
          <p:spPr bwMode="auto">
            <a:xfrm>
              <a:off x="4032250" y="6659563"/>
              <a:ext cx="2159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1" name="Line 364"/>
            <p:cNvSpPr>
              <a:spLocks noChangeShapeType="1"/>
            </p:cNvSpPr>
            <p:nvPr/>
          </p:nvSpPr>
          <p:spPr bwMode="auto">
            <a:xfrm>
              <a:off x="4248150" y="18351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2" name="Line 365"/>
            <p:cNvSpPr>
              <a:spLocks noChangeShapeType="1"/>
            </p:cNvSpPr>
            <p:nvPr/>
          </p:nvSpPr>
          <p:spPr bwMode="auto">
            <a:xfrm>
              <a:off x="42481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3" name="Line 366"/>
            <p:cNvSpPr>
              <a:spLocks noChangeShapeType="1"/>
            </p:cNvSpPr>
            <p:nvPr/>
          </p:nvSpPr>
          <p:spPr bwMode="auto">
            <a:xfrm flipV="1">
              <a:off x="42481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4" name="Line 367"/>
            <p:cNvSpPr>
              <a:spLocks noChangeShapeType="1"/>
            </p:cNvSpPr>
            <p:nvPr/>
          </p:nvSpPr>
          <p:spPr bwMode="auto">
            <a:xfrm>
              <a:off x="4248150" y="27717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5" name="Line 368"/>
            <p:cNvSpPr>
              <a:spLocks noChangeShapeType="1"/>
            </p:cNvSpPr>
            <p:nvPr/>
          </p:nvSpPr>
          <p:spPr bwMode="auto">
            <a:xfrm>
              <a:off x="4248150" y="31305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6" name="Line 369"/>
            <p:cNvSpPr>
              <a:spLocks noChangeShapeType="1"/>
            </p:cNvSpPr>
            <p:nvPr/>
          </p:nvSpPr>
          <p:spPr bwMode="auto">
            <a:xfrm>
              <a:off x="42481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7" name="Line 370"/>
            <p:cNvSpPr>
              <a:spLocks noChangeShapeType="1"/>
            </p:cNvSpPr>
            <p:nvPr/>
          </p:nvSpPr>
          <p:spPr bwMode="auto">
            <a:xfrm flipV="1">
              <a:off x="42481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8" name="Line 371"/>
            <p:cNvSpPr>
              <a:spLocks noChangeShapeType="1"/>
            </p:cNvSpPr>
            <p:nvPr/>
          </p:nvSpPr>
          <p:spPr bwMode="auto">
            <a:xfrm>
              <a:off x="4248150" y="40671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79" name="Line 372"/>
            <p:cNvSpPr>
              <a:spLocks noChangeShapeType="1"/>
            </p:cNvSpPr>
            <p:nvPr/>
          </p:nvSpPr>
          <p:spPr bwMode="auto">
            <a:xfrm>
              <a:off x="4248150" y="44275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0" name="Line 373"/>
            <p:cNvSpPr>
              <a:spLocks noChangeShapeType="1"/>
            </p:cNvSpPr>
            <p:nvPr/>
          </p:nvSpPr>
          <p:spPr bwMode="auto">
            <a:xfrm>
              <a:off x="42481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1" name="Line 374"/>
            <p:cNvSpPr>
              <a:spLocks noChangeShapeType="1"/>
            </p:cNvSpPr>
            <p:nvPr/>
          </p:nvSpPr>
          <p:spPr bwMode="auto">
            <a:xfrm flipV="1">
              <a:off x="42481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2" name="Line 375"/>
            <p:cNvSpPr>
              <a:spLocks noChangeShapeType="1"/>
            </p:cNvSpPr>
            <p:nvPr/>
          </p:nvSpPr>
          <p:spPr bwMode="auto">
            <a:xfrm>
              <a:off x="4248150" y="53641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3" name="Line 376"/>
            <p:cNvSpPr>
              <a:spLocks noChangeShapeType="1"/>
            </p:cNvSpPr>
            <p:nvPr/>
          </p:nvSpPr>
          <p:spPr bwMode="auto">
            <a:xfrm>
              <a:off x="4248150" y="57229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4" name="Line 377"/>
            <p:cNvSpPr>
              <a:spLocks noChangeShapeType="1"/>
            </p:cNvSpPr>
            <p:nvPr/>
          </p:nvSpPr>
          <p:spPr bwMode="auto">
            <a:xfrm>
              <a:off x="42481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5" name="Line 378"/>
            <p:cNvSpPr>
              <a:spLocks noChangeShapeType="1"/>
            </p:cNvSpPr>
            <p:nvPr/>
          </p:nvSpPr>
          <p:spPr bwMode="auto">
            <a:xfrm flipV="1">
              <a:off x="42481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6" name="Line 379"/>
            <p:cNvSpPr>
              <a:spLocks noChangeShapeType="1"/>
            </p:cNvSpPr>
            <p:nvPr/>
          </p:nvSpPr>
          <p:spPr bwMode="auto">
            <a:xfrm>
              <a:off x="4248150" y="66595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7" name="Line 380"/>
            <p:cNvSpPr>
              <a:spLocks noChangeShapeType="1"/>
            </p:cNvSpPr>
            <p:nvPr/>
          </p:nvSpPr>
          <p:spPr bwMode="auto">
            <a:xfrm>
              <a:off x="5543550" y="18351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8" name="Line 381"/>
            <p:cNvSpPr>
              <a:spLocks noChangeShapeType="1"/>
            </p:cNvSpPr>
            <p:nvPr/>
          </p:nvSpPr>
          <p:spPr bwMode="auto">
            <a:xfrm>
              <a:off x="55435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89" name="Line 382"/>
            <p:cNvSpPr>
              <a:spLocks noChangeShapeType="1"/>
            </p:cNvSpPr>
            <p:nvPr/>
          </p:nvSpPr>
          <p:spPr bwMode="auto">
            <a:xfrm flipV="1">
              <a:off x="5543550" y="21240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0" name="Line 383"/>
            <p:cNvSpPr>
              <a:spLocks noChangeShapeType="1"/>
            </p:cNvSpPr>
            <p:nvPr/>
          </p:nvSpPr>
          <p:spPr bwMode="auto">
            <a:xfrm>
              <a:off x="5543550" y="27717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1" name="Line 384"/>
            <p:cNvSpPr>
              <a:spLocks noChangeShapeType="1"/>
            </p:cNvSpPr>
            <p:nvPr/>
          </p:nvSpPr>
          <p:spPr bwMode="auto">
            <a:xfrm>
              <a:off x="5543550" y="3130550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2" name="Line 385"/>
            <p:cNvSpPr>
              <a:spLocks noChangeShapeType="1"/>
            </p:cNvSpPr>
            <p:nvPr/>
          </p:nvSpPr>
          <p:spPr bwMode="auto">
            <a:xfrm>
              <a:off x="55435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3" name="Line 386"/>
            <p:cNvSpPr>
              <a:spLocks noChangeShapeType="1"/>
            </p:cNvSpPr>
            <p:nvPr/>
          </p:nvSpPr>
          <p:spPr bwMode="auto">
            <a:xfrm flipV="1">
              <a:off x="5543550" y="3419475"/>
              <a:ext cx="50482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4" name="Line 387"/>
            <p:cNvSpPr>
              <a:spLocks noChangeShapeType="1"/>
            </p:cNvSpPr>
            <p:nvPr/>
          </p:nvSpPr>
          <p:spPr bwMode="auto">
            <a:xfrm>
              <a:off x="5543550" y="406717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5" name="Line 388"/>
            <p:cNvSpPr>
              <a:spLocks noChangeShapeType="1"/>
            </p:cNvSpPr>
            <p:nvPr/>
          </p:nvSpPr>
          <p:spPr bwMode="auto">
            <a:xfrm>
              <a:off x="5543550" y="4427538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6" name="Line 389"/>
            <p:cNvSpPr>
              <a:spLocks noChangeShapeType="1"/>
            </p:cNvSpPr>
            <p:nvPr/>
          </p:nvSpPr>
          <p:spPr bwMode="auto">
            <a:xfrm>
              <a:off x="55435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7" name="Line 390"/>
            <p:cNvSpPr>
              <a:spLocks noChangeShapeType="1"/>
            </p:cNvSpPr>
            <p:nvPr/>
          </p:nvSpPr>
          <p:spPr bwMode="auto">
            <a:xfrm flipV="1">
              <a:off x="5543550" y="47164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8" name="Line 391"/>
            <p:cNvSpPr>
              <a:spLocks noChangeShapeType="1"/>
            </p:cNvSpPr>
            <p:nvPr/>
          </p:nvSpPr>
          <p:spPr bwMode="auto">
            <a:xfrm>
              <a:off x="5543550" y="53641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399" name="Line 392"/>
            <p:cNvSpPr>
              <a:spLocks noChangeShapeType="1"/>
            </p:cNvSpPr>
            <p:nvPr/>
          </p:nvSpPr>
          <p:spPr bwMode="auto">
            <a:xfrm>
              <a:off x="5543550" y="5724525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0" name="Line 393"/>
            <p:cNvSpPr>
              <a:spLocks noChangeShapeType="1"/>
            </p:cNvSpPr>
            <p:nvPr/>
          </p:nvSpPr>
          <p:spPr bwMode="auto">
            <a:xfrm>
              <a:off x="55435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1" name="Line 394"/>
            <p:cNvSpPr>
              <a:spLocks noChangeShapeType="1"/>
            </p:cNvSpPr>
            <p:nvPr/>
          </p:nvSpPr>
          <p:spPr bwMode="auto">
            <a:xfrm flipV="1">
              <a:off x="5543550" y="6011863"/>
              <a:ext cx="504825" cy="360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2" name="Line 395"/>
            <p:cNvSpPr>
              <a:spLocks noChangeShapeType="1"/>
            </p:cNvSpPr>
            <p:nvPr/>
          </p:nvSpPr>
          <p:spPr bwMode="auto">
            <a:xfrm>
              <a:off x="5543550" y="6659563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03" name="Oval 397"/>
            <p:cNvSpPr>
              <a:spLocks noChangeArrowheads="1"/>
            </p:cNvSpPr>
            <p:nvPr/>
          </p:nvSpPr>
          <p:spPr bwMode="auto">
            <a:xfrm>
              <a:off x="576263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404" name="Oval 398"/>
            <p:cNvSpPr>
              <a:spLocks noChangeArrowheads="1"/>
            </p:cNvSpPr>
            <p:nvPr/>
          </p:nvSpPr>
          <p:spPr bwMode="auto">
            <a:xfrm>
              <a:off x="576263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405" name="Oval 399"/>
            <p:cNvSpPr>
              <a:spLocks noChangeArrowheads="1"/>
            </p:cNvSpPr>
            <p:nvPr/>
          </p:nvSpPr>
          <p:spPr bwMode="auto">
            <a:xfrm>
              <a:off x="576263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406" name="Oval 400"/>
            <p:cNvSpPr>
              <a:spLocks noChangeArrowheads="1"/>
            </p:cNvSpPr>
            <p:nvPr/>
          </p:nvSpPr>
          <p:spPr bwMode="auto">
            <a:xfrm>
              <a:off x="576263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407" name="Oval 401"/>
            <p:cNvSpPr>
              <a:spLocks noChangeArrowheads="1"/>
            </p:cNvSpPr>
            <p:nvPr/>
          </p:nvSpPr>
          <p:spPr bwMode="auto">
            <a:xfrm>
              <a:off x="576263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408" name="Oval 402"/>
            <p:cNvSpPr>
              <a:spLocks noChangeArrowheads="1"/>
            </p:cNvSpPr>
            <p:nvPr/>
          </p:nvSpPr>
          <p:spPr bwMode="auto">
            <a:xfrm>
              <a:off x="576263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409" name="Oval 403"/>
            <p:cNvSpPr>
              <a:spLocks noChangeArrowheads="1"/>
            </p:cNvSpPr>
            <p:nvPr/>
          </p:nvSpPr>
          <p:spPr bwMode="auto">
            <a:xfrm>
              <a:off x="576263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410" name="Oval 404"/>
            <p:cNvSpPr>
              <a:spLocks noChangeArrowheads="1"/>
            </p:cNvSpPr>
            <p:nvPr/>
          </p:nvSpPr>
          <p:spPr bwMode="auto">
            <a:xfrm>
              <a:off x="576263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411" name="Oval 405"/>
            <p:cNvSpPr>
              <a:spLocks noChangeArrowheads="1"/>
            </p:cNvSpPr>
            <p:nvPr/>
          </p:nvSpPr>
          <p:spPr bwMode="auto">
            <a:xfrm>
              <a:off x="576263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412" name="Oval 406"/>
            <p:cNvSpPr>
              <a:spLocks noChangeArrowheads="1"/>
            </p:cNvSpPr>
            <p:nvPr/>
          </p:nvSpPr>
          <p:spPr bwMode="auto">
            <a:xfrm>
              <a:off x="576263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413" name="Oval 407"/>
            <p:cNvSpPr>
              <a:spLocks noChangeArrowheads="1"/>
            </p:cNvSpPr>
            <p:nvPr/>
          </p:nvSpPr>
          <p:spPr bwMode="auto">
            <a:xfrm>
              <a:off x="576263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414" name="Oval 408"/>
            <p:cNvSpPr>
              <a:spLocks noChangeArrowheads="1"/>
            </p:cNvSpPr>
            <p:nvPr/>
          </p:nvSpPr>
          <p:spPr bwMode="auto">
            <a:xfrm>
              <a:off x="576263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415" name="Oval 409"/>
            <p:cNvSpPr>
              <a:spLocks noChangeArrowheads="1"/>
            </p:cNvSpPr>
            <p:nvPr/>
          </p:nvSpPr>
          <p:spPr bwMode="auto">
            <a:xfrm>
              <a:off x="576263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16" name="Oval 410"/>
            <p:cNvSpPr>
              <a:spLocks noChangeArrowheads="1"/>
            </p:cNvSpPr>
            <p:nvPr/>
          </p:nvSpPr>
          <p:spPr bwMode="auto">
            <a:xfrm>
              <a:off x="576263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417" name="Oval 411"/>
            <p:cNvSpPr>
              <a:spLocks noChangeArrowheads="1"/>
            </p:cNvSpPr>
            <p:nvPr/>
          </p:nvSpPr>
          <p:spPr bwMode="auto">
            <a:xfrm>
              <a:off x="576263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418" name="Oval 412"/>
            <p:cNvSpPr>
              <a:spLocks noChangeArrowheads="1"/>
            </p:cNvSpPr>
            <p:nvPr/>
          </p:nvSpPr>
          <p:spPr bwMode="auto">
            <a:xfrm>
              <a:off x="576263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19" name="Oval 413"/>
            <p:cNvSpPr>
              <a:spLocks noChangeArrowheads="1"/>
            </p:cNvSpPr>
            <p:nvPr/>
          </p:nvSpPr>
          <p:spPr bwMode="auto">
            <a:xfrm>
              <a:off x="9575800" y="39243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420" name="Oval 414"/>
            <p:cNvSpPr>
              <a:spLocks noChangeArrowheads="1"/>
            </p:cNvSpPr>
            <p:nvPr/>
          </p:nvSpPr>
          <p:spPr bwMode="auto">
            <a:xfrm>
              <a:off x="9575800" y="36353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421" name="Oval 415"/>
            <p:cNvSpPr>
              <a:spLocks noChangeArrowheads="1"/>
            </p:cNvSpPr>
            <p:nvPr/>
          </p:nvSpPr>
          <p:spPr bwMode="auto">
            <a:xfrm>
              <a:off x="9575800" y="32750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422" name="Oval 416"/>
            <p:cNvSpPr>
              <a:spLocks noChangeArrowheads="1"/>
            </p:cNvSpPr>
            <p:nvPr/>
          </p:nvSpPr>
          <p:spPr bwMode="auto">
            <a:xfrm>
              <a:off x="9575800" y="29876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423" name="Oval 417"/>
            <p:cNvSpPr>
              <a:spLocks noChangeArrowheads="1"/>
            </p:cNvSpPr>
            <p:nvPr/>
          </p:nvSpPr>
          <p:spPr bwMode="auto">
            <a:xfrm>
              <a:off x="9575800" y="26273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424" name="Oval 418"/>
            <p:cNvSpPr>
              <a:spLocks noChangeArrowheads="1"/>
            </p:cNvSpPr>
            <p:nvPr/>
          </p:nvSpPr>
          <p:spPr bwMode="auto">
            <a:xfrm>
              <a:off x="9575800" y="23399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425" name="Oval 419"/>
            <p:cNvSpPr>
              <a:spLocks noChangeArrowheads="1"/>
            </p:cNvSpPr>
            <p:nvPr/>
          </p:nvSpPr>
          <p:spPr bwMode="auto">
            <a:xfrm>
              <a:off x="9575800" y="197961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426" name="Oval 420"/>
            <p:cNvSpPr>
              <a:spLocks noChangeArrowheads="1"/>
            </p:cNvSpPr>
            <p:nvPr/>
          </p:nvSpPr>
          <p:spPr bwMode="auto">
            <a:xfrm>
              <a:off x="9575800" y="1692275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427" name="Oval 421"/>
            <p:cNvSpPr>
              <a:spLocks noChangeArrowheads="1"/>
            </p:cNvSpPr>
            <p:nvPr/>
          </p:nvSpPr>
          <p:spPr bwMode="auto">
            <a:xfrm>
              <a:off x="9575800" y="6516688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428" name="Oval 422"/>
            <p:cNvSpPr>
              <a:spLocks noChangeArrowheads="1"/>
            </p:cNvSpPr>
            <p:nvPr/>
          </p:nvSpPr>
          <p:spPr bwMode="auto">
            <a:xfrm>
              <a:off x="9575800" y="62277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429" name="Oval 423"/>
            <p:cNvSpPr>
              <a:spLocks noChangeArrowheads="1"/>
            </p:cNvSpPr>
            <p:nvPr/>
          </p:nvSpPr>
          <p:spPr bwMode="auto">
            <a:xfrm>
              <a:off x="9575800" y="58674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430" name="Oval 424"/>
            <p:cNvSpPr>
              <a:spLocks noChangeArrowheads="1"/>
            </p:cNvSpPr>
            <p:nvPr/>
          </p:nvSpPr>
          <p:spPr bwMode="auto">
            <a:xfrm>
              <a:off x="9575800" y="55800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431" name="Oval 425"/>
            <p:cNvSpPr>
              <a:spLocks noChangeArrowheads="1"/>
            </p:cNvSpPr>
            <p:nvPr/>
          </p:nvSpPr>
          <p:spPr bwMode="auto">
            <a:xfrm>
              <a:off x="9575800" y="52197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32" name="Oval 426"/>
            <p:cNvSpPr>
              <a:spLocks noChangeArrowheads="1"/>
            </p:cNvSpPr>
            <p:nvPr/>
          </p:nvSpPr>
          <p:spPr bwMode="auto">
            <a:xfrm>
              <a:off x="9575800" y="49323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433" name="Oval 427"/>
            <p:cNvSpPr>
              <a:spLocks noChangeArrowheads="1"/>
            </p:cNvSpPr>
            <p:nvPr/>
          </p:nvSpPr>
          <p:spPr bwMode="auto">
            <a:xfrm>
              <a:off x="9575800" y="4572000"/>
              <a:ext cx="288925" cy="287338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434" name="Oval 428"/>
            <p:cNvSpPr>
              <a:spLocks noChangeArrowheads="1"/>
            </p:cNvSpPr>
            <p:nvPr/>
          </p:nvSpPr>
          <p:spPr bwMode="auto">
            <a:xfrm>
              <a:off x="9575800" y="4284663"/>
              <a:ext cx="288925" cy="287337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l">
                <a:lnSpc>
                  <a:spcPct val="93000"/>
                </a:lnSpc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s-ES_tradnl" altLang="zh-TW" sz="140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35" name="Freeform 437"/>
            <p:cNvSpPr>
              <a:spLocks/>
            </p:cNvSpPr>
            <p:nvPr/>
          </p:nvSpPr>
          <p:spPr bwMode="auto">
            <a:xfrm>
              <a:off x="858838" y="1809750"/>
              <a:ext cx="8718550" cy="1327150"/>
            </a:xfrm>
            <a:custGeom>
              <a:avLst/>
              <a:gdLst>
                <a:gd name="T0" fmla="*/ 0 w 5492"/>
                <a:gd name="T1" fmla="*/ 818 h 836"/>
                <a:gd name="T2" fmla="*/ 132 w 5492"/>
                <a:gd name="T3" fmla="*/ 827 h 836"/>
                <a:gd name="T4" fmla="*/ 496 w 5492"/>
                <a:gd name="T5" fmla="*/ 836 h 836"/>
                <a:gd name="T6" fmla="*/ 824 w 5492"/>
                <a:gd name="T7" fmla="*/ 420 h 836"/>
                <a:gd name="T8" fmla="*/ 1320 w 5492"/>
                <a:gd name="T9" fmla="*/ 428 h 836"/>
                <a:gd name="T10" fmla="*/ 1639 w 5492"/>
                <a:gd name="T11" fmla="*/ 189 h 836"/>
                <a:gd name="T12" fmla="*/ 1781 w 5492"/>
                <a:gd name="T13" fmla="*/ 180 h 836"/>
                <a:gd name="T14" fmla="*/ 1985 w 5492"/>
                <a:gd name="T15" fmla="*/ 12 h 836"/>
                <a:gd name="T16" fmla="*/ 5175 w 5492"/>
                <a:gd name="T17" fmla="*/ 12 h 836"/>
                <a:gd name="T18" fmla="*/ 5379 w 5492"/>
                <a:gd name="T19" fmla="*/ 0 h 836"/>
                <a:gd name="T20" fmla="*/ 5492 w 5492"/>
                <a:gd name="T21" fmla="*/ 29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92" h="836">
                  <a:moveTo>
                    <a:pt x="0" y="818"/>
                  </a:moveTo>
                  <a:lnTo>
                    <a:pt x="132" y="827"/>
                  </a:lnTo>
                  <a:lnTo>
                    <a:pt x="496" y="836"/>
                  </a:lnTo>
                  <a:lnTo>
                    <a:pt x="824" y="420"/>
                  </a:lnTo>
                  <a:lnTo>
                    <a:pt x="1320" y="428"/>
                  </a:lnTo>
                  <a:lnTo>
                    <a:pt x="1639" y="189"/>
                  </a:lnTo>
                  <a:lnTo>
                    <a:pt x="1781" y="180"/>
                  </a:lnTo>
                  <a:lnTo>
                    <a:pt x="1985" y="12"/>
                  </a:lnTo>
                  <a:lnTo>
                    <a:pt x="5175" y="12"/>
                  </a:lnTo>
                  <a:lnTo>
                    <a:pt x="5379" y="0"/>
                  </a:lnTo>
                  <a:lnTo>
                    <a:pt x="5492" y="2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6" name="Freeform 442"/>
            <p:cNvSpPr>
              <a:spLocks/>
            </p:cNvSpPr>
            <p:nvPr/>
          </p:nvSpPr>
          <p:spPr bwMode="auto">
            <a:xfrm>
              <a:off x="863600" y="1814513"/>
              <a:ext cx="8718550" cy="1347787"/>
            </a:xfrm>
            <a:custGeom>
              <a:avLst/>
              <a:gdLst>
                <a:gd name="T0" fmla="*/ 0 w 5492"/>
                <a:gd name="T1" fmla="*/ 831 h 849"/>
                <a:gd name="T2" fmla="*/ 132 w 5492"/>
                <a:gd name="T3" fmla="*/ 840 h 849"/>
                <a:gd name="T4" fmla="*/ 496 w 5492"/>
                <a:gd name="T5" fmla="*/ 849 h 849"/>
                <a:gd name="T6" fmla="*/ 824 w 5492"/>
                <a:gd name="T7" fmla="*/ 433 h 849"/>
                <a:gd name="T8" fmla="*/ 1320 w 5492"/>
                <a:gd name="T9" fmla="*/ 441 h 849"/>
                <a:gd name="T10" fmla="*/ 1639 w 5492"/>
                <a:gd name="T11" fmla="*/ 202 h 849"/>
                <a:gd name="T12" fmla="*/ 1781 w 5492"/>
                <a:gd name="T13" fmla="*/ 193 h 849"/>
                <a:gd name="T14" fmla="*/ 2123 w 5492"/>
                <a:gd name="T15" fmla="*/ 186 h 849"/>
                <a:gd name="T16" fmla="*/ 2460 w 5492"/>
                <a:gd name="T17" fmla="*/ 417 h 849"/>
                <a:gd name="T18" fmla="*/ 2974 w 5492"/>
                <a:gd name="T19" fmla="*/ 425 h 849"/>
                <a:gd name="T20" fmla="*/ 3266 w 5492"/>
                <a:gd name="T21" fmla="*/ 186 h 849"/>
                <a:gd name="T22" fmla="*/ 3408 w 5492"/>
                <a:gd name="T23" fmla="*/ 195 h 849"/>
                <a:gd name="T24" fmla="*/ 3594 w 5492"/>
                <a:gd name="T25" fmla="*/ 0 h 849"/>
                <a:gd name="T26" fmla="*/ 5175 w 5492"/>
                <a:gd name="T27" fmla="*/ 25 h 849"/>
                <a:gd name="T28" fmla="*/ 5379 w 5492"/>
                <a:gd name="T29" fmla="*/ 13 h 849"/>
                <a:gd name="T30" fmla="*/ 5492 w 5492"/>
                <a:gd name="T31" fmla="*/ 42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92" h="849">
                  <a:moveTo>
                    <a:pt x="0" y="831"/>
                  </a:moveTo>
                  <a:lnTo>
                    <a:pt x="132" y="840"/>
                  </a:lnTo>
                  <a:lnTo>
                    <a:pt x="496" y="849"/>
                  </a:lnTo>
                  <a:lnTo>
                    <a:pt x="824" y="433"/>
                  </a:lnTo>
                  <a:lnTo>
                    <a:pt x="1320" y="441"/>
                  </a:lnTo>
                  <a:lnTo>
                    <a:pt x="1639" y="202"/>
                  </a:lnTo>
                  <a:lnTo>
                    <a:pt x="1781" y="193"/>
                  </a:lnTo>
                  <a:lnTo>
                    <a:pt x="2123" y="186"/>
                  </a:lnTo>
                  <a:lnTo>
                    <a:pt x="2460" y="417"/>
                  </a:lnTo>
                  <a:lnTo>
                    <a:pt x="2974" y="425"/>
                  </a:lnTo>
                  <a:lnTo>
                    <a:pt x="3266" y="186"/>
                  </a:lnTo>
                  <a:lnTo>
                    <a:pt x="3408" y="195"/>
                  </a:lnTo>
                  <a:lnTo>
                    <a:pt x="3594" y="0"/>
                  </a:lnTo>
                  <a:lnTo>
                    <a:pt x="5175" y="25"/>
                  </a:lnTo>
                  <a:lnTo>
                    <a:pt x="5379" y="13"/>
                  </a:lnTo>
                  <a:lnTo>
                    <a:pt x="5492" y="42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7" name="Freeform 443"/>
            <p:cNvSpPr>
              <a:spLocks/>
            </p:cNvSpPr>
            <p:nvPr/>
          </p:nvSpPr>
          <p:spPr bwMode="auto">
            <a:xfrm>
              <a:off x="863600" y="1843088"/>
              <a:ext cx="8718550" cy="1589087"/>
            </a:xfrm>
            <a:custGeom>
              <a:avLst/>
              <a:gdLst>
                <a:gd name="T0" fmla="*/ 0 w 5492"/>
                <a:gd name="T1" fmla="*/ 826 h 1001"/>
                <a:gd name="T2" fmla="*/ 132 w 5492"/>
                <a:gd name="T3" fmla="*/ 835 h 1001"/>
                <a:gd name="T4" fmla="*/ 496 w 5492"/>
                <a:gd name="T5" fmla="*/ 844 h 1001"/>
                <a:gd name="T6" fmla="*/ 824 w 5492"/>
                <a:gd name="T7" fmla="*/ 428 h 1001"/>
                <a:gd name="T8" fmla="*/ 971 w 5492"/>
                <a:gd name="T9" fmla="*/ 425 h 1001"/>
                <a:gd name="T10" fmla="*/ 1184 w 5492"/>
                <a:gd name="T11" fmla="*/ 594 h 1001"/>
                <a:gd name="T12" fmla="*/ 1317 w 5492"/>
                <a:gd name="T13" fmla="*/ 585 h 1001"/>
                <a:gd name="T14" fmla="*/ 1645 w 5492"/>
                <a:gd name="T15" fmla="*/ 1001 h 1001"/>
                <a:gd name="T16" fmla="*/ 1769 w 5492"/>
                <a:gd name="T17" fmla="*/ 992 h 1001"/>
                <a:gd name="T18" fmla="*/ 1982 w 5492"/>
                <a:gd name="T19" fmla="*/ 806 h 1001"/>
                <a:gd name="T20" fmla="*/ 3878 w 5492"/>
                <a:gd name="T21" fmla="*/ 797 h 1001"/>
                <a:gd name="T22" fmla="*/ 4197 w 5492"/>
                <a:gd name="T23" fmla="*/ 177 h 1001"/>
                <a:gd name="T24" fmla="*/ 4374 w 5492"/>
                <a:gd name="T25" fmla="*/ 177 h 1001"/>
                <a:gd name="T26" fmla="*/ 4578 w 5492"/>
                <a:gd name="T27" fmla="*/ 0 h 1001"/>
                <a:gd name="T28" fmla="*/ 5175 w 5492"/>
                <a:gd name="T29" fmla="*/ 20 h 1001"/>
                <a:gd name="T30" fmla="*/ 5379 w 5492"/>
                <a:gd name="T31" fmla="*/ 8 h 1001"/>
                <a:gd name="T32" fmla="*/ 5492 w 5492"/>
                <a:gd name="T33" fmla="*/ 37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92" h="1001">
                  <a:moveTo>
                    <a:pt x="0" y="826"/>
                  </a:moveTo>
                  <a:lnTo>
                    <a:pt x="132" y="835"/>
                  </a:lnTo>
                  <a:lnTo>
                    <a:pt x="496" y="844"/>
                  </a:lnTo>
                  <a:lnTo>
                    <a:pt x="824" y="428"/>
                  </a:lnTo>
                  <a:lnTo>
                    <a:pt x="971" y="425"/>
                  </a:lnTo>
                  <a:lnTo>
                    <a:pt x="1184" y="594"/>
                  </a:lnTo>
                  <a:lnTo>
                    <a:pt x="1317" y="585"/>
                  </a:lnTo>
                  <a:lnTo>
                    <a:pt x="1645" y="1001"/>
                  </a:lnTo>
                  <a:lnTo>
                    <a:pt x="1769" y="992"/>
                  </a:lnTo>
                  <a:lnTo>
                    <a:pt x="1982" y="806"/>
                  </a:lnTo>
                  <a:lnTo>
                    <a:pt x="3878" y="797"/>
                  </a:lnTo>
                  <a:lnTo>
                    <a:pt x="4197" y="177"/>
                  </a:lnTo>
                  <a:lnTo>
                    <a:pt x="4374" y="177"/>
                  </a:lnTo>
                  <a:lnTo>
                    <a:pt x="4578" y="0"/>
                  </a:lnTo>
                  <a:lnTo>
                    <a:pt x="5175" y="20"/>
                  </a:lnTo>
                  <a:lnTo>
                    <a:pt x="5379" y="8"/>
                  </a:lnTo>
                  <a:lnTo>
                    <a:pt x="5492" y="37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8" name="Freeform 444"/>
            <p:cNvSpPr>
              <a:spLocks/>
            </p:cNvSpPr>
            <p:nvPr/>
          </p:nvSpPr>
          <p:spPr bwMode="auto">
            <a:xfrm>
              <a:off x="863600" y="1835150"/>
              <a:ext cx="8718550" cy="1963738"/>
            </a:xfrm>
            <a:custGeom>
              <a:avLst/>
              <a:gdLst>
                <a:gd name="T0" fmla="*/ 0 w 5492"/>
                <a:gd name="T1" fmla="*/ 826 h 1237"/>
                <a:gd name="T2" fmla="*/ 132 w 5492"/>
                <a:gd name="T3" fmla="*/ 835 h 1237"/>
                <a:gd name="T4" fmla="*/ 496 w 5492"/>
                <a:gd name="T5" fmla="*/ 844 h 1237"/>
                <a:gd name="T6" fmla="*/ 824 w 5492"/>
                <a:gd name="T7" fmla="*/ 428 h 1237"/>
                <a:gd name="T8" fmla="*/ 971 w 5492"/>
                <a:gd name="T9" fmla="*/ 425 h 1237"/>
                <a:gd name="T10" fmla="*/ 1184 w 5492"/>
                <a:gd name="T11" fmla="*/ 594 h 1237"/>
                <a:gd name="T12" fmla="*/ 1317 w 5492"/>
                <a:gd name="T13" fmla="*/ 585 h 1237"/>
                <a:gd name="T14" fmla="*/ 1645 w 5492"/>
                <a:gd name="T15" fmla="*/ 1001 h 1237"/>
                <a:gd name="T16" fmla="*/ 2150 w 5492"/>
                <a:gd name="T17" fmla="*/ 997 h 1237"/>
                <a:gd name="T18" fmla="*/ 2460 w 5492"/>
                <a:gd name="T19" fmla="*/ 1237 h 1237"/>
                <a:gd name="T20" fmla="*/ 2947 w 5492"/>
                <a:gd name="T21" fmla="*/ 1219 h 1237"/>
                <a:gd name="T22" fmla="*/ 3266 w 5492"/>
                <a:gd name="T23" fmla="*/ 1006 h 1237"/>
                <a:gd name="T24" fmla="*/ 3417 w 5492"/>
                <a:gd name="T25" fmla="*/ 997 h 1237"/>
                <a:gd name="T26" fmla="*/ 3621 w 5492"/>
                <a:gd name="T27" fmla="*/ 802 h 1237"/>
                <a:gd name="T28" fmla="*/ 3878 w 5492"/>
                <a:gd name="T29" fmla="*/ 797 h 1237"/>
                <a:gd name="T30" fmla="*/ 4197 w 5492"/>
                <a:gd name="T31" fmla="*/ 177 h 1237"/>
                <a:gd name="T32" fmla="*/ 4374 w 5492"/>
                <a:gd name="T33" fmla="*/ 177 h 1237"/>
                <a:gd name="T34" fmla="*/ 4578 w 5492"/>
                <a:gd name="T35" fmla="*/ 0 h 1237"/>
                <a:gd name="T36" fmla="*/ 5175 w 5492"/>
                <a:gd name="T37" fmla="*/ 20 h 1237"/>
                <a:gd name="T38" fmla="*/ 5379 w 5492"/>
                <a:gd name="T39" fmla="*/ 8 h 1237"/>
                <a:gd name="T40" fmla="*/ 5492 w 5492"/>
                <a:gd name="T41" fmla="*/ 37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492" h="1237">
                  <a:moveTo>
                    <a:pt x="0" y="826"/>
                  </a:moveTo>
                  <a:lnTo>
                    <a:pt x="132" y="835"/>
                  </a:lnTo>
                  <a:lnTo>
                    <a:pt x="496" y="844"/>
                  </a:lnTo>
                  <a:lnTo>
                    <a:pt x="824" y="428"/>
                  </a:lnTo>
                  <a:lnTo>
                    <a:pt x="971" y="425"/>
                  </a:lnTo>
                  <a:lnTo>
                    <a:pt x="1184" y="594"/>
                  </a:lnTo>
                  <a:lnTo>
                    <a:pt x="1317" y="585"/>
                  </a:lnTo>
                  <a:lnTo>
                    <a:pt x="1645" y="1001"/>
                  </a:lnTo>
                  <a:lnTo>
                    <a:pt x="2150" y="997"/>
                  </a:lnTo>
                  <a:lnTo>
                    <a:pt x="2460" y="1237"/>
                  </a:lnTo>
                  <a:lnTo>
                    <a:pt x="2947" y="1219"/>
                  </a:lnTo>
                  <a:lnTo>
                    <a:pt x="3266" y="1006"/>
                  </a:lnTo>
                  <a:lnTo>
                    <a:pt x="3417" y="997"/>
                  </a:lnTo>
                  <a:lnTo>
                    <a:pt x="3621" y="802"/>
                  </a:lnTo>
                  <a:lnTo>
                    <a:pt x="3878" y="797"/>
                  </a:lnTo>
                  <a:lnTo>
                    <a:pt x="4197" y="177"/>
                  </a:lnTo>
                  <a:lnTo>
                    <a:pt x="4374" y="177"/>
                  </a:lnTo>
                  <a:lnTo>
                    <a:pt x="4578" y="0"/>
                  </a:lnTo>
                  <a:lnTo>
                    <a:pt x="5175" y="20"/>
                  </a:lnTo>
                  <a:lnTo>
                    <a:pt x="5379" y="8"/>
                  </a:lnTo>
                  <a:lnTo>
                    <a:pt x="5492" y="37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39" name="Freeform 438"/>
            <p:cNvSpPr>
              <a:spLocks/>
            </p:cNvSpPr>
            <p:nvPr/>
          </p:nvSpPr>
          <p:spPr bwMode="auto">
            <a:xfrm>
              <a:off x="858838" y="1835150"/>
              <a:ext cx="8718550" cy="3243263"/>
            </a:xfrm>
            <a:custGeom>
              <a:avLst/>
              <a:gdLst>
                <a:gd name="T0" fmla="*/ 0 w 5492"/>
                <a:gd name="T1" fmla="*/ 818 h 2043"/>
                <a:gd name="T2" fmla="*/ 132 w 5492"/>
                <a:gd name="T3" fmla="*/ 827 h 2043"/>
                <a:gd name="T4" fmla="*/ 372 w 5492"/>
                <a:gd name="T5" fmla="*/ 997 h 2043"/>
                <a:gd name="T6" fmla="*/ 487 w 5492"/>
                <a:gd name="T7" fmla="*/ 997 h 2043"/>
                <a:gd name="T8" fmla="*/ 815 w 5492"/>
                <a:gd name="T9" fmla="*/ 2043 h 2043"/>
                <a:gd name="T10" fmla="*/ 1329 w 5492"/>
                <a:gd name="T11" fmla="*/ 2043 h 2043"/>
                <a:gd name="T12" fmla="*/ 1630 w 5492"/>
                <a:gd name="T13" fmla="*/ 1821 h 2043"/>
                <a:gd name="T14" fmla="*/ 1781 w 5492"/>
                <a:gd name="T15" fmla="*/ 1821 h 2043"/>
                <a:gd name="T16" fmla="*/ 2002 w 5492"/>
                <a:gd name="T17" fmla="*/ 1635 h 2043"/>
                <a:gd name="T18" fmla="*/ 4714 w 5492"/>
                <a:gd name="T19" fmla="*/ 1635 h 2043"/>
                <a:gd name="T20" fmla="*/ 5033 w 5492"/>
                <a:gd name="T21" fmla="*/ 173 h 2043"/>
                <a:gd name="T22" fmla="*/ 5157 w 5492"/>
                <a:gd name="T23" fmla="*/ 164 h 2043"/>
                <a:gd name="T24" fmla="*/ 5379 w 5492"/>
                <a:gd name="T25" fmla="*/ 0 h 2043"/>
                <a:gd name="T26" fmla="*/ 5492 w 5492"/>
                <a:gd name="T27" fmla="*/ 29 h 2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2" h="2043">
                  <a:moveTo>
                    <a:pt x="0" y="818"/>
                  </a:moveTo>
                  <a:lnTo>
                    <a:pt x="132" y="827"/>
                  </a:lnTo>
                  <a:lnTo>
                    <a:pt x="372" y="997"/>
                  </a:lnTo>
                  <a:lnTo>
                    <a:pt x="487" y="997"/>
                  </a:lnTo>
                  <a:lnTo>
                    <a:pt x="815" y="2043"/>
                  </a:lnTo>
                  <a:lnTo>
                    <a:pt x="1329" y="2043"/>
                  </a:lnTo>
                  <a:lnTo>
                    <a:pt x="1630" y="1821"/>
                  </a:lnTo>
                  <a:lnTo>
                    <a:pt x="1781" y="1821"/>
                  </a:lnTo>
                  <a:lnTo>
                    <a:pt x="2002" y="1635"/>
                  </a:lnTo>
                  <a:lnTo>
                    <a:pt x="4714" y="1635"/>
                  </a:lnTo>
                  <a:lnTo>
                    <a:pt x="5033" y="173"/>
                  </a:lnTo>
                  <a:lnTo>
                    <a:pt x="5157" y="164"/>
                  </a:lnTo>
                  <a:lnTo>
                    <a:pt x="5379" y="0"/>
                  </a:lnTo>
                  <a:lnTo>
                    <a:pt x="5492" y="2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0" name="Freeform 441"/>
            <p:cNvSpPr>
              <a:spLocks/>
            </p:cNvSpPr>
            <p:nvPr/>
          </p:nvSpPr>
          <p:spPr bwMode="auto">
            <a:xfrm>
              <a:off x="863600" y="1835150"/>
              <a:ext cx="8718550" cy="3243263"/>
            </a:xfrm>
            <a:custGeom>
              <a:avLst/>
              <a:gdLst>
                <a:gd name="T0" fmla="*/ 0 w 5492"/>
                <a:gd name="T1" fmla="*/ 818 h 2043"/>
                <a:gd name="T2" fmla="*/ 132 w 5492"/>
                <a:gd name="T3" fmla="*/ 827 h 2043"/>
                <a:gd name="T4" fmla="*/ 372 w 5492"/>
                <a:gd name="T5" fmla="*/ 997 h 2043"/>
                <a:gd name="T6" fmla="*/ 487 w 5492"/>
                <a:gd name="T7" fmla="*/ 997 h 2043"/>
                <a:gd name="T8" fmla="*/ 815 w 5492"/>
                <a:gd name="T9" fmla="*/ 2043 h 2043"/>
                <a:gd name="T10" fmla="*/ 1329 w 5492"/>
                <a:gd name="T11" fmla="*/ 2043 h 2043"/>
                <a:gd name="T12" fmla="*/ 1630 w 5492"/>
                <a:gd name="T13" fmla="*/ 1821 h 2043"/>
                <a:gd name="T14" fmla="*/ 1781 w 5492"/>
                <a:gd name="T15" fmla="*/ 1821 h 2043"/>
                <a:gd name="T16" fmla="*/ 2132 w 5492"/>
                <a:gd name="T17" fmla="*/ 1813 h 2043"/>
                <a:gd name="T18" fmla="*/ 2442 w 5492"/>
                <a:gd name="T19" fmla="*/ 2034 h 2043"/>
                <a:gd name="T20" fmla="*/ 2823 w 5492"/>
                <a:gd name="T21" fmla="*/ 2043 h 2043"/>
                <a:gd name="T22" fmla="*/ 2956 w 5492"/>
                <a:gd name="T23" fmla="*/ 2043 h 2043"/>
                <a:gd name="T24" fmla="*/ 3275 w 5492"/>
                <a:gd name="T25" fmla="*/ 1821 h 2043"/>
                <a:gd name="T26" fmla="*/ 3408 w 5492"/>
                <a:gd name="T27" fmla="*/ 1813 h 2043"/>
                <a:gd name="T28" fmla="*/ 3630 w 5492"/>
                <a:gd name="T29" fmla="*/ 1627 h 2043"/>
                <a:gd name="T30" fmla="*/ 4714 w 5492"/>
                <a:gd name="T31" fmla="*/ 1635 h 2043"/>
                <a:gd name="T32" fmla="*/ 5033 w 5492"/>
                <a:gd name="T33" fmla="*/ 173 h 2043"/>
                <a:gd name="T34" fmla="*/ 5157 w 5492"/>
                <a:gd name="T35" fmla="*/ 164 h 2043"/>
                <a:gd name="T36" fmla="*/ 5379 w 5492"/>
                <a:gd name="T37" fmla="*/ 0 h 2043"/>
                <a:gd name="T38" fmla="*/ 5492 w 5492"/>
                <a:gd name="T39" fmla="*/ 29 h 2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92" h="2043">
                  <a:moveTo>
                    <a:pt x="0" y="818"/>
                  </a:moveTo>
                  <a:lnTo>
                    <a:pt x="132" y="827"/>
                  </a:lnTo>
                  <a:lnTo>
                    <a:pt x="372" y="997"/>
                  </a:lnTo>
                  <a:lnTo>
                    <a:pt x="487" y="997"/>
                  </a:lnTo>
                  <a:lnTo>
                    <a:pt x="815" y="2043"/>
                  </a:lnTo>
                  <a:lnTo>
                    <a:pt x="1329" y="2043"/>
                  </a:lnTo>
                  <a:lnTo>
                    <a:pt x="1630" y="1821"/>
                  </a:lnTo>
                  <a:lnTo>
                    <a:pt x="1781" y="1821"/>
                  </a:lnTo>
                  <a:lnTo>
                    <a:pt x="2132" y="1813"/>
                  </a:lnTo>
                  <a:lnTo>
                    <a:pt x="2442" y="2034"/>
                  </a:lnTo>
                  <a:lnTo>
                    <a:pt x="2823" y="2043"/>
                  </a:lnTo>
                  <a:lnTo>
                    <a:pt x="2956" y="2043"/>
                  </a:lnTo>
                  <a:lnTo>
                    <a:pt x="3275" y="1821"/>
                  </a:lnTo>
                  <a:lnTo>
                    <a:pt x="3408" y="1813"/>
                  </a:lnTo>
                  <a:lnTo>
                    <a:pt x="3630" y="1627"/>
                  </a:lnTo>
                  <a:lnTo>
                    <a:pt x="4714" y="1635"/>
                  </a:lnTo>
                  <a:lnTo>
                    <a:pt x="5033" y="173"/>
                  </a:lnTo>
                  <a:lnTo>
                    <a:pt x="5157" y="164"/>
                  </a:lnTo>
                  <a:lnTo>
                    <a:pt x="5379" y="0"/>
                  </a:lnTo>
                  <a:lnTo>
                    <a:pt x="5492" y="2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1" name="Freeform 440"/>
            <p:cNvSpPr>
              <a:spLocks/>
            </p:cNvSpPr>
            <p:nvPr/>
          </p:nvSpPr>
          <p:spPr bwMode="auto">
            <a:xfrm>
              <a:off x="863600" y="1835150"/>
              <a:ext cx="8718550" cy="4171950"/>
            </a:xfrm>
            <a:custGeom>
              <a:avLst/>
              <a:gdLst>
                <a:gd name="T0" fmla="*/ 0 w 5492"/>
                <a:gd name="T1" fmla="*/ 818 h 2628"/>
                <a:gd name="T2" fmla="*/ 132 w 5492"/>
                <a:gd name="T3" fmla="*/ 827 h 2628"/>
                <a:gd name="T4" fmla="*/ 372 w 5492"/>
                <a:gd name="T5" fmla="*/ 997 h 2628"/>
                <a:gd name="T6" fmla="*/ 487 w 5492"/>
                <a:gd name="T7" fmla="*/ 997 h 2628"/>
                <a:gd name="T8" fmla="*/ 815 w 5492"/>
                <a:gd name="T9" fmla="*/ 2043 h 2628"/>
                <a:gd name="T10" fmla="*/ 962 w 5492"/>
                <a:gd name="T11" fmla="*/ 2043 h 2628"/>
                <a:gd name="T12" fmla="*/ 1166 w 5492"/>
                <a:gd name="T13" fmla="*/ 2229 h 2628"/>
                <a:gd name="T14" fmla="*/ 1335 w 5492"/>
                <a:gd name="T15" fmla="*/ 2229 h 2628"/>
                <a:gd name="T16" fmla="*/ 1645 w 5492"/>
                <a:gd name="T17" fmla="*/ 2628 h 2628"/>
                <a:gd name="T18" fmla="*/ 1760 w 5492"/>
                <a:gd name="T19" fmla="*/ 2619 h 2628"/>
                <a:gd name="T20" fmla="*/ 1990 w 5492"/>
                <a:gd name="T21" fmla="*/ 2433 h 2628"/>
                <a:gd name="T22" fmla="*/ 3417 w 5492"/>
                <a:gd name="T23" fmla="*/ 2451 h 2628"/>
                <a:gd name="T24" fmla="*/ 3630 w 5492"/>
                <a:gd name="T25" fmla="*/ 2460 h 2628"/>
                <a:gd name="T26" fmla="*/ 3887 w 5492"/>
                <a:gd name="T27" fmla="*/ 2442 h 2628"/>
                <a:gd name="T28" fmla="*/ 4206 w 5492"/>
                <a:gd name="T29" fmla="*/ 1813 h 2628"/>
                <a:gd name="T30" fmla="*/ 4348 w 5492"/>
                <a:gd name="T31" fmla="*/ 1813 h 2628"/>
                <a:gd name="T32" fmla="*/ 4587 w 5492"/>
                <a:gd name="T33" fmla="*/ 1627 h 2628"/>
                <a:gd name="T34" fmla="*/ 4714 w 5492"/>
                <a:gd name="T35" fmla="*/ 1635 h 2628"/>
                <a:gd name="T36" fmla="*/ 5033 w 5492"/>
                <a:gd name="T37" fmla="*/ 173 h 2628"/>
                <a:gd name="T38" fmla="*/ 5157 w 5492"/>
                <a:gd name="T39" fmla="*/ 164 h 2628"/>
                <a:gd name="T40" fmla="*/ 5379 w 5492"/>
                <a:gd name="T41" fmla="*/ 0 h 2628"/>
                <a:gd name="T42" fmla="*/ 5492 w 5492"/>
                <a:gd name="T43" fmla="*/ 29 h 2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492" h="2628">
                  <a:moveTo>
                    <a:pt x="0" y="818"/>
                  </a:moveTo>
                  <a:lnTo>
                    <a:pt x="132" y="827"/>
                  </a:lnTo>
                  <a:lnTo>
                    <a:pt x="372" y="997"/>
                  </a:lnTo>
                  <a:lnTo>
                    <a:pt x="487" y="997"/>
                  </a:lnTo>
                  <a:lnTo>
                    <a:pt x="815" y="2043"/>
                  </a:lnTo>
                  <a:lnTo>
                    <a:pt x="962" y="2043"/>
                  </a:lnTo>
                  <a:lnTo>
                    <a:pt x="1166" y="2229"/>
                  </a:lnTo>
                  <a:lnTo>
                    <a:pt x="1335" y="2229"/>
                  </a:lnTo>
                  <a:lnTo>
                    <a:pt x="1645" y="2628"/>
                  </a:lnTo>
                  <a:lnTo>
                    <a:pt x="1760" y="2619"/>
                  </a:lnTo>
                  <a:lnTo>
                    <a:pt x="1990" y="2433"/>
                  </a:lnTo>
                  <a:lnTo>
                    <a:pt x="3417" y="2451"/>
                  </a:lnTo>
                  <a:lnTo>
                    <a:pt x="3630" y="2460"/>
                  </a:lnTo>
                  <a:lnTo>
                    <a:pt x="3887" y="2442"/>
                  </a:lnTo>
                  <a:lnTo>
                    <a:pt x="4206" y="1813"/>
                  </a:lnTo>
                  <a:lnTo>
                    <a:pt x="4348" y="1813"/>
                  </a:lnTo>
                  <a:lnTo>
                    <a:pt x="4587" y="1627"/>
                  </a:lnTo>
                  <a:lnTo>
                    <a:pt x="4714" y="1635"/>
                  </a:lnTo>
                  <a:lnTo>
                    <a:pt x="5033" y="173"/>
                  </a:lnTo>
                  <a:lnTo>
                    <a:pt x="5157" y="164"/>
                  </a:lnTo>
                  <a:lnTo>
                    <a:pt x="5379" y="0"/>
                  </a:lnTo>
                  <a:lnTo>
                    <a:pt x="5492" y="2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  <p:sp>
          <p:nvSpPr>
            <p:cNvPr id="442" name="Freeform 439"/>
            <p:cNvSpPr>
              <a:spLocks/>
            </p:cNvSpPr>
            <p:nvPr/>
          </p:nvSpPr>
          <p:spPr bwMode="auto">
            <a:xfrm>
              <a:off x="863600" y="1835150"/>
              <a:ext cx="8718550" cy="4537075"/>
            </a:xfrm>
            <a:custGeom>
              <a:avLst/>
              <a:gdLst>
                <a:gd name="T0" fmla="*/ 0 w 5492"/>
                <a:gd name="T1" fmla="*/ 818 h 2858"/>
                <a:gd name="T2" fmla="*/ 132 w 5492"/>
                <a:gd name="T3" fmla="*/ 827 h 2858"/>
                <a:gd name="T4" fmla="*/ 372 w 5492"/>
                <a:gd name="T5" fmla="*/ 997 h 2858"/>
                <a:gd name="T6" fmla="*/ 487 w 5492"/>
                <a:gd name="T7" fmla="*/ 997 h 2858"/>
                <a:gd name="T8" fmla="*/ 815 w 5492"/>
                <a:gd name="T9" fmla="*/ 2043 h 2858"/>
                <a:gd name="T10" fmla="*/ 962 w 5492"/>
                <a:gd name="T11" fmla="*/ 2043 h 2858"/>
                <a:gd name="T12" fmla="*/ 1166 w 5492"/>
                <a:gd name="T13" fmla="*/ 2229 h 2858"/>
                <a:gd name="T14" fmla="*/ 1335 w 5492"/>
                <a:gd name="T15" fmla="*/ 2229 h 2858"/>
                <a:gd name="T16" fmla="*/ 1645 w 5492"/>
                <a:gd name="T17" fmla="*/ 2628 h 2858"/>
                <a:gd name="T18" fmla="*/ 2132 w 5492"/>
                <a:gd name="T19" fmla="*/ 2628 h 2858"/>
                <a:gd name="T20" fmla="*/ 2442 w 5492"/>
                <a:gd name="T21" fmla="*/ 2858 h 2858"/>
                <a:gd name="T22" fmla="*/ 2947 w 5492"/>
                <a:gd name="T23" fmla="*/ 2858 h 2858"/>
                <a:gd name="T24" fmla="*/ 3284 w 5492"/>
                <a:gd name="T25" fmla="*/ 2610 h 2858"/>
                <a:gd name="T26" fmla="*/ 3399 w 5492"/>
                <a:gd name="T27" fmla="*/ 2637 h 2858"/>
                <a:gd name="T28" fmla="*/ 3399 w 5492"/>
                <a:gd name="T29" fmla="*/ 2637 h 2858"/>
                <a:gd name="T30" fmla="*/ 3630 w 5492"/>
                <a:gd name="T31" fmla="*/ 2460 h 2858"/>
                <a:gd name="T32" fmla="*/ 3887 w 5492"/>
                <a:gd name="T33" fmla="*/ 2442 h 2858"/>
                <a:gd name="T34" fmla="*/ 4206 w 5492"/>
                <a:gd name="T35" fmla="*/ 1813 h 2858"/>
                <a:gd name="T36" fmla="*/ 4348 w 5492"/>
                <a:gd name="T37" fmla="*/ 1813 h 2858"/>
                <a:gd name="T38" fmla="*/ 4587 w 5492"/>
                <a:gd name="T39" fmla="*/ 1627 h 2858"/>
                <a:gd name="T40" fmla="*/ 4714 w 5492"/>
                <a:gd name="T41" fmla="*/ 1635 h 2858"/>
                <a:gd name="T42" fmla="*/ 5033 w 5492"/>
                <a:gd name="T43" fmla="*/ 173 h 2858"/>
                <a:gd name="T44" fmla="*/ 5157 w 5492"/>
                <a:gd name="T45" fmla="*/ 164 h 2858"/>
                <a:gd name="T46" fmla="*/ 5379 w 5492"/>
                <a:gd name="T47" fmla="*/ 0 h 2858"/>
                <a:gd name="T48" fmla="*/ 5492 w 5492"/>
                <a:gd name="T49" fmla="*/ 29 h 2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92" h="2858">
                  <a:moveTo>
                    <a:pt x="0" y="818"/>
                  </a:moveTo>
                  <a:lnTo>
                    <a:pt x="132" y="827"/>
                  </a:lnTo>
                  <a:lnTo>
                    <a:pt x="372" y="997"/>
                  </a:lnTo>
                  <a:lnTo>
                    <a:pt x="487" y="997"/>
                  </a:lnTo>
                  <a:lnTo>
                    <a:pt x="815" y="2043"/>
                  </a:lnTo>
                  <a:lnTo>
                    <a:pt x="962" y="2043"/>
                  </a:lnTo>
                  <a:lnTo>
                    <a:pt x="1166" y="2229"/>
                  </a:lnTo>
                  <a:lnTo>
                    <a:pt x="1335" y="2229"/>
                  </a:lnTo>
                  <a:lnTo>
                    <a:pt x="1645" y="2628"/>
                  </a:lnTo>
                  <a:lnTo>
                    <a:pt x="2132" y="2628"/>
                  </a:lnTo>
                  <a:lnTo>
                    <a:pt x="2442" y="2858"/>
                  </a:lnTo>
                  <a:lnTo>
                    <a:pt x="2947" y="2858"/>
                  </a:lnTo>
                  <a:lnTo>
                    <a:pt x="3284" y="2610"/>
                  </a:lnTo>
                  <a:lnTo>
                    <a:pt x="3399" y="2637"/>
                  </a:lnTo>
                  <a:lnTo>
                    <a:pt x="3399" y="2637"/>
                  </a:lnTo>
                  <a:lnTo>
                    <a:pt x="3630" y="2460"/>
                  </a:lnTo>
                  <a:lnTo>
                    <a:pt x="3887" y="2442"/>
                  </a:lnTo>
                  <a:lnTo>
                    <a:pt x="4206" y="1813"/>
                  </a:lnTo>
                  <a:lnTo>
                    <a:pt x="4348" y="1813"/>
                  </a:lnTo>
                  <a:lnTo>
                    <a:pt x="4587" y="1627"/>
                  </a:lnTo>
                  <a:lnTo>
                    <a:pt x="4714" y="1635"/>
                  </a:lnTo>
                  <a:lnTo>
                    <a:pt x="5033" y="173"/>
                  </a:lnTo>
                  <a:lnTo>
                    <a:pt x="5157" y="164"/>
                  </a:lnTo>
                  <a:lnTo>
                    <a:pt x="5379" y="0"/>
                  </a:lnTo>
                  <a:lnTo>
                    <a:pt x="5492" y="29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TW" altLang="en-US"/>
            </a:p>
          </p:txBody>
        </p:sp>
      </p:grpSp>
      <p:sp>
        <p:nvSpPr>
          <p:cNvPr id="443" name="Text Box 403"/>
          <p:cNvSpPr txBox="1">
            <a:spLocks noChangeArrowheads="1"/>
          </p:cNvSpPr>
          <p:nvPr/>
        </p:nvSpPr>
        <p:spPr bwMode="auto">
          <a:xfrm>
            <a:off x="847716" y="6309320"/>
            <a:ext cx="6965612" cy="34848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9973" tIns="44986" rIns="89973" bIns="44986">
            <a:spAutoFit/>
          </a:bodyPr>
          <a:lstStyle>
            <a:lvl1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013" indent="-214313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217488" algn="l">
              <a:lnSpc>
                <a:spcPct val="93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5367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9939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4511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08300" indent="-217488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/>
            <a:r>
              <a:rPr lang="en-GB" altLang="zh-TW" sz="1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There are 8 alternative </a:t>
            </a:r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paths from </a:t>
            </a:r>
            <a:r>
              <a:rPr lang="en-GB" altLang="zh-TW" sz="1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node 4 </a:t>
            </a:r>
            <a:r>
              <a:rPr lang="en-GB" altLang="zh-TW" sz="1800" dirty="0">
                <a:solidFill>
                  <a:schemeClr val="tx1"/>
                </a:solidFill>
                <a:ea typeface="新細明體" panose="02020500000000000000" pitchFamily="18" charset="-120"/>
              </a:rPr>
              <a:t>to </a:t>
            </a:r>
            <a:r>
              <a:rPr lang="en-GB" altLang="zh-TW" sz="1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node 0 in Benes MIN</a:t>
            </a:r>
            <a:endParaRPr lang="en-GB" altLang="zh-TW" sz="1800" i="1" dirty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009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Clos and Benes are Non-Blocking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3637384"/>
          </a:xfrm>
        </p:spPr>
        <p:txBody>
          <a:bodyPr/>
          <a:lstStyle/>
          <a:p>
            <a:r>
              <a:rPr lang="en-US" altLang="zh-TW" dirty="0" smtClean="0"/>
              <a:t>It is easy to show that 3-stage clos network is non-</a:t>
            </a:r>
            <a:r>
              <a:rPr lang="en-US" altLang="zh-TW" dirty="0"/>
              <a:t>b</a:t>
            </a:r>
            <a:r>
              <a:rPr lang="en-US" altLang="zh-TW" dirty="0" smtClean="0"/>
              <a:t>locking.</a:t>
            </a:r>
          </a:p>
          <a:p>
            <a:pPr lvl="1"/>
            <a:r>
              <a:rPr lang="en-US" altLang="zh-TW" dirty="0" smtClean="0"/>
              <a:t>Since the two crossbars in the middle stage are non-blocking and they do not share links, the 3-stage clos is non-blocking.</a:t>
            </a:r>
          </a:p>
          <a:p>
            <a:r>
              <a:rPr lang="en-US" altLang="zh-TW" dirty="0" smtClean="0"/>
              <a:t>Since a benes network only replaces each large crossbar by a 3-stage clos network and a 3-stage clos network is non-blocking, the benes network is also non-blocking.</a:t>
            </a:r>
          </a:p>
          <a:p>
            <a:r>
              <a:rPr lang="en-US" altLang="zh-TW" dirty="0" smtClean="0"/>
              <a:t>An N x N benes has </a:t>
            </a:r>
            <a:r>
              <a:rPr lang="en-GB" altLang="zh-TW" dirty="0">
                <a:ea typeface="新細明體" panose="02020500000000000000" pitchFamily="18" charset="-120"/>
              </a:rPr>
              <a:t>2(log</a:t>
            </a:r>
            <a:r>
              <a:rPr lang="en-GB" altLang="zh-TW" baseline="-33000" dirty="0">
                <a:ea typeface="新細明體" panose="02020500000000000000" pitchFamily="18" charset="-120"/>
              </a:rPr>
              <a:t>2</a:t>
            </a:r>
            <a:r>
              <a:rPr lang="en-GB" altLang="zh-TW" i="1" dirty="0">
                <a:ea typeface="新細明體" panose="02020500000000000000" pitchFamily="18" charset="-120"/>
              </a:rPr>
              <a:t>N</a:t>
            </a:r>
            <a:r>
              <a:rPr lang="en-GB" altLang="zh-TW" dirty="0">
                <a:ea typeface="新細明體" panose="02020500000000000000" pitchFamily="18" charset="-120"/>
              </a:rPr>
              <a:t>) - 1 stages </a:t>
            </a:r>
            <a:r>
              <a:rPr lang="en-GB" altLang="zh-TW" dirty="0" smtClean="0">
                <a:ea typeface="新細明體" panose="02020500000000000000" pitchFamily="18" charset="-120"/>
              </a:rPr>
              <a:t>which is about the twice of other blocking MINs.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4885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Switching Schemes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2545035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Message</a:t>
            </a:r>
            <a:r>
              <a:rPr lang="en-US" altLang="zh-TW" dirty="0"/>
              <a:t> </a:t>
            </a:r>
            <a:r>
              <a:rPr lang="en-US" altLang="zh-TW" dirty="0" smtClean="0"/>
              <a:t>is the </a:t>
            </a:r>
            <a:r>
              <a:rPr lang="en-US" altLang="zh-TW" dirty="0"/>
              <a:t>unit of communication from the programmer's perspective. </a:t>
            </a:r>
            <a:r>
              <a:rPr lang="en-US" altLang="zh-TW" dirty="0" smtClean="0"/>
              <a:t>Its </a:t>
            </a:r>
            <a:r>
              <a:rPr lang="en-US" altLang="zh-TW" dirty="0"/>
              <a:t>size is limited only by the user memory space.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Packet</a:t>
            </a:r>
            <a:r>
              <a:rPr lang="en-US" altLang="zh-TW" dirty="0" smtClean="0"/>
              <a:t> is the </a:t>
            </a:r>
            <a:r>
              <a:rPr lang="en-US" altLang="zh-TW" dirty="0"/>
              <a:t>fixed-size smallest unit of communication containing </a:t>
            </a:r>
            <a:r>
              <a:rPr lang="en-US" altLang="zh-TW" dirty="0">
                <a:solidFill>
                  <a:srgbClr val="FF0000"/>
                </a:solidFill>
              </a:rPr>
              <a:t>routing</a:t>
            </a:r>
            <a:r>
              <a:rPr lang="en-US" altLang="zh-TW" dirty="0"/>
              <a:t> information </a:t>
            </a:r>
            <a:r>
              <a:rPr lang="en-US" altLang="zh-TW" dirty="0" smtClean="0"/>
              <a:t>and</a:t>
            </a:r>
            <a:r>
              <a:rPr lang="en-US" altLang="zh-TW" dirty="0"/>
              <a:t> </a:t>
            </a:r>
            <a:r>
              <a:rPr lang="en-US" altLang="zh-TW" dirty="0">
                <a:solidFill>
                  <a:srgbClr val="FF0000"/>
                </a:solidFill>
              </a:rPr>
              <a:t>sequencing</a:t>
            </a:r>
            <a:r>
              <a:rPr lang="en-US" altLang="zh-TW" dirty="0"/>
              <a:t> information in its </a:t>
            </a:r>
            <a:r>
              <a:rPr lang="en-US" altLang="zh-TW" dirty="0">
                <a:solidFill>
                  <a:srgbClr val="FF0000"/>
                </a:solidFill>
              </a:rPr>
              <a:t>header</a:t>
            </a:r>
            <a:r>
              <a:rPr lang="en-US" altLang="zh-TW" dirty="0"/>
              <a:t>. Its size is </a:t>
            </a:r>
            <a:r>
              <a:rPr lang="en-US" altLang="zh-TW" dirty="0" smtClean="0"/>
              <a:t>in the </a:t>
            </a:r>
            <a:r>
              <a:rPr lang="en-US" altLang="zh-TW" dirty="0"/>
              <a:t>order </a:t>
            </a:r>
            <a:r>
              <a:rPr lang="en-US" altLang="zh-TW" dirty="0" smtClean="0"/>
              <a:t>of hundreds </a:t>
            </a:r>
            <a:r>
              <a:rPr lang="en-US" altLang="zh-TW" dirty="0"/>
              <a:t>or thousands of bytes or words. It consists of </a:t>
            </a:r>
            <a:r>
              <a:rPr lang="en-US" altLang="zh-TW" i="1" dirty="0">
                <a:solidFill>
                  <a:srgbClr val="FF0000"/>
                </a:solidFill>
              </a:rPr>
              <a:t>header flits</a:t>
            </a:r>
            <a:r>
              <a:rPr lang="en-US" altLang="zh-TW" dirty="0">
                <a:solidFill>
                  <a:srgbClr val="FF0000"/>
                </a:solidFill>
              </a:rPr>
              <a:t> </a:t>
            </a:r>
            <a:r>
              <a:rPr lang="en-US" altLang="zh-TW" dirty="0"/>
              <a:t>and </a:t>
            </a:r>
            <a:r>
              <a:rPr lang="en-US" altLang="zh-TW" i="1" dirty="0">
                <a:solidFill>
                  <a:srgbClr val="FF0000"/>
                </a:solidFill>
              </a:rPr>
              <a:t>data flits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pic>
        <p:nvPicPr>
          <p:cNvPr id="7" name="內容版面配置區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90687" y="3992835"/>
            <a:ext cx="62198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9797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Circuit 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40768"/>
            <a:ext cx="8928992" cy="5293568"/>
          </a:xfrm>
        </p:spPr>
        <p:txBody>
          <a:bodyPr/>
          <a:lstStyle/>
          <a:p>
            <a:r>
              <a:rPr lang="en-US" altLang="zh-TW" dirty="0"/>
              <a:t>The communication between a source and destination has two phases: </a:t>
            </a:r>
            <a:r>
              <a:rPr lang="en-US" altLang="zh-TW" dirty="0">
                <a:solidFill>
                  <a:srgbClr val="FF0000"/>
                </a:solidFill>
              </a:rPr>
              <a:t>circuit establishment</a:t>
            </a:r>
            <a:r>
              <a:rPr lang="en-US" altLang="zh-TW" dirty="0"/>
              <a:t> </a:t>
            </a:r>
            <a:r>
              <a:rPr lang="en-US" altLang="zh-TW" dirty="0" smtClean="0"/>
              <a:t>and</a:t>
            </a:r>
            <a:r>
              <a:rPr lang="en-US" altLang="zh-TW" dirty="0"/>
              <a:t> </a:t>
            </a:r>
            <a:r>
              <a:rPr lang="en-US" altLang="zh-TW" dirty="0">
                <a:solidFill>
                  <a:srgbClr val="FF0000"/>
                </a:solidFill>
              </a:rPr>
              <a:t>message </a:t>
            </a:r>
            <a:r>
              <a:rPr lang="en-US" altLang="zh-TW" dirty="0" smtClean="0">
                <a:solidFill>
                  <a:srgbClr val="FF0000"/>
                </a:solidFill>
              </a:rPr>
              <a:t>transmission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A physical path from the source to the destination </a:t>
            </a:r>
            <a:r>
              <a:rPr lang="en-US" altLang="zh-TW" dirty="0" smtClean="0"/>
              <a:t>is reserved</a:t>
            </a:r>
            <a:r>
              <a:rPr lang="en-US" altLang="zh-TW" dirty="0"/>
              <a:t> </a:t>
            </a:r>
            <a:r>
              <a:rPr lang="en-US" altLang="zh-TW" i="1" dirty="0" smtClean="0"/>
              <a:t>prior</a:t>
            </a:r>
            <a:r>
              <a:rPr lang="en-US" altLang="zh-TW" dirty="0"/>
              <a:t> to the transmission of </a:t>
            </a:r>
            <a:r>
              <a:rPr lang="en-US" altLang="zh-TW" dirty="0" smtClean="0"/>
              <a:t>data.</a:t>
            </a:r>
          </a:p>
          <a:p>
            <a:pPr lvl="1"/>
            <a:r>
              <a:rPr lang="en-US" altLang="zh-TW" dirty="0" smtClean="0"/>
              <a:t>The source sends </a:t>
            </a:r>
            <a:r>
              <a:rPr lang="en-US" altLang="zh-TW" dirty="0"/>
              <a:t>a </a:t>
            </a:r>
            <a:r>
              <a:rPr lang="en-US" altLang="zh-TW" dirty="0">
                <a:solidFill>
                  <a:srgbClr val="FF0000"/>
                </a:solidFill>
              </a:rPr>
              <a:t>routing </a:t>
            </a:r>
            <a:r>
              <a:rPr lang="en-US" altLang="zh-TW" dirty="0" smtClean="0">
                <a:solidFill>
                  <a:srgbClr val="FF0000"/>
                </a:solidFill>
              </a:rPr>
              <a:t>probe</a:t>
            </a:r>
            <a:r>
              <a:rPr lang="en-US" altLang="zh-TW" dirty="0" smtClean="0"/>
              <a:t> </a:t>
            </a:r>
            <a:r>
              <a:rPr lang="en-US" altLang="zh-TW" dirty="0"/>
              <a:t>which contains </a:t>
            </a:r>
            <a:r>
              <a:rPr lang="en-US" altLang="zh-TW" dirty="0" smtClean="0"/>
              <a:t>the destination </a:t>
            </a:r>
            <a:r>
              <a:rPr lang="en-US" altLang="zh-TW" dirty="0"/>
              <a:t>address and some control </a:t>
            </a:r>
            <a:r>
              <a:rPr lang="en-US" altLang="zh-TW" dirty="0" smtClean="0"/>
              <a:t>information to the destination.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probe </a:t>
            </a:r>
            <a:r>
              <a:rPr lang="en-US" altLang="zh-TW" dirty="0" smtClean="0"/>
              <a:t>reserves </a:t>
            </a:r>
            <a:r>
              <a:rPr lang="en-US" altLang="zh-TW" dirty="0"/>
              <a:t>physical links </a:t>
            </a:r>
            <a:r>
              <a:rPr lang="en-US" altLang="zh-TW" dirty="0" smtClean="0"/>
              <a:t>when </a:t>
            </a:r>
            <a:r>
              <a:rPr lang="en-US" altLang="zh-TW" dirty="0"/>
              <a:t>it is transmitted through intermediate </a:t>
            </a:r>
            <a:r>
              <a:rPr lang="en-US" altLang="zh-TW" dirty="0" smtClean="0"/>
              <a:t>switches to the </a:t>
            </a:r>
            <a:r>
              <a:rPr lang="en-US" altLang="zh-TW" dirty="0"/>
              <a:t>destination.</a:t>
            </a:r>
          </a:p>
          <a:p>
            <a:pPr lvl="1"/>
            <a:r>
              <a:rPr lang="en-US" altLang="zh-TW" dirty="0"/>
              <a:t>Then an </a:t>
            </a:r>
            <a:r>
              <a:rPr lang="en-US" altLang="zh-TW" dirty="0" smtClean="0">
                <a:solidFill>
                  <a:srgbClr val="FF0000"/>
                </a:solidFill>
              </a:rPr>
              <a:t>ACK </a:t>
            </a:r>
            <a:r>
              <a:rPr lang="en-US" altLang="zh-TW" dirty="0">
                <a:solidFill>
                  <a:srgbClr val="FF0000"/>
                </a:solidFill>
              </a:rPr>
              <a:t>flit</a:t>
            </a:r>
            <a:r>
              <a:rPr lang="en-US" altLang="zh-TW" dirty="0"/>
              <a:t> is sent </a:t>
            </a:r>
            <a:r>
              <a:rPr lang="en-US" altLang="zh-TW" dirty="0" smtClean="0"/>
              <a:t>back to the source from the destination.</a:t>
            </a:r>
            <a:endParaRPr lang="en-US" altLang="zh-TW" dirty="0"/>
          </a:p>
          <a:p>
            <a:r>
              <a:rPr lang="en-US" altLang="zh-TW" dirty="0" smtClean="0"/>
              <a:t>On </a:t>
            </a:r>
            <a:r>
              <a:rPr lang="en-US" altLang="zh-TW" dirty="0"/>
              <a:t>reception of the </a:t>
            </a:r>
            <a:r>
              <a:rPr lang="en-US" altLang="zh-TW" dirty="0" smtClean="0"/>
              <a:t>ACK, </a:t>
            </a:r>
            <a:r>
              <a:rPr lang="en-US" altLang="zh-TW" dirty="0"/>
              <a:t>the sender transmits the whole message at the full bandwidth of the path.</a:t>
            </a:r>
          </a:p>
          <a:p>
            <a:pPr lvl="1"/>
            <a:r>
              <a:rPr lang="en-US" altLang="zh-TW" dirty="0" smtClean="0"/>
              <a:t>The path (all reserved links) is </a:t>
            </a:r>
            <a:r>
              <a:rPr lang="en-US" altLang="zh-TW" dirty="0"/>
              <a:t>released either by destination node or by the last bits of the message</a:t>
            </a:r>
            <a:r>
              <a:rPr lang="en-US" altLang="zh-TW" dirty="0" smtClean="0"/>
              <a:t>.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4489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Circuit 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84784"/>
            <a:ext cx="8712968" cy="1909192"/>
          </a:xfrm>
        </p:spPr>
        <p:txBody>
          <a:bodyPr/>
          <a:lstStyle/>
          <a:p>
            <a:r>
              <a:rPr lang="en-US" altLang="zh-TW" dirty="0" smtClean="0"/>
              <a:t>In (a), the probe progresses to the destination switch.</a:t>
            </a:r>
          </a:p>
          <a:p>
            <a:r>
              <a:rPr lang="en-US" altLang="zh-TW" dirty="0"/>
              <a:t>In (b), </a:t>
            </a:r>
            <a:r>
              <a:rPr lang="en-US" altLang="zh-TW" dirty="0" smtClean="0"/>
              <a:t>the ACK is </a:t>
            </a:r>
            <a:r>
              <a:rPr lang="en-US" altLang="zh-TW" dirty="0"/>
              <a:t>sent back to the </a:t>
            </a:r>
            <a:r>
              <a:rPr lang="en-US" altLang="zh-TW" dirty="0" smtClean="0"/>
              <a:t>source.</a:t>
            </a:r>
          </a:p>
          <a:p>
            <a:r>
              <a:rPr lang="en-US" altLang="zh-TW" dirty="0" smtClean="0"/>
              <a:t>In (</a:t>
            </a:r>
            <a:r>
              <a:rPr lang="en-US" altLang="zh-TW" dirty="0"/>
              <a:t>c), </a:t>
            </a:r>
            <a:r>
              <a:rPr lang="en-US" altLang="zh-TW" dirty="0" smtClean="0"/>
              <a:t>the </a:t>
            </a:r>
            <a:r>
              <a:rPr lang="en-US" altLang="zh-TW" dirty="0"/>
              <a:t>whole message is transmitted along </a:t>
            </a:r>
            <a:r>
              <a:rPr lang="en-US" altLang="zh-TW" dirty="0" smtClean="0"/>
              <a:t>the established </a:t>
            </a:r>
            <a:r>
              <a:rPr lang="en-US" altLang="zh-TW" dirty="0"/>
              <a:t>circuit using its full bandwidth.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266339"/>
            <a:ext cx="7200800" cy="347502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51520" y="371703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(a)</a:t>
            </a:r>
            <a:endParaRPr lang="en-US" dirty="0">
              <a:latin typeface="+mn-lt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51520" y="485986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(b)</a:t>
            </a:r>
            <a:endParaRPr lang="en-US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51520" y="609329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(c)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9570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8928992" cy="1012974"/>
          </a:xfrm>
        </p:spPr>
        <p:txBody>
          <a:bodyPr/>
          <a:lstStyle/>
          <a:p>
            <a:pPr algn="ctr"/>
            <a:r>
              <a:rPr lang="en-US" altLang="zh-TW" dirty="0"/>
              <a:t>Store and Forward </a:t>
            </a:r>
            <a:r>
              <a:rPr lang="en-US" altLang="zh-TW" dirty="0" smtClean="0"/>
              <a:t>(SF) Packet Switching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784976" cy="4572000"/>
          </a:xfrm>
        </p:spPr>
        <p:txBody>
          <a:bodyPr/>
          <a:lstStyle/>
          <a:p>
            <a:r>
              <a:rPr lang="en-US" altLang="zh-TW" dirty="0" smtClean="0"/>
              <a:t>Each </a:t>
            </a:r>
            <a:r>
              <a:rPr lang="en-US" altLang="zh-TW" dirty="0"/>
              <a:t>message is split into </a:t>
            </a:r>
            <a:r>
              <a:rPr lang="en-US" altLang="zh-TW" dirty="0" smtClean="0">
                <a:solidFill>
                  <a:srgbClr val="FF0000"/>
                </a:solidFill>
              </a:rPr>
              <a:t>packets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Every </a:t>
            </a:r>
            <a:r>
              <a:rPr lang="en-US" altLang="zh-TW" dirty="0"/>
              <a:t>packet consists of </a:t>
            </a:r>
            <a:r>
              <a:rPr lang="en-US" altLang="zh-TW" dirty="0">
                <a:solidFill>
                  <a:srgbClr val="FF0000"/>
                </a:solidFill>
              </a:rPr>
              <a:t>flits</a:t>
            </a:r>
            <a:r>
              <a:rPr lang="en-US" altLang="zh-TW" dirty="0"/>
              <a:t>, starting with the </a:t>
            </a:r>
            <a:r>
              <a:rPr lang="en-US" altLang="zh-TW" dirty="0">
                <a:solidFill>
                  <a:srgbClr val="FF0000"/>
                </a:solidFill>
              </a:rPr>
              <a:t>header</a:t>
            </a:r>
            <a:r>
              <a:rPr lang="en-US" altLang="zh-TW" dirty="0"/>
              <a:t> flit.</a:t>
            </a:r>
          </a:p>
          <a:p>
            <a:r>
              <a:rPr lang="en-US" altLang="zh-TW" dirty="0"/>
              <a:t>Every channel has input and output buffers 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size of each buffer can hold at least one </a:t>
            </a:r>
            <a:r>
              <a:rPr lang="en-US" altLang="zh-TW" dirty="0"/>
              <a:t>entire packet.</a:t>
            </a:r>
          </a:p>
          <a:p>
            <a:r>
              <a:rPr lang="en-US" altLang="zh-TW" dirty="0"/>
              <a:t>Every packet is </a:t>
            </a:r>
            <a:r>
              <a:rPr lang="en-US" altLang="zh-TW" dirty="0">
                <a:solidFill>
                  <a:srgbClr val="FF0000"/>
                </a:solidFill>
              </a:rPr>
              <a:t>individually</a:t>
            </a:r>
            <a:r>
              <a:rPr lang="en-US" altLang="zh-TW" dirty="0"/>
              <a:t> routed from the source to the </a:t>
            </a:r>
            <a:r>
              <a:rPr lang="en-US" altLang="zh-TW" dirty="0" smtClean="0"/>
              <a:t>destination through intermediate switches.</a:t>
            </a:r>
            <a:endParaRPr lang="en-US" altLang="zh-TW" dirty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whole</a:t>
            </a:r>
            <a:r>
              <a:rPr lang="en-US" altLang="zh-TW" dirty="0"/>
              <a:t> packet </a:t>
            </a:r>
            <a:r>
              <a:rPr lang="en-US" altLang="zh-TW" dirty="0" smtClean="0"/>
              <a:t>must be copied from an output </a:t>
            </a:r>
            <a:r>
              <a:rPr lang="en-US" altLang="zh-TW" dirty="0"/>
              <a:t>buffer </a:t>
            </a:r>
            <a:r>
              <a:rPr lang="en-US" altLang="zh-TW" dirty="0" smtClean="0"/>
              <a:t>of the current switch to an input buffer of the next switch.</a:t>
            </a:r>
            <a:endParaRPr lang="en-US" altLang="zh-TW" dirty="0"/>
          </a:p>
          <a:p>
            <a:pPr lvl="1"/>
            <a:r>
              <a:rPr lang="en-US" altLang="zh-TW" dirty="0"/>
              <a:t>Routing decisions are made by each intermediate </a:t>
            </a:r>
            <a:r>
              <a:rPr lang="en-US" altLang="zh-TW" dirty="0" smtClean="0"/>
              <a:t>switch only after the </a:t>
            </a:r>
            <a:r>
              <a:rPr lang="en-US" altLang="zh-TW" dirty="0"/>
              <a:t>whole packet was completely buffered in its input buffer.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5317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931224" cy="940966"/>
          </a:xfrm>
        </p:spPr>
        <p:txBody>
          <a:bodyPr/>
          <a:lstStyle/>
          <a:p>
            <a:pPr algn="ctr"/>
            <a:r>
              <a:rPr lang="en-US" altLang="zh-TW" dirty="0" smtClean="0"/>
              <a:t>SF </a:t>
            </a:r>
            <a:r>
              <a:rPr lang="en-US" altLang="zh-TW" dirty="0"/>
              <a:t>Packet 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1621160"/>
          </a:xfrm>
        </p:spPr>
        <p:txBody>
          <a:bodyPr/>
          <a:lstStyle/>
          <a:p>
            <a:r>
              <a:rPr lang="en-US" altLang="zh-TW" sz="1800" b="1" dirty="0"/>
              <a:t>In (a), </a:t>
            </a:r>
            <a:r>
              <a:rPr lang="en-US" altLang="zh-TW" sz="1800" b="1" dirty="0" smtClean="0"/>
              <a:t>routing </a:t>
            </a:r>
            <a:r>
              <a:rPr lang="en-US" altLang="zh-TW" sz="1800" b="1" dirty="0"/>
              <a:t>decision is being made in the </a:t>
            </a:r>
            <a:r>
              <a:rPr lang="en-US" altLang="zh-TW" sz="1800" b="1" dirty="0" smtClean="0"/>
              <a:t>1st switch.</a:t>
            </a:r>
          </a:p>
          <a:p>
            <a:r>
              <a:rPr lang="en-US" altLang="zh-TW" sz="1800" b="1" dirty="0"/>
              <a:t>In (b), </a:t>
            </a:r>
            <a:r>
              <a:rPr lang="en-US" altLang="zh-TW" sz="1800" b="1" dirty="0" smtClean="0"/>
              <a:t>the </a:t>
            </a:r>
            <a:r>
              <a:rPr lang="en-US" altLang="zh-TW" sz="1800" b="1" dirty="0"/>
              <a:t>packet is </a:t>
            </a:r>
            <a:r>
              <a:rPr lang="en-US" altLang="zh-TW" sz="1800" b="1" dirty="0" smtClean="0"/>
              <a:t>copied to </a:t>
            </a:r>
            <a:r>
              <a:rPr lang="en-US" altLang="zh-TW" sz="1800" b="1" dirty="0"/>
              <a:t>the </a:t>
            </a:r>
            <a:r>
              <a:rPr lang="en-US" altLang="zh-TW" sz="1800" b="1" dirty="0" smtClean="0"/>
              <a:t>input buffer of the 2nd switch </a:t>
            </a:r>
            <a:r>
              <a:rPr lang="en-US" altLang="zh-TW" sz="1800" b="1" dirty="0"/>
              <a:t>after </a:t>
            </a:r>
            <a:r>
              <a:rPr lang="en-US" altLang="zh-TW" sz="1800" b="1" dirty="0" smtClean="0"/>
              <a:t>it has </a:t>
            </a:r>
            <a:r>
              <a:rPr lang="en-US" altLang="zh-TW" sz="1800" b="1" dirty="0"/>
              <a:t>been copied to the output buffer of the </a:t>
            </a:r>
            <a:r>
              <a:rPr lang="en-US" altLang="zh-TW" sz="1800" b="1" dirty="0" smtClean="0"/>
              <a:t>1st switch.</a:t>
            </a:r>
          </a:p>
          <a:p>
            <a:r>
              <a:rPr lang="en-US" altLang="zh-TW" sz="1800" b="1" dirty="0" smtClean="0"/>
              <a:t>In (c), </a:t>
            </a:r>
            <a:r>
              <a:rPr lang="en-US" altLang="zh-TW" sz="1800" b="1" dirty="0"/>
              <a:t>the packet is copied to the </a:t>
            </a:r>
            <a:r>
              <a:rPr lang="en-US" altLang="zh-TW" sz="1800" b="1" dirty="0" smtClean="0"/>
              <a:t>input buffer of the 3rd </a:t>
            </a:r>
            <a:r>
              <a:rPr lang="en-US" altLang="zh-TW" sz="1800" b="1" dirty="0"/>
              <a:t>switch after it has been copied to the output buffer of the </a:t>
            </a:r>
            <a:r>
              <a:rPr lang="en-US" altLang="zh-TW" sz="1800" b="1" dirty="0" smtClean="0"/>
              <a:t>2nd </a:t>
            </a:r>
            <a:r>
              <a:rPr lang="en-US" altLang="zh-TW" sz="1800" b="1" dirty="0"/>
              <a:t>switch.</a:t>
            </a:r>
          </a:p>
          <a:p>
            <a:endParaRPr lang="zh-TW" altLang="en-US" sz="1800" b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046844"/>
            <a:ext cx="7668344" cy="362251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51520" y="371703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(a)</a:t>
            </a:r>
            <a:endParaRPr lang="en-US" dirty="0">
              <a:latin typeface="+mn-lt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51520" y="485986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(b)</a:t>
            </a:r>
            <a:endParaRPr lang="en-US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51520" y="609329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(c)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4819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Cut Through (CT) Packet 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412776"/>
            <a:ext cx="9036496" cy="5112568"/>
          </a:xfrm>
        </p:spPr>
        <p:txBody>
          <a:bodyPr/>
          <a:lstStyle/>
          <a:p>
            <a:r>
              <a:rPr lang="en-US" altLang="zh-TW" dirty="0"/>
              <a:t>Each message is split into </a:t>
            </a:r>
            <a:r>
              <a:rPr lang="en-US" altLang="zh-TW" dirty="0" smtClean="0">
                <a:solidFill>
                  <a:srgbClr val="FF0000"/>
                </a:solidFill>
              </a:rPr>
              <a:t>packets</a:t>
            </a:r>
            <a:r>
              <a:rPr lang="en-US" altLang="zh-TW" dirty="0" smtClean="0"/>
              <a:t> and each switch have </a:t>
            </a:r>
            <a:r>
              <a:rPr lang="en-US" altLang="zh-TW" dirty="0"/>
              <a:t>buffers for the whole packet as in SF </a:t>
            </a:r>
            <a:r>
              <a:rPr lang="en-US" altLang="zh-TW" dirty="0" smtClean="0"/>
              <a:t>packet switching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incoming </a:t>
            </a:r>
            <a:r>
              <a:rPr lang="en-US" altLang="zh-TW" dirty="0">
                <a:solidFill>
                  <a:srgbClr val="FF0000"/>
                </a:solidFill>
              </a:rPr>
              <a:t>header flit </a:t>
            </a:r>
            <a:r>
              <a:rPr lang="en-US" altLang="zh-TW" dirty="0"/>
              <a:t>is cut through into the next </a:t>
            </a:r>
            <a:r>
              <a:rPr lang="en-US" altLang="zh-TW" dirty="0" smtClean="0"/>
              <a:t>switch </a:t>
            </a:r>
            <a:r>
              <a:rPr lang="en-US" altLang="zh-TW" dirty="0"/>
              <a:t>as soon as the routing decision was made and the output channel is </a:t>
            </a:r>
            <a:r>
              <a:rPr lang="en-US" altLang="zh-TW" dirty="0" smtClean="0"/>
              <a:t>free.</a:t>
            </a:r>
            <a:endParaRPr lang="en-US" altLang="zh-TW" dirty="0"/>
          </a:p>
          <a:p>
            <a:pPr lvl="2"/>
            <a:r>
              <a:rPr lang="en-US" altLang="zh-TW" dirty="0"/>
              <a:t>Every further flit is buffered whenever it reaches </a:t>
            </a:r>
            <a:r>
              <a:rPr lang="en-US" altLang="zh-TW" dirty="0" smtClean="0"/>
              <a:t>a switch, </a:t>
            </a:r>
            <a:r>
              <a:rPr lang="en-US" altLang="zh-TW" dirty="0"/>
              <a:t>but it is also </a:t>
            </a:r>
            <a:r>
              <a:rPr lang="en-US" altLang="zh-TW" dirty="0" smtClean="0"/>
              <a:t>cut-through </a:t>
            </a:r>
            <a:r>
              <a:rPr lang="en-US" altLang="zh-TW" dirty="0"/>
              <a:t>to the next </a:t>
            </a:r>
            <a:r>
              <a:rPr lang="en-US" altLang="zh-TW" dirty="0" smtClean="0"/>
              <a:t>switch </a:t>
            </a:r>
            <a:r>
              <a:rPr lang="en-US" altLang="zh-TW" dirty="0"/>
              <a:t>if the output channel is </a:t>
            </a:r>
            <a:r>
              <a:rPr lang="en-US" altLang="zh-TW" dirty="0" smtClean="0"/>
              <a:t>free.</a:t>
            </a:r>
            <a:endParaRPr lang="en-US" altLang="zh-TW" dirty="0"/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the header cannot proceed, it waits in the current </a:t>
            </a:r>
            <a:r>
              <a:rPr lang="en-US" altLang="zh-TW" dirty="0" smtClean="0"/>
              <a:t>switch.</a:t>
            </a:r>
          </a:p>
          <a:p>
            <a:pPr lvl="2"/>
            <a:r>
              <a:rPr lang="en-US" altLang="zh-TW" dirty="0" smtClean="0"/>
              <a:t>All </a:t>
            </a:r>
            <a:r>
              <a:rPr lang="en-US" altLang="zh-TW" dirty="0"/>
              <a:t>the </a:t>
            </a:r>
            <a:r>
              <a:rPr lang="en-US" altLang="zh-TW" dirty="0" smtClean="0"/>
              <a:t>data flits will continue to flow into the current switch.</a:t>
            </a:r>
          </a:p>
          <a:p>
            <a:pPr lvl="2"/>
            <a:r>
              <a:rPr lang="en-US" altLang="zh-TW" dirty="0" smtClean="0"/>
              <a:t>This will release the </a:t>
            </a:r>
            <a:r>
              <a:rPr lang="en-US" altLang="zh-TW" dirty="0"/>
              <a:t>channels occupied </a:t>
            </a:r>
            <a:r>
              <a:rPr lang="en-US" altLang="zh-TW" dirty="0" smtClean="0"/>
              <a:t>by data flits.</a:t>
            </a:r>
            <a:endParaRPr lang="en-US" altLang="zh-TW" dirty="0"/>
          </a:p>
          <a:p>
            <a:pPr lvl="1"/>
            <a:r>
              <a:rPr lang="en-US" altLang="zh-TW" dirty="0" smtClean="0"/>
              <a:t>In case of contention free, a </a:t>
            </a:r>
            <a:r>
              <a:rPr lang="en-US" altLang="zh-TW" dirty="0"/>
              <a:t>packet is effectively pipelined through successive </a:t>
            </a:r>
            <a:r>
              <a:rPr lang="en-US" altLang="zh-TW" dirty="0" smtClean="0"/>
              <a:t>switches </a:t>
            </a:r>
            <a:r>
              <a:rPr lang="en-US" altLang="zh-TW" dirty="0"/>
              <a:t>as a loose chain of </a:t>
            </a:r>
            <a:r>
              <a:rPr lang="en-US" altLang="zh-TW" dirty="0" smtClean="0"/>
              <a:t>flits. </a:t>
            </a:r>
          </a:p>
          <a:p>
            <a:pPr lvl="2"/>
            <a:r>
              <a:rPr lang="en-US" altLang="zh-TW" dirty="0" smtClean="0"/>
              <a:t>All </a:t>
            </a:r>
            <a:r>
              <a:rPr lang="en-US" altLang="zh-TW" dirty="0"/>
              <a:t>the buffers along the routing path are blocked </a:t>
            </a:r>
            <a:r>
              <a:rPr lang="en-US" altLang="zh-TW" dirty="0" smtClean="0"/>
              <a:t>for remaining data flits.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4940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6672"/>
            <a:ext cx="7772400" cy="863148"/>
          </a:xfrm>
        </p:spPr>
        <p:txBody>
          <a:bodyPr/>
          <a:lstStyle/>
          <a:p>
            <a:pPr algn="ctr"/>
            <a:r>
              <a:rPr lang="en-US" altLang="zh-TW" dirty="0" smtClean="0"/>
              <a:t>CT Packet Switch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79512" y="5387732"/>
            <a:ext cx="88569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altLang="zh-TW" sz="1600" dirty="0" smtClean="0"/>
              <a:t>The </a:t>
            </a:r>
            <a:r>
              <a:rPr lang="en-US" altLang="zh-TW" sz="1600" dirty="0"/>
              <a:t>header flit </a:t>
            </a:r>
            <a:r>
              <a:rPr lang="en-US" altLang="zh-TW" sz="1600" dirty="0" smtClean="0"/>
              <a:t>is in </a:t>
            </a:r>
            <a:r>
              <a:rPr lang="en-US" altLang="zh-TW" sz="1600" dirty="0"/>
              <a:t>the output buffer of the </a:t>
            </a:r>
            <a:r>
              <a:rPr lang="en-US" altLang="zh-TW" sz="1600" dirty="0" smtClean="0"/>
              <a:t>1</a:t>
            </a:r>
            <a:r>
              <a:rPr lang="en-US" altLang="zh-TW" sz="1600" baseline="30000" dirty="0" smtClean="0"/>
              <a:t>st</a:t>
            </a:r>
            <a:r>
              <a:rPr lang="en-US" altLang="zh-TW" sz="1600" dirty="0" smtClean="0"/>
              <a:t> switch.</a:t>
            </a:r>
          </a:p>
          <a:p>
            <a:pPr marL="342900" indent="-342900">
              <a:buFontTx/>
              <a:buAutoNum type="alphaLcParenBoth"/>
            </a:pPr>
            <a:r>
              <a:rPr lang="en-US" altLang="zh-TW" sz="1600" dirty="0" smtClean="0"/>
              <a:t>The </a:t>
            </a:r>
            <a:r>
              <a:rPr lang="en-US" altLang="zh-TW" sz="1600" dirty="0"/>
              <a:t>header cut through into the 2</a:t>
            </a:r>
            <a:r>
              <a:rPr lang="en-US" altLang="zh-TW" sz="1600" baseline="30000" dirty="0"/>
              <a:t>nd</a:t>
            </a:r>
            <a:r>
              <a:rPr lang="en-US" altLang="zh-TW" sz="1600" dirty="0"/>
              <a:t> switch while data flits are following its path</a:t>
            </a:r>
            <a:r>
              <a:rPr lang="en-US" altLang="zh-TW" sz="1600" dirty="0" smtClean="0"/>
              <a:t>.</a:t>
            </a:r>
          </a:p>
          <a:p>
            <a:pPr marL="342900" indent="-342900">
              <a:buFontTx/>
              <a:buAutoNum type="alphaLcParenBoth"/>
            </a:pPr>
            <a:r>
              <a:rPr lang="en-US" altLang="zh-TW" sz="1600" dirty="0"/>
              <a:t>The header cut through into a switch where its output buffer was occupied.</a:t>
            </a:r>
            <a:endParaRPr lang="zh-TW" altLang="en-US" sz="1600" dirty="0"/>
          </a:p>
          <a:p>
            <a:pPr marL="342900" indent="-342900">
              <a:buFontTx/>
              <a:buAutoNum type="alphaLcParenBoth"/>
            </a:pPr>
            <a:r>
              <a:rPr lang="en-US" altLang="zh-TW" sz="1600" dirty="0"/>
              <a:t>The flits of whole packet are buffered in the current switch and releasing all allocated links</a:t>
            </a:r>
            <a:r>
              <a:rPr lang="en-US" altLang="zh-TW" sz="1600" dirty="0" smtClean="0"/>
              <a:t>.</a:t>
            </a:r>
          </a:p>
          <a:p>
            <a:pPr marL="342900" indent="-342900">
              <a:buFontTx/>
              <a:buAutoNum type="alphaLcParenBoth"/>
            </a:pPr>
            <a:r>
              <a:rPr lang="en-US" altLang="zh-TW" sz="1600" dirty="0"/>
              <a:t>Flits are pipelined and moved to the destination</a:t>
            </a:r>
            <a:r>
              <a:rPr lang="en-US" altLang="zh-TW" sz="1600" dirty="0" smtClean="0"/>
              <a:t>.</a:t>
            </a:r>
            <a:endParaRPr lang="zh-TW" altLang="en-US" sz="1600" dirty="0"/>
          </a:p>
          <a:p>
            <a:pPr marL="342900" indent="-342900">
              <a:buAutoNum type="alphaLcParenBoth"/>
            </a:pPr>
            <a:endParaRPr lang="zh-TW" altLang="en-US" sz="1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517138"/>
            <a:ext cx="7474069" cy="3856077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51520" y="191683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(a)</a:t>
            </a:r>
            <a:endParaRPr lang="en-US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51520" y="26996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(b)</a:t>
            </a:r>
            <a:endParaRPr lang="en-US" dirty="0">
              <a:latin typeface="+mn-lt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51520" y="34290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(c)</a:t>
            </a:r>
            <a:endParaRPr lang="en-US" dirty="0">
              <a:latin typeface="+mn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51520" y="41397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(d)</a:t>
            </a:r>
            <a:endParaRPr lang="en-US" dirty="0">
              <a:latin typeface="+mn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51520" y="493187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(e)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23677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Wormhole (WH) Packet 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784976" cy="5005536"/>
          </a:xfrm>
        </p:spPr>
        <p:txBody>
          <a:bodyPr/>
          <a:lstStyle/>
          <a:p>
            <a:r>
              <a:rPr lang="en-US" altLang="zh-TW" dirty="0"/>
              <a:t>The packets are split to flits which are snaked along the </a:t>
            </a:r>
            <a:r>
              <a:rPr lang="en-US" altLang="zh-TW" dirty="0" smtClean="0"/>
              <a:t>switches </a:t>
            </a:r>
            <a:r>
              <a:rPr lang="en-US" altLang="zh-TW" dirty="0"/>
              <a:t>exactly in the same pipeline way as in conflict-free </a:t>
            </a:r>
            <a:r>
              <a:rPr lang="en-US" altLang="zh-TW" dirty="0" smtClean="0"/>
              <a:t>CT </a:t>
            </a:r>
            <a:r>
              <a:rPr lang="en-US" altLang="zh-TW" dirty="0"/>
              <a:t>switching.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main difference </a:t>
            </a:r>
            <a:r>
              <a:rPr lang="en-US" altLang="zh-TW" dirty="0" smtClean="0"/>
              <a:t>between WH and CT switching are:</a:t>
            </a:r>
          </a:p>
          <a:p>
            <a:pPr lvl="1"/>
            <a:r>
              <a:rPr lang="en-US" altLang="zh-TW" dirty="0" smtClean="0"/>
              <a:t>WH switches </a:t>
            </a:r>
            <a:r>
              <a:rPr lang="en-US" altLang="zh-TW" dirty="0"/>
              <a:t>do not have buffers for the whole packets.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Every switch </a:t>
            </a:r>
            <a:r>
              <a:rPr lang="en-US" altLang="zh-TW" dirty="0"/>
              <a:t>has small buffers for one or a few </a:t>
            </a:r>
            <a:r>
              <a:rPr lang="en-US" altLang="zh-TW" dirty="0" smtClean="0">
                <a:solidFill>
                  <a:srgbClr val="FF0000"/>
                </a:solidFill>
              </a:rPr>
              <a:t>flits</a:t>
            </a:r>
            <a:r>
              <a:rPr lang="en-US" altLang="zh-TW" dirty="0" smtClean="0"/>
              <a:t> only.</a:t>
            </a:r>
            <a:endParaRPr lang="en-US" altLang="zh-TW" dirty="0"/>
          </a:p>
          <a:p>
            <a:r>
              <a:rPr lang="en-US" altLang="zh-TW" dirty="0"/>
              <a:t>The header flit again builds a path in the </a:t>
            </a:r>
            <a:r>
              <a:rPr lang="en-US" altLang="zh-TW" dirty="0" smtClean="0"/>
              <a:t>network. 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sequence of buffers and links occupied by flits of a given packet forms the wormhole. </a:t>
            </a:r>
            <a:endParaRPr lang="en-US" altLang="zh-TW" dirty="0" smtClean="0"/>
          </a:p>
          <a:p>
            <a:r>
              <a:rPr lang="en-US" altLang="zh-TW" dirty="0" smtClean="0"/>
              <a:t>If </a:t>
            </a:r>
            <a:r>
              <a:rPr lang="en-US" altLang="zh-TW" dirty="0"/>
              <a:t>the header cannot proceed due to busy output channels, the whole chain of flits gets </a:t>
            </a:r>
            <a:r>
              <a:rPr lang="en-US" altLang="zh-TW" dirty="0" smtClean="0"/>
              <a:t>stalled.</a:t>
            </a:r>
          </a:p>
          <a:p>
            <a:pPr lvl="1"/>
            <a:r>
              <a:rPr lang="en-US" altLang="zh-TW" dirty="0" smtClean="0"/>
              <a:t>They occupy buffers </a:t>
            </a:r>
            <a:r>
              <a:rPr lang="en-US" altLang="zh-TW" dirty="0"/>
              <a:t>in </a:t>
            </a:r>
            <a:r>
              <a:rPr lang="en-US" altLang="zh-TW" dirty="0" smtClean="0"/>
              <a:t>switches </a:t>
            </a:r>
            <a:r>
              <a:rPr lang="en-US" altLang="zh-TW" dirty="0"/>
              <a:t>on the </a:t>
            </a:r>
            <a:r>
              <a:rPr lang="en-US" altLang="zh-TW" dirty="0" smtClean="0"/>
              <a:t>path </a:t>
            </a:r>
            <a:r>
              <a:rPr lang="en-US" altLang="zh-TW" dirty="0"/>
              <a:t>and </a:t>
            </a:r>
            <a:r>
              <a:rPr lang="en-US" altLang="zh-TW" dirty="0" smtClean="0"/>
              <a:t>block other traffics.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345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WH Packet Switching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5193704"/>
            <a:ext cx="8856984" cy="1547664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600" b="1" dirty="0" smtClean="0"/>
              <a:t>(a) The </a:t>
            </a:r>
            <a:r>
              <a:rPr lang="en-US" altLang="zh-TW" sz="1600" b="1" dirty="0"/>
              <a:t>header </a:t>
            </a:r>
            <a:r>
              <a:rPr lang="en-US" altLang="zh-TW" sz="1600" b="1" dirty="0" smtClean="0"/>
              <a:t>flit is </a:t>
            </a:r>
            <a:r>
              <a:rPr lang="en-US" altLang="zh-TW" sz="1600" b="1" dirty="0"/>
              <a:t>copied in the output buffer </a:t>
            </a:r>
            <a:r>
              <a:rPr lang="en-US" altLang="zh-TW" sz="1600" b="1" dirty="0" smtClean="0"/>
              <a:t>of 1</a:t>
            </a:r>
            <a:r>
              <a:rPr lang="en-US" altLang="zh-TW" sz="1600" b="1" baseline="30000" dirty="0" smtClean="0"/>
              <a:t>st</a:t>
            </a:r>
            <a:r>
              <a:rPr lang="en-US" altLang="zh-TW" sz="1600" b="1" dirty="0" smtClean="0"/>
              <a:t> switch after making </a:t>
            </a:r>
            <a:r>
              <a:rPr lang="en-US" altLang="zh-TW" sz="1600" b="1" dirty="0"/>
              <a:t>routing decision. </a:t>
            </a:r>
            <a:endParaRPr lang="en-US" altLang="zh-TW" sz="1600" b="1" dirty="0" smtClean="0"/>
          </a:p>
          <a:p>
            <a:pPr marL="0" indent="0">
              <a:buNone/>
            </a:pPr>
            <a:r>
              <a:rPr lang="en-US" altLang="zh-TW" sz="1600" b="1" dirty="0" smtClean="0"/>
              <a:t>(b) The </a:t>
            </a:r>
            <a:r>
              <a:rPr lang="en-US" altLang="zh-TW" sz="1600" b="1" dirty="0"/>
              <a:t>header flit is </a:t>
            </a:r>
            <a:r>
              <a:rPr lang="en-US" altLang="zh-TW" sz="1600" b="1" dirty="0" smtClean="0"/>
              <a:t>transferred </a:t>
            </a:r>
            <a:r>
              <a:rPr lang="en-US" altLang="zh-TW" sz="1600" b="1" dirty="0"/>
              <a:t>to the </a:t>
            </a:r>
            <a:r>
              <a:rPr lang="en-US" altLang="zh-TW" sz="1600" b="1" dirty="0" smtClean="0"/>
              <a:t>2</a:t>
            </a:r>
            <a:r>
              <a:rPr lang="en-US" altLang="zh-TW" sz="1600" b="1" baseline="30000" dirty="0" smtClean="0"/>
              <a:t>nd</a:t>
            </a:r>
            <a:r>
              <a:rPr lang="en-US" altLang="zh-TW" sz="1600" b="1" dirty="0" smtClean="0"/>
              <a:t> switch </a:t>
            </a:r>
            <a:r>
              <a:rPr lang="en-US" altLang="zh-TW" sz="1600" b="1" dirty="0"/>
              <a:t>and other flits are following it. </a:t>
            </a:r>
            <a:endParaRPr lang="en-US" altLang="zh-TW" sz="1600" b="1" dirty="0" smtClean="0"/>
          </a:p>
          <a:p>
            <a:pPr marL="0" indent="0">
              <a:buNone/>
            </a:pPr>
            <a:r>
              <a:rPr lang="en-US" altLang="zh-TW" sz="1600" b="1" dirty="0" smtClean="0"/>
              <a:t>(c) The </a:t>
            </a:r>
            <a:r>
              <a:rPr lang="en-US" altLang="zh-TW" sz="1600" b="1" dirty="0"/>
              <a:t>header flit arrived into a </a:t>
            </a:r>
            <a:r>
              <a:rPr lang="en-US" altLang="zh-TW" sz="1600" b="1" dirty="0" smtClean="0"/>
              <a:t>switch </a:t>
            </a:r>
            <a:r>
              <a:rPr lang="en-US" altLang="zh-TW" sz="1600" b="1" dirty="0"/>
              <a:t>with busy output channel and the whole chain of flits along the path got </a:t>
            </a:r>
            <a:r>
              <a:rPr lang="en-US" altLang="zh-TW" sz="1600" b="1" dirty="0" smtClean="0"/>
              <a:t>stalled. They block </a:t>
            </a:r>
            <a:r>
              <a:rPr lang="en-US" altLang="zh-TW" sz="1600" b="1" dirty="0"/>
              <a:t>all </a:t>
            </a:r>
            <a:r>
              <a:rPr lang="en-US" altLang="zh-TW" sz="1600" b="1" dirty="0" smtClean="0"/>
              <a:t>corresponding </a:t>
            </a:r>
            <a:r>
              <a:rPr lang="en-US" altLang="zh-TW" sz="1600" b="1" dirty="0"/>
              <a:t>channels. </a:t>
            </a:r>
            <a:endParaRPr lang="en-US" altLang="zh-TW" sz="1600" b="1" dirty="0" smtClean="0"/>
          </a:p>
          <a:p>
            <a:pPr marL="0" indent="0">
              <a:buNone/>
            </a:pPr>
            <a:r>
              <a:rPr lang="en-US" altLang="zh-TW" sz="1600" b="1" dirty="0" smtClean="0"/>
              <a:t>(d) In case of conflict-free, pipeline </a:t>
            </a:r>
            <a:r>
              <a:rPr lang="en-US" altLang="zh-TW" sz="1600" b="1" dirty="0"/>
              <a:t>of </a:t>
            </a:r>
            <a:r>
              <a:rPr lang="en-US" altLang="zh-TW" sz="1600" b="1" dirty="0" smtClean="0"/>
              <a:t>flits establishes </a:t>
            </a:r>
            <a:r>
              <a:rPr lang="en-US" altLang="zh-TW" sz="1600" b="1" dirty="0"/>
              <a:t>the wormhole across </a:t>
            </a:r>
            <a:r>
              <a:rPr lang="en-US" altLang="zh-TW" sz="1600" b="1" dirty="0" smtClean="0"/>
              <a:t>switches on the path.</a:t>
            </a:r>
            <a:endParaRPr lang="zh-TW" altLang="en-US" sz="1600" b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528426"/>
            <a:ext cx="7056783" cy="366527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51520" y="18448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(a)</a:t>
            </a:r>
            <a:endParaRPr lang="en-US" dirty="0">
              <a:latin typeface="+mn-lt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51520" y="27809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(b)</a:t>
            </a:r>
            <a:endParaRPr lang="en-US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51520" y="371703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(c)</a:t>
            </a:r>
            <a:endParaRPr lang="en-US" dirty="0">
              <a:latin typeface="+mn-lt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51520" y="46438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(d)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000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6672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Network Interfaces for MCs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4572000"/>
          </a:xfrm>
        </p:spPr>
        <p:txBody>
          <a:bodyPr/>
          <a:lstStyle/>
          <a:p>
            <a:r>
              <a:rPr lang="en-US" altLang="zh-TW" dirty="0" smtClean="0"/>
              <a:t>In general, all MCs have network interface boards (NIBs) to connect processing nodes into the IN.</a:t>
            </a:r>
          </a:p>
          <a:p>
            <a:r>
              <a:rPr lang="en-US" altLang="zh-TW" dirty="0" smtClean="0"/>
              <a:t>The NIB usually contains its own RAM for buffering incoming and outgoing messages (packets.)</a:t>
            </a:r>
          </a:p>
          <a:p>
            <a:r>
              <a:rPr lang="en-US" altLang="zh-TW" dirty="0" smtClean="0"/>
              <a:t>The NIB may have one or more DMA channels or a special CPU on board.</a:t>
            </a:r>
          </a:p>
          <a:p>
            <a:pPr lvl="1"/>
            <a:r>
              <a:rPr lang="en-US" altLang="zh-TW" dirty="0" smtClean="0"/>
              <a:t>DMA channels are for block data transfer between NIB RAM and main memory.</a:t>
            </a:r>
          </a:p>
          <a:p>
            <a:pPr lvl="1"/>
            <a:r>
              <a:rPr lang="en-US" altLang="zh-TW" dirty="0" smtClean="0"/>
              <a:t>The CPU (network processor) is used to offload main CPU from</a:t>
            </a:r>
          </a:p>
          <a:p>
            <a:pPr lvl="2"/>
            <a:r>
              <a:rPr lang="en-US" altLang="zh-TW" dirty="0" smtClean="0"/>
              <a:t>reliable transmission and multicasting</a:t>
            </a:r>
          </a:p>
          <a:p>
            <a:pPr lvl="2"/>
            <a:r>
              <a:rPr lang="en-US" altLang="zh-TW" dirty="0" smtClean="0"/>
              <a:t>compression/decompression and encryption/decryption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0160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Communication Among Computers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5293568"/>
          </a:xfrm>
        </p:spPr>
        <p:txBody>
          <a:bodyPr/>
          <a:lstStyle/>
          <a:p>
            <a:r>
              <a:rPr lang="en-US" altLang="zh-TW" dirty="0" smtClean="0"/>
              <a:t>Since there is no shared memory in MC, processes on separate computers communicate by messages.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Message copying </a:t>
            </a:r>
            <a:r>
              <a:rPr lang="en-US" altLang="zh-TW" dirty="0" smtClean="0"/>
              <a:t>is the </a:t>
            </a:r>
            <a:r>
              <a:rPr lang="en-US" altLang="zh-TW" dirty="0"/>
              <a:t>major barrier </a:t>
            </a:r>
            <a:r>
              <a:rPr lang="en-US" altLang="zh-TW" dirty="0" smtClean="0"/>
              <a:t>for </a:t>
            </a:r>
            <a:r>
              <a:rPr lang="en-US" altLang="zh-TW" dirty="0"/>
              <a:t>achieving high </a:t>
            </a:r>
            <a:r>
              <a:rPr lang="en-US" altLang="zh-TW" dirty="0" smtClean="0"/>
              <a:t>performance.</a:t>
            </a:r>
            <a:endParaRPr lang="en-US" altLang="zh-TW" dirty="0"/>
          </a:p>
          <a:p>
            <a:pPr lvl="1"/>
            <a:r>
              <a:rPr lang="en-US" altLang="zh-TW" dirty="0" smtClean="0"/>
              <a:t>A message is delivered through the following phases. </a:t>
            </a:r>
          </a:p>
          <a:p>
            <a:pPr lvl="2"/>
            <a:r>
              <a:rPr lang="en-US" altLang="zh-TW" dirty="0" smtClean="0"/>
              <a:t>A message is first moved </a:t>
            </a:r>
            <a:r>
              <a:rPr lang="en-US" altLang="zh-TW" dirty="0"/>
              <a:t>to </a:t>
            </a:r>
            <a:r>
              <a:rPr lang="en-US" altLang="zh-TW" dirty="0" smtClean="0"/>
              <a:t>the buffer of the sender NIC.</a:t>
            </a:r>
            <a:endParaRPr lang="en-US" altLang="zh-TW" dirty="0"/>
          </a:p>
          <a:p>
            <a:pPr lvl="2"/>
            <a:r>
              <a:rPr lang="en-US" altLang="zh-TW" dirty="0" smtClean="0"/>
              <a:t>It is then moved </a:t>
            </a:r>
            <a:r>
              <a:rPr lang="en-US" altLang="zh-TW" dirty="0"/>
              <a:t>across the </a:t>
            </a:r>
            <a:r>
              <a:rPr lang="en-US" altLang="zh-TW" dirty="0" smtClean="0"/>
              <a:t>IN.</a:t>
            </a:r>
            <a:endParaRPr lang="en-US" altLang="zh-TW" dirty="0"/>
          </a:p>
          <a:p>
            <a:pPr lvl="2"/>
            <a:r>
              <a:rPr lang="en-US" altLang="zh-TW" dirty="0" smtClean="0"/>
              <a:t>Finally, it is </a:t>
            </a:r>
            <a:r>
              <a:rPr lang="en-US" altLang="zh-TW" dirty="0"/>
              <a:t>copied into </a:t>
            </a:r>
            <a:r>
              <a:rPr lang="en-US" altLang="zh-TW" dirty="0" smtClean="0"/>
              <a:t>the buffer of the receiver NIC.</a:t>
            </a:r>
          </a:p>
          <a:p>
            <a:pPr lvl="1"/>
            <a:r>
              <a:rPr lang="en-US" altLang="zh-TW" dirty="0" smtClean="0"/>
              <a:t>Additional </a:t>
            </a:r>
            <a:r>
              <a:rPr lang="en-US" altLang="zh-TW" dirty="0"/>
              <a:t>copies </a:t>
            </a:r>
            <a:r>
              <a:rPr lang="en-US" altLang="zh-TW" dirty="0" smtClean="0"/>
              <a:t>may be needed between </a:t>
            </a:r>
            <a:r>
              <a:rPr lang="en-US" altLang="zh-TW" dirty="0"/>
              <a:t>user </a:t>
            </a:r>
            <a:r>
              <a:rPr lang="en-US" altLang="zh-TW" dirty="0" smtClean="0"/>
              <a:t>and kernel space.</a:t>
            </a:r>
          </a:p>
          <a:p>
            <a:pPr lvl="2"/>
            <a:r>
              <a:rPr lang="en-US" altLang="zh-TW" dirty="0" smtClean="0"/>
              <a:t>Map </a:t>
            </a:r>
            <a:r>
              <a:rPr lang="en-US" altLang="zh-TW" dirty="0"/>
              <a:t>NIC into user space </a:t>
            </a:r>
            <a:r>
              <a:rPr lang="en-US" altLang="zh-TW" dirty="0" smtClean="0"/>
              <a:t>may reduce copies but it creates </a:t>
            </a:r>
            <a:r>
              <a:rPr lang="en-US" altLang="zh-TW" dirty="0"/>
              <a:t>some additional </a:t>
            </a:r>
            <a:r>
              <a:rPr lang="en-US" altLang="zh-TW" dirty="0" smtClean="0"/>
              <a:t>synchronization problem.</a:t>
            </a:r>
          </a:p>
          <a:p>
            <a:r>
              <a:rPr lang="en-US" altLang="zh-TW" dirty="0"/>
              <a:t>Using 2 NIBs </a:t>
            </a:r>
            <a:r>
              <a:rPr lang="en-US" altLang="zh-TW" dirty="0" smtClean="0"/>
              <a:t>for each computer may </a:t>
            </a:r>
            <a:r>
              <a:rPr lang="en-US" altLang="zh-TW" dirty="0"/>
              <a:t>reduce data copies.</a:t>
            </a:r>
          </a:p>
          <a:p>
            <a:pPr lvl="1"/>
            <a:r>
              <a:rPr lang="en-US" altLang="zh-TW" dirty="0"/>
              <a:t>One for OS and the other one for user processes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88641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Data Copying in Comm. for MC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20655"/>
            <a:ext cx="7704856" cy="518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52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Multi-queued NIB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84976" cy="3997424"/>
          </a:xfrm>
        </p:spPr>
        <p:txBody>
          <a:bodyPr/>
          <a:lstStyle/>
          <a:p>
            <a:r>
              <a:rPr lang="en-US" altLang="zh-TW" dirty="0" smtClean="0"/>
              <a:t>Some NIBs support multiple queues.</a:t>
            </a:r>
          </a:p>
          <a:p>
            <a:pPr lvl="1"/>
            <a:r>
              <a:rPr lang="en-US" altLang="zh-TW" dirty="0" smtClean="0"/>
              <a:t>Packets of different users are handled by different queues.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Intel I350 </a:t>
            </a:r>
            <a:r>
              <a:rPr lang="en-US" altLang="zh-TW" dirty="0" smtClean="0"/>
              <a:t>series is a typical example.</a:t>
            </a:r>
          </a:p>
          <a:p>
            <a:pPr lvl="1"/>
            <a:r>
              <a:rPr lang="en-US" altLang="zh-TW" dirty="0" smtClean="0"/>
              <a:t>It has up to 4 </a:t>
            </a:r>
            <a:r>
              <a:rPr lang="it-IT" altLang="zh-TW" dirty="0" smtClean="0"/>
              <a:t>Ports.</a:t>
            </a:r>
          </a:p>
          <a:p>
            <a:pPr lvl="2"/>
            <a:r>
              <a:rPr lang="en-US" altLang="zh-TW" dirty="0" smtClean="0"/>
              <a:t>Each port has 8 sending queues and 8 receiving queues.</a:t>
            </a:r>
          </a:p>
          <a:p>
            <a:pPr lvl="1"/>
            <a:r>
              <a:rPr lang="en-US" altLang="zh-TW" dirty="0" smtClean="0"/>
              <a:t>It also supports </a:t>
            </a:r>
            <a:r>
              <a:rPr lang="en-US" altLang="zh-TW" dirty="0" smtClean="0">
                <a:solidFill>
                  <a:srgbClr val="FF0000"/>
                </a:solidFill>
              </a:rPr>
              <a:t>core affinity</a:t>
            </a:r>
            <a:r>
              <a:rPr lang="en-US" altLang="zh-TW" dirty="0"/>
              <a:t> </a:t>
            </a:r>
            <a:r>
              <a:rPr lang="en-US" altLang="zh-TW" dirty="0" smtClean="0"/>
              <a:t>such that packets of the same TCP flow can be handled by the same core.</a:t>
            </a:r>
          </a:p>
          <a:p>
            <a:pPr lvl="1"/>
            <a:r>
              <a:rPr lang="en-US" altLang="zh-TW" dirty="0" smtClean="0"/>
              <a:t>It uses a hashing logic to hash the IP addresses and port numbers such that packets with the same hash value are handled by the same queue.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7655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Intel I350 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676399"/>
            <a:ext cx="6487173" cy="4916594"/>
          </a:xfrm>
        </p:spPr>
      </p:pic>
    </p:spTree>
    <p:extLst>
      <p:ext uri="{BB962C8B-B14F-4D97-AF65-F5344CB8AC3E}">
        <p14:creationId xmlns:p14="http://schemas.microsoft.com/office/powerpoint/2010/main" val="109448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084982"/>
          </a:xfrm>
        </p:spPr>
        <p:txBody>
          <a:bodyPr/>
          <a:lstStyle/>
          <a:p>
            <a:pPr algn="ctr"/>
            <a:r>
              <a:rPr lang="en-US" altLang="zh-TW" dirty="0" smtClean="0"/>
              <a:t>Message Passing in MC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4572000"/>
          </a:xfrm>
        </p:spPr>
        <p:txBody>
          <a:bodyPr/>
          <a:lstStyle/>
          <a:p>
            <a:r>
              <a:rPr lang="en-US" altLang="zh-TW" dirty="0" smtClean="0"/>
              <a:t>The typical messaging operations </a:t>
            </a:r>
            <a:r>
              <a:rPr lang="en-US" altLang="zh-TW" dirty="0"/>
              <a:t>are </a:t>
            </a:r>
          </a:p>
          <a:p>
            <a:pPr lvl="1"/>
            <a:r>
              <a:rPr lang="en-US" altLang="zh-TW" dirty="0" smtClean="0"/>
              <a:t>send </a:t>
            </a:r>
            <a:r>
              <a:rPr lang="en-US" altLang="zh-TW" dirty="0"/>
              <a:t>(</a:t>
            </a:r>
            <a:r>
              <a:rPr lang="en-US" altLang="zh-TW" dirty="0" err="1" smtClean="0"/>
              <a:t>destID</a:t>
            </a:r>
            <a:r>
              <a:rPr lang="en-US" altLang="zh-TW" dirty="0"/>
              <a:t>, </a:t>
            </a:r>
            <a:r>
              <a:rPr lang="en-US" altLang="zh-TW" dirty="0" smtClean="0"/>
              <a:t>&amp;</a:t>
            </a:r>
            <a:r>
              <a:rPr lang="en-US" altLang="zh-TW" dirty="0" err="1" smtClean="0"/>
              <a:t>mptr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It sends the message pointed to by the </a:t>
            </a:r>
            <a:r>
              <a:rPr lang="en-US" altLang="zh-TW" dirty="0" err="1" smtClean="0">
                <a:solidFill>
                  <a:srgbClr val="FF0000"/>
                </a:solidFill>
              </a:rPr>
              <a:t>mptr</a:t>
            </a:r>
            <a:r>
              <a:rPr lang="en-US" altLang="zh-TW" dirty="0" smtClean="0"/>
              <a:t> to a process identified by </a:t>
            </a:r>
            <a:r>
              <a:rPr lang="en-US" altLang="zh-TW" dirty="0" err="1" smtClean="0">
                <a:solidFill>
                  <a:srgbClr val="FF0000"/>
                </a:solidFill>
              </a:rPr>
              <a:t>destID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receive (</a:t>
            </a:r>
            <a:r>
              <a:rPr lang="en-US" altLang="zh-TW" dirty="0" err="1" smtClean="0"/>
              <a:t>sendID</a:t>
            </a:r>
            <a:r>
              <a:rPr lang="en-US" altLang="zh-TW" dirty="0"/>
              <a:t>, </a:t>
            </a:r>
            <a:r>
              <a:rPr lang="en-US" altLang="zh-TW" dirty="0" smtClean="0"/>
              <a:t>&amp;</a:t>
            </a:r>
            <a:r>
              <a:rPr lang="en-US" altLang="zh-TW" dirty="0" err="1" smtClean="0"/>
              <a:t>mptr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On arriving a message, the message is copied to the buffer pointed to by the </a:t>
            </a:r>
            <a:r>
              <a:rPr lang="en-US" altLang="zh-TW" dirty="0" err="1" smtClean="0">
                <a:solidFill>
                  <a:srgbClr val="FF0000"/>
                </a:solidFill>
              </a:rPr>
              <a:t>mptr</a:t>
            </a:r>
            <a:r>
              <a:rPr lang="en-US" altLang="zh-TW" dirty="0" smtClean="0"/>
              <a:t> and the receive call is returned.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 err="1" smtClean="0">
                <a:solidFill>
                  <a:srgbClr val="FF0000"/>
                </a:solidFill>
              </a:rPr>
              <a:t>sendID</a:t>
            </a:r>
            <a:r>
              <a:rPr lang="en-US" altLang="zh-TW" dirty="0" smtClean="0"/>
              <a:t> specifies the process to which the caller is listening. </a:t>
            </a:r>
          </a:p>
          <a:p>
            <a:r>
              <a:rPr lang="en-US" altLang="zh-TW" dirty="0" smtClean="0"/>
              <a:t>Blocking Calls</a:t>
            </a:r>
          </a:p>
          <a:p>
            <a:pPr lvl="1"/>
            <a:r>
              <a:rPr lang="en-US" altLang="zh-TW" dirty="0" smtClean="0"/>
              <a:t>The caller of the send is blocked until the message has been sent.</a:t>
            </a:r>
          </a:p>
          <a:p>
            <a:pPr lvl="1"/>
            <a:r>
              <a:rPr lang="en-US" altLang="zh-TW" dirty="0" smtClean="0"/>
              <a:t>The caller of the receive is blocked until a desired message arrives.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19513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6672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Blocking and Non-blocking Sends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4784"/>
            <a:ext cx="8028384" cy="244827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84757"/>
            <a:ext cx="8028384" cy="251259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11560" y="3140968"/>
            <a:ext cx="144016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Blocking Send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1560" y="5661248"/>
            <a:ext cx="144016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Non-Blocking Send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447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Blocking and Non-blocking Sends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221560"/>
          </a:xfrm>
        </p:spPr>
        <p:txBody>
          <a:bodyPr/>
          <a:lstStyle/>
          <a:p>
            <a:r>
              <a:rPr lang="en-US" altLang="zh-TW" dirty="0"/>
              <a:t>Blocking send: </a:t>
            </a:r>
            <a:r>
              <a:rPr lang="en-US" altLang="zh-TW" dirty="0" smtClean="0"/>
              <a:t>a sender waits </a:t>
            </a:r>
            <a:r>
              <a:rPr lang="en-US" altLang="zh-TW" dirty="0"/>
              <a:t>until the message is sent</a:t>
            </a:r>
          </a:p>
          <a:p>
            <a:pPr lvl="1"/>
            <a:r>
              <a:rPr lang="en-US" altLang="zh-TW" dirty="0"/>
              <a:t>Disadvantage: Process has to wait</a:t>
            </a:r>
          </a:p>
          <a:p>
            <a:r>
              <a:rPr lang="en-US" altLang="zh-TW" dirty="0"/>
              <a:t>Non-blocking send: </a:t>
            </a:r>
            <a:r>
              <a:rPr lang="en-US" altLang="zh-TW" dirty="0" smtClean="0"/>
              <a:t>the call returns to </a:t>
            </a:r>
            <a:r>
              <a:rPr lang="en-US" altLang="zh-TW" dirty="0"/>
              <a:t>sender immediately</a:t>
            </a:r>
          </a:p>
          <a:p>
            <a:pPr lvl="1"/>
            <a:r>
              <a:rPr lang="en-US" altLang="zh-TW" dirty="0" smtClean="0"/>
              <a:t>The buffer </a:t>
            </a:r>
            <a:r>
              <a:rPr lang="en-US" altLang="zh-TW" dirty="0"/>
              <a:t>must be </a:t>
            </a:r>
            <a:r>
              <a:rPr lang="en-US" altLang="zh-TW" dirty="0" smtClean="0"/>
              <a:t>protected until the message is sent.</a:t>
            </a:r>
          </a:p>
          <a:p>
            <a:pPr lvl="1"/>
            <a:r>
              <a:rPr lang="en-US" altLang="zh-TW" dirty="0"/>
              <a:t>Interrupt sender upon completion of message </a:t>
            </a:r>
            <a:r>
              <a:rPr lang="en-US" altLang="zh-TW" dirty="0" smtClean="0"/>
              <a:t>transmission.</a:t>
            </a:r>
            <a:endParaRPr lang="en-US" altLang="zh-TW" dirty="0"/>
          </a:p>
          <a:p>
            <a:pPr lvl="1"/>
            <a:r>
              <a:rPr lang="en-US" altLang="zh-TW" dirty="0"/>
              <a:t>Possible ways of handling non-blocking </a:t>
            </a:r>
            <a:r>
              <a:rPr lang="en-US" altLang="zh-TW" dirty="0" smtClean="0"/>
              <a:t>send:</a:t>
            </a:r>
            <a:endParaRPr lang="en-US" altLang="zh-TW" dirty="0"/>
          </a:p>
          <a:p>
            <a:pPr lvl="2"/>
            <a:r>
              <a:rPr lang="en-US" altLang="zh-TW" dirty="0"/>
              <a:t>Copy </a:t>
            </a:r>
            <a:r>
              <a:rPr lang="en-US" altLang="zh-TW" dirty="0" smtClean="0"/>
              <a:t>the message into </a:t>
            </a:r>
            <a:r>
              <a:rPr lang="en-US" altLang="zh-TW" dirty="0"/>
              <a:t>kernel </a:t>
            </a:r>
            <a:r>
              <a:rPr lang="en-US" altLang="zh-TW" dirty="0" smtClean="0"/>
              <a:t>buffer.</a:t>
            </a:r>
            <a:endParaRPr lang="en-US" altLang="zh-TW" dirty="0"/>
          </a:p>
          <a:p>
            <a:pPr lvl="2"/>
            <a:r>
              <a:rPr lang="en-US" altLang="zh-TW" dirty="0" smtClean="0"/>
              <a:t>Mark </a:t>
            </a:r>
            <a:r>
              <a:rPr lang="en-US" altLang="zh-TW" dirty="0"/>
              <a:t>the </a:t>
            </a:r>
            <a:r>
              <a:rPr lang="en-US" altLang="zh-TW" dirty="0" smtClean="0"/>
              <a:t>page of the message buffer </a:t>
            </a:r>
            <a:r>
              <a:rPr lang="en-US" altLang="zh-TW" dirty="0"/>
              <a:t>as </a:t>
            </a:r>
            <a:r>
              <a:rPr lang="en-US" altLang="zh-TW" dirty="0">
                <a:solidFill>
                  <a:srgbClr val="FF0000"/>
                </a:solidFill>
              </a:rPr>
              <a:t>read-only</a:t>
            </a:r>
            <a:r>
              <a:rPr lang="en-US" altLang="zh-TW" dirty="0"/>
              <a:t> </a:t>
            </a:r>
            <a:r>
              <a:rPr lang="en-US" altLang="zh-TW" dirty="0" smtClean="0"/>
              <a:t>and perform </a:t>
            </a:r>
            <a:r>
              <a:rPr lang="en-US" altLang="zh-TW" dirty="0" smtClean="0">
                <a:solidFill>
                  <a:srgbClr val="FF0000"/>
                </a:solidFill>
              </a:rPr>
              <a:t>copy-on-write</a:t>
            </a:r>
            <a:r>
              <a:rPr lang="en-US" altLang="zh-TW" dirty="0" smtClean="0"/>
              <a:t> on the marked page.</a:t>
            </a:r>
            <a:endParaRPr lang="en-US" altLang="zh-TW" dirty="0"/>
          </a:p>
          <a:p>
            <a:r>
              <a:rPr lang="en-US" altLang="zh-TW" dirty="0" smtClean="0"/>
              <a:t>In general, the blocking call is the most convenient.</a:t>
            </a:r>
          </a:p>
          <a:p>
            <a:pPr lvl="1"/>
            <a:r>
              <a:rPr lang="en-US" altLang="zh-TW" dirty="0" smtClean="0"/>
              <a:t>In multithreaded system, a blocked thread will not affect other threads to continue their works.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6039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91264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Blocking and Non-blocking Receives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352928" cy="5077544"/>
          </a:xfrm>
        </p:spPr>
        <p:txBody>
          <a:bodyPr/>
          <a:lstStyle/>
          <a:p>
            <a:r>
              <a:rPr lang="en-US" altLang="zh-TW" dirty="0" smtClean="0"/>
              <a:t>Blocking receive: the caller is blocked until a message arrives</a:t>
            </a:r>
          </a:p>
          <a:p>
            <a:pPr lvl="1"/>
            <a:r>
              <a:rPr lang="en-US" altLang="zh-TW" dirty="0" smtClean="0"/>
              <a:t>It is good for multithreaded system.</a:t>
            </a:r>
          </a:p>
          <a:p>
            <a:r>
              <a:rPr lang="en-US" altLang="zh-TW" dirty="0" smtClean="0"/>
              <a:t>Non-blocking receive: it tells the kernel where the buffer is and returns immediately.</a:t>
            </a:r>
          </a:p>
          <a:p>
            <a:pPr lvl="1"/>
            <a:r>
              <a:rPr lang="en-US" altLang="zh-TW" dirty="0" smtClean="0"/>
              <a:t>Needs a way to tell the receiver the arrival of a message.</a:t>
            </a:r>
          </a:p>
          <a:p>
            <a:pPr lvl="2"/>
            <a:r>
              <a:rPr lang="en-US" altLang="zh-TW" dirty="0" smtClean="0"/>
              <a:t>Interrupt the receiver when a message arrives.</a:t>
            </a:r>
          </a:p>
          <a:p>
            <a:pPr lvl="2"/>
            <a:r>
              <a:rPr lang="en-US" altLang="zh-TW" dirty="0" smtClean="0"/>
              <a:t>The caller polls the status of the buffer periodically and retrieves the message when the state changes.</a:t>
            </a:r>
          </a:p>
          <a:p>
            <a:pPr lvl="3"/>
            <a:r>
              <a:rPr lang="en-US" altLang="zh-TW" dirty="0" smtClean="0"/>
              <a:t>Needs </a:t>
            </a:r>
            <a:r>
              <a:rPr lang="en-US" altLang="zh-TW" dirty="0" smtClean="0">
                <a:solidFill>
                  <a:srgbClr val="FF0000"/>
                </a:solidFill>
              </a:rPr>
              <a:t>poll() </a:t>
            </a:r>
            <a:r>
              <a:rPr lang="en-US" altLang="zh-TW" dirty="0" smtClean="0"/>
              <a:t>and </a:t>
            </a:r>
            <a:r>
              <a:rPr lang="en-US" altLang="zh-TW" dirty="0" err="1" smtClean="0">
                <a:solidFill>
                  <a:srgbClr val="FF0000"/>
                </a:solidFill>
              </a:rPr>
              <a:t>get_message</a:t>
            </a:r>
            <a:r>
              <a:rPr lang="en-US" altLang="zh-TW" dirty="0" smtClean="0">
                <a:solidFill>
                  <a:srgbClr val="FF0000"/>
                </a:solidFill>
              </a:rPr>
              <a:t>() </a:t>
            </a:r>
            <a:r>
              <a:rPr lang="en-US" altLang="zh-TW" dirty="0" smtClean="0"/>
              <a:t>operations</a:t>
            </a:r>
          </a:p>
          <a:p>
            <a:pPr lvl="2"/>
            <a:r>
              <a:rPr lang="en-US" altLang="zh-TW" dirty="0" smtClean="0"/>
              <a:t>On receiving a message, </a:t>
            </a:r>
            <a:r>
              <a:rPr lang="en-US" altLang="zh-TW" dirty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pop-up thread </a:t>
            </a:r>
            <a:r>
              <a:rPr lang="en-US" altLang="zh-TW" dirty="0" smtClean="0"/>
              <a:t>is created to handle the message.</a:t>
            </a:r>
          </a:p>
          <a:p>
            <a:pPr lvl="2"/>
            <a:r>
              <a:rPr lang="en-US" altLang="zh-TW" dirty="0" smtClean="0"/>
              <a:t>Process the arriving </a:t>
            </a:r>
            <a:r>
              <a:rPr lang="en-US" altLang="zh-TW" dirty="0" smtClean="0">
                <a:solidFill>
                  <a:srgbClr val="FF0000"/>
                </a:solidFill>
              </a:rPr>
              <a:t>active message </a:t>
            </a:r>
            <a:r>
              <a:rPr lang="en-US" altLang="zh-TW" dirty="0" smtClean="0"/>
              <a:t>inside the interrupt handler. </a:t>
            </a:r>
          </a:p>
          <a:p>
            <a:pPr lvl="3"/>
            <a:r>
              <a:rPr lang="en-US" altLang="zh-TW" dirty="0" smtClean="0"/>
              <a:t>It only works in a completely </a:t>
            </a:r>
            <a:r>
              <a:rPr lang="en-US" altLang="zh-TW" dirty="0" smtClean="0">
                <a:solidFill>
                  <a:srgbClr val="FF0000"/>
                </a:solidFill>
              </a:rPr>
              <a:t>trusted</a:t>
            </a:r>
            <a:r>
              <a:rPr lang="en-US" altLang="zh-TW" dirty="0" smtClean="0"/>
              <a:t> environment.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56966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6672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Remote Procedure Call (RPC)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3421360"/>
          </a:xfrm>
        </p:spPr>
        <p:txBody>
          <a:bodyPr/>
          <a:lstStyle/>
          <a:p>
            <a:r>
              <a:rPr lang="en-US" altLang="zh-TW" dirty="0" smtClean="0"/>
              <a:t>Message passing model is </a:t>
            </a:r>
            <a:r>
              <a:rPr lang="en-US" altLang="zh-TW" dirty="0"/>
              <a:t>flexible, but </a:t>
            </a:r>
            <a:r>
              <a:rPr lang="en-US" altLang="zh-TW" dirty="0" smtClean="0"/>
              <a:t>it is </a:t>
            </a:r>
            <a:r>
              <a:rPr lang="en-US" altLang="zh-TW" dirty="0"/>
              <a:t>not a natural programming </a:t>
            </a:r>
            <a:r>
              <a:rPr lang="en-US" altLang="zh-TW" dirty="0" smtClean="0"/>
              <a:t>model</a:t>
            </a:r>
          </a:p>
          <a:p>
            <a:r>
              <a:rPr lang="en-US" altLang="zh-TW" dirty="0"/>
              <a:t>Procedure call is a more natural way </a:t>
            </a:r>
            <a:r>
              <a:rPr lang="en-US" altLang="zh-TW" dirty="0" smtClean="0"/>
              <a:t>for programming</a:t>
            </a:r>
          </a:p>
          <a:p>
            <a:r>
              <a:rPr lang="en-US" altLang="zh-TW" dirty="0"/>
              <a:t>Basic idea of r</a:t>
            </a:r>
            <a:r>
              <a:rPr lang="en-US" altLang="zh-TW" dirty="0" smtClean="0"/>
              <a:t>emote procedure call (RPC)  </a:t>
            </a:r>
            <a:endParaRPr lang="en-US" altLang="zh-TW" dirty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server </a:t>
            </a:r>
            <a:r>
              <a:rPr lang="en-US" altLang="zh-TW" dirty="0" smtClean="0"/>
              <a:t>exports </a:t>
            </a:r>
            <a:r>
              <a:rPr lang="en-US" altLang="zh-TW" dirty="0"/>
              <a:t>a set of procedures that can be called by client programs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A client makes a local call to the exported remote procedure. </a:t>
            </a:r>
          </a:p>
          <a:p>
            <a:pPr lvl="2"/>
            <a:r>
              <a:rPr lang="en-US" altLang="zh-TW" dirty="0" smtClean="0"/>
              <a:t>The local procedure call </a:t>
            </a:r>
            <a:r>
              <a:rPr lang="en-US" altLang="zh-TW" dirty="0"/>
              <a:t>is converted into a message </a:t>
            </a:r>
            <a:r>
              <a:rPr lang="en-US" altLang="zh-TW" dirty="0" smtClean="0"/>
              <a:t>exchanging with the remote </a:t>
            </a:r>
            <a:r>
              <a:rPr lang="en-US" altLang="zh-TW" dirty="0"/>
              <a:t>server </a:t>
            </a:r>
            <a:r>
              <a:rPr lang="en-US" altLang="zh-TW" dirty="0" smtClean="0"/>
              <a:t>process.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513" y="5157192"/>
            <a:ext cx="5537775" cy="126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95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The RPC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4572000"/>
          </a:xfrm>
        </p:spPr>
        <p:txBody>
          <a:bodyPr/>
          <a:lstStyle/>
          <a:p>
            <a:r>
              <a:rPr lang="en-US" altLang="zh-TW" dirty="0"/>
              <a:t>Use procedure call as a model for </a:t>
            </a:r>
            <a:r>
              <a:rPr lang="en-US" altLang="zh-TW" dirty="0" smtClean="0"/>
              <a:t>process communications</a:t>
            </a:r>
            <a:endParaRPr lang="en-US" altLang="zh-TW" dirty="0"/>
          </a:p>
          <a:p>
            <a:pPr lvl="1"/>
            <a:r>
              <a:rPr lang="en-US" altLang="zh-TW" dirty="0" smtClean="0"/>
              <a:t>It offers </a:t>
            </a:r>
            <a:r>
              <a:rPr lang="en-US" altLang="zh-TW" dirty="0"/>
              <a:t>a good programming abstraction to hide low-level communication details</a:t>
            </a:r>
          </a:p>
          <a:p>
            <a:r>
              <a:rPr lang="en-US" altLang="zh-TW" dirty="0" smtClean="0"/>
              <a:t>Goal: </a:t>
            </a:r>
            <a:r>
              <a:rPr lang="en-US" altLang="zh-TW" dirty="0"/>
              <a:t>make RPC look as much like local </a:t>
            </a:r>
            <a:r>
              <a:rPr lang="en-US" altLang="zh-TW" dirty="0" smtClean="0"/>
              <a:t>call </a:t>
            </a:r>
            <a:r>
              <a:rPr lang="en-US" altLang="zh-TW" dirty="0"/>
              <a:t>as possible</a:t>
            </a:r>
          </a:p>
          <a:p>
            <a:r>
              <a:rPr lang="en-US" altLang="zh-TW" dirty="0"/>
              <a:t>Many issues:</a:t>
            </a:r>
          </a:p>
          <a:p>
            <a:pPr lvl="1"/>
            <a:r>
              <a:rPr lang="en-US" altLang="zh-TW" dirty="0"/>
              <a:t>how do we make this invisible to the programmer?</a:t>
            </a:r>
          </a:p>
          <a:p>
            <a:pPr lvl="1"/>
            <a:r>
              <a:rPr lang="en-US" altLang="zh-TW" dirty="0"/>
              <a:t>what are the semantics of parameter passing?</a:t>
            </a:r>
          </a:p>
          <a:p>
            <a:pPr lvl="1"/>
            <a:r>
              <a:rPr lang="en-US" altLang="zh-TW" dirty="0"/>
              <a:t>how is binding done (locating the server)?</a:t>
            </a:r>
          </a:p>
          <a:p>
            <a:pPr lvl="1"/>
            <a:r>
              <a:rPr lang="en-US" altLang="zh-TW" dirty="0"/>
              <a:t>how do we support heterogeneity (OS, arch., language)?</a:t>
            </a:r>
          </a:p>
          <a:p>
            <a:pPr lvl="1"/>
            <a:r>
              <a:rPr lang="en-US" altLang="zh-TW" dirty="0"/>
              <a:t>how to deal with failures?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1339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6672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Steps in Making an RPC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340768"/>
            <a:ext cx="8928992" cy="5328592"/>
          </a:xfrm>
        </p:spPr>
        <p:txBody>
          <a:bodyPr/>
          <a:lstStyle/>
          <a:p>
            <a:r>
              <a:rPr lang="en-US" altLang="zh-TW" dirty="0"/>
              <a:t>There are </a:t>
            </a:r>
            <a:r>
              <a:rPr lang="en-US" altLang="zh-TW" dirty="0" smtClean="0"/>
              <a:t>3 modules </a:t>
            </a:r>
            <a:r>
              <a:rPr lang="en-US" altLang="zh-TW" dirty="0"/>
              <a:t>on </a:t>
            </a:r>
            <a:r>
              <a:rPr lang="en-US" altLang="zh-TW" dirty="0" smtClean="0"/>
              <a:t>both end of an RPC system:</a:t>
            </a:r>
            <a:endParaRPr lang="en-US" altLang="zh-TW" dirty="0"/>
          </a:p>
          <a:p>
            <a:pPr lvl="1"/>
            <a:r>
              <a:rPr lang="en-US" altLang="zh-TW" dirty="0"/>
              <a:t>a user program (client or server)</a:t>
            </a:r>
          </a:p>
          <a:p>
            <a:pPr lvl="1"/>
            <a:r>
              <a:rPr lang="en-US" altLang="zh-TW" dirty="0"/>
              <a:t>a set of stub </a:t>
            </a:r>
            <a:r>
              <a:rPr lang="en-US" altLang="zh-TW" dirty="0" smtClean="0"/>
              <a:t>procedures (client side and sever side)</a:t>
            </a:r>
            <a:endParaRPr lang="en-US" altLang="zh-TW" dirty="0"/>
          </a:p>
          <a:p>
            <a:pPr lvl="1"/>
            <a:r>
              <a:rPr lang="en-US" altLang="zh-TW" dirty="0" smtClean="0"/>
              <a:t>an RPC </a:t>
            </a:r>
            <a:r>
              <a:rPr lang="en-US" altLang="zh-TW" dirty="0"/>
              <a:t>runtime </a:t>
            </a:r>
            <a:r>
              <a:rPr lang="en-US" altLang="zh-TW" dirty="0" smtClean="0"/>
              <a:t>support module</a:t>
            </a:r>
          </a:p>
          <a:p>
            <a:r>
              <a:rPr lang="en-US" altLang="zh-TW" dirty="0"/>
              <a:t>Steps in </a:t>
            </a:r>
            <a:r>
              <a:rPr lang="en-US" altLang="zh-TW" dirty="0" smtClean="0"/>
              <a:t>making an RPC</a:t>
            </a:r>
            <a:endParaRPr lang="en-US" altLang="zh-TW" dirty="0"/>
          </a:p>
          <a:p>
            <a:pPr lvl="1"/>
            <a:r>
              <a:rPr lang="en-US" altLang="zh-TW" dirty="0" smtClean="0"/>
              <a:t>A client </a:t>
            </a:r>
            <a:r>
              <a:rPr lang="en-US" altLang="zh-TW" dirty="0"/>
              <a:t>invokes a library routine </a:t>
            </a:r>
            <a:r>
              <a:rPr lang="en-US" altLang="zh-TW" dirty="0" smtClean="0"/>
              <a:t>called the </a:t>
            </a:r>
            <a:r>
              <a:rPr lang="en-US" altLang="zh-TW" dirty="0">
                <a:solidFill>
                  <a:srgbClr val="FF0000"/>
                </a:solidFill>
              </a:rPr>
              <a:t>client </a:t>
            </a:r>
            <a:r>
              <a:rPr lang="en-US" altLang="zh-TW" dirty="0" smtClean="0">
                <a:solidFill>
                  <a:srgbClr val="FF0000"/>
                </a:solidFill>
              </a:rPr>
              <a:t>stub</a:t>
            </a:r>
          </a:p>
          <a:p>
            <a:pPr lvl="2"/>
            <a:r>
              <a:rPr lang="en-US" altLang="zh-TW" dirty="0" smtClean="0"/>
              <a:t>It may contain parameters</a:t>
            </a:r>
            <a:endParaRPr lang="en-US" altLang="zh-TW" dirty="0"/>
          </a:p>
          <a:p>
            <a:pPr lvl="1"/>
            <a:r>
              <a:rPr lang="en-US" altLang="zh-TW" dirty="0" smtClean="0"/>
              <a:t>The client </a:t>
            </a:r>
            <a:r>
              <a:rPr lang="en-US" altLang="zh-TW" dirty="0"/>
              <a:t>stub generates a message to be </a:t>
            </a:r>
            <a:r>
              <a:rPr lang="en-US" altLang="zh-TW" dirty="0" smtClean="0"/>
              <a:t>sent</a:t>
            </a:r>
          </a:p>
          <a:p>
            <a:pPr lvl="2"/>
            <a:r>
              <a:rPr lang="en-US" altLang="zh-TW" dirty="0" smtClean="0"/>
              <a:t>The parameters are marshaled as the message body</a:t>
            </a:r>
            <a:endParaRPr lang="en-US" altLang="zh-TW" dirty="0"/>
          </a:p>
          <a:p>
            <a:pPr lvl="1"/>
            <a:r>
              <a:rPr lang="en-US" altLang="zh-TW" dirty="0" smtClean="0"/>
              <a:t>The client side kernel sends the message to the server</a:t>
            </a:r>
          </a:p>
          <a:p>
            <a:pPr lvl="1"/>
            <a:r>
              <a:rPr lang="en-US" altLang="zh-TW" dirty="0" smtClean="0"/>
              <a:t>The server side </a:t>
            </a:r>
            <a:r>
              <a:rPr lang="en-US" altLang="zh-TW" dirty="0"/>
              <a:t>kernel calls </a:t>
            </a: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server </a:t>
            </a:r>
            <a:r>
              <a:rPr lang="en-US" altLang="zh-TW" dirty="0">
                <a:solidFill>
                  <a:srgbClr val="FF0000"/>
                </a:solidFill>
              </a:rPr>
              <a:t>stub </a:t>
            </a:r>
          </a:p>
          <a:p>
            <a:pPr lvl="1"/>
            <a:r>
              <a:rPr lang="en-US" altLang="zh-TW" dirty="0" smtClean="0"/>
              <a:t>The server </a:t>
            </a:r>
            <a:r>
              <a:rPr lang="en-US" altLang="zh-TW" dirty="0"/>
              <a:t>stub </a:t>
            </a:r>
            <a:r>
              <a:rPr lang="en-US" altLang="zh-TW" dirty="0" smtClean="0"/>
              <a:t>invokes the service procedure after</a:t>
            </a:r>
          </a:p>
          <a:p>
            <a:pPr lvl="2"/>
            <a:r>
              <a:rPr lang="en-US" altLang="zh-TW" dirty="0"/>
              <a:t>i</a:t>
            </a:r>
            <a:r>
              <a:rPr lang="en-US" altLang="zh-TW" dirty="0" smtClean="0"/>
              <a:t>t un-marshals the message into parameters 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8569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The Data Flow of an RPC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15616" y="1628800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The RPC return traces the same path in the other direction.</a:t>
            </a:r>
            <a:endParaRPr lang="zh-TW" altLang="en-US" sz="20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060848"/>
            <a:ext cx="7747643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81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27794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Issues in RPC Marshaling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005536"/>
          </a:xfrm>
        </p:spPr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b</a:t>
            </a:r>
            <a:r>
              <a:rPr lang="en-US" altLang="zh-TW" dirty="0" smtClean="0"/>
              <a:t>yte order issues:</a:t>
            </a:r>
          </a:p>
          <a:p>
            <a:pPr lvl="1"/>
            <a:r>
              <a:rPr lang="en-US" altLang="zh-TW" dirty="0" smtClean="0"/>
              <a:t>different </a:t>
            </a:r>
            <a:r>
              <a:rPr lang="en-US" altLang="zh-TW" dirty="0"/>
              <a:t>data </a:t>
            </a:r>
            <a:r>
              <a:rPr lang="en-US" altLang="zh-TW" dirty="0" smtClean="0"/>
              <a:t>representation </a:t>
            </a:r>
            <a:r>
              <a:rPr lang="en-US" altLang="zh-TW" dirty="0"/>
              <a:t>(ASCII, UNICODE, EBCDIC)</a:t>
            </a:r>
          </a:p>
          <a:p>
            <a:pPr lvl="1"/>
            <a:r>
              <a:rPr lang="en-US" altLang="zh-TW" dirty="0"/>
              <a:t>big-endian </a:t>
            </a:r>
            <a:r>
              <a:rPr lang="en-US" altLang="zh-TW" dirty="0" smtClean="0"/>
              <a:t>versus </a:t>
            </a:r>
            <a:r>
              <a:rPr lang="en-US" altLang="zh-TW" dirty="0"/>
              <a:t>little-endian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alignments, </a:t>
            </a:r>
            <a:r>
              <a:rPr lang="en-US" altLang="zh-TW" dirty="0"/>
              <a:t>etc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parameter </a:t>
            </a:r>
            <a:r>
              <a:rPr lang="en-US" altLang="zh-TW" dirty="0"/>
              <a:t>p</a:t>
            </a:r>
            <a:r>
              <a:rPr lang="en-US" altLang="zh-TW" dirty="0" smtClean="0"/>
              <a:t>assing issues:</a:t>
            </a:r>
          </a:p>
          <a:p>
            <a:pPr lvl="1"/>
            <a:r>
              <a:rPr lang="en-US" altLang="zh-TW" dirty="0"/>
              <a:t>p</a:t>
            </a:r>
            <a:r>
              <a:rPr lang="en-US" altLang="zh-TW" dirty="0" smtClean="0"/>
              <a:t>assing pointer: </a:t>
            </a:r>
          </a:p>
          <a:p>
            <a:pPr lvl="2"/>
            <a:r>
              <a:rPr lang="en-US" altLang="zh-TW" dirty="0" smtClean="0"/>
              <a:t>copy on demand (useless for complex structures)</a:t>
            </a:r>
          </a:p>
          <a:p>
            <a:pPr lvl="1"/>
            <a:r>
              <a:rPr lang="en-US" altLang="zh-TW" dirty="0"/>
              <a:t>p</a:t>
            </a:r>
            <a:r>
              <a:rPr lang="en-US" altLang="zh-TW" dirty="0" smtClean="0"/>
              <a:t>assing unbounded array: </a:t>
            </a:r>
          </a:p>
          <a:p>
            <a:pPr lvl="2"/>
            <a:r>
              <a:rPr lang="en-US" altLang="zh-TW" dirty="0" smtClean="0"/>
              <a:t>size of an </a:t>
            </a:r>
            <a:r>
              <a:rPr lang="en-US" altLang="zh-TW" dirty="0" smtClean="0">
                <a:solidFill>
                  <a:srgbClr val="FF0000"/>
                </a:solidFill>
              </a:rPr>
              <a:t>array in C </a:t>
            </a:r>
            <a:r>
              <a:rPr lang="en-US" altLang="zh-TW" dirty="0" smtClean="0"/>
              <a:t>can be undefined in compiling time</a:t>
            </a:r>
          </a:p>
          <a:p>
            <a:pPr lvl="1"/>
            <a:r>
              <a:rPr lang="en-US" altLang="zh-TW" dirty="0"/>
              <a:t>u</a:t>
            </a:r>
            <a:r>
              <a:rPr lang="en-US" altLang="zh-TW" dirty="0" smtClean="0"/>
              <a:t>nbounded number of parameters: </a:t>
            </a:r>
          </a:p>
          <a:p>
            <a:pPr lvl="2"/>
            <a:r>
              <a:rPr lang="en-US" altLang="zh-TW" dirty="0" err="1" smtClean="0">
                <a:solidFill>
                  <a:srgbClr val="FF0000"/>
                </a:solidFill>
              </a:rPr>
              <a:t>printf</a:t>
            </a:r>
            <a:r>
              <a:rPr lang="en-US" altLang="zh-TW" dirty="0" smtClean="0"/>
              <a:t> in C has different number of parameters</a:t>
            </a:r>
          </a:p>
          <a:p>
            <a:pPr lvl="1"/>
            <a:r>
              <a:rPr lang="en-US" altLang="zh-TW" dirty="0"/>
              <a:t>u</a:t>
            </a:r>
            <a:r>
              <a:rPr lang="en-US" altLang="zh-TW" dirty="0" smtClean="0"/>
              <a:t>sing global variables as parameters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926534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Failures in RPC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496944" cy="3853408"/>
          </a:xfrm>
        </p:spPr>
        <p:txBody>
          <a:bodyPr/>
          <a:lstStyle/>
          <a:p>
            <a:r>
              <a:rPr lang="en-US" altLang="zh-TW" dirty="0"/>
              <a:t>Cannot locate the server</a:t>
            </a:r>
          </a:p>
          <a:p>
            <a:pPr lvl="1"/>
            <a:r>
              <a:rPr lang="en-US" altLang="zh-TW" dirty="0"/>
              <a:t>server down</a:t>
            </a:r>
          </a:p>
          <a:p>
            <a:pPr lvl="1"/>
            <a:r>
              <a:rPr lang="en-US" altLang="zh-TW" dirty="0"/>
              <a:t>version mismatch</a:t>
            </a:r>
          </a:p>
          <a:p>
            <a:pPr lvl="1"/>
            <a:r>
              <a:rPr lang="en-US" altLang="zh-TW" dirty="0"/>
              <a:t>o</a:t>
            </a:r>
            <a:r>
              <a:rPr lang="en-US" altLang="zh-TW" dirty="0" smtClean="0"/>
              <a:t>ther exceptions</a:t>
            </a:r>
            <a:endParaRPr lang="en-US" altLang="zh-TW" dirty="0"/>
          </a:p>
          <a:p>
            <a:r>
              <a:rPr lang="en-US" altLang="zh-TW" dirty="0"/>
              <a:t>Request message is lost</a:t>
            </a:r>
          </a:p>
          <a:p>
            <a:r>
              <a:rPr lang="en-US" altLang="zh-TW" dirty="0"/>
              <a:t>Reply message is lost</a:t>
            </a:r>
          </a:p>
          <a:p>
            <a:r>
              <a:rPr lang="en-US" altLang="zh-TW" dirty="0"/>
              <a:t>Server crashes after receiving a request</a:t>
            </a:r>
          </a:p>
          <a:p>
            <a:r>
              <a:rPr lang="en-US" altLang="zh-TW" dirty="0"/>
              <a:t>Client crashes after sending a request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5129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Message Lost Handling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4572000"/>
          </a:xfrm>
        </p:spPr>
        <p:txBody>
          <a:bodyPr/>
          <a:lstStyle/>
          <a:p>
            <a:r>
              <a:rPr lang="en-US" altLang="zh-TW" dirty="0" smtClean="0"/>
              <a:t>Request message is </a:t>
            </a:r>
            <a:r>
              <a:rPr lang="en-US" altLang="zh-TW" dirty="0"/>
              <a:t>lost</a:t>
            </a:r>
          </a:p>
          <a:p>
            <a:pPr lvl="1"/>
            <a:r>
              <a:rPr lang="en-US" altLang="zh-TW" dirty="0"/>
              <a:t>use timer and resend </a:t>
            </a:r>
            <a:r>
              <a:rPr lang="en-US" altLang="zh-TW" dirty="0" smtClean="0"/>
              <a:t>the request message</a:t>
            </a:r>
          </a:p>
          <a:p>
            <a:r>
              <a:rPr lang="en-US" altLang="zh-TW" dirty="0" smtClean="0"/>
              <a:t>Reply message </a:t>
            </a:r>
            <a:r>
              <a:rPr lang="en-US" altLang="zh-TW" dirty="0"/>
              <a:t>is lost</a:t>
            </a:r>
          </a:p>
          <a:p>
            <a:pPr lvl="1"/>
            <a:r>
              <a:rPr lang="en-US" altLang="zh-TW" dirty="0"/>
              <a:t>use timer and resend </a:t>
            </a:r>
            <a:r>
              <a:rPr lang="en-US" altLang="zh-TW" dirty="0" smtClean="0"/>
              <a:t>the request message</a:t>
            </a:r>
            <a:endParaRPr lang="en-US" altLang="zh-TW" dirty="0"/>
          </a:p>
          <a:p>
            <a:pPr lvl="1"/>
            <a:r>
              <a:rPr lang="en-US" altLang="zh-TW" dirty="0"/>
              <a:t>server </a:t>
            </a:r>
            <a:r>
              <a:rPr lang="en-US" altLang="zh-TW" dirty="0" smtClean="0"/>
              <a:t>needs </a:t>
            </a:r>
            <a:r>
              <a:rPr lang="en-US" altLang="zh-TW" dirty="0"/>
              <a:t>to </a:t>
            </a:r>
            <a:r>
              <a:rPr lang="en-US" altLang="zh-TW" dirty="0" smtClean="0"/>
              <a:t>handle duplicated request message </a:t>
            </a:r>
            <a:r>
              <a:rPr lang="en-US" altLang="zh-TW" dirty="0"/>
              <a:t>unless the </a:t>
            </a:r>
            <a:r>
              <a:rPr lang="en-US" altLang="zh-TW" dirty="0" smtClean="0"/>
              <a:t>RPC function is </a:t>
            </a:r>
            <a:r>
              <a:rPr lang="en-US" altLang="zh-TW" dirty="0">
                <a:solidFill>
                  <a:srgbClr val="FF0000"/>
                </a:solidFill>
              </a:rPr>
              <a:t>idempotent</a:t>
            </a:r>
          </a:p>
          <a:p>
            <a:r>
              <a:rPr lang="en-US" altLang="zh-TW" dirty="0" smtClean="0"/>
              <a:t>Make </a:t>
            </a:r>
            <a:r>
              <a:rPr lang="en-US" altLang="zh-TW" dirty="0"/>
              <a:t>all </a:t>
            </a:r>
            <a:r>
              <a:rPr lang="en-US" altLang="zh-TW" dirty="0" smtClean="0"/>
              <a:t>requests idempotent</a:t>
            </a:r>
            <a:endParaRPr lang="en-US" altLang="zh-TW" dirty="0"/>
          </a:p>
          <a:p>
            <a:pPr lvl="1"/>
            <a:r>
              <a:rPr lang="en-US" altLang="zh-TW" dirty="0"/>
              <a:t>redefine read (</a:t>
            </a:r>
            <a:r>
              <a:rPr lang="en-US" altLang="zh-TW" dirty="0" err="1"/>
              <a:t>fd</a:t>
            </a:r>
            <a:r>
              <a:rPr lang="en-US" altLang="zh-TW" dirty="0"/>
              <a:t>, </a:t>
            </a:r>
            <a:r>
              <a:rPr lang="en-US" altLang="zh-TW" dirty="0" err="1"/>
              <a:t>buf</a:t>
            </a:r>
            <a:r>
              <a:rPr lang="en-US" altLang="zh-TW" dirty="0"/>
              <a:t>, n) to read (</a:t>
            </a:r>
            <a:r>
              <a:rPr lang="en-US" altLang="zh-TW" dirty="0" err="1"/>
              <a:t>fd</a:t>
            </a:r>
            <a:r>
              <a:rPr lang="en-US" altLang="zh-TW" dirty="0"/>
              <a:t>, </a:t>
            </a:r>
            <a:r>
              <a:rPr lang="en-US" altLang="zh-TW" dirty="0" err="1"/>
              <a:t>buf</a:t>
            </a:r>
            <a:r>
              <a:rPr lang="en-US" altLang="zh-TW" dirty="0"/>
              <a:t>, </a:t>
            </a:r>
            <a:r>
              <a:rPr lang="en-US" altLang="zh-TW" dirty="0" err="1"/>
              <a:t>pos</a:t>
            </a:r>
            <a:r>
              <a:rPr lang="en-US" altLang="zh-TW" dirty="0"/>
              <a:t>, n)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deposit (money) </a:t>
            </a:r>
            <a:r>
              <a:rPr lang="en-US" altLang="zh-TW" dirty="0" smtClean="0"/>
              <a:t>is </a:t>
            </a:r>
            <a:r>
              <a:rPr lang="en-US" altLang="zh-TW" dirty="0"/>
              <a:t>not possible to make it idempotent</a:t>
            </a:r>
          </a:p>
          <a:p>
            <a:r>
              <a:rPr lang="en-US" altLang="zh-TW" dirty="0" smtClean="0"/>
              <a:t>Assign a sequence number to each request and </a:t>
            </a:r>
            <a:r>
              <a:rPr lang="en-US" altLang="zh-TW" dirty="0"/>
              <a:t>keep track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71142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Semantics of Node Crash Handling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149552"/>
          </a:xfrm>
        </p:spPr>
        <p:txBody>
          <a:bodyPr/>
          <a:lstStyle/>
          <a:p>
            <a:r>
              <a:rPr lang="en-US" altLang="zh-TW" dirty="0"/>
              <a:t>Do nothing and leave it up to the user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At least </a:t>
            </a:r>
            <a:r>
              <a:rPr lang="en-US" altLang="zh-TW" dirty="0" smtClean="0">
                <a:solidFill>
                  <a:srgbClr val="FF0000"/>
                </a:solidFill>
              </a:rPr>
              <a:t>once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lvl="1"/>
            <a:r>
              <a:rPr lang="en-US" altLang="zh-TW" dirty="0" smtClean="0"/>
              <a:t>On successful return, the request is executed </a:t>
            </a:r>
            <a:r>
              <a:rPr lang="en-US" altLang="zh-TW" dirty="0"/>
              <a:t>at lease once.</a:t>
            </a:r>
          </a:p>
          <a:p>
            <a:pPr lvl="1"/>
            <a:r>
              <a:rPr lang="en-US" altLang="zh-TW" dirty="0"/>
              <a:t>Only </a:t>
            </a:r>
            <a:r>
              <a:rPr lang="en-US" altLang="zh-TW" dirty="0" smtClean="0"/>
              <a:t>good for </a:t>
            </a:r>
            <a:r>
              <a:rPr lang="en-US" altLang="zh-TW" dirty="0"/>
              <a:t>idempotent functions 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At most </a:t>
            </a:r>
            <a:r>
              <a:rPr lang="en-US" altLang="zh-TW" dirty="0" smtClean="0">
                <a:solidFill>
                  <a:srgbClr val="FF0000"/>
                </a:solidFill>
              </a:rPr>
              <a:t>once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lvl="1"/>
            <a:r>
              <a:rPr lang="en-US" altLang="zh-TW" dirty="0" smtClean="0"/>
              <a:t>After crash recovery, a request is executed at most once.</a:t>
            </a:r>
          </a:p>
          <a:p>
            <a:pPr lvl="1"/>
            <a:r>
              <a:rPr lang="en-US" altLang="zh-TW" dirty="0" smtClean="0"/>
              <a:t>Need to suppress </a:t>
            </a:r>
            <a:r>
              <a:rPr lang="en-US" altLang="zh-TW" dirty="0"/>
              <a:t>duplicated requests</a:t>
            </a:r>
          </a:p>
          <a:p>
            <a:pPr lvl="2"/>
            <a:r>
              <a:rPr lang="en-US" altLang="zh-TW" dirty="0"/>
              <a:t>Client </a:t>
            </a:r>
            <a:r>
              <a:rPr lang="en-US" altLang="zh-TW" dirty="0" smtClean="0"/>
              <a:t>provides each </a:t>
            </a:r>
            <a:r>
              <a:rPr lang="en-US" altLang="zh-TW" dirty="0"/>
              <a:t>request </a:t>
            </a:r>
            <a:r>
              <a:rPr lang="en-US" altLang="zh-TW" dirty="0" smtClean="0"/>
              <a:t>an </a:t>
            </a:r>
            <a:r>
              <a:rPr lang="en-US" altLang="zh-TW" dirty="0"/>
              <a:t>unique </a:t>
            </a:r>
            <a:r>
              <a:rPr lang="en-US" altLang="zh-TW" dirty="0" smtClean="0"/>
              <a:t>sequence number</a:t>
            </a:r>
            <a:endParaRPr lang="en-US" altLang="zh-TW" dirty="0"/>
          </a:p>
          <a:p>
            <a:pPr lvl="2"/>
            <a:r>
              <a:rPr lang="en-US" altLang="zh-TW" dirty="0"/>
              <a:t>Server </a:t>
            </a:r>
            <a:r>
              <a:rPr lang="en-US" altLang="zh-TW" dirty="0" smtClean="0"/>
              <a:t>saves results for each request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Exactly once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Each request has an unique sequence number</a:t>
            </a:r>
          </a:p>
          <a:p>
            <a:pPr lvl="1"/>
            <a:r>
              <a:rPr lang="en-US" altLang="zh-TW" dirty="0" smtClean="0"/>
              <a:t>Both client and server log requests and replies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08048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471810"/>
            <a:ext cx="8424936" cy="868958"/>
          </a:xfrm>
        </p:spPr>
        <p:txBody>
          <a:bodyPr/>
          <a:lstStyle/>
          <a:p>
            <a:pPr algn="ctr"/>
            <a:r>
              <a:rPr lang="en-US" altLang="zh-TW" dirty="0"/>
              <a:t>Shared </a:t>
            </a:r>
            <a:r>
              <a:rPr lang="en-US" altLang="zh-TW" dirty="0" smtClean="0"/>
              <a:t>Memory </a:t>
            </a:r>
            <a:r>
              <a:rPr lang="en-US" altLang="zh-TW" dirty="0"/>
              <a:t>vs. </a:t>
            </a:r>
            <a:r>
              <a:rPr lang="en-US" altLang="zh-TW" dirty="0" smtClean="0"/>
              <a:t>Message Passing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4572000"/>
          </a:xfrm>
        </p:spPr>
        <p:txBody>
          <a:bodyPr/>
          <a:lstStyle/>
          <a:p>
            <a:r>
              <a:rPr lang="en-US" altLang="zh-TW" dirty="0"/>
              <a:t>Message </a:t>
            </a:r>
            <a:r>
              <a:rPr lang="en-US" altLang="zh-TW" dirty="0" smtClean="0"/>
              <a:t>passing:</a:t>
            </a:r>
            <a:endParaRPr lang="en-US" altLang="zh-TW" dirty="0"/>
          </a:p>
          <a:p>
            <a:pPr lvl="1"/>
            <a:r>
              <a:rPr lang="en-US" altLang="zh-TW" dirty="0" smtClean="0"/>
              <a:t>Information </a:t>
            </a:r>
            <a:r>
              <a:rPr lang="en-US" altLang="zh-TW" dirty="0"/>
              <a:t>e</a:t>
            </a:r>
            <a:r>
              <a:rPr lang="en-US" altLang="zh-TW" dirty="0" smtClean="0"/>
              <a:t>xchanged are well defined and managed</a:t>
            </a:r>
            <a:endParaRPr lang="en-US" altLang="zh-TW" dirty="0"/>
          </a:p>
          <a:p>
            <a:r>
              <a:rPr lang="en-US" altLang="zh-TW" dirty="0" smtClean="0"/>
              <a:t>Shared memory:</a:t>
            </a:r>
            <a:endParaRPr lang="en-US" altLang="zh-TW" dirty="0"/>
          </a:p>
          <a:p>
            <a:pPr lvl="1"/>
            <a:r>
              <a:rPr lang="en-US" altLang="zh-TW" dirty="0" smtClean="0"/>
              <a:t>Processes exchange information by shared variables</a:t>
            </a:r>
          </a:p>
          <a:p>
            <a:pPr lvl="2"/>
            <a:r>
              <a:rPr lang="en-US" altLang="zh-TW" dirty="0" smtClean="0"/>
              <a:t>Since there is no </a:t>
            </a:r>
            <a:r>
              <a:rPr lang="en-US" altLang="zh-TW" dirty="0"/>
              <a:t>explicit comm. </a:t>
            </a:r>
            <a:r>
              <a:rPr lang="en-US" altLang="zh-TW" dirty="0" smtClean="0"/>
              <a:t>primitives (send </a:t>
            </a:r>
            <a:r>
              <a:rPr lang="en-US" altLang="zh-TW" dirty="0"/>
              <a:t>and </a:t>
            </a:r>
            <a:r>
              <a:rPr lang="en-US" altLang="zh-TW" dirty="0" smtClean="0"/>
              <a:t>receive) </a:t>
            </a:r>
            <a:r>
              <a:rPr lang="en-US" altLang="zh-TW" dirty="0"/>
              <a:t>needed in </a:t>
            </a:r>
            <a:r>
              <a:rPr lang="en-US" altLang="zh-TW" dirty="0" smtClean="0"/>
              <a:t>programming, it </a:t>
            </a:r>
            <a:r>
              <a:rPr lang="en-US" altLang="zh-TW" dirty="0"/>
              <a:t>is believed to be easier to design and write parallel </a:t>
            </a:r>
            <a:r>
              <a:rPr lang="en-US" altLang="zh-TW" dirty="0" smtClean="0"/>
              <a:t>programs by </a:t>
            </a:r>
            <a:r>
              <a:rPr lang="en-US" altLang="zh-TW" dirty="0"/>
              <a:t>using </a:t>
            </a:r>
            <a:r>
              <a:rPr lang="en-US" altLang="zh-TW" dirty="0" smtClean="0"/>
              <a:t>shared memory.</a:t>
            </a:r>
          </a:p>
          <a:p>
            <a:pPr lvl="1"/>
            <a:r>
              <a:rPr lang="en-US" altLang="zh-TW" dirty="0" smtClean="0"/>
              <a:t>It is easy to port a cooperative </a:t>
            </a:r>
            <a:r>
              <a:rPr lang="en-US" altLang="zh-TW" dirty="0"/>
              <a:t>(multithreaded or </a:t>
            </a:r>
            <a:r>
              <a:rPr lang="en-US" altLang="zh-TW" dirty="0" smtClean="0"/>
              <a:t>multi-processed) application from a centralized system to a MC system.</a:t>
            </a:r>
            <a:endParaRPr lang="en-US" altLang="zh-TW" dirty="0"/>
          </a:p>
          <a:p>
            <a:pPr lvl="1"/>
            <a:r>
              <a:rPr lang="en-US" altLang="zh-TW" dirty="0" smtClean="0"/>
              <a:t>When scaling the MC system </a:t>
            </a:r>
            <a:r>
              <a:rPr lang="en-US" altLang="zh-TW" dirty="0"/>
              <a:t>by </a:t>
            </a:r>
            <a:r>
              <a:rPr lang="en-US" altLang="zh-TW" dirty="0" smtClean="0"/>
              <a:t>either adding </a:t>
            </a:r>
            <a:r>
              <a:rPr lang="en-US" altLang="zh-TW" dirty="0"/>
              <a:t>more memory </a:t>
            </a:r>
            <a:r>
              <a:rPr lang="en-US" altLang="zh-TW" dirty="0" smtClean="0"/>
              <a:t>to each node or </a:t>
            </a:r>
            <a:r>
              <a:rPr lang="en-US" altLang="zh-TW" dirty="0"/>
              <a:t>adding more </a:t>
            </a:r>
            <a:r>
              <a:rPr lang="en-US" altLang="zh-TW" dirty="0" smtClean="0"/>
              <a:t>nodes, there is no need to rewrite codes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54404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>
                <a:ea typeface="新細明體" panose="02020500000000000000" pitchFamily="18" charset="-120"/>
              </a:rPr>
              <a:t>Distributed Shared Memory (DSM</a:t>
            </a:r>
            <a:r>
              <a:rPr lang="en-US" altLang="zh-TW" dirty="0" smtClean="0">
                <a:ea typeface="新細明體" panose="02020500000000000000" pitchFamily="18" charset="-12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5077544"/>
          </a:xfrm>
        </p:spPr>
        <p:txBody>
          <a:bodyPr/>
          <a:lstStyle/>
          <a:p>
            <a:r>
              <a:rPr lang="en-US" altLang="zh-TW" dirty="0"/>
              <a:t>A method of allowing processes on different </a:t>
            </a:r>
            <a:r>
              <a:rPr lang="en-US" altLang="zh-TW" dirty="0" smtClean="0"/>
              <a:t>computers </a:t>
            </a:r>
            <a:r>
              <a:rPr lang="en-US" altLang="zh-TW" dirty="0"/>
              <a:t>to share regions of </a:t>
            </a:r>
            <a:r>
              <a:rPr lang="en-US" altLang="zh-TW" dirty="0">
                <a:solidFill>
                  <a:srgbClr val="FF0000"/>
                </a:solidFill>
              </a:rPr>
              <a:t>virtual memory</a:t>
            </a:r>
          </a:p>
          <a:p>
            <a:pPr lvl="1"/>
            <a:r>
              <a:rPr lang="en-US" altLang="zh-TW" dirty="0" smtClean="0"/>
              <a:t>Implementation </a:t>
            </a:r>
            <a:r>
              <a:rPr lang="en-US" altLang="zh-TW" dirty="0"/>
              <a:t>is essentially paging over the network</a:t>
            </a:r>
          </a:p>
          <a:p>
            <a:r>
              <a:rPr lang="en-US" altLang="zh-TW" dirty="0"/>
              <a:t>Backing file </a:t>
            </a:r>
            <a:r>
              <a:rPr lang="en-US" altLang="zh-TW" dirty="0" smtClean="0"/>
              <a:t>rests </a:t>
            </a:r>
            <a:r>
              <a:rPr lang="en-US" altLang="zh-TW" dirty="0"/>
              <a:t>in </a:t>
            </a:r>
            <a:r>
              <a:rPr lang="en-US" altLang="zh-TW" dirty="0" smtClean="0"/>
              <a:t>globally </a:t>
            </a:r>
            <a:r>
              <a:rPr lang="en-US" altLang="zh-TW" dirty="0"/>
              <a:t>accessible </a:t>
            </a:r>
            <a:r>
              <a:rPr lang="en-US" altLang="zh-TW" dirty="0" smtClean="0"/>
              <a:t>storage</a:t>
            </a:r>
            <a:endParaRPr lang="en-US" altLang="zh-TW" dirty="0"/>
          </a:p>
          <a:p>
            <a:r>
              <a:rPr lang="en-US" altLang="zh-TW" dirty="0" smtClean="0"/>
              <a:t>Read-only </a:t>
            </a:r>
            <a:r>
              <a:rPr lang="en-US" altLang="zh-TW" dirty="0"/>
              <a:t>pages </a:t>
            </a:r>
            <a:r>
              <a:rPr lang="en-US" altLang="zh-TW" dirty="0" smtClean="0"/>
              <a:t>can be replicated to </a:t>
            </a:r>
            <a:r>
              <a:rPr lang="en-US" altLang="zh-TW" dirty="0"/>
              <a:t>improve performance</a:t>
            </a:r>
          </a:p>
          <a:p>
            <a:r>
              <a:rPr lang="en-US" altLang="zh-TW" dirty="0"/>
              <a:t>Writeable </a:t>
            </a:r>
            <a:r>
              <a:rPr lang="en-US" altLang="zh-TW" dirty="0" smtClean="0"/>
              <a:t>pages are managed by the following ways: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dirty="0" smtClean="0"/>
              <a:t>ingle </a:t>
            </a:r>
            <a:r>
              <a:rPr lang="en-US" altLang="zh-TW" dirty="0"/>
              <a:t>copy </a:t>
            </a:r>
            <a:r>
              <a:rPr lang="en-US" altLang="zh-TW" dirty="0" smtClean="0"/>
              <a:t>only</a:t>
            </a:r>
          </a:p>
          <a:p>
            <a:pPr lvl="2"/>
            <a:r>
              <a:rPr lang="en-US" altLang="zh-TW" dirty="0" smtClean="0"/>
              <a:t>The last writer keeps the copy.</a:t>
            </a:r>
            <a:endParaRPr lang="en-US" altLang="zh-TW" dirty="0"/>
          </a:p>
          <a:p>
            <a:pPr lvl="1"/>
            <a:r>
              <a:rPr lang="en-US" altLang="zh-TW" dirty="0"/>
              <a:t>Multiple copies</a:t>
            </a:r>
          </a:p>
          <a:p>
            <a:pPr lvl="2"/>
            <a:r>
              <a:rPr lang="en-US" altLang="zh-TW" dirty="0" smtClean="0"/>
              <a:t>Initially, </a:t>
            </a:r>
            <a:r>
              <a:rPr lang="en-US" altLang="zh-TW" dirty="0"/>
              <a:t> </a:t>
            </a:r>
            <a:r>
              <a:rPr lang="en-US" altLang="zh-TW" dirty="0" smtClean="0"/>
              <a:t>all pages are read-only. </a:t>
            </a:r>
          </a:p>
          <a:p>
            <a:pPr lvl="2"/>
            <a:r>
              <a:rPr lang="en-US" altLang="zh-TW" dirty="0" smtClean="0"/>
              <a:t>To write a page, a node first invalidate all other copies.</a:t>
            </a:r>
            <a:endParaRPr lang="en-US" altLang="zh-TW" dirty="0"/>
          </a:p>
          <a:p>
            <a:pPr lvl="2"/>
            <a:r>
              <a:rPr lang="en-US" altLang="zh-TW" dirty="0" smtClean="0"/>
              <a:t>It then writes the local copy and propagates to all other copies.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3249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A DSM of 4 Machines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1409998"/>
          </a:xfrm>
        </p:spPr>
        <p:txBody>
          <a:bodyPr/>
          <a:lstStyle/>
          <a:p>
            <a:r>
              <a:rPr lang="en-US" altLang="zh-TW" dirty="0"/>
              <a:t>Pages of the </a:t>
            </a:r>
            <a:r>
              <a:rPr lang="en-US" altLang="zh-TW" dirty="0" smtClean="0"/>
              <a:t>VM are </a:t>
            </a:r>
            <a:r>
              <a:rPr lang="en-US" altLang="zh-TW" dirty="0"/>
              <a:t>distributed among four </a:t>
            </a:r>
            <a:r>
              <a:rPr lang="en-US" altLang="zh-TW" dirty="0" smtClean="0"/>
              <a:t>machines.</a:t>
            </a:r>
          </a:p>
          <a:p>
            <a:r>
              <a:rPr lang="en-US" altLang="zh-TW" dirty="0" smtClean="0"/>
              <a:t>In single </a:t>
            </a:r>
            <a:r>
              <a:rPr lang="en-US" altLang="zh-TW" dirty="0"/>
              <a:t>copy only DSM, </a:t>
            </a:r>
            <a:r>
              <a:rPr lang="en-US" altLang="zh-TW" dirty="0" smtClean="0"/>
              <a:t>the page 10 is moved to CPU 0 after it is referenced by CPU 0.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827584" y="2724016"/>
            <a:ext cx="7560840" cy="3984444"/>
            <a:chOff x="827584" y="2724016"/>
            <a:chExt cx="7560840" cy="3984444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84" y="2724016"/>
              <a:ext cx="7560840" cy="2505183"/>
            </a:xfrm>
            <a:prstGeom prst="rect">
              <a:avLst/>
            </a:prstGeom>
          </p:spPr>
        </p:pic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84" y="5229200"/>
              <a:ext cx="7560840" cy="147926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3419872" y="4221088"/>
              <a:ext cx="516024" cy="3177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535696" y="5631498"/>
              <a:ext cx="516024" cy="3177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/>
            <p:cNvCxnSpPr/>
            <p:nvPr/>
          </p:nvCxnSpPr>
          <p:spPr>
            <a:xfrm flipH="1">
              <a:off x="2051720" y="4538870"/>
              <a:ext cx="1368152" cy="112237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字方塊 17"/>
          <p:cNvSpPr txBox="1"/>
          <p:nvPr/>
        </p:nvSpPr>
        <p:spPr>
          <a:xfrm>
            <a:off x="2483768" y="479715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move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8028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A DSM of 4 Machines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784976" cy="861968"/>
          </a:xfrm>
        </p:spPr>
        <p:txBody>
          <a:bodyPr/>
          <a:lstStyle/>
          <a:p>
            <a:r>
              <a:rPr lang="en-US" altLang="zh-TW" dirty="0"/>
              <a:t>In multiple copy DSM, the page 10 is duplicated to CPU0 after it is referenced by </a:t>
            </a:r>
            <a:r>
              <a:rPr lang="en-US" altLang="zh-TW" dirty="0" smtClean="0"/>
              <a:t>CPU0</a:t>
            </a:r>
            <a:r>
              <a:rPr lang="en-US" altLang="zh-TW" dirty="0"/>
              <a:t>.</a:t>
            </a:r>
          </a:p>
          <a:p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539552" y="2291968"/>
            <a:ext cx="8157553" cy="4377392"/>
            <a:chOff x="827583" y="2291968"/>
            <a:chExt cx="8157553" cy="4377392"/>
          </a:xfrm>
        </p:grpSpPr>
        <p:pic>
          <p:nvPicPr>
            <p:cNvPr id="17" name="圖片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83" y="2291968"/>
              <a:ext cx="8157553" cy="2791133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3635896" y="4005064"/>
              <a:ext cx="504056" cy="2880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535696" y="5631498"/>
              <a:ext cx="516024" cy="3177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84" y="5083102"/>
              <a:ext cx="8157552" cy="1586258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3635896" y="5589240"/>
              <a:ext cx="504056" cy="2880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547664" y="5589240"/>
              <a:ext cx="504056" cy="2880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1" name="直線單箭頭接點 20"/>
            <p:cNvCxnSpPr/>
            <p:nvPr/>
          </p:nvCxnSpPr>
          <p:spPr>
            <a:xfrm flipH="1">
              <a:off x="2051720" y="5661248"/>
              <a:ext cx="1584176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字方塊 7"/>
          <p:cNvSpPr txBox="1"/>
          <p:nvPr/>
        </p:nvSpPr>
        <p:spPr>
          <a:xfrm>
            <a:off x="2123728" y="557994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copy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484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Properties of DSM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12968" cy="4213448"/>
          </a:xfrm>
        </p:spPr>
        <p:txBody>
          <a:bodyPr/>
          <a:lstStyle/>
          <a:p>
            <a:r>
              <a:rPr lang="en-US" altLang="zh-TW" dirty="0" smtClean="0"/>
              <a:t>Data </a:t>
            </a:r>
            <a:r>
              <a:rPr lang="en-US" altLang="zh-TW" dirty="0"/>
              <a:t>in shared address space </a:t>
            </a:r>
            <a:r>
              <a:rPr lang="en-US" altLang="zh-TW" dirty="0" smtClean="0"/>
              <a:t>is accessed </a:t>
            </a:r>
            <a:r>
              <a:rPr lang="en-US" altLang="zh-TW" dirty="0"/>
              <a:t>as </a:t>
            </a:r>
            <a:r>
              <a:rPr lang="en-US" altLang="zh-TW" dirty="0" smtClean="0"/>
              <a:t>the virtual </a:t>
            </a:r>
            <a:r>
              <a:rPr lang="en-US" altLang="zh-TW" dirty="0"/>
              <a:t>m</a:t>
            </a:r>
            <a:r>
              <a:rPr lang="en-US" altLang="zh-TW" dirty="0" smtClean="0"/>
              <a:t>emory of a centralized</a:t>
            </a:r>
            <a:r>
              <a:rPr lang="en-US" altLang="zh-TW" dirty="0"/>
              <a:t> </a:t>
            </a:r>
            <a:r>
              <a:rPr lang="en-US" altLang="zh-TW" dirty="0" smtClean="0"/>
              <a:t>system.</a:t>
            </a:r>
            <a:endParaRPr lang="en-US" altLang="zh-TW" dirty="0"/>
          </a:p>
          <a:p>
            <a:pPr lvl="1"/>
            <a:r>
              <a:rPr lang="en-US" altLang="zh-TW" dirty="0" smtClean="0"/>
              <a:t>A mapping </a:t>
            </a:r>
            <a:r>
              <a:rPr lang="en-US" altLang="zh-TW" dirty="0"/>
              <a:t>manager </a:t>
            </a:r>
            <a:r>
              <a:rPr lang="en-US" altLang="zh-TW" dirty="0" smtClean="0"/>
              <a:t>is used to map </a:t>
            </a:r>
            <a:r>
              <a:rPr lang="en-US" altLang="zh-TW" dirty="0"/>
              <a:t>the shared address space to the physical address space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Complex </a:t>
            </a:r>
            <a:r>
              <a:rPr lang="en-US" altLang="zh-TW" dirty="0"/>
              <a:t>data structure can be passed by reference. </a:t>
            </a:r>
          </a:p>
          <a:p>
            <a:r>
              <a:rPr lang="en-US" altLang="zh-TW" dirty="0" smtClean="0"/>
              <a:t>Paging over network takes </a:t>
            </a:r>
            <a:r>
              <a:rPr lang="en-US" altLang="zh-TW" dirty="0"/>
              <a:t>advantage of locality </a:t>
            </a:r>
            <a:r>
              <a:rPr lang="en-US" altLang="zh-TW" dirty="0" smtClean="0"/>
              <a:t>and may </a:t>
            </a:r>
            <a:r>
              <a:rPr lang="en-US" altLang="zh-TW" dirty="0"/>
              <a:t>reduce </a:t>
            </a:r>
            <a:r>
              <a:rPr lang="en-US" altLang="zh-TW" dirty="0" smtClean="0"/>
              <a:t>communication </a:t>
            </a:r>
            <a:r>
              <a:rPr lang="en-US" altLang="zh-TW" dirty="0"/>
              <a:t>overhead.</a:t>
            </a:r>
          </a:p>
          <a:p>
            <a:r>
              <a:rPr lang="en-US" altLang="zh-TW" dirty="0" smtClean="0"/>
              <a:t>It makes programs </a:t>
            </a:r>
            <a:r>
              <a:rPr lang="en-US" altLang="zh-TW" dirty="0"/>
              <a:t>written for </a:t>
            </a:r>
            <a:r>
              <a:rPr lang="en-US" altLang="zh-TW" dirty="0" smtClean="0"/>
              <a:t>a MP become portable and scalable to a larger MC with DSM.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27576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DSM Implementation Issues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149552"/>
          </a:xfrm>
        </p:spPr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/>
              <a:t>virtual </a:t>
            </a:r>
            <a:r>
              <a:rPr lang="en-US" altLang="zh-TW" dirty="0" smtClean="0"/>
              <a:t>memory (VM), </a:t>
            </a:r>
            <a:r>
              <a:rPr lang="en-US" altLang="zh-TW" dirty="0"/>
              <a:t>OS hides the fact that pages may reside in main memory or on </a:t>
            </a:r>
            <a:r>
              <a:rPr lang="en-US" altLang="zh-TW" dirty="0" smtClean="0"/>
              <a:t>disk.</a:t>
            </a:r>
          </a:p>
          <a:p>
            <a:r>
              <a:rPr lang="en-US" altLang="zh-TW" dirty="0" smtClean="0"/>
              <a:t>In MPs, </a:t>
            </a:r>
            <a:r>
              <a:rPr lang="en-US" altLang="zh-TW" dirty="0"/>
              <a:t>there is a single shared memory (possibly virtual) </a:t>
            </a:r>
            <a:r>
              <a:rPr lang="en-US" altLang="zh-TW" dirty="0" smtClean="0"/>
              <a:t>accessible </a:t>
            </a:r>
            <a:r>
              <a:rPr lang="en-US" altLang="zh-TW" dirty="0"/>
              <a:t>by multiple CPUs.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There </a:t>
            </a:r>
            <a:r>
              <a:rPr lang="en-US" altLang="zh-TW" dirty="0"/>
              <a:t>may be multiple caches, but cache coherency protocols hide this from </a:t>
            </a:r>
            <a:r>
              <a:rPr lang="en-US" altLang="zh-TW" dirty="0" smtClean="0"/>
              <a:t>applications.</a:t>
            </a:r>
            <a:endParaRPr lang="en-US" altLang="zh-TW" dirty="0"/>
          </a:p>
          <a:p>
            <a:r>
              <a:rPr lang="en-US" altLang="zh-TW" dirty="0" smtClean="0"/>
              <a:t>Major goal of DSM: </a:t>
            </a:r>
            <a:r>
              <a:rPr lang="en-US" altLang="zh-TW" dirty="0"/>
              <a:t>make shared data concurrently accessible</a:t>
            </a:r>
          </a:p>
          <a:p>
            <a:pPr lvl="1"/>
            <a:r>
              <a:rPr lang="en-US" altLang="zh-TW" dirty="0" smtClean="0"/>
              <a:t>In DSM, each </a:t>
            </a:r>
            <a:r>
              <a:rPr lang="en-US" altLang="zh-TW" dirty="0"/>
              <a:t>machine has its own </a:t>
            </a:r>
            <a:r>
              <a:rPr lang="en-US" altLang="zh-TW" dirty="0" smtClean="0"/>
              <a:t>RAM, </a:t>
            </a:r>
            <a:r>
              <a:rPr lang="en-US" altLang="zh-TW" dirty="0"/>
              <a:t>but </a:t>
            </a:r>
            <a:r>
              <a:rPr lang="en-US" altLang="zh-TW" dirty="0" smtClean="0"/>
              <a:t>the VM </a:t>
            </a:r>
            <a:r>
              <a:rPr lang="en-US" altLang="zh-TW" dirty="0"/>
              <a:t>is shared, so pages can reside in any </a:t>
            </a:r>
            <a:r>
              <a:rPr lang="en-US" altLang="zh-TW" dirty="0" smtClean="0"/>
              <a:t>RAM </a:t>
            </a:r>
            <a:r>
              <a:rPr lang="en-US" altLang="zh-TW" dirty="0"/>
              <a:t>or on </a:t>
            </a:r>
            <a:r>
              <a:rPr lang="en-US" altLang="zh-TW" dirty="0" smtClean="0"/>
              <a:t>disk.</a:t>
            </a:r>
            <a:endParaRPr lang="en-US" altLang="zh-TW" dirty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location of shared </a:t>
            </a:r>
            <a:r>
              <a:rPr lang="en-US" altLang="zh-TW" dirty="0" smtClean="0"/>
              <a:t>data must be </a:t>
            </a:r>
            <a:r>
              <a:rPr lang="en-US" altLang="zh-TW" dirty="0"/>
              <a:t>keep </a:t>
            </a:r>
            <a:r>
              <a:rPr lang="en-US" altLang="zh-TW" dirty="0" smtClean="0"/>
              <a:t>track</a:t>
            </a:r>
            <a:endParaRPr lang="en-US" altLang="zh-TW" dirty="0"/>
          </a:p>
          <a:p>
            <a:pPr lvl="1"/>
            <a:r>
              <a:rPr lang="en-US" altLang="zh-TW" dirty="0"/>
              <a:t>On page fault, OS can fetch the page from </a:t>
            </a:r>
            <a:r>
              <a:rPr lang="en-US" altLang="zh-TW" dirty="0" smtClean="0"/>
              <a:t>a remote RAM</a:t>
            </a:r>
            <a:endParaRPr lang="en-US" altLang="zh-TW" dirty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comm. delays and cache </a:t>
            </a:r>
            <a:r>
              <a:rPr lang="en-US" altLang="zh-TW" dirty="0" smtClean="0"/>
              <a:t>coherency protocol </a:t>
            </a:r>
            <a:r>
              <a:rPr lang="en-US" altLang="zh-TW" dirty="0"/>
              <a:t>overhead </a:t>
            </a:r>
            <a:r>
              <a:rPr lang="en-US" altLang="zh-TW" dirty="0" smtClean="0"/>
              <a:t>must be minimized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0874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6672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DSM Implementation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12776"/>
            <a:ext cx="8424936" cy="685056"/>
          </a:xfrm>
        </p:spPr>
        <p:txBody>
          <a:bodyPr/>
          <a:lstStyle/>
          <a:p>
            <a:r>
              <a:rPr lang="en-US" altLang="zh-TW" dirty="0" smtClean="0"/>
              <a:t>There are v</a:t>
            </a:r>
            <a:r>
              <a:rPr lang="en-US" altLang="en-US" dirty="0" smtClean="0"/>
              <a:t>arious </a:t>
            </a:r>
            <a:r>
              <a:rPr lang="en-US" altLang="en-US" dirty="0"/>
              <a:t>layers where DSM can be </a:t>
            </a:r>
            <a:r>
              <a:rPr lang="en-US" altLang="en-US" dirty="0" smtClean="0"/>
              <a:t>implemented.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43608" y="637203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(a) The hardware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851920" y="637203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(b) The </a:t>
            </a:r>
            <a:r>
              <a:rPr lang="en-US" altLang="en-US" dirty="0" smtClean="0"/>
              <a:t>OS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868144" y="6372036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(c) User-level software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58698"/>
            <a:ext cx="8028384" cy="431551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55576" y="5085184"/>
            <a:ext cx="1008112" cy="648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ware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93976" y="5085184"/>
            <a:ext cx="1037864" cy="648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ware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56432" y="5085184"/>
            <a:ext cx="1043560" cy="648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ware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24584" y="5085184"/>
            <a:ext cx="1043560" cy="648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ware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56176" y="5085184"/>
            <a:ext cx="1008112" cy="648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ware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24328" y="5085184"/>
            <a:ext cx="1008112" cy="648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ware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9989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DSM Implementation Details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712968" cy="5256584"/>
          </a:xfrm>
        </p:spPr>
        <p:txBody>
          <a:bodyPr/>
          <a:lstStyle/>
          <a:p>
            <a:r>
              <a:rPr lang="en-US" altLang="zh-TW" dirty="0"/>
              <a:t>Every computer has its own page-table</a:t>
            </a:r>
          </a:p>
          <a:p>
            <a:r>
              <a:rPr lang="en-US" altLang="zh-TW" dirty="0"/>
              <a:t>If accessed page is not in </a:t>
            </a:r>
            <a:r>
              <a:rPr lang="en-US" altLang="zh-TW" dirty="0" smtClean="0"/>
              <a:t>local RAM, a </a:t>
            </a:r>
            <a:r>
              <a:rPr lang="en-US" altLang="zh-TW" dirty="0"/>
              <a:t>message </a:t>
            </a:r>
            <a:r>
              <a:rPr lang="en-US" altLang="zh-TW" dirty="0" smtClean="0"/>
              <a:t>is sent </a:t>
            </a:r>
            <a:r>
              <a:rPr lang="en-US" altLang="zh-TW" dirty="0"/>
              <a:t>to lookup where it resides, and the page is fetched</a:t>
            </a:r>
          </a:p>
          <a:p>
            <a:pPr lvl="1"/>
            <a:r>
              <a:rPr lang="en-US" altLang="zh-TW" dirty="0" smtClean="0"/>
              <a:t>A lookup algorithm for locating pages</a:t>
            </a:r>
            <a:endParaRPr lang="en-US" altLang="zh-TW" dirty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migration </a:t>
            </a:r>
            <a:r>
              <a:rPr lang="en-US" altLang="zh-TW" dirty="0" smtClean="0"/>
              <a:t>algorithm for paging and coherence control</a:t>
            </a:r>
            <a:endParaRPr lang="en-US" altLang="zh-TW" dirty="0"/>
          </a:p>
          <a:p>
            <a:r>
              <a:rPr lang="en-US" altLang="zh-TW" dirty="0"/>
              <a:t>Replication </a:t>
            </a:r>
            <a:r>
              <a:rPr lang="en-US" altLang="zh-TW" dirty="0" smtClean="0"/>
              <a:t>is used </a:t>
            </a:r>
            <a:r>
              <a:rPr lang="en-US" altLang="zh-TW" dirty="0"/>
              <a:t>to reduce the traffic</a:t>
            </a:r>
          </a:p>
          <a:p>
            <a:pPr lvl="1"/>
            <a:r>
              <a:rPr lang="en-US" altLang="zh-TW" dirty="0"/>
              <a:t>The read-replication </a:t>
            </a:r>
            <a:r>
              <a:rPr lang="en-US" altLang="zh-TW" dirty="0" smtClean="0"/>
              <a:t>algorithm</a:t>
            </a:r>
          </a:p>
          <a:p>
            <a:pPr lvl="2"/>
            <a:r>
              <a:rPr lang="en-US" altLang="zh-TW" dirty="0"/>
              <a:t>As in cache coherence for multiple caches in a MP, a page can reside on multiple nodes with read-only flag </a:t>
            </a:r>
            <a:r>
              <a:rPr lang="en-US" altLang="zh-TW" dirty="0" smtClean="0"/>
              <a:t>set.</a:t>
            </a:r>
            <a:endParaRPr lang="en-US" altLang="zh-TW" dirty="0"/>
          </a:p>
          <a:p>
            <a:pPr lvl="2"/>
            <a:r>
              <a:rPr lang="en-US" altLang="zh-TW" dirty="0" smtClean="0"/>
              <a:t>All </a:t>
            </a:r>
            <a:r>
              <a:rPr lang="en-US" altLang="zh-TW" dirty="0"/>
              <a:t>other copies must be </a:t>
            </a:r>
            <a:r>
              <a:rPr lang="en-US" altLang="zh-TW" dirty="0" smtClean="0"/>
              <a:t>invalidated before a page can be written</a:t>
            </a:r>
            <a:endParaRPr lang="en-US" altLang="zh-TW" dirty="0"/>
          </a:p>
          <a:p>
            <a:pPr lvl="1"/>
            <a:r>
              <a:rPr lang="en-US" altLang="zh-TW" dirty="0"/>
              <a:t>The full-replication </a:t>
            </a:r>
            <a:r>
              <a:rPr lang="en-US" altLang="zh-TW" dirty="0" smtClean="0"/>
              <a:t>algorithm</a:t>
            </a:r>
          </a:p>
          <a:p>
            <a:pPr lvl="2"/>
            <a:r>
              <a:rPr lang="en-US" altLang="zh-TW" dirty="0" smtClean="0"/>
              <a:t>Using a global lock, a CPU must acquire the lock before the actual write.</a:t>
            </a:r>
          </a:p>
          <a:p>
            <a:pPr lvl="2"/>
            <a:r>
              <a:rPr lang="en-US" altLang="zh-TW" dirty="0"/>
              <a:t>O</a:t>
            </a:r>
            <a:r>
              <a:rPr lang="en-US" altLang="zh-TW" dirty="0" smtClean="0"/>
              <a:t>n releasing the lock, changes are propagated to all other copies.</a:t>
            </a:r>
          </a:p>
          <a:p>
            <a:pPr lvl="2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817704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False Sharing in DSM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291264" cy="1405136"/>
          </a:xfrm>
        </p:spPr>
        <p:txBody>
          <a:bodyPr/>
          <a:lstStyle/>
          <a:p>
            <a:r>
              <a:rPr lang="en-US" altLang="zh-TW" dirty="0" smtClean="0"/>
              <a:t>There </a:t>
            </a:r>
            <a:r>
              <a:rPr lang="en-US" altLang="zh-TW" dirty="0"/>
              <a:t>may exist </a:t>
            </a:r>
            <a:r>
              <a:rPr lang="en-US" altLang="zh-TW" dirty="0" smtClean="0">
                <a:solidFill>
                  <a:srgbClr val="FF0000"/>
                </a:solidFill>
              </a:rPr>
              <a:t>false </a:t>
            </a:r>
            <a:r>
              <a:rPr lang="en-US" altLang="zh-TW" dirty="0">
                <a:solidFill>
                  <a:srgbClr val="FF0000"/>
                </a:solidFill>
              </a:rPr>
              <a:t>sharing </a:t>
            </a:r>
            <a:r>
              <a:rPr lang="en-US" altLang="zh-TW" dirty="0"/>
              <a:t>of a page between two independent </a:t>
            </a:r>
            <a:r>
              <a:rPr lang="en-US" altLang="zh-TW" dirty="0" smtClean="0"/>
              <a:t>processes.</a:t>
            </a:r>
          </a:p>
          <a:p>
            <a:r>
              <a:rPr lang="en-US" altLang="zh-TW" dirty="0" smtClean="0"/>
              <a:t>Needs a good compiler to reduce the problem.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725201"/>
            <a:ext cx="7956376" cy="401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78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MC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4069432"/>
          </a:xfrm>
        </p:spPr>
        <p:txBody>
          <a:bodyPr/>
          <a:lstStyle/>
          <a:p>
            <a:r>
              <a:rPr lang="en-US" altLang="zh-TW" dirty="0"/>
              <a:t>I</a:t>
            </a:r>
            <a:r>
              <a:rPr lang="en-US" altLang="zh-TW" dirty="0" smtClean="0"/>
              <a:t>n a MP system , an idle CPU may select any ready process to run.</a:t>
            </a:r>
          </a:p>
          <a:p>
            <a:r>
              <a:rPr lang="en-US" altLang="zh-TW" dirty="0" smtClean="0"/>
              <a:t>Since there is no shared memory in a MC system, each </a:t>
            </a:r>
            <a:r>
              <a:rPr lang="en-US" altLang="zh-TW" dirty="0"/>
              <a:t>node has its own </a:t>
            </a:r>
            <a:r>
              <a:rPr lang="en-US" altLang="zh-TW" dirty="0" smtClean="0"/>
              <a:t>set of processes and scheduler.</a:t>
            </a:r>
          </a:p>
          <a:p>
            <a:pPr lvl="1"/>
            <a:r>
              <a:rPr lang="en-US" altLang="zh-TW" dirty="0" smtClean="0"/>
              <a:t>When a new process is created, it is assigned to a particular node and stay there until it is finished.</a:t>
            </a:r>
          </a:p>
          <a:p>
            <a:pPr lvl="2"/>
            <a:r>
              <a:rPr lang="en-US" altLang="zh-TW" dirty="0" smtClean="0"/>
              <a:t>The decision is usually based on load balancing.</a:t>
            </a:r>
            <a:endParaRPr lang="en-US" altLang="zh-TW" dirty="0"/>
          </a:p>
          <a:p>
            <a:r>
              <a:rPr lang="en-US" altLang="zh-TW" dirty="0"/>
              <a:t>With a coordinator on one </a:t>
            </a:r>
            <a:r>
              <a:rPr lang="en-US" altLang="zh-TW" dirty="0" smtClean="0"/>
              <a:t>particular node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gang scheduling </a:t>
            </a:r>
            <a:r>
              <a:rPr lang="en-US" altLang="zh-TW" dirty="0" smtClean="0"/>
              <a:t>may be possible </a:t>
            </a:r>
            <a:r>
              <a:rPr lang="en-US" altLang="zh-TW" dirty="0"/>
              <a:t>for </a:t>
            </a:r>
            <a:r>
              <a:rPr lang="en-US" altLang="zh-TW" dirty="0" smtClean="0"/>
              <a:t>a MC system.</a:t>
            </a:r>
          </a:p>
          <a:p>
            <a:pPr lvl="1"/>
            <a:r>
              <a:rPr lang="en-US" altLang="zh-TW" dirty="0"/>
              <a:t>All nodes </a:t>
            </a:r>
            <a:r>
              <a:rPr lang="en-US" altLang="zh-TW" dirty="0" smtClean="0"/>
              <a:t>must synchronize in the start of each time slot.</a:t>
            </a:r>
          </a:p>
        </p:txBody>
      </p:sp>
    </p:spTree>
    <p:extLst>
      <p:ext uri="{BB962C8B-B14F-4D97-AF65-F5344CB8AC3E}">
        <p14:creationId xmlns:p14="http://schemas.microsoft.com/office/powerpoint/2010/main" val="32470416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Load Balancing in MCs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4572000"/>
          </a:xfrm>
        </p:spPr>
        <p:txBody>
          <a:bodyPr/>
          <a:lstStyle/>
          <a:p>
            <a:r>
              <a:rPr lang="en-US" altLang="zh-TW" dirty="0" smtClean="0"/>
              <a:t>In a </a:t>
            </a:r>
            <a:r>
              <a:rPr lang="en-US" altLang="zh-TW" dirty="0"/>
              <a:t>MC system, </a:t>
            </a:r>
            <a:r>
              <a:rPr lang="en-US" altLang="zh-TW" dirty="0" smtClean="0"/>
              <a:t>the most important activity is how processes can be assigned to nodes in an effective way.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Processor allocation (PA) </a:t>
            </a:r>
            <a:r>
              <a:rPr lang="en-US" altLang="zh-TW" dirty="0" smtClean="0"/>
              <a:t>algorithms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are used to deal with it.</a:t>
            </a:r>
          </a:p>
          <a:p>
            <a:r>
              <a:rPr lang="en-US" altLang="zh-TW" dirty="0" smtClean="0"/>
              <a:t>Major factors concerned by a PA algorithm include</a:t>
            </a:r>
          </a:p>
          <a:p>
            <a:pPr lvl="1"/>
            <a:r>
              <a:rPr lang="en-US" altLang="zh-TW" dirty="0"/>
              <a:t>E</a:t>
            </a:r>
            <a:r>
              <a:rPr lang="en-US" altLang="zh-TW" dirty="0" smtClean="0"/>
              <a:t>stimated </a:t>
            </a:r>
            <a:r>
              <a:rPr lang="en-US" altLang="zh-TW" dirty="0"/>
              <a:t>CPU and memory </a:t>
            </a:r>
            <a:r>
              <a:rPr lang="en-US" altLang="zh-TW" dirty="0" smtClean="0"/>
              <a:t>requirements of a process</a:t>
            </a:r>
          </a:p>
          <a:p>
            <a:pPr lvl="1"/>
            <a:r>
              <a:rPr lang="en-US" altLang="zh-TW" dirty="0" smtClean="0"/>
              <a:t>Estimated comm. traffic between any pair of processes</a:t>
            </a:r>
          </a:p>
          <a:p>
            <a:r>
              <a:rPr lang="en-US" altLang="zh-TW" dirty="0" smtClean="0"/>
              <a:t>Possible goals of PA algorithms are</a:t>
            </a:r>
          </a:p>
          <a:p>
            <a:pPr lvl="1"/>
            <a:r>
              <a:rPr lang="en-US" altLang="zh-TW" dirty="0" smtClean="0"/>
              <a:t>Minimizing wasted CPU cycles due to lack of works</a:t>
            </a:r>
          </a:p>
          <a:p>
            <a:pPr lvl="1"/>
            <a:r>
              <a:rPr lang="en-US" altLang="zh-TW" dirty="0" smtClean="0"/>
              <a:t>Minimizing total comm. bandwidth</a:t>
            </a:r>
          </a:p>
          <a:p>
            <a:pPr lvl="1"/>
            <a:r>
              <a:rPr lang="en-US" altLang="zh-TW" dirty="0"/>
              <a:t>E</a:t>
            </a:r>
            <a:r>
              <a:rPr lang="en-US" altLang="zh-TW" dirty="0" smtClean="0"/>
              <a:t>nsuring fairness to users and processes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71274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A Deterministic PA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84784"/>
            <a:ext cx="8928992" cy="5184576"/>
          </a:xfrm>
        </p:spPr>
        <p:txBody>
          <a:bodyPr/>
          <a:lstStyle/>
          <a:p>
            <a:r>
              <a:rPr lang="en-US" altLang="zh-TW" dirty="0" smtClean="0"/>
              <a:t>Assumptions:</a:t>
            </a:r>
          </a:p>
          <a:p>
            <a:pPr lvl="1"/>
            <a:r>
              <a:rPr lang="en-US" altLang="zh-TW" dirty="0" smtClean="0"/>
              <a:t>Known CPU and memory requirement for each process</a:t>
            </a:r>
          </a:p>
          <a:p>
            <a:pPr lvl="1"/>
            <a:r>
              <a:rPr lang="en-US" altLang="zh-TW" dirty="0" smtClean="0"/>
              <a:t>Known average traffic between each pair of processes  </a:t>
            </a:r>
          </a:p>
          <a:p>
            <a:r>
              <a:rPr lang="en-US" altLang="zh-TW" dirty="0" smtClean="0"/>
              <a:t>A system is represented as a weighted graph.</a:t>
            </a:r>
          </a:p>
          <a:p>
            <a:pPr lvl="1"/>
            <a:r>
              <a:rPr lang="en-US" altLang="zh-TW" dirty="0" smtClean="0"/>
              <a:t>Each vertex represents a process</a:t>
            </a:r>
          </a:p>
          <a:p>
            <a:pPr lvl="1"/>
            <a:r>
              <a:rPr lang="en-US" altLang="zh-TW" dirty="0" smtClean="0"/>
              <a:t>Each arc represents the traffic between two processes</a:t>
            </a:r>
          </a:p>
          <a:p>
            <a:r>
              <a:rPr lang="en-US" altLang="zh-TW" dirty="0" smtClean="0"/>
              <a:t>The PA is then reduced to find an effective way for cutting the graph into </a:t>
            </a:r>
            <a:r>
              <a:rPr lang="en-US" altLang="zh-TW" dirty="0" smtClean="0">
                <a:solidFill>
                  <a:srgbClr val="FF0000"/>
                </a:solidFill>
              </a:rPr>
              <a:t>k</a:t>
            </a:r>
            <a:r>
              <a:rPr lang="en-US" altLang="zh-TW" dirty="0" smtClean="0"/>
              <a:t> disjoint subgraphs subject to some constraints.</a:t>
            </a:r>
          </a:p>
          <a:p>
            <a:pPr lvl="1"/>
            <a:r>
              <a:rPr lang="en-US" altLang="zh-TW" dirty="0" smtClean="0"/>
              <a:t>In each feasible solution, arcs among subgraphs represents real network traffic.</a:t>
            </a:r>
          </a:p>
          <a:p>
            <a:pPr lvl="1"/>
            <a:r>
              <a:rPr lang="en-US" altLang="zh-TW" dirty="0" smtClean="0"/>
              <a:t>Thus, the goal is to find a feasible solution with minimized network traffic.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69296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Two </a:t>
            </a:r>
            <a:r>
              <a:rPr lang="en-US" altLang="zh-TW" dirty="0"/>
              <a:t>F</a:t>
            </a:r>
            <a:r>
              <a:rPr lang="en-US" altLang="zh-TW" dirty="0" smtClean="0"/>
              <a:t>easible </a:t>
            </a:r>
            <a:r>
              <a:rPr lang="en-US" altLang="zh-TW" dirty="0"/>
              <a:t>P</a:t>
            </a:r>
            <a:r>
              <a:rPr lang="en-US" altLang="zh-TW" dirty="0" smtClean="0"/>
              <a:t>artitions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2127" y="1514169"/>
            <a:ext cx="8699746" cy="1050735"/>
          </a:xfrm>
        </p:spPr>
        <p:txBody>
          <a:bodyPr/>
          <a:lstStyle/>
          <a:p>
            <a:r>
              <a:rPr lang="en-US" altLang="zh-TW" dirty="0" smtClean="0"/>
              <a:t>The left solution has 13+17=30 units of network traffic.</a:t>
            </a:r>
          </a:p>
          <a:p>
            <a:r>
              <a:rPr lang="en-US" altLang="zh-TW" dirty="0" smtClean="0"/>
              <a:t>The right solution has 13+15=28 units of network traffic.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140968"/>
            <a:ext cx="4613398" cy="324036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140968"/>
            <a:ext cx="4248472" cy="328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682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16" y="543818"/>
            <a:ext cx="813244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Heuristic Load Balancing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856984" cy="4861520"/>
          </a:xfrm>
        </p:spPr>
        <p:txBody>
          <a:bodyPr/>
          <a:lstStyle/>
          <a:p>
            <a:r>
              <a:rPr lang="en-US" altLang="zh-TW" dirty="0"/>
              <a:t>Finding optimal </a:t>
            </a:r>
            <a:r>
              <a:rPr lang="en-US" altLang="zh-TW" dirty="0" smtClean="0"/>
              <a:t>PA is </a:t>
            </a:r>
            <a:r>
              <a:rPr lang="en-US" altLang="zh-TW" dirty="0"/>
              <a:t>computationally expensive</a:t>
            </a:r>
          </a:p>
          <a:p>
            <a:pPr lvl="1"/>
            <a:r>
              <a:rPr lang="en-US" altLang="zh-TW" dirty="0"/>
              <a:t>NP-hard (must try all possible combinations in the worst case)</a:t>
            </a:r>
          </a:p>
          <a:p>
            <a:pPr lvl="1"/>
            <a:r>
              <a:rPr lang="en-US" altLang="zh-TW" dirty="0" smtClean="0"/>
              <a:t>Greedy </a:t>
            </a:r>
            <a:r>
              <a:rPr lang="en-US" altLang="zh-TW" dirty="0"/>
              <a:t>heuristics </a:t>
            </a:r>
            <a:r>
              <a:rPr lang="en-US" altLang="zh-TW" dirty="0" smtClean="0"/>
              <a:t>may perform well</a:t>
            </a:r>
          </a:p>
          <a:p>
            <a:r>
              <a:rPr lang="en-US" altLang="zh-TW" dirty="0"/>
              <a:t>Dynamic adaptation </a:t>
            </a:r>
            <a:r>
              <a:rPr lang="en-US" altLang="zh-TW" dirty="0" smtClean="0"/>
              <a:t>schemes: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Sender </a:t>
            </a:r>
            <a:r>
              <a:rPr lang="en-US" altLang="zh-TW" dirty="0">
                <a:solidFill>
                  <a:srgbClr val="FF0000"/>
                </a:solidFill>
              </a:rPr>
              <a:t>Initiated </a:t>
            </a:r>
            <a:r>
              <a:rPr lang="en-US" altLang="zh-TW" dirty="0"/>
              <a:t>Schemes</a:t>
            </a:r>
          </a:p>
          <a:p>
            <a:pPr lvl="2"/>
            <a:r>
              <a:rPr lang="en-US" altLang="zh-TW" dirty="0" smtClean="0"/>
              <a:t>A new process is always assigned to the node which creates it.</a:t>
            </a:r>
          </a:p>
          <a:p>
            <a:pPr lvl="2"/>
            <a:r>
              <a:rPr lang="en-US" altLang="zh-TW" dirty="0" smtClean="0"/>
              <a:t>If the node is overloaded, it probes </a:t>
            </a:r>
            <a:r>
              <a:rPr lang="en-US" altLang="zh-TW" dirty="0"/>
              <a:t>others for </a:t>
            </a:r>
            <a:r>
              <a:rPr lang="en-US" altLang="zh-TW" dirty="0" smtClean="0"/>
              <a:t>help.</a:t>
            </a:r>
            <a:endParaRPr lang="en-US" altLang="zh-TW" dirty="0"/>
          </a:p>
          <a:p>
            <a:pPr lvl="2"/>
            <a:r>
              <a:rPr lang="en-US" altLang="zh-TW" dirty="0" smtClean="0"/>
              <a:t>On receiving a probe, if a node is </a:t>
            </a:r>
            <a:r>
              <a:rPr lang="en-US" altLang="zh-TW" dirty="0" smtClean="0">
                <a:solidFill>
                  <a:srgbClr val="FF0000"/>
                </a:solidFill>
              </a:rPr>
              <a:t>under loaded</a:t>
            </a:r>
            <a:r>
              <a:rPr lang="en-US" altLang="zh-TW" dirty="0" smtClean="0"/>
              <a:t>, it accepts the new process.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Receiver Initiated </a:t>
            </a:r>
            <a:r>
              <a:rPr lang="en-US" altLang="zh-TW" dirty="0"/>
              <a:t>Schemes</a:t>
            </a:r>
          </a:p>
          <a:p>
            <a:pPr lvl="2"/>
            <a:r>
              <a:rPr lang="en-US" altLang="zh-TW" dirty="0" smtClean="0"/>
              <a:t>If a node is under loaded, it probes others for process </a:t>
            </a:r>
            <a:r>
              <a:rPr lang="en-US" altLang="zh-TW" dirty="0" smtClean="0">
                <a:solidFill>
                  <a:srgbClr val="FF0000"/>
                </a:solidFill>
              </a:rPr>
              <a:t>migration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2"/>
            <a:r>
              <a:rPr lang="en-US" altLang="zh-TW" dirty="0" smtClean="0"/>
              <a:t>On receiving a probe, if a node is </a:t>
            </a:r>
            <a:r>
              <a:rPr lang="en-US" altLang="zh-TW" dirty="0" smtClean="0">
                <a:solidFill>
                  <a:srgbClr val="FF0000"/>
                </a:solidFill>
              </a:rPr>
              <a:t>overloaded</a:t>
            </a:r>
            <a:r>
              <a:rPr lang="en-US" altLang="zh-TW" dirty="0" smtClean="0"/>
              <a:t>, it migrate some processes to the probing node.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59760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Sender Initiated Load Balancing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340768"/>
            <a:ext cx="8856984" cy="2543092"/>
          </a:xfrm>
        </p:spPr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new process is always assigned to the node which creates it.</a:t>
            </a:r>
          </a:p>
          <a:p>
            <a:r>
              <a:rPr lang="en-US" altLang="zh-TW" dirty="0"/>
              <a:t>If the node is overloaded, it </a:t>
            </a:r>
            <a:r>
              <a:rPr lang="en-US" altLang="zh-TW" dirty="0" smtClean="0"/>
              <a:t>randomly probes a node </a:t>
            </a:r>
            <a:r>
              <a:rPr lang="en-US" altLang="zh-TW" dirty="0"/>
              <a:t>for help.</a:t>
            </a:r>
          </a:p>
          <a:p>
            <a:pPr lvl="1"/>
            <a:r>
              <a:rPr lang="en-US" altLang="zh-TW" dirty="0" smtClean="0"/>
              <a:t>If the probed node </a:t>
            </a:r>
            <a:r>
              <a:rPr lang="en-US" altLang="zh-TW" dirty="0"/>
              <a:t>is under loaded, it accepts the new process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Otherwise, the probing node repeatedly to probe for help until an upper limit </a:t>
            </a:r>
            <a:r>
              <a:rPr lang="en-US" altLang="zh-TW" dirty="0" smtClean="0">
                <a:solidFill>
                  <a:srgbClr val="FF0000"/>
                </a:solidFill>
              </a:rPr>
              <a:t>N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It does not perform well in </a:t>
            </a:r>
            <a:r>
              <a:rPr lang="en-US" altLang="zh-TW" dirty="0" smtClean="0">
                <a:solidFill>
                  <a:srgbClr val="FF0000"/>
                </a:solidFill>
              </a:rPr>
              <a:t>heavily loaded </a:t>
            </a:r>
            <a:r>
              <a:rPr lang="en-US" altLang="zh-TW" dirty="0" smtClean="0"/>
              <a:t>situation.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920372"/>
            <a:ext cx="7596336" cy="282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025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Receiver Initiated Load Balancing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784976" cy="2376264"/>
          </a:xfrm>
        </p:spPr>
        <p:txBody>
          <a:bodyPr/>
          <a:lstStyle/>
          <a:p>
            <a:r>
              <a:rPr lang="en-US" altLang="zh-TW" sz="2400" dirty="0" smtClean="0"/>
              <a:t>Whenever a process finishes, the </a:t>
            </a:r>
            <a:r>
              <a:rPr lang="en-US" altLang="zh-TW" sz="2400" dirty="0"/>
              <a:t>node </a:t>
            </a:r>
            <a:r>
              <a:rPr lang="en-US" altLang="zh-TW" sz="2400" dirty="0" smtClean="0"/>
              <a:t>checks whether it is </a:t>
            </a:r>
            <a:r>
              <a:rPr lang="en-US" altLang="zh-TW" sz="2400" dirty="0"/>
              <a:t>under </a:t>
            </a:r>
            <a:r>
              <a:rPr lang="en-US" altLang="zh-TW" sz="2400" dirty="0" smtClean="0"/>
              <a:t>loaded. If so, </a:t>
            </a:r>
            <a:r>
              <a:rPr lang="en-US" altLang="zh-TW" sz="2400" dirty="0"/>
              <a:t>it randomly probes a node for </a:t>
            </a:r>
            <a:r>
              <a:rPr lang="en-US" altLang="zh-TW" sz="2400" dirty="0" smtClean="0"/>
              <a:t>work.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If the probed node </a:t>
            </a:r>
            <a:r>
              <a:rPr lang="en-US" altLang="zh-TW" sz="2000" dirty="0"/>
              <a:t>is overloaded, it </a:t>
            </a:r>
            <a:r>
              <a:rPr lang="en-US" altLang="zh-TW" sz="2000" dirty="0" smtClean="0"/>
              <a:t>migrates a process </a:t>
            </a:r>
            <a:r>
              <a:rPr lang="en-US" altLang="zh-TW" sz="2000" dirty="0"/>
              <a:t>to the probing </a:t>
            </a:r>
            <a:r>
              <a:rPr lang="en-US" altLang="zh-TW" sz="2000" dirty="0" smtClean="0"/>
              <a:t>node.</a:t>
            </a:r>
          </a:p>
          <a:p>
            <a:pPr lvl="1"/>
            <a:r>
              <a:rPr lang="en-US" altLang="zh-TW" sz="2200" dirty="0" smtClean="0"/>
              <a:t>Otherwise, the probing node repeatedly probes </a:t>
            </a:r>
            <a:r>
              <a:rPr lang="en-US" altLang="zh-TW" sz="2200" dirty="0"/>
              <a:t>for </a:t>
            </a:r>
            <a:r>
              <a:rPr lang="en-US" altLang="zh-TW" sz="2200" dirty="0" smtClean="0"/>
              <a:t>work </a:t>
            </a:r>
            <a:r>
              <a:rPr lang="en-US" altLang="zh-TW" sz="2200" dirty="0"/>
              <a:t>until reaches an upper limit </a:t>
            </a:r>
            <a:r>
              <a:rPr lang="en-US" altLang="zh-TW" sz="2200" dirty="0">
                <a:solidFill>
                  <a:srgbClr val="FF0000"/>
                </a:solidFill>
              </a:rPr>
              <a:t>N</a:t>
            </a:r>
            <a:r>
              <a:rPr lang="en-US" altLang="zh-TW" sz="2200" dirty="0" smtClean="0"/>
              <a:t>.</a:t>
            </a:r>
          </a:p>
          <a:p>
            <a:pPr marL="273050" lvl="2" indent="-273050">
              <a:spcBef>
                <a:spcPts val="575"/>
              </a:spcBef>
              <a:buClr>
                <a:schemeClr val="accent1"/>
              </a:buClr>
            </a:pPr>
            <a:r>
              <a:rPr lang="en-US" altLang="zh-TW" sz="2400" dirty="0" smtClean="0">
                <a:ea typeface="新細明體" panose="02020500000000000000" pitchFamily="18" charset="-120"/>
              </a:rPr>
              <a:t>It </a:t>
            </a:r>
            <a:r>
              <a:rPr lang="en-US" altLang="zh-TW" sz="2400" dirty="0">
                <a:ea typeface="新細明體" panose="02020500000000000000" pitchFamily="18" charset="-120"/>
              </a:rPr>
              <a:t>does not degrade performance </a:t>
            </a:r>
            <a:r>
              <a:rPr lang="en-US" altLang="zh-TW" sz="2400" dirty="0" smtClean="0">
                <a:ea typeface="新細明體" panose="02020500000000000000" pitchFamily="18" charset="-120"/>
              </a:rPr>
              <a:t>in heavily loaded situation.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endParaRPr lang="en-US" altLang="zh-TW" sz="2400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690568"/>
            <a:ext cx="7308304" cy="30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891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Cluster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4573488"/>
          </a:xfrm>
        </p:spPr>
        <p:txBody>
          <a:bodyPr/>
          <a:lstStyle/>
          <a:p>
            <a:r>
              <a:rPr lang="en-US" altLang="zh-TW" dirty="0" smtClean="0"/>
              <a:t>A common architecture of Multi Computer systems.</a:t>
            </a:r>
          </a:p>
          <a:p>
            <a:r>
              <a:rPr lang="en-US" altLang="zh-TW" dirty="0"/>
              <a:t>A computer cluster consists of a set of </a:t>
            </a:r>
            <a:r>
              <a:rPr lang="en-US" altLang="zh-TW" dirty="0" smtClean="0"/>
              <a:t>tightly </a:t>
            </a:r>
            <a:r>
              <a:rPr lang="en-US" altLang="zh-TW" dirty="0"/>
              <a:t>connected computers </a:t>
            </a:r>
            <a:r>
              <a:rPr lang="en-US" altLang="zh-TW" dirty="0" smtClean="0"/>
              <a:t>that </a:t>
            </a:r>
            <a:r>
              <a:rPr lang="en-US" altLang="zh-TW" dirty="0"/>
              <a:t>work together </a:t>
            </a:r>
            <a:r>
              <a:rPr lang="en-US" altLang="zh-TW" dirty="0" smtClean="0"/>
              <a:t>such </a:t>
            </a:r>
            <a:r>
              <a:rPr lang="en-US" altLang="zh-TW" dirty="0"/>
              <a:t>that </a:t>
            </a:r>
            <a:r>
              <a:rPr lang="en-US" altLang="zh-TW" dirty="0" smtClean="0"/>
              <a:t>it appears </a:t>
            </a:r>
            <a:r>
              <a:rPr lang="en-US" altLang="zh-TW" dirty="0"/>
              <a:t>as a single system to users and applications</a:t>
            </a:r>
          </a:p>
          <a:p>
            <a:pPr lvl="1"/>
            <a:r>
              <a:rPr lang="en-US" altLang="zh-TW" dirty="0" smtClean="0"/>
              <a:t>These computers are commonly </a:t>
            </a:r>
            <a:r>
              <a:rPr lang="en-US" altLang="zh-TW" dirty="0"/>
              <a:t>connected through </a:t>
            </a:r>
            <a:r>
              <a:rPr lang="en-US" altLang="zh-TW" dirty="0" smtClean="0"/>
              <a:t>a fast LAN.</a:t>
            </a:r>
          </a:p>
          <a:p>
            <a:pPr lvl="1"/>
            <a:r>
              <a:rPr lang="en-US" altLang="zh-TW" dirty="0" smtClean="0"/>
              <a:t>Each computer </a:t>
            </a:r>
            <a:r>
              <a:rPr lang="en-US" altLang="zh-TW" dirty="0"/>
              <a:t>has its own CPU, </a:t>
            </a:r>
            <a:r>
              <a:rPr lang="en-US" altLang="zh-TW" dirty="0" smtClean="0"/>
              <a:t>private main memory, </a:t>
            </a:r>
            <a:r>
              <a:rPr lang="en-US" altLang="zh-TW" dirty="0"/>
              <a:t>I/O </a:t>
            </a:r>
            <a:r>
              <a:rPr lang="en-US" altLang="zh-TW" dirty="0" smtClean="0"/>
              <a:t>facilities, and </a:t>
            </a:r>
            <a:r>
              <a:rPr lang="en-US" altLang="zh-TW" dirty="0"/>
              <a:t>has its own operating system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2"/>
            <a:r>
              <a:rPr lang="en-US" altLang="zh-TW" dirty="0" smtClean="0"/>
              <a:t>Since </a:t>
            </a:r>
            <a:r>
              <a:rPr lang="en-US" altLang="zh-TW" dirty="0"/>
              <a:t>the processors on one </a:t>
            </a:r>
            <a:r>
              <a:rPr lang="en-US" altLang="zh-TW" dirty="0" smtClean="0"/>
              <a:t>computer </a:t>
            </a:r>
            <a:r>
              <a:rPr lang="en-US" altLang="zh-TW" dirty="0"/>
              <a:t>cannot directly access the memory on the </a:t>
            </a:r>
            <a:r>
              <a:rPr lang="en-US" altLang="zh-TW" dirty="0" smtClean="0"/>
              <a:t>others, </a:t>
            </a:r>
            <a:r>
              <a:rPr lang="en-US" altLang="zh-TW" dirty="0"/>
              <a:t>"</a:t>
            </a:r>
            <a:r>
              <a:rPr lang="en-US" altLang="zh-TW" dirty="0">
                <a:solidFill>
                  <a:srgbClr val="FF0000"/>
                </a:solidFill>
              </a:rPr>
              <a:t>message passing</a:t>
            </a:r>
            <a:r>
              <a:rPr lang="en-US" altLang="zh-TW" dirty="0"/>
              <a:t>" </a:t>
            </a:r>
            <a:r>
              <a:rPr lang="en-US" altLang="zh-TW" dirty="0" smtClean="0"/>
              <a:t>is the most common way for inter process communications in a cluster.</a:t>
            </a:r>
          </a:p>
          <a:p>
            <a:r>
              <a:rPr lang="en-US" altLang="zh-TW" dirty="0" smtClean="0"/>
              <a:t>In general, there are </a:t>
            </a:r>
            <a:r>
              <a:rPr lang="en-US" altLang="zh-TW" dirty="0" smtClean="0">
                <a:solidFill>
                  <a:srgbClr val="FF0000"/>
                </a:solidFill>
              </a:rPr>
              <a:t>Shared-nothing</a:t>
            </a:r>
            <a:r>
              <a:rPr lang="en-US" altLang="zh-TW" dirty="0" smtClean="0"/>
              <a:t> and </a:t>
            </a:r>
            <a:r>
              <a:rPr lang="en-US" altLang="zh-TW" dirty="0" smtClean="0">
                <a:solidFill>
                  <a:srgbClr val="FF0000"/>
                </a:solidFill>
              </a:rPr>
              <a:t>Shared-disk</a:t>
            </a:r>
            <a:r>
              <a:rPr lang="en-US" altLang="zh-TW" dirty="0" smtClean="0"/>
              <a:t> models.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45322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615826"/>
            <a:ext cx="7772400" cy="724942"/>
          </a:xfrm>
        </p:spPr>
        <p:txBody>
          <a:bodyPr/>
          <a:lstStyle/>
          <a:p>
            <a:pPr algn="ctr"/>
            <a:r>
              <a:rPr lang="en-US" altLang="zh-TW" dirty="0" smtClean="0"/>
              <a:t>Two Types of Computer </a:t>
            </a:r>
            <a:r>
              <a:rPr lang="en-US" altLang="zh-TW" dirty="0"/>
              <a:t>C</a:t>
            </a:r>
            <a:r>
              <a:rPr lang="en-US" altLang="zh-TW" dirty="0" smtClean="0"/>
              <a:t>lusters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32" y="1484784"/>
            <a:ext cx="7844408" cy="523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634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/>
              <a:t>The Beowulf </a:t>
            </a:r>
            <a:r>
              <a:rPr lang="en-US" altLang="zh-TW" dirty="0" smtClean="0"/>
              <a:t>Cluster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75792"/>
            <a:ext cx="8856984" cy="5221560"/>
          </a:xfrm>
        </p:spPr>
        <p:txBody>
          <a:bodyPr/>
          <a:lstStyle/>
          <a:p>
            <a:r>
              <a:rPr lang="en-US" altLang="zh-TW" dirty="0"/>
              <a:t>Donald Becker of NASA assembled this </a:t>
            </a:r>
            <a:r>
              <a:rPr lang="en-US" altLang="zh-TW" dirty="0" smtClean="0"/>
              <a:t>cluster in 1994.</a:t>
            </a:r>
            <a:endParaRPr lang="en-US" altLang="zh-TW" dirty="0"/>
          </a:p>
          <a:p>
            <a:pPr lvl="1"/>
            <a:r>
              <a:rPr lang="en-US" altLang="zh-TW" dirty="0" smtClean="0"/>
              <a:t>It is </a:t>
            </a:r>
            <a:r>
              <a:rPr lang="en-US" altLang="zh-TW" dirty="0"/>
              <a:t>a </a:t>
            </a:r>
            <a:r>
              <a:rPr lang="en-US" altLang="zh-TW" dirty="0" smtClean="0"/>
              <a:t>set </a:t>
            </a:r>
            <a:r>
              <a:rPr lang="en-US" altLang="zh-TW" dirty="0"/>
              <a:t>of </a:t>
            </a:r>
            <a:r>
              <a:rPr lang="en-US" altLang="zh-TW" dirty="0" smtClean="0">
                <a:solidFill>
                  <a:srgbClr val="FF0000"/>
                </a:solidFill>
              </a:rPr>
              <a:t>off-shell </a:t>
            </a:r>
            <a:r>
              <a:rPr lang="en-US" altLang="zh-TW" dirty="0">
                <a:solidFill>
                  <a:srgbClr val="FF0000"/>
                </a:solidFill>
              </a:rPr>
              <a:t>computers </a:t>
            </a:r>
            <a:r>
              <a:rPr lang="en-US" altLang="zh-TW" dirty="0"/>
              <a:t>connected through </a:t>
            </a:r>
            <a:r>
              <a:rPr lang="en-US" altLang="zh-TW" dirty="0" smtClean="0"/>
              <a:t>a private LAN.</a:t>
            </a:r>
          </a:p>
          <a:p>
            <a:pPr lvl="1"/>
            <a:r>
              <a:rPr lang="en-US" altLang="zh-TW" dirty="0" smtClean="0"/>
              <a:t>It consists of two types </a:t>
            </a:r>
            <a:r>
              <a:rPr lang="en-US" altLang="zh-TW" dirty="0"/>
              <a:t>of </a:t>
            </a:r>
            <a:r>
              <a:rPr lang="en-US" altLang="zh-TW" dirty="0" smtClean="0"/>
              <a:t>computers.</a:t>
            </a:r>
          </a:p>
          <a:p>
            <a:pPr lvl="2"/>
            <a:r>
              <a:rPr lang="en-US" altLang="zh-TW" dirty="0" smtClean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master</a:t>
            </a:r>
            <a:r>
              <a:rPr lang="en-US" altLang="zh-TW" dirty="0"/>
              <a:t> computer is used to </a:t>
            </a:r>
            <a:r>
              <a:rPr lang="en-US" altLang="zh-TW" dirty="0" smtClean="0"/>
              <a:t>interact </a:t>
            </a:r>
            <a:r>
              <a:rPr lang="en-US" altLang="zh-TW" dirty="0"/>
              <a:t>with users and </a:t>
            </a:r>
            <a:r>
              <a:rPr lang="en-US" altLang="zh-TW" dirty="0" smtClean="0"/>
              <a:t>outside world.</a:t>
            </a:r>
          </a:p>
          <a:p>
            <a:pPr lvl="2"/>
            <a:r>
              <a:rPr lang="en-US" altLang="zh-TW" dirty="0" smtClean="0"/>
              <a:t>A group of slave </a:t>
            </a:r>
            <a:r>
              <a:rPr lang="en-US" altLang="zh-TW" dirty="0"/>
              <a:t>computers.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task is submitted to the master of </a:t>
            </a:r>
            <a:r>
              <a:rPr lang="en-US" altLang="zh-TW" dirty="0"/>
              <a:t>a Beowulf </a:t>
            </a:r>
            <a:r>
              <a:rPr lang="en-US" altLang="zh-TW" dirty="0" smtClean="0"/>
              <a:t>cluster.</a:t>
            </a:r>
          </a:p>
          <a:p>
            <a:pPr lvl="2"/>
            <a:r>
              <a:rPr lang="en-US" altLang="zh-TW" dirty="0"/>
              <a:t>T</a:t>
            </a:r>
            <a:r>
              <a:rPr lang="en-US" altLang="zh-TW" dirty="0" smtClean="0"/>
              <a:t>he </a:t>
            </a:r>
            <a:r>
              <a:rPr lang="en-US" altLang="zh-TW" dirty="0"/>
              <a:t>master computer </a:t>
            </a:r>
            <a:r>
              <a:rPr lang="en-US" altLang="zh-TW" dirty="0" smtClean="0"/>
              <a:t>then </a:t>
            </a:r>
            <a:r>
              <a:rPr lang="en-US" altLang="zh-TW" dirty="0"/>
              <a:t>breaks the </a:t>
            </a:r>
            <a:r>
              <a:rPr lang="en-US" altLang="zh-TW" dirty="0" smtClean="0"/>
              <a:t>task into </a:t>
            </a:r>
            <a:r>
              <a:rPr lang="en-US" altLang="zh-TW" dirty="0"/>
              <a:t>small </a:t>
            </a:r>
            <a:r>
              <a:rPr lang="en-US" altLang="zh-TW" dirty="0" smtClean="0"/>
              <a:t>subtasks.</a:t>
            </a:r>
          </a:p>
          <a:p>
            <a:pPr lvl="2"/>
            <a:r>
              <a:rPr lang="en-US" altLang="zh-TW" dirty="0" smtClean="0"/>
              <a:t>It </a:t>
            </a:r>
            <a:r>
              <a:rPr lang="en-US" altLang="zh-TW" dirty="0"/>
              <a:t>sends </a:t>
            </a:r>
            <a:r>
              <a:rPr lang="en-US" altLang="zh-TW" dirty="0" smtClean="0"/>
              <a:t>each subtask </a:t>
            </a:r>
            <a:r>
              <a:rPr lang="en-US" altLang="zh-TW" dirty="0"/>
              <a:t>to </a:t>
            </a:r>
            <a:r>
              <a:rPr lang="en-US" altLang="zh-TW" dirty="0" smtClean="0"/>
              <a:t>a separate slave to </a:t>
            </a:r>
            <a:r>
              <a:rPr lang="en-US" altLang="zh-TW" dirty="0"/>
              <a:t>compute. 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As </a:t>
            </a:r>
            <a:r>
              <a:rPr lang="en-US" altLang="zh-TW" dirty="0"/>
              <a:t>nodes finish their </a:t>
            </a:r>
            <a:r>
              <a:rPr lang="en-US" altLang="zh-TW" dirty="0" smtClean="0"/>
              <a:t>subtasks</a:t>
            </a:r>
            <a:r>
              <a:rPr lang="en-US" altLang="zh-TW" dirty="0"/>
              <a:t>, the master </a:t>
            </a:r>
            <a:r>
              <a:rPr lang="en-US" altLang="zh-TW" dirty="0" smtClean="0"/>
              <a:t>continually </a:t>
            </a:r>
            <a:r>
              <a:rPr lang="en-US" altLang="zh-TW" dirty="0"/>
              <a:t>sends </a:t>
            </a:r>
            <a:r>
              <a:rPr lang="en-US" altLang="zh-TW" dirty="0" smtClean="0"/>
              <a:t>remaining subtasks </a:t>
            </a:r>
            <a:r>
              <a:rPr lang="en-US" altLang="zh-TW" dirty="0"/>
              <a:t>to them until the entire </a:t>
            </a:r>
            <a:r>
              <a:rPr lang="en-US" altLang="zh-TW" dirty="0" smtClean="0"/>
              <a:t>task </a:t>
            </a:r>
            <a:r>
              <a:rPr lang="en-US" altLang="zh-TW" dirty="0"/>
              <a:t>has been computed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MPI</a:t>
            </a:r>
            <a:r>
              <a:rPr lang="en-US" altLang="zh-TW" dirty="0" smtClean="0"/>
              <a:t> (Message </a:t>
            </a:r>
            <a:r>
              <a:rPr lang="en-US" altLang="zh-TW" dirty="0"/>
              <a:t>Passing Interface) </a:t>
            </a:r>
            <a:r>
              <a:rPr lang="en-US" altLang="zh-TW" dirty="0" smtClean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PVM</a:t>
            </a:r>
            <a:r>
              <a:rPr lang="en-US" altLang="zh-TW" dirty="0" smtClean="0"/>
              <a:t> (Parallel </a:t>
            </a:r>
            <a:r>
              <a:rPr lang="en-US" altLang="zh-TW" dirty="0"/>
              <a:t>V</a:t>
            </a:r>
            <a:r>
              <a:rPr lang="en-US" altLang="zh-TW" dirty="0" smtClean="0"/>
              <a:t>irtual Machine) are </a:t>
            </a:r>
            <a:r>
              <a:rPr lang="en-US" altLang="zh-TW" dirty="0"/>
              <a:t>the </a:t>
            </a:r>
            <a:r>
              <a:rPr lang="en-US" altLang="zh-TW" dirty="0" smtClean="0"/>
              <a:t>commonly </a:t>
            </a:r>
            <a:r>
              <a:rPr lang="en-US" altLang="zh-TW" dirty="0"/>
              <a:t>used </a:t>
            </a:r>
            <a:r>
              <a:rPr lang="en-US" altLang="zh-TW" dirty="0" smtClean="0"/>
              <a:t>mechanisms for IPC in a Beowulf cluster.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46174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Topology of a Beowulf Cluster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90" y="1556792"/>
            <a:ext cx="8137458" cy="50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52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6672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More on Beowulf Cluster, MPI, PVM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221560"/>
          </a:xfrm>
        </p:spPr>
        <p:txBody>
          <a:bodyPr/>
          <a:lstStyle/>
          <a:p>
            <a:r>
              <a:rPr lang="en-US" altLang="zh-TW" sz="2000" dirty="0"/>
              <a:t>Thomas Lawrence </a:t>
            </a:r>
            <a:r>
              <a:rPr lang="en-US" altLang="zh-TW" sz="2000" dirty="0" smtClean="0"/>
              <a:t>Sterling, “Beowulf </a:t>
            </a:r>
            <a:r>
              <a:rPr lang="en-US" altLang="zh-TW" sz="2000" dirty="0"/>
              <a:t>Cluster Computing with Linux,” </a:t>
            </a:r>
            <a:r>
              <a:rPr lang="en-US" altLang="zh-TW" sz="2000" dirty="0" smtClean="0"/>
              <a:t>MIT 2002</a:t>
            </a:r>
          </a:p>
          <a:p>
            <a:r>
              <a:rPr lang="en-US" altLang="zh-TW" sz="2000" dirty="0"/>
              <a:t>Richard S. </a:t>
            </a:r>
            <a:r>
              <a:rPr lang="en-US" altLang="zh-TW" sz="2000" dirty="0" smtClean="0"/>
              <a:t>Morrison, “Cluster </a:t>
            </a:r>
            <a:r>
              <a:rPr lang="en-US" altLang="zh-TW" sz="2000" dirty="0"/>
              <a:t>Computing: Architectures, Operating Systems, Parallel Processing &amp; Programming </a:t>
            </a:r>
            <a:r>
              <a:rPr lang="en-US" altLang="zh-TW" sz="2000" dirty="0" smtClean="0"/>
              <a:t>Languages</a:t>
            </a:r>
            <a:r>
              <a:rPr lang="en-US" altLang="zh-TW" sz="2000" dirty="0"/>
              <a:t>,” </a:t>
            </a:r>
            <a:r>
              <a:rPr lang="en-US" altLang="zh-TW" sz="2000" dirty="0">
                <a:hlinkClick r:id="rId2"/>
              </a:rPr>
              <a:t>http://electro.fisica.unlp.edu.ar/arq/downloads/Papers/Clusters/Linux%20Cluster%20Computing%20-%</a:t>
            </a:r>
            <a:r>
              <a:rPr lang="en-US" altLang="zh-TW" sz="2000" dirty="0" smtClean="0">
                <a:hlinkClick r:id="rId2"/>
              </a:rPr>
              <a:t>20Apr%202003.pdf</a:t>
            </a:r>
            <a:endParaRPr lang="en-US" altLang="zh-TW" sz="2000" dirty="0" smtClean="0"/>
          </a:p>
          <a:p>
            <a:r>
              <a:rPr lang="en-US" altLang="zh-TW" sz="2000" dirty="0" smtClean="0"/>
              <a:t>Official site of MPI, </a:t>
            </a:r>
            <a:r>
              <a:rPr lang="en-US" altLang="zh-TW" sz="2000" dirty="0" smtClean="0">
                <a:hlinkClick r:id="rId3"/>
              </a:rPr>
              <a:t>http</a:t>
            </a:r>
            <a:r>
              <a:rPr lang="en-US" altLang="zh-TW" sz="2000" dirty="0">
                <a:hlinkClick r:id="rId3"/>
              </a:rPr>
              <a:t>://www.mpi-forum.org</a:t>
            </a:r>
            <a:r>
              <a:rPr lang="en-US" altLang="zh-TW" sz="2000" dirty="0" smtClean="0">
                <a:hlinkClick r:id="rId3"/>
              </a:rPr>
              <a:t>/</a:t>
            </a:r>
            <a:endParaRPr lang="en-US" altLang="zh-TW" sz="2000" dirty="0" smtClean="0"/>
          </a:p>
          <a:p>
            <a:r>
              <a:rPr lang="en-US" altLang="zh-TW" sz="2000" dirty="0" smtClean="0"/>
              <a:t>Official site of MPICH, </a:t>
            </a:r>
            <a:r>
              <a:rPr lang="en-US" altLang="zh-TW" sz="2000" dirty="0" smtClean="0">
                <a:hlinkClick r:id="rId4"/>
              </a:rPr>
              <a:t>https</a:t>
            </a:r>
            <a:r>
              <a:rPr lang="en-US" altLang="zh-TW" sz="2000" dirty="0">
                <a:hlinkClick r:id="rId4"/>
              </a:rPr>
              <a:t>://www.mpich.org</a:t>
            </a:r>
            <a:r>
              <a:rPr lang="en-US" altLang="zh-TW" sz="2000" dirty="0" smtClean="0">
                <a:hlinkClick r:id="rId4"/>
              </a:rPr>
              <a:t>/</a:t>
            </a:r>
            <a:endParaRPr lang="en-US" altLang="zh-TW" sz="2000" dirty="0" smtClean="0"/>
          </a:p>
          <a:p>
            <a:r>
              <a:rPr lang="en-US" altLang="zh-TW" sz="2000" dirty="0" smtClean="0"/>
              <a:t>Official </a:t>
            </a:r>
            <a:r>
              <a:rPr lang="en-US" altLang="zh-TW" sz="2000" dirty="0"/>
              <a:t>site of PVM, </a:t>
            </a:r>
            <a:r>
              <a:rPr lang="en-US" altLang="zh-TW" sz="2000" dirty="0">
                <a:hlinkClick r:id="rId5"/>
              </a:rPr>
              <a:t>http://www.csm.ornl.gov/pvm</a:t>
            </a:r>
            <a:r>
              <a:rPr lang="en-US" altLang="zh-TW" sz="2000" dirty="0" smtClean="0">
                <a:hlinkClick r:id="rId5"/>
              </a:rPr>
              <a:t>/</a:t>
            </a:r>
            <a:endParaRPr lang="en-US" altLang="zh-TW" sz="2000" dirty="0" smtClean="0"/>
          </a:p>
          <a:p>
            <a:r>
              <a:rPr lang="en-US" altLang="zh-TW" sz="2000" dirty="0"/>
              <a:t>Al Geist, Adam </a:t>
            </a:r>
            <a:r>
              <a:rPr lang="en-US" altLang="zh-TW" sz="2000" dirty="0" err="1"/>
              <a:t>Beguelin</a:t>
            </a:r>
            <a:r>
              <a:rPr lang="en-US" altLang="zh-TW" sz="2000" dirty="0"/>
              <a:t>, Jack </a:t>
            </a:r>
            <a:r>
              <a:rPr lang="en-US" altLang="zh-TW" sz="2000" dirty="0" err="1"/>
              <a:t>Dongarra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Weicheng</a:t>
            </a:r>
            <a:r>
              <a:rPr lang="en-US" altLang="zh-TW" sz="2000" dirty="0"/>
              <a:t> Jiang, Robert </a:t>
            </a:r>
            <a:r>
              <a:rPr lang="en-US" altLang="zh-TW" sz="2000" dirty="0" err="1"/>
              <a:t>Manchek</a:t>
            </a:r>
            <a:r>
              <a:rPr lang="en-US" altLang="zh-TW" sz="2000" dirty="0"/>
              <a:t> and </a:t>
            </a:r>
            <a:r>
              <a:rPr lang="en-US" altLang="zh-TW" sz="2000" dirty="0" err="1"/>
              <a:t>Vaidyalingam</a:t>
            </a:r>
            <a:r>
              <a:rPr lang="en-US" altLang="zh-TW" sz="2000" dirty="0"/>
              <a:t> S. </a:t>
            </a:r>
            <a:r>
              <a:rPr lang="en-US" altLang="zh-TW" sz="2000" dirty="0" err="1" smtClean="0"/>
              <a:t>Sunderam</a:t>
            </a:r>
            <a:r>
              <a:rPr lang="en-US" altLang="zh-TW" sz="2000" dirty="0" smtClean="0"/>
              <a:t>,“PVM: A </a:t>
            </a:r>
            <a:r>
              <a:rPr lang="en-US" altLang="zh-TW" sz="2000" dirty="0"/>
              <a:t>Users' Guide and Tutorial for Networked Parallel </a:t>
            </a:r>
            <a:r>
              <a:rPr lang="en-US" altLang="zh-TW" sz="2000" dirty="0" smtClean="0"/>
              <a:t>Computing,” </a:t>
            </a:r>
            <a:r>
              <a:rPr lang="en-US" altLang="zh-TW" sz="2000" dirty="0" smtClean="0">
                <a:hlinkClick r:id="rId6"/>
              </a:rPr>
              <a:t>http</a:t>
            </a:r>
            <a:r>
              <a:rPr lang="en-US" altLang="zh-TW" sz="2000" dirty="0">
                <a:hlinkClick r:id="rId6"/>
              </a:rPr>
              <a:t>://</a:t>
            </a:r>
            <a:r>
              <a:rPr lang="en-US" altLang="zh-TW" sz="2000" dirty="0" smtClean="0">
                <a:hlinkClick r:id="rId6"/>
              </a:rPr>
              <a:t>www.netlib.org/pvm3/book/pvm-book.html</a:t>
            </a:r>
            <a:endParaRPr lang="en-US" altLang="zh-TW" sz="2000" dirty="0" smtClean="0"/>
          </a:p>
          <a:p>
            <a:r>
              <a:rPr lang="en-US" altLang="zh-TW" sz="2000" dirty="0" err="1"/>
              <a:t>Sanath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Kumar, “Building </a:t>
            </a:r>
            <a:r>
              <a:rPr lang="en-US" altLang="zh-TW" sz="2000" dirty="0"/>
              <a:t>a Beowulf Cluster in just 13 </a:t>
            </a:r>
            <a:r>
              <a:rPr lang="en-US" altLang="zh-TW" sz="2000" dirty="0" smtClean="0"/>
              <a:t>steps,” </a:t>
            </a:r>
            <a:r>
              <a:rPr lang="en-US" altLang="zh-TW" sz="2000" dirty="0" smtClean="0">
                <a:hlinkClick r:id="rId7"/>
              </a:rPr>
              <a:t>https</a:t>
            </a:r>
            <a:r>
              <a:rPr lang="en-US" altLang="zh-TW" sz="2000" dirty="0">
                <a:hlinkClick r:id="rId7"/>
              </a:rPr>
              <a:t>://</a:t>
            </a:r>
            <a:r>
              <a:rPr lang="en-US" altLang="zh-TW" sz="2000" dirty="0" smtClean="0">
                <a:hlinkClick r:id="rId7"/>
              </a:rPr>
              <a:t>www.linux.com/community/blogs/133-general-linux/9401</a:t>
            </a:r>
            <a:endParaRPr lang="en-US" altLang="zh-TW" sz="2000" dirty="0" smtClean="0"/>
          </a:p>
          <a:p>
            <a:r>
              <a:rPr lang="en-US" altLang="zh-TW" sz="2000" dirty="0"/>
              <a:t>Mike Perry, </a:t>
            </a:r>
            <a:r>
              <a:rPr lang="en-US" altLang="zh-TW" sz="2000" dirty="0" smtClean="0"/>
              <a:t>“Building </a:t>
            </a:r>
            <a:r>
              <a:rPr lang="en-US" altLang="zh-TW" sz="2000" dirty="0"/>
              <a:t>Linux Beowulf </a:t>
            </a:r>
            <a:r>
              <a:rPr lang="en-US" altLang="zh-TW" sz="2000" dirty="0" smtClean="0"/>
              <a:t>Clusters,” </a:t>
            </a:r>
            <a:r>
              <a:rPr lang="en-US" altLang="zh-TW" sz="2000" dirty="0" smtClean="0">
                <a:hlinkClick r:id="rId8"/>
              </a:rPr>
              <a:t>http</a:t>
            </a:r>
            <a:r>
              <a:rPr lang="en-US" altLang="zh-TW" sz="2000" dirty="0">
                <a:hlinkClick r:id="rId8"/>
              </a:rPr>
              <a:t>://</a:t>
            </a:r>
            <a:r>
              <a:rPr lang="en-US" altLang="zh-TW" sz="2000" dirty="0" smtClean="0">
                <a:hlinkClick r:id="rId8"/>
              </a:rPr>
              <a:t>fscked.org/writings/clusters/cluster.html</a:t>
            </a:r>
            <a:endParaRPr lang="en-US" altLang="zh-TW" sz="2000" dirty="0" smtClean="0"/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65041409"/>
      </p:ext>
    </p:extLst>
  </p:cSld>
  <p:clrMapOvr>
    <a:masterClrMapping/>
  </p:clrMapOvr>
</p:sld>
</file>

<file path=ppt/theme/theme1.xml><?xml version="1.0" encoding="utf-8"?>
<a:theme xmlns:a="http://schemas.openxmlformats.org/drawingml/2006/main" name="4_公正">
  <a:themeElements>
    <a:clrScheme name="4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4_公正">
      <a:majorFont>
        <a:latin typeface="Franklin Gothic Book"/>
        <a:ea typeface="新細明體"/>
        <a:cs typeface=""/>
      </a:majorFont>
      <a:minorFont>
        <a:latin typeface="Perpet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公正">
  <a:themeElements>
    <a:clrScheme name="5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5_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公正">
  <a:themeElements>
    <a:clrScheme name="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5104</TotalTime>
  <Words>4720</Words>
  <Application>Microsoft Office PowerPoint</Application>
  <PresentationFormat>如螢幕大小 (4:3)</PresentationFormat>
  <Paragraphs>797</Paragraphs>
  <Slides>71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71</vt:i4>
      </vt:variant>
    </vt:vector>
  </HeadingPairs>
  <TitlesOfParts>
    <vt:vector size="85" baseType="lpstr">
      <vt:lpstr>微軟正黑體</vt:lpstr>
      <vt:lpstr>新細明體</vt:lpstr>
      <vt:lpstr>Arial</vt:lpstr>
      <vt:lpstr>Calibri</vt:lpstr>
      <vt:lpstr>Cambria Math</vt:lpstr>
      <vt:lpstr>Franklin Gothic Book</vt:lpstr>
      <vt:lpstr>Perpetua</vt:lpstr>
      <vt:lpstr>Tahoma</vt:lpstr>
      <vt:lpstr>Times New Roman</vt:lpstr>
      <vt:lpstr>Wingdings</vt:lpstr>
      <vt:lpstr>Wingdings 2</vt:lpstr>
      <vt:lpstr>4_公正</vt:lpstr>
      <vt:lpstr>5_公正</vt:lpstr>
      <vt:lpstr>公正</vt:lpstr>
      <vt:lpstr>Operating Systems Multi Computer Systems</vt:lpstr>
      <vt:lpstr>Multi Computers (MCs)</vt:lpstr>
      <vt:lpstr>Interconnection Networks (INs)</vt:lpstr>
      <vt:lpstr>Properties of INs </vt:lpstr>
      <vt:lpstr>Direct INs</vt:lpstr>
      <vt:lpstr>Linear Array and Ring</vt:lpstr>
      <vt:lpstr>2D Mesh and 2D Torus</vt:lpstr>
      <vt:lpstr>Multidimensional Mesh</vt:lpstr>
      <vt:lpstr>Hypercubes</vt:lpstr>
      <vt:lpstr>The 4D Hypercube   </vt:lpstr>
      <vt:lpstr>Indirect INs</vt:lpstr>
      <vt:lpstr>Tree Topologies</vt:lpstr>
      <vt:lpstr>Multistage INs (MINs)</vt:lpstr>
      <vt:lpstr>The Omega MIN</vt:lpstr>
      <vt:lpstr>The Baseline MIN</vt:lpstr>
      <vt:lpstr>The Butterfly MIN</vt:lpstr>
      <vt:lpstr>The Cube MIN</vt:lpstr>
      <vt:lpstr>Blocking vs Non-blocking</vt:lpstr>
      <vt:lpstr>The Non-Blocking MINs</vt:lpstr>
      <vt:lpstr>The Benes MIN</vt:lpstr>
      <vt:lpstr>The Benes MIN</vt:lpstr>
      <vt:lpstr>The Benes MIN</vt:lpstr>
      <vt:lpstr>The Benes MIN</vt:lpstr>
      <vt:lpstr>Clos and Benes are Non-Blocking</vt:lpstr>
      <vt:lpstr>Switching Schemes</vt:lpstr>
      <vt:lpstr>Circuit Switching</vt:lpstr>
      <vt:lpstr>Circuit Switching</vt:lpstr>
      <vt:lpstr>Store and Forward (SF) Packet Switching </vt:lpstr>
      <vt:lpstr>SF Packet Switching</vt:lpstr>
      <vt:lpstr>Cut Through (CT) Packet Switching</vt:lpstr>
      <vt:lpstr>CT Packet Switch</vt:lpstr>
      <vt:lpstr>Wormhole (WH) Packet Switching</vt:lpstr>
      <vt:lpstr>WH Packet Switching</vt:lpstr>
      <vt:lpstr>Network Interfaces for MCs</vt:lpstr>
      <vt:lpstr>Communication Among Computers</vt:lpstr>
      <vt:lpstr>Data Copying in Comm. for MC</vt:lpstr>
      <vt:lpstr>Multi-queued NIB </vt:lpstr>
      <vt:lpstr>The Intel I350 </vt:lpstr>
      <vt:lpstr>Message Passing in MC</vt:lpstr>
      <vt:lpstr>Blocking and Non-blocking Sends</vt:lpstr>
      <vt:lpstr>Blocking and Non-blocking Sends</vt:lpstr>
      <vt:lpstr>Blocking and Non-blocking Receives</vt:lpstr>
      <vt:lpstr>Remote Procedure Call (RPC)</vt:lpstr>
      <vt:lpstr>The RPC model</vt:lpstr>
      <vt:lpstr>Steps in Making an RPC</vt:lpstr>
      <vt:lpstr>The Data Flow of an RPC</vt:lpstr>
      <vt:lpstr>Issues in RPC Marshaling</vt:lpstr>
      <vt:lpstr>Failures in RPC</vt:lpstr>
      <vt:lpstr>Message Lost Handling</vt:lpstr>
      <vt:lpstr>Semantics of Node Crash Handling</vt:lpstr>
      <vt:lpstr>Shared Memory vs. Message Passing</vt:lpstr>
      <vt:lpstr>Distributed Shared Memory (DSM)</vt:lpstr>
      <vt:lpstr>A DSM of 4 Machines</vt:lpstr>
      <vt:lpstr>A DSM of 4 Machines</vt:lpstr>
      <vt:lpstr>Properties of DSM</vt:lpstr>
      <vt:lpstr>DSM Implementation Issues</vt:lpstr>
      <vt:lpstr>DSM Implementation Types</vt:lpstr>
      <vt:lpstr>DSM Implementation Details</vt:lpstr>
      <vt:lpstr>False Sharing in DSM</vt:lpstr>
      <vt:lpstr>MC Scheduling</vt:lpstr>
      <vt:lpstr>Load Balancing in MCs</vt:lpstr>
      <vt:lpstr>A Deterministic PA Algorithm</vt:lpstr>
      <vt:lpstr>Two Feasible Partitions</vt:lpstr>
      <vt:lpstr>Heuristic Load Balancing Algorithms</vt:lpstr>
      <vt:lpstr>Sender Initiated Load Balancing</vt:lpstr>
      <vt:lpstr>Receiver Initiated Load Balancing</vt:lpstr>
      <vt:lpstr>The Cluster Systems</vt:lpstr>
      <vt:lpstr>Two Types of Computer Clusters</vt:lpstr>
      <vt:lpstr>The Beowulf Cluster</vt:lpstr>
      <vt:lpstr>The Topology of a Beowulf Cluster</vt:lpstr>
      <vt:lpstr>More on Beowulf Cluster, MPI, PVM</vt:lpstr>
    </vt:vector>
  </TitlesOfParts>
  <Company>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she</dc:creator>
  <cp:lastModifiedBy>user</cp:lastModifiedBy>
  <cp:revision>354</cp:revision>
  <dcterms:created xsi:type="dcterms:W3CDTF">2009-09-21T01:12:33Z</dcterms:created>
  <dcterms:modified xsi:type="dcterms:W3CDTF">2023-03-28T08:08:28Z</dcterms:modified>
</cp:coreProperties>
</file>