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3" r:id="rId2"/>
    <p:sldMasterId id="2147483654" r:id="rId3"/>
  </p:sldMasterIdLst>
  <p:notesMasterIdLst>
    <p:notesMasterId r:id="rId84"/>
  </p:notesMasterIdLst>
  <p:sldIdLst>
    <p:sldId id="256" r:id="rId4"/>
    <p:sldId id="288" r:id="rId5"/>
    <p:sldId id="289" r:id="rId6"/>
    <p:sldId id="290" r:id="rId7"/>
    <p:sldId id="291" r:id="rId8"/>
    <p:sldId id="302" r:id="rId9"/>
    <p:sldId id="303" r:id="rId10"/>
    <p:sldId id="306" r:id="rId11"/>
    <p:sldId id="293" r:id="rId12"/>
    <p:sldId id="304" r:id="rId13"/>
    <p:sldId id="294" r:id="rId14"/>
    <p:sldId id="297" r:id="rId15"/>
    <p:sldId id="295" r:id="rId16"/>
    <p:sldId id="296" r:id="rId17"/>
    <p:sldId id="305" r:id="rId18"/>
    <p:sldId id="307" r:id="rId19"/>
    <p:sldId id="308" r:id="rId20"/>
    <p:sldId id="312" r:id="rId21"/>
    <p:sldId id="309" r:id="rId22"/>
    <p:sldId id="310" r:id="rId23"/>
    <p:sldId id="311" r:id="rId24"/>
    <p:sldId id="313" r:id="rId25"/>
    <p:sldId id="314" r:id="rId26"/>
    <p:sldId id="316" r:id="rId27"/>
    <p:sldId id="317" r:id="rId28"/>
    <p:sldId id="318" r:id="rId29"/>
    <p:sldId id="315" r:id="rId30"/>
    <p:sldId id="373" r:id="rId31"/>
    <p:sldId id="320" r:id="rId32"/>
    <p:sldId id="321" r:id="rId33"/>
    <p:sldId id="322" r:id="rId34"/>
    <p:sldId id="323" r:id="rId35"/>
    <p:sldId id="324" r:id="rId36"/>
    <p:sldId id="326" r:id="rId37"/>
    <p:sldId id="325" r:id="rId38"/>
    <p:sldId id="327" r:id="rId39"/>
    <p:sldId id="328" r:id="rId40"/>
    <p:sldId id="329" r:id="rId41"/>
    <p:sldId id="330" r:id="rId42"/>
    <p:sldId id="375" r:id="rId43"/>
    <p:sldId id="332" r:id="rId44"/>
    <p:sldId id="333" r:id="rId45"/>
    <p:sldId id="334" r:id="rId46"/>
    <p:sldId id="339" r:id="rId47"/>
    <p:sldId id="336" r:id="rId48"/>
    <p:sldId id="337" r:id="rId49"/>
    <p:sldId id="338" r:id="rId50"/>
    <p:sldId id="340" r:id="rId51"/>
    <p:sldId id="335" r:id="rId52"/>
    <p:sldId id="341" r:id="rId53"/>
    <p:sldId id="342" r:id="rId54"/>
    <p:sldId id="343" r:id="rId55"/>
    <p:sldId id="345" r:id="rId56"/>
    <p:sldId id="346" r:id="rId57"/>
    <p:sldId id="374" r:id="rId58"/>
    <p:sldId id="348" r:id="rId59"/>
    <p:sldId id="344" r:id="rId60"/>
    <p:sldId id="349" r:id="rId61"/>
    <p:sldId id="352" r:id="rId62"/>
    <p:sldId id="353" r:id="rId63"/>
    <p:sldId id="354" r:id="rId64"/>
    <p:sldId id="355" r:id="rId65"/>
    <p:sldId id="356" r:id="rId66"/>
    <p:sldId id="357" r:id="rId67"/>
    <p:sldId id="358" r:id="rId68"/>
    <p:sldId id="359" r:id="rId69"/>
    <p:sldId id="351" r:id="rId70"/>
    <p:sldId id="360" r:id="rId71"/>
    <p:sldId id="361" r:id="rId72"/>
    <p:sldId id="362" r:id="rId73"/>
    <p:sldId id="372" r:id="rId74"/>
    <p:sldId id="363" r:id="rId75"/>
    <p:sldId id="364" r:id="rId76"/>
    <p:sldId id="365" r:id="rId77"/>
    <p:sldId id="366" r:id="rId78"/>
    <p:sldId id="367" r:id="rId79"/>
    <p:sldId id="368" r:id="rId80"/>
    <p:sldId id="369" r:id="rId81"/>
    <p:sldId id="370" r:id="rId82"/>
    <p:sldId id="371" r:id="rId83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0000"/>
    <a:srgbClr val="B82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theme" Target="theme/theme1.xml"/><Relationship Id="rId61" Type="http://schemas.openxmlformats.org/officeDocument/2006/relationships/slide" Target="slides/slide58.xml"/><Relationship Id="rId82" Type="http://schemas.openxmlformats.org/officeDocument/2006/relationships/slide" Target="slides/slide7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FB8FC928-72EE-464F-BC38-B4632756C9EE}" type="datetimeFigureOut">
              <a:rPr lang="zh-TW" altLang="en-US"/>
              <a:pPr>
                <a:defRPr/>
              </a:pPr>
              <a:t>2024/4/10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9676536-6B7D-46DE-95D7-3DD0ACF4DB29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2804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676536-6B7D-46DE-95D7-3DD0ACF4DB29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071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CB1B1-1809-4C5B-B10D-D56A7FED31A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877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93C270-138C-42DF-BA7F-31BECF9A9D4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0585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0C126F-E9D4-4779-B5E6-E6821E897C3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092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3A61E-6E50-47C5-A571-1BEA1FBBB6D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858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9E5B3A-745C-4BDD-A569-4E3A2C7663D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3431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E72F18-AD83-40E9-AFC0-EAB75D45B4F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5537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0021CF-3A74-41EE-8645-B20E4A2056F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20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DD5D20-8F2C-4DD5-AE70-A881BBC0AA8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2056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AE9C9D-1EC0-4BF1-9C08-0ED99A350A7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3027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5F71B1-7C88-4BC8-A518-24B159CE008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974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36C93A-7BBE-44E5-BDAB-7156FDE321E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71833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58D2B4-E862-438E-9790-CDD4659E5B5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70124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358C2-AF4F-4DA6-BDBC-2C6B60C74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3744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73D52A-3251-4F2A-965A-68697340EB9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5053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E3BFBC-5F56-4283-B299-4DE386FC81A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47497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716F7E-6462-4EBB-AC7C-57D2A1527BC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8930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88F2A4-614B-4CDF-B57C-19AD2CC91C2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8212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78C1DE-C343-45A7-98A2-D4A0CA8D1B3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861438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B438A-DA91-4030-A901-6756B18B2BA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5014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856F6-89E5-4EB4-8B94-2E384E0429E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4344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BC0EB8-BC90-40E1-8EEA-0FC09F0EB43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09001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D0B9F2-E97D-48AD-9AF0-363D7651E3C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45176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F4EAC2-EC43-4CA0-BCF9-B1DA03845B2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37119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66F714-468D-45C8-A116-4CD3D030CEB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316385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10860-0040-4170-9093-2398FA10A3A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42381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F01254-25D6-439E-BDBC-326C8D468B9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93328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7743E6-03A6-4062-A2F9-A8CB67EA79E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86670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756BC5-B4A1-4832-9556-DE3ECA9BC2E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61538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B2B0C5-6FC9-44D5-BF55-5F5C805708D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06634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502423-93F9-4C8F-A1C5-744BE3352F8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943204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7D2BA9-7A74-4D25-A98B-BA166E1C76F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74707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D71CD-6FCB-48D1-A58B-126B35190EA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88459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0D375B-07BA-448A-B2BF-AAF8798B13D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8756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11" name="圓角矩形 10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2" name="矩形 11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3" name="矩形 12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5" name="矩形 14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031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32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" name="日期版面配置區 27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" name="投影片編號版面配置區 28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C5D98EF3-68B0-4BE5-A804-4F06DFD0AF0B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kumimoji="1"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kumimoji="1" sz="2400">
          <a:solidFill>
            <a:schemeClr val="tx1"/>
          </a:solidFill>
          <a:latin typeface="+mn-lt"/>
          <a:ea typeface="+mn-ea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kumimoji="1" sz="2000">
          <a:solidFill>
            <a:schemeClr val="tx1"/>
          </a:solidFill>
          <a:latin typeface="+mn-lt"/>
          <a:ea typeface="+mn-ea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kumimoji="1" sz="2000">
          <a:solidFill>
            <a:schemeClr val="tx1"/>
          </a:solidFill>
          <a:latin typeface="+mn-lt"/>
          <a:ea typeface="+mn-ea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5pPr>
      <a:lvl6pPr marL="18288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6pPr>
      <a:lvl7pPr marL="22860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7pPr>
      <a:lvl8pPr marL="27432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8pPr>
      <a:lvl9pPr marL="32004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11" name="圓角矩形 10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2054" name="矩形 11"/>
          <p:cNvSpPr>
            <a:spLocks noChangeArrowheads="1"/>
          </p:cNvSpPr>
          <p:nvPr/>
        </p:nvSpPr>
        <p:spPr bwMode="auto">
          <a:xfrm flipV="1">
            <a:off x="95250" y="1341438"/>
            <a:ext cx="9013825" cy="92075"/>
          </a:xfrm>
          <a:prstGeom prst="rect">
            <a:avLst/>
          </a:prstGeom>
          <a:solidFill>
            <a:schemeClr val="accent1"/>
          </a:solidFill>
          <a:ln w="19050" cap="sq" algn="ctr">
            <a:noFill/>
            <a:miter lim="800000"/>
            <a:headEnd/>
            <a:tailEnd/>
          </a:ln>
        </p:spPr>
        <p:txBody>
          <a:bodyPr rot="10800000" anchor="ctr"/>
          <a:lstStyle/>
          <a:p>
            <a:pPr algn="ctr" eaLnBrk="1" hangingPunct="1">
              <a:defRPr/>
            </a:pPr>
            <a:endParaRPr kumimoji="0" lang="en-US" altLang="zh-TW" sz="2400">
              <a:solidFill>
                <a:srgbClr val="FFFFFF"/>
              </a:solidFill>
              <a:latin typeface="Perpetua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850" y="1341438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205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</p:spPr>
        <p:txBody>
          <a:bodyPr anchor="ctr" anchorCtr="0"/>
          <a:lstStyle>
            <a:lvl1pPr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924F783D-3DC7-4B21-9FC9-06AEAAF25AF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>
          <a:solidFill>
            <a:schemeClr val="tx1"/>
          </a:solidFill>
          <a:latin typeface="+mn-lt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5pPr>
      <a:lvl6pPr marL="18288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6pPr>
      <a:lvl7pPr marL="22860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7pPr>
      <a:lvl8pPr marL="27432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8pPr>
      <a:lvl9pPr marL="32004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8" name="圓角矩形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307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307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D3C4E825-B7C8-40C0-A68F-A0BB2DAA5038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>
          <a:solidFill>
            <a:schemeClr val="tx1"/>
          </a:solidFill>
          <a:latin typeface="+mn-lt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5pPr>
      <a:lvl6pPr marL="18288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6pPr>
      <a:lvl7pPr marL="22860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7pPr>
      <a:lvl8pPr marL="27432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8pPr>
      <a:lvl9pPr marL="32004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myuan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ctu.edu.tw/" TargetMode="Externa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itanuova.com/inferno/" TargetMode="External"/><Relationship Id="rId2" Type="http://schemas.openxmlformats.org/officeDocument/2006/relationships/hyperlink" Target="http://9p.io/plan9/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://lindaspaces.com/downloads/evaluation.html" TargetMode="External"/><Relationship Id="rId4" Type="http://schemas.openxmlformats.org/officeDocument/2006/relationships/hyperlink" Target="http://www.corba.org/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ycu.edu.tw/" TargetMode="External"/><Relationship Id="rId2" Type="http://schemas.openxmlformats.org/officeDocument/2006/relationships/hyperlink" Target="https://www.nycu.edu.tw/president-office/chi-hung-lin/" TargetMode="Externa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://ceph.com/" TargetMode="External"/><Relationship Id="rId3" Type="http://schemas.openxmlformats.org/officeDocument/2006/relationships/hyperlink" Target="https://github.com/nfs-ganesha/nfs-ganesha/wiki" TargetMode="External"/><Relationship Id="rId7" Type="http://schemas.openxmlformats.org/officeDocument/2006/relationships/hyperlink" Target="http://hadoop.apache.org/" TargetMode="External"/><Relationship Id="rId2" Type="http://schemas.openxmlformats.org/officeDocument/2006/relationships/hyperlink" Target="http://nfs.sourceforge.net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www.gluster.org/" TargetMode="External"/><Relationship Id="rId5" Type="http://schemas.openxmlformats.org/officeDocument/2006/relationships/hyperlink" Target="http://lustre.org/" TargetMode="External"/><Relationship Id="rId4" Type="http://schemas.openxmlformats.org/officeDocument/2006/relationships/hyperlink" Target="http://www.openafs.org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mg.org/" TargetMode="External"/><Relationship Id="rId2" Type="http://schemas.openxmlformats.org/officeDocument/2006/relationships/hyperlink" Target="http://www.corba.org/" TargetMode="Externa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sourceforge.net/projects/linuxtuples/" TargetMode="External"/><Relationship Id="rId2" Type="http://schemas.openxmlformats.org/officeDocument/2006/relationships/hyperlink" Target="http://lindaspaces.com/products/linda.html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comp.nus.edu.sg/~wongwf/linda.html" TargetMode="Externa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://activemq.apache.org/" TargetMode="External"/><Relationship Id="rId2" Type="http://schemas.openxmlformats.org/officeDocument/2006/relationships/hyperlink" Target="http://openjms.sourceforge.net/" TargetMode="External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ctrTitle"/>
          </p:nvPr>
        </p:nvSpPr>
        <p:spPr>
          <a:xfrm>
            <a:off x="214313" y="1484313"/>
            <a:ext cx="8929687" cy="1470025"/>
          </a:xfrm>
        </p:spPr>
        <p:txBody>
          <a:bodyPr/>
          <a:lstStyle/>
          <a:p>
            <a:pPr algn="ctr" eaLnBrk="1" hangingPunct="1"/>
            <a:r>
              <a:rPr lang="en-US" altLang="zh-TW" dirty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Operating Systems</a:t>
            </a:r>
            <a:r>
              <a:rPr lang="en-US" altLang="zh-TW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/>
            </a:r>
            <a:br>
              <a:rPr lang="en-US" altLang="zh-TW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mtClean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Distributed </a:t>
            </a:r>
            <a:r>
              <a:rPr lang="en-US" altLang="zh-TW" dirty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Systems</a:t>
            </a:r>
            <a:endParaRPr lang="en-US" altLang="zh-TW" dirty="0" smtClean="0">
              <a:solidFill>
                <a:srgbClr val="FFFFFF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>
          <a:xfrm>
            <a:off x="1331913" y="36449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zh-TW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Shyan</a:t>
            </a:r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-Ming Yuan</a:t>
            </a:r>
          </a:p>
          <a:p>
            <a:pPr eaLnBrk="1" hangingPunct="1"/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 Department, NCTU</a:t>
            </a:r>
          </a:p>
          <a:p>
            <a:pPr eaLnBrk="1" hangingPunct="1"/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smyuan@gmail.com</a:t>
            </a:r>
            <a:endParaRPr lang="en-US" altLang="zh-TW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 hours: Wed. 8~10 (EC442)</a:t>
            </a:r>
          </a:p>
          <a:p>
            <a:pPr eaLnBrk="1" hangingPunct="1"/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Distributed Systems (DS)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412776"/>
            <a:ext cx="8219256" cy="1594582"/>
          </a:xfrm>
        </p:spPr>
        <p:txBody>
          <a:bodyPr/>
          <a:lstStyle/>
          <a:p>
            <a:r>
              <a:rPr lang="en-US" altLang="zh-TW" dirty="0" smtClean="0"/>
              <a:t>A </a:t>
            </a:r>
            <a:r>
              <a:rPr lang="en-US" altLang="zh-TW" dirty="0"/>
              <a:t>d</a:t>
            </a:r>
            <a:r>
              <a:rPr lang="en-US" altLang="zh-TW" dirty="0" smtClean="0"/>
              <a:t>istributed system is </a:t>
            </a:r>
            <a:r>
              <a:rPr lang="en-US" altLang="zh-TW" dirty="0"/>
              <a:t>a collection of </a:t>
            </a:r>
            <a:r>
              <a:rPr lang="en-US" altLang="zh-TW" dirty="0" smtClean="0"/>
              <a:t>independent </a:t>
            </a:r>
            <a:r>
              <a:rPr lang="en-US" altLang="zh-TW" dirty="0"/>
              <a:t>computers that appears to its users as a single coherent </a:t>
            </a:r>
            <a:r>
              <a:rPr lang="en-US" altLang="zh-TW" dirty="0" smtClean="0"/>
              <a:t>system.</a:t>
            </a:r>
          </a:p>
          <a:p>
            <a:pPr lvl="1"/>
            <a:r>
              <a:rPr lang="en-US" altLang="zh-TW" dirty="0" smtClean="0"/>
              <a:t>In general, every computer uses a middleware on top its local OS to provide a common interface for distributed applications.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3042382"/>
            <a:ext cx="6568385" cy="369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86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19256" cy="940966"/>
          </a:xfrm>
        </p:spPr>
        <p:txBody>
          <a:bodyPr/>
          <a:lstStyle/>
          <a:p>
            <a:pPr algn="ctr"/>
            <a:r>
              <a:rPr lang="en-US" altLang="zh-TW" dirty="0" smtClean="0"/>
              <a:t>Comparisons Among MP, MC, and DS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4209349"/>
              </p:ext>
            </p:extLst>
          </p:nvPr>
        </p:nvGraphicFramePr>
        <p:xfrm>
          <a:off x="467544" y="2190472"/>
          <a:ext cx="8219256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4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Compared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Items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Multiprocessor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Multicomputer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Distributed System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Node Configuration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CPU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CPU, RAM, NIB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Autonomous Computer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Node Peripherals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All Shared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Shared (Disk maybe)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Full set for each node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Node scattering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Same rack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Same room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Maybe</a:t>
                      </a:r>
                      <a:r>
                        <a:rPr lang="en-US" altLang="zh-TW" b="1" baseline="0" dirty="0" smtClean="0"/>
                        <a:t> whole world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Inter-Node comm.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Shared RAM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Dedicated IN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General</a:t>
                      </a:r>
                      <a:r>
                        <a:rPr lang="en-US" altLang="zh-TW" b="1" baseline="0" dirty="0" smtClean="0"/>
                        <a:t> network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Operating Systems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One, shared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Multiple, same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Multiple, maybe different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File Systems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One, 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One, 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Each node has its 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Administration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One organization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 smtClean="0"/>
                        <a:t>One organization</a:t>
                      </a:r>
                      <a:endParaRPr lang="zh-TW" altLang="en-US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 smtClean="0"/>
                        <a:t>Many organizations</a:t>
                      </a:r>
                      <a:endParaRPr lang="zh-TW" altLang="en-US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040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Why Distributed Systems?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519808"/>
            <a:ext cx="8219256" cy="3781400"/>
          </a:xfrm>
        </p:spPr>
        <p:txBody>
          <a:bodyPr/>
          <a:lstStyle/>
          <a:p>
            <a:r>
              <a:rPr lang="en-US" altLang="zh-TW" dirty="0" smtClean="0">
                <a:ea typeface="新細明體" panose="02020500000000000000" pitchFamily="18" charset="-120"/>
              </a:rPr>
              <a:t>Handling </a:t>
            </a:r>
            <a:r>
              <a:rPr lang="en-US" altLang="zh-TW" dirty="0">
                <a:ea typeface="新細明體" panose="02020500000000000000" pitchFamily="18" charset="-120"/>
              </a:rPr>
              <a:t>inherently </a:t>
            </a:r>
            <a:r>
              <a:rPr lang="en-US" altLang="zh-TW" dirty="0" smtClean="0">
                <a:ea typeface="新細明體" panose="02020500000000000000" pitchFamily="18" charset="-120"/>
              </a:rPr>
              <a:t>distributed problems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</a:rPr>
              <a:t>Customers</a:t>
            </a:r>
            <a:r>
              <a:rPr lang="en-US" altLang="zh-TW" dirty="0">
                <a:ea typeface="新細明體" panose="02020500000000000000" pitchFamily="18" charset="-120"/>
              </a:rPr>
              <a:t>, suppliers, and companies </a:t>
            </a:r>
            <a:r>
              <a:rPr lang="en-US" altLang="zh-TW" dirty="0" smtClean="0">
                <a:ea typeface="新細明體" panose="02020500000000000000" pitchFamily="18" charset="-120"/>
              </a:rPr>
              <a:t>are at </a:t>
            </a:r>
            <a:r>
              <a:rPr lang="en-US" altLang="zh-TW" dirty="0">
                <a:ea typeface="新細明體" panose="02020500000000000000" pitchFamily="18" charset="-120"/>
              </a:rPr>
              <a:t>different </a:t>
            </a:r>
            <a:r>
              <a:rPr lang="en-US" altLang="zh-TW" dirty="0" smtClean="0">
                <a:ea typeface="新細明體" panose="02020500000000000000" pitchFamily="18" charset="-120"/>
              </a:rPr>
              <a:t>locations.</a:t>
            </a:r>
            <a:endParaRPr lang="en-US" altLang="zh-TW" dirty="0">
              <a:ea typeface="新細明體" panose="02020500000000000000" pitchFamily="18" charset="-120"/>
            </a:endParaRPr>
          </a:p>
          <a:p>
            <a:r>
              <a:rPr lang="en-US" altLang="zh-TW" dirty="0" smtClean="0">
                <a:ea typeface="新細明體" panose="02020500000000000000" pitchFamily="18" charset="-120"/>
              </a:rPr>
              <a:t>Performance Improvement (Speedup)</a:t>
            </a:r>
          </a:p>
          <a:p>
            <a:r>
              <a:rPr lang="en-US" altLang="zh-TW" dirty="0" smtClean="0">
                <a:ea typeface="新細明體" panose="02020500000000000000" pitchFamily="18" charset="-120"/>
              </a:rPr>
              <a:t>Resource </a:t>
            </a:r>
            <a:r>
              <a:rPr lang="en-US" altLang="zh-TW" dirty="0">
                <a:ea typeface="新細明體" panose="02020500000000000000" pitchFamily="18" charset="-120"/>
              </a:rPr>
              <a:t>Sharing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S</a:t>
            </a:r>
            <a:r>
              <a:rPr lang="en-US" altLang="zh-TW" dirty="0" smtClean="0">
                <a:ea typeface="新細明體" panose="02020500000000000000" pitchFamily="18" charset="-120"/>
              </a:rPr>
              <a:t>pecial hardware and software</a:t>
            </a: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</a:rPr>
              <a:t>Services and applications</a:t>
            </a:r>
            <a:endParaRPr lang="en-US" altLang="zh-TW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9214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Design Issues of a 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519808"/>
            <a:ext cx="8147248" cy="3709392"/>
          </a:xfrm>
        </p:spPr>
        <p:txBody>
          <a:bodyPr/>
          <a:lstStyle/>
          <a:p>
            <a:r>
              <a:rPr lang="en-US" altLang="zh-TW" dirty="0" smtClean="0"/>
              <a:t>Transparency</a:t>
            </a:r>
          </a:p>
          <a:p>
            <a:pPr lvl="1"/>
            <a:r>
              <a:rPr lang="en-US" altLang="zh-TW" dirty="0" smtClean="0"/>
              <a:t>Provide a single system image to users</a:t>
            </a:r>
          </a:p>
          <a:p>
            <a:r>
              <a:rPr lang="en-US" altLang="zh-TW" dirty="0" smtClean="0"/>
              <a:t>Scalability: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Size</a:t>
            </a:r>
            <a:r>
              <a:rPr lang="en-US" altLang="zh-TW" dirty="0" smtClean="0"/>
              <a:t> scalability: number of users and/or processors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Geographical</a:t>
            </a:r>
            <a:r>
              <a:rPr lang="en-US" altLang="zh-TW" dirty="0" smtClean="0"/>
              <a:t> scalability: distance between nodes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Administrative</a:t>
            </a:r>
            <a:r>
              <a:rPr lang="en-US" altLang="zh-TW" dirty="0" smtClean="0"/>
              <a:t> scalability: number of administrative domains</a:t>
            </a:r>
          </a:p>
          <a:p>
            <a:r>
              <a:rPr lang="en-US" altLang="zh-TW" dirty="0" smtClean="0"/>
              <a:t>Fault Tolerance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6795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ea typeface="新細明體" panose="02020500000000000000" pitchFamily="18" charset="-120"/>
              </a:rPr>
              <a:t>Types of Transparency in a </a:t>
            </a:r>
            <a:r>
              <a:rPr lang="en-US" altLang="zh-TW" dirty="0" smtClean="0">
                <a:ea typeface="新細明體" panose="02020500000000000000" pitchFamily="18" charset="-120"/>
              </a:rPr>
              <a:t>DS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521296"/>
            <a:ext cx="8363272" cy="4572000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Access Transparency </a:t>
            </a:r>
            <a:r>
              <a:rPr lang="en-US" altLang="zh-TW" dirty="0" smtClean="0"/>
              <a:t>enables </a:t>
            </a:r>
            <a:r>
              <a:rPr lang="en-US" altLang="zh-TW" dirty="0"/>
              <a:t>local and remote information resources to be accessed using the </a:t>
            </a:r>
            <a:r>
              <a:rPr lang="en-US" altLang="zh-TW" dirty="0">
                <a:solidFill>
                  <a:srgbClr val="FF0000"/>
                </a:solidFill>
              </a:rPr>
              <a:t>identical operations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The URL of a web resource</a:t>
            </a:r>
            <a:r>
              <a:rPr lang="en-US" altLang="zh-TW" dirty="0"/>
              <a:t> </a:t>
            </a:r>
            <a:r>
              <a:rPr lang="en-US" altLang="zh-TW" dirty="0" smtClean="0"/>
              <a:t>(</a:t>
            </a:r>
            <a:r>
              <a:rPr lang="en-US" altLang="zh-TW" dirty="0" smtClean="0">
                <a:hlinkClick r:id="rId2"/>
              </a:rPr>
              <a:t>http://www.nctu.edu.tw</a:t>
            </a:r>
            <a:r>
              <a:rPr lang="en-US" altLang="zh-TW" dirty="0" smtClean="0"/>
              <a:t>)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Location </a:t>
            </a:r>
            <a:r>
              <a:rPr lang="en-US" altLang="zh-TW" dirty="0" smtClean="0">
                <a:solidFill>
                  <a:srgbClr val="FF0000"/>
                </a:solidFill>
              </a:rPr>
              <a:t>Transparency </a:t>
            </a:r>
            <a:r>
              <a:rPr lang="en-US" altLang="zh-TW" dirty="0" smtClean="0"/>
              <a:t>enables </a:t>
            </a:r>
            <a:r>
              <a:rPr lang="en-US" altLang="zh-TW" dirty="0"/>
              <a:t>resources to be accessed without knowledge of their actual locations.</a:t>
            </a:r>
          </a:p>
          <a:p>
            <a:pPr lvl="1"/>
            <a:r>
              <a:rPr lang="en-US" altLang="zh-TW" dirty="0" smtClean="0"/>
              <a:t>Files of a </a:t>
            </a:r>
            <a:r>
              <a:rPr lang="en-US" altLang="zh-TW" dirty="0"/>
              <a:t>Cloud Storage </a:t>
            </a:r>
            <a:r>
              <a:rPr lang="en-US" altLang="zh-TW" dirty="0" smtClean="0"/>
              <a:t>Service (google drive, drop box, …)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Concurrency </a:t>
            </a:r>
            <a:r>
              <a:rPr lang="en-US" altLang="zh-TW" dirty="0" smtClean="0">
                <a:solidFill>
                  <a:srgbClr val="FF0000"/>
                </a:solidFill>
              </a:rPr>
              <a:t>Transparency </a:t>
            </a:r>
            <a:r>
              <a:rPr lang="en-US" altLang="zh-TW" dirty="0" smtClean="0"/>
              <a:t>enables </a:t>
            </a:r>
            <a:r>
              <a:rPr lang="en-US" altLang="zh-TW" dirty="0"/>
              <a:t>several processes to operate concurrently using the same shared resources without interference with each other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Money deposit (or withdraw) from an Automatic Teller Machine network (ATM)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3952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>
                <a:ea typeface="新細明體" panose="02020500000000000000" pitchFamily="18" charset="-120"/>
              </a:rPr>
              <a:t>Types of Transparency in a DS </a:t>
            </a:r>
            <a:r>
              <a:rPr lang="en-US" altLang="zh-TW" dirty="0" smtClean="0">
                <a:ea typeface="新細明體" panose="02020500000000000000" pitchFamily="18" charset="-120"/>
              </a:rPr>
              <a:t>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521296"/>
            <a:ext cx="8712968" cy="3707904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Replication </a:t>
            </a:r>
            <a:r>
              <a:rPr lang="en-US" altLang="zh-TW" dirty="0" smtClean="0">
                <a:solidFill>
                  <a:srgbClr val="FF0000"/>
                </a:solidFill>
              </a:rPr>
              <a:t>Transparency </a:t>
            </a:r>
            <a:r>
              <a:rPr lang="en-US" altLang="zh-TW" dirty="0" smtClean="0"/>
              <a:t>enables </a:t>
            </a:r>
            <a:r>
              <a:rPr lang="en-US" altLang="zh-TW" dirty="0"/>
              <a:t>multiple instances of resources to be used to increase reliability and performance without knowledge of the replicas by users or </a:t>
            </a:r>
            <a:r>
              <a:rPr lang="en-US" altLang="zh-TW" dirty="0" smtClean="0"/>
              <a:t>applications.</a:t>
            </a:r>
          </a:p>
          <a:p>
            <a:pPr lvl="1"/>
            <a:r>
              <a:rPr lang="en-US" altLang="zh-TW" dirty="0" smtClean="0"/>
              <a:t>CDN </a:t>
            </a:r>
            <a:r>
              <a:rPr lang="en-US" altLang="zh-TW" dirty="0"/>
              <a:t>or proxies of </a:t>
            </a:r>
            <a:r>
              <a:rPr lang="en-US" altLang="zh-TW" dirty="0" smtClean="0"/>
              <a:t>internet services (google, </a:t>
            </a:r>
            <a:r>
              <a:rPr lang="en-US" altLang="zh-TW" dirty="0" err="1" smtClean="0"/>
              <a:t>facebook</a:t>
            </a:r>
            <a:r>
              <a:rPr lang="en-US" altLang="zh-TW" dirty="0" smtClean="0"/>
              <a:t>, …)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Migration Transparency </a:t>
            </a:r>
            <a:r>
              <a:rPr lang="en-US" altLang="zh-TW" dirty="0"/>
              <a:t>allows the movement of resources within a DS without affecting the operations of users or </a:t>
            </a:r>
            <a:r>
              <a:rPr lang="en-US" altLang="zh-TW" dirty="0" smtClean="0"/>
              <a:t>applications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PaaS</a:t>
            </a:r>
            <a:r>
              <a:rPr lang="en-US" altLang="zh-TW" dirty="0"/>
              <a:t> (Platform as a Service) in a cloud</a:t>
            </a:r>
          </a:p>
          <a:p>
            <a:pPr lvl="2"/>
            <a:r>
              <a:rPr lang="en-US" altLang="zh-TW" dirty="0"/>
              <a:t>google App Engine, Azure, </a:t>
            </a:r>
            <a:r>
              <a:rPr lang="en-US" altLang="zh-TW" dirty="0" smtClean="0"/>
              <a:t>…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43149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>
                <a:ea typeface="新細明體" panose="02020500000000000000" pitchFamily="18" charset="-120"/>
              </a:rPr>
              <a:t>Types of Transparency in a DS </a:t>
            </a:r>
            <a:r>
              <a:rPr lang="en-US" altLang="zh-TW" dirty="0" smtClean="0">
                <a:ea typeface="新細明體" panose="02020500000000000000" pitchFamily="18" charset="-120"/>
              </a:rPr>
              <a:t>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463942"/>
            <a:ext cx="8219256" cy="4557346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Failure Transparency </a:t>
            </a:r>
            <a:r>
              <a:rPr lang="en-US" altLang="zh-TW" dirty="0" smtClean="0"/>
              <a:t>enables </a:t>
            </a:r>
            <a:r>
              <a:rPr lang="en-US" altLang="zh-TW" dirty="0"/>
              <a:t>the concealment of </a:t>
            </a:r>
            <a:r>
              <a:rPr lang="en-US" altLang="zh-TW" dirty="0" smtClean="0"/>
              <a:t>faults.</a:t>
            </a:r>
          </a:p>
          <a:p>
            <a:pPr lvl="1"/>
            <a:r>
              <a:rPr lang="en-US" altLang="zh-TW" dirty="0"/>
              <a:t>It allows users and applications to complete their </a:t>
            </a:r>
            <a:r>
              <a:rPr lang="en-US" altLang="zh-TW" dirty="0" smtClean="0"/>
              <a:t>tasks on the </a:t>
            </a:r>
            <a:r>
              <a:rPr lang="en-US" altLang="zh-TW" dirty="0"/>
              <a:t>failure of </a:t>
            </a:r>
            <a:r>
              <a:rPr lang="en-US" altLang="zh-TW" dirty="0" smtClean="0"/>
              <a:t>some </a:t>
            </a:r>
            <a:r>
              <a:rPr lang="en-US" altLang="zh-TW" dirty="0"/>
              <a:t>components.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Distributed File Systems: Hadoop, </a:t>
            </a:r>
            <a:r>
              <a:rPr lang="en-US" altLang="zh-TW" dirty="0" err="1" smtClean="0"/>
              <a:t>GlusterFS</a:t>
            </a:r>
            <a:r>
              <a:rPr lang="en-US" altLang="zh-TW" dirty="0" smtClean="0"/>
              <a:t>, …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Performance Transparency </a:t>
            </a:r>
            <a:r>
              <a:rPr lang="en-US" altLang="zh-TW" dirty="0" smtClean="0"/>
              <a:t>allows the DS and applications to </a:t>
            </a:r>
            <a:r>
              <a:rPr lang="en-US" altLang="zh-TW" dirty="0"/>
              <a:t>be reconfigured </a:t>
            </a:r>
            <a:r>
              <a:rPr lang="en-US" altLang="zh-TW" dirty="0" smtClean="0"/>
              <a:t>on demand </a:t>
            </a:r>
            <a:r>
              <a:rPr lang="en-US" altLang="zh-TW" dirty="0"/>
              <a:t>without </a:t>
            </a:r>
            <a:r>
              <a:rPr lang="en-US" altLang="zh-TW" dirty="0" smtClean="0"/>
              <a:t>changing </a:t>
            </a:r>
            <a:r>
              <a:rPr lang="en-US" altLang="zh-TW" dirty="0"/>
              <a:t>the system structure or the application </a:t>
            </a:r>
            <a:r>
              <a:rPr lang="en-US" altLang="zh-TW" dirty="0" smtClean="0"/>
              <a:t>algorithms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On demand of changing the number of VMs (virtual machines)</a:t>
            </a:r>
            <a:r>
              <a:rPr lang="en-US" altLang="zh-TW" dirty="0"/>
              <a:t> </a:t>
            </a:r>
            <a:r>
              <a:rPr lang="en-US" altLang="zh-TW" dirty="0" smtClean="0"/>
              <a:t>in an IaaS (Infrastructure as a Service)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36918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Size </a:t>
            </a:r>
            <a:r>
              <a:rPr lang="en-US" altLang="zh-TW" dirty="0"/>
              <a:t>S</a:t>
            </a:r>
            <a:r>
              <a:rPr lang="en-US" altLang="zh-TW" dirty="0" smtClean="0"/>
              <a:t>calability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519808"/>
            <a:ext cx="8219256" cy="3421360"/>
          </a:xfrm>
        </p:spPr>
        <p:txBody>
          <a:bodyPr/>
          <a:lstStyle/>
          <a:p>
            <a:r>
              <a:rPr lang="en-US" altLang="zh-TW" dirty="0" smtClean="0"/>
              <a:t>Examples of </a:t>
            </a:r>
            <a:r>
              <a:rPr lang="en-US" altLang="zh-TW" dirty="0"/>
              <a:t>size scalability </a:t>
            </a:r>
            <a:r>
              <a:rPr lang="en-US" altLang="zh-TW" dirty="0" smtClean="0"/>
              <a:t>limitations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Pros: easy to manage</a:t>
            </a:r>
          </a:p>
          <a:p>
            <a:r>
              <a:rPr lang="en-US" altLang="zh-TW" dirty="0" smtClean="0"/>
              <a:t>Cons: single point of failure and performance bottleneck</a:t>
            </a:r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</p:txBody>
      </p:sp>
      <p:graphicFrame>
        <p:nvGraphicFramePr>
          <p:cNvPr id="4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008755"/>
              </p:ext>
            </p:extLst>
          </p:nvPr>
        </p:nvGraphicFramePr>
        <p:xfrm>
          <a:off x="539552" y="2181984"/>
          <a:ext cx="8136904" cy="1463040"/>
        </p:xfrm>
        <a:graphic>
          <a:graphicData uri="http://schemas.openxmlformats.org/drawingml/2006/table">
            <a:tbl>
              <a:tblPr/>
              <a:tblGrid>
                <a:gridCol w="3042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4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Concept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Example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Centralized services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A single server for all users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Centralized data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A single on-line telephone book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Centralized algorithms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8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Doing routing based on complete information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728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Techniques for </a:t>
            </a:r>
            <a:r>
              <a:rPr lang="en-US" altLang="zh-TW" dirty="0" smtClean="0"/>
              <a:t>scalability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568952" cy="5077544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Distribution</a:t>
            </a:r>
          </a:p>
          <a:p>
            <a:pPr lvl="1"/>
            <a:r>
              <a:rPr lang="en-US" altLang="zh-TW" dirty="0"/>
              <a:t>Partition data and computations across multiple machines</a:t>
            </a:r>
          </a:p>
          <a:p>
            <a:pPr lvl="2"/>
            <a:r>
              <a:rPr lang="en-US" altLang="zh-TW" dirty="0">
                <a:solidFill>
                  <a:srgbClr val="FF0000"/>
                </a:solidFill>
              </a:rPr>
              <a:t>Java </a:t>
            </a:r>
            <a:r>
              <a:rPr lang="en-US" altLang="zh-TW" dirty="0" smtClean="0">
                <a:solidFill>
                  <a:srgbClr val="FF0000"/>
                </a:solidFill>
              </a:rPr>
              <a:t>applets</a:t>
            </a:r>
            <a:r>
              <a:rPr lang="en-US" altLang="zh-TW" dirty="0" smtClean="0"/>
              <a:t> </a:t>
            </a:r>
            <a:r>
              <a:rPr lang="en-US" altLang="zh-TW" dirty="0"/>
              <a:t>move some computations to client sides</a:t>
            </a:r>
          </a:p>
          <a:p>
            <a:pPr lvl="2"/>
            <a:r>
              <a:rPr lang="en-US" altLang="zh-TW" dirty="0"/>
              <a:t>DNS (domain name system) is a hierarchical </a:t>
            </a:r>
            <a:r>
              <a:rPr lang="en-US" altLang="zh-TW" dirty="0" smtClean="0"/>
              <a:t>decentralized naming </a:t>
            </a:r>
            <a:r>
              <a:rPr lang="en-US" altLang="zh-TW" dirty="0"/>
              <a:t>system</a:t>
            </a:r>
          </a:p>
          <a:p>
            <a:pPr lvl="2"/>
            <a:r>
              <a:rPr lang="en-US" altLang="zh-TW" dirty="0"/>
              <a:t>WWW is a globally distributed document sharing </a:t>
            </a:r>
            <a:r>
              <a:rPr lang="en-US" altLang="zh-TW" dirty="0" smtClean="0"/>
              <a:t>system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 smtClean="0">
                <a:solidFill>
                  <a:srgbClr val="FF0000"/>
                </a:solidFill>
              </a:rPr>
              <a:t>Replication</a:t>
            </a:r>
          </a:p>
          <a:p>
            <a:pPr lvl="1"/>
            <a:r>
              <a:rPr lang="en-US" altLang="zh-TW" dirty="0"/>
              <a:t>Make copies of </a:t>
            </a:r>
            <a:r>
              <a:rPr lang="en-US" altLang="zh-TW" dirty="0" smtClean="0"/>
              <a:t>resources </a:t>
            </a:r>
            <a:r>
              <a:rPr lang="en-US" altLang="zh-TW" dirty="0"/>
              <a:t>available at different </a:t>
            </a:r>
            <a:r>
              <a:rPr lang="en-US" altLang="zh-TW" dirty="0" smtClean="0"/>
              <a:t>machines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 smtClean="0">
                <a:solidFill>
                  <a:srgbClr val="FF0000"/>
                </a:solidFill>
              </a:rPr>
              <a:t>Concealment of </a:t>
            </a:r>
            <a:r>
              <a:rPr lang="en-US" altLang="zh-TW" dirty="0">
                <a:solidFill>
                  <a:srgbClr val="FF0000"/>
                </a:solidFill>
              </a:rPr>
              <a:t>communication </a:t>
            </a:r>
            <a:r>
              <a:rPr lang="en-US" altLang="zh-TW" dirty="0" smtClean="0">
                <a:solidFill>
                  <a:srgbClr val="FF0000"/>
                </a:solidFill>
              </a:rPr>
              <a:t>delay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en-US" altLang="zh-TW" dirty="0"/>
              <a:t>Avoid waiting for </a:t>
            </a:r>
            <a:r>
              <a:rPr lang="en-US" altLang="zh-TW" dirty="0" smtClean="0"/>
              <a:t>response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Interoperability</a:t>
            </a:r>
          </a:p>
          <a:p>
            <a:pPr lvl="1"/>
            <a:r>
              <a:rPr lang="en-US" altLang="zh-TW" dirty="0" smtClean="0"/>
              <a:t>Make use of </a:t>
            </a:r>
            <a:r>
              <a:rPr lang="en-US" altLang="zh-TW" dirty="0" smtClean="0">
                <a:solidFill>
                  <a:srgbClr val="FF0000"/>
                </a:solidFill>
              </a:rPr>
              <a:t>open standards </a:t>
            </a:r>
            <a:r>
              <a:rPr lang="en-US" altLang="zh-TW" dirty="0" smtClean="0"/>
              <a:t>and </a:t>
            </a:r>
            <a:r>
              <a:rPr lang="en-US" altLang="zh-TW" dirty="0" smtClean="0">
                <a:solidFill>
                  <a:srgbClr val="FF0000"/>
                </a:solidFill>
              </a:rPr>
              <a:t>open interfaces </a:t>
            </a:r>
            <a:r>
              <a:rPr lang="en-US" altLang="zh-TW" dirty="0" smtClean="0"/>
              <a:t>to integrate multiple administration domains and multiple local OSs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25902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32656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Java Applet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447800"/>
            <a:ext cx="8363272" cy="901080"/>
          </a:xfrm>
        </p:spPr>
        <p:txBody>
          <a:bodyPr/>
          <a:lstStyle/>
          <a:p>
            <a:r>
              <a:rPr lang="en-US" altLang="zh-TW" dirty="0" smtClean="0"/>
              <a:t>Form checking in client side can reduce communication traffic and server load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76" y="2348880"/>
            <a:ext cx="8800405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447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DNS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DNS name space </a:t>
            </a:r>
            <a:r>
              <a:rPr lang="en-US" altLang="zh-TW" dirty="0" smtClean="0"/>
              <a:t>are divided into </a:t>
            </a:r>
            <a:r>
              <a:rPr lang="en-US" altLang="zh-TW" dirty="0"/>
              <a:t>zones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916832"/>
            <a:ext cx="8460432" cy="476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497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Replication and Caching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521296"/>
            <a:ext cx="8147248" cy="3203848"/>
          </a:xfrm>
        </p:spPr>
        <p:txBody>
          <a:bodyPr/>
          <a:lstStyle/>
          <a:p>
            <a:r>
              <a:rPr lang="en-US" altLang="zh-TW" dirty="0" smtClean="0"/>
              <a:t>Make copies of data available at different machines</a:t>
            </a:r>
          </a:p>
          <a:p>
            <a:pPr lvl="1"/>
            <a:r>
              <a:rPr lang="en-US" altLang="zh-TW" dirty="0" smtClean="0"/>
              <a:t>Web caches in browsers and proxy servers</a:t>
            </a:r>
          </a:p>
          <a:p>
            <a:pPr lvl="1"/>
            <a:r>
              <a:rPr lang="en-US" altLang="zh-TW" dirty="0" smtClean="0"/>
              <a:t>CDN services can provide fast content delivering</a:t>
            </a:r>
          </a:p>
          <a:p>
            <a:pPr lvl="1"/>
            <a:r>
              <a:rPr lang="en-US" altLang="zh-TW" dirty="0"/>
              <a:t>R</a:t>
            </a:r>
            <a:r>
              <a:rPr lang="en-US" altLang="zh-TW" dirty="0" smtClean="0"/>
              <a:t>eplicated database servers</a:t>
            </a:r>
          </a:p>
          <a:p>
            <a:pPr lvl="1"/>
            <a:r>
              <a:rPr lang="en-US" altLang="zh-TW" dirty="0" smtClean="0"/>
              <a:t>Local replications for cloud storage services</a:t>
            </a:r>
          </a:p>
          <a:p>
            <a:pPr lvl="2"/>
            <a:r>
              <a:rPr lang="en-US" altLang="zh-TW" dirty="0" smtClean="0"/>
              <a:t>Google drive, dropbox, onedrive, …</a:t>
            </a:r>
          </a:p>
          <a:p>
            <a:pPr lvl="1"/>
            <a:r>
              <a:rPr lang="en-US" altLang="zh-TW" dirty="0" smtClean="0"/>
              <a:t>File caching in the client and/or the server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8328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1143000"/>
          </a:xfrm>
        </p:spPr>
        <p:txBody>
          <a:bodyPr/>
          <a:lstStyle/>
          <a:p>
            <a:pPr algn="ctr"/>
            <a:r>
              <a:rPr lang="en-US" altLang="zh-TW" dirty="0"/>
              <a:t>Concealment of </a:t>
            </a:r>
            <a:r>
              <a:rPr lang="en-US" altLang="zh-TW" dirty="0" smtClean="0"/>
              <a:t>Communication Delay</a:t>
            </a:r>
            <a:endParaRPr lang="en-US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519808"/>
            <a:ext cx="8208912" cy="2341240"/>
          </a:xfrm>
        </p:spPr>
        <p:txBody>
          <a:bodyPr/>
          <a:lstStyle/>
          <a:p>
            <a:r>
              <a:rPr lang="en-US" altLang="zh-TW" dirty="0" smtClean="0"/>
              <a:t>Avoid waiting for response</a:t>
            </a:r>
          </a:p>
          <a:p>
            <a:pPr lvl="1"/>
            <a:r>
              <a:rPr lang="en-US" altLang="zh-TW" dirty="0" smtClean="0"/>
              <a:t>Uses </a:t>
            </a:r>
            <a:r>
              <a:rPr lang="en-US" altLang="zh-TW" dirty="0" smtClean="0">
                <a:solidFill>
                  <a:srgbClr val="FF0000"/>
                </a:solidFill>
              </a:rPr>
              <a:t>asynchronous</a:t>
            </a:r>
            <a:r>
              <a:rPr lang="en-US" altLang="zh-TW" dirty="0" smtClean="0"/>
              <a:t> communication schemes</a:t>
            </a:r>
          </a:p>
          <a:p>
            <a:pPr lvl="2"/>
            <a:r>
              <a:rPr lang="en-US" altLang="zh-TW" dirty="0" smtClean="0"/>
              <a:t>Non-blocking send and non-blocking receive</a:t>
            </a:r>
          </a:p>
          <a:p>
            <a:pPr lvl="1"/>
            <a:r>
              <a:rPr lang="en-US" altLang="zh-TW" dirty="0" smtClean="0"/>
              <a:t>Uses separate handlers to process different incoming messages</a:t>
            </a:r>
          </a:p>
          <a:p>
            <a:pPr lvl="2"/>
            <a:r>
              <a:rPr lang="en-US" altLang="zh-TW" dirty="0" smtClean="0"/>
              <a:t>Separate processes (or threads) for handling different events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9414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Difficulties of Scaling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447800"/>
            <a:ext cx="8424936" cy="4572000"/>
          </a:xfrm>
        </p:spPr>
        <p:txBody>
          <a:bodyPr/>
          <a:lstStyle/>
          <a:p>
            <a:r>
              <a:rPr lang="en-US" altLang="zh-TW" dirty="0" smtClean="0"/>
              <a:t>Applying scaling techniques are not trivial</a:t>
            </a:r>
          </a:p>
          <a:p>
            <a:pPr lvl="1"/>
            <a:r>
              <a:rPr lang="en-US" altLang="zh-TW" dirty="0" smtClean="0"/>
              <a:t>Multiple copies (replication or cache) can lead to </a:t>
            </a:r>
            <a:r>
              <a:rPr lang="en-US" altLang="zh-TW" dirty="0" smtClean="0">
                <a:solidFill>
                  <a:srgbClr val="FF0000"/>
                </a:solidFill>
              </a:rPr>
              <a:t>inconsistency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Modifying one copy makes it different from others.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</a:rPr>
              <a:t>Consistency/coherency protocols </a:t>
            </a:r>
            <a:r>
              <a:rPr lang="en-US" altLang="zh-TW" dirty="0" smtClean="0"/>
              <a:t>are therefore needed.</a:t>
            </a:r>
          </a:p>
          <a:p>
            <a:pPr lvl="1"/>
            <a:r>
              <a:rPr lang="en-US" altLang="zh-TW" dirty="0" smtClean="0"/>
              <a:t>In general, keeping copies consistent all the time requires </a:t>
            </a:r>
            <a:r>
              <a:rPr lang="en-US" altLang="zh-TW" dirty="0" smtClean="0">
                <a:solidFill>
                  <a:srgbClr val="FF0000"/>
                </a:solidFill>
              </a:rPr>
              <a:t>global synchronization</a:t>
            </a:r>
            <a:r>
              <a:rPr lang="en-US" altLang="zh-TW" dirty="0" smtClean="0"/>
              <a:t> on each modification.</a:t>
            </a:r>
          </a:p>
          <a:p>
            <a:pPr lvl="2"/>
            <a:r>
              <a:rPr lang="en-US" altLang="zh-TW" dirty="0" smtClean="0"/>
              <a:t>Global synchronization is extremely difficult for large scale systems.</a:t>
            </a:r>
          </a:p>
          <a:p>
            <a:r>
              <a:rPr lang="en-US" altLang="zh-TW" dirty="0" smtClean="0"/>
              <a:t>Some applications may tolerate inconsistency.</a:t>
            </a:r>
          </a:p>
          <a:p>
            <a:pPr lvl="1"/>
            <a:r>
              <a:rPr lang="en-US" altLang="zh-TW" dirty="0" smtClean="0"/>
              <a:t>Most popular internet services can tolerate some degree of inconsistency.</a:t>
            </a:r>
          </a:p>
          <a:p>
            <a:pPr lvl="2"/>
            <a:r>
              <a:rPr lang="en-US" altLang="zh-TW" dirty="0" smtClean="0"/>
              <a:t>Search services, content sharing services, …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0519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Fault Tolerant Approaches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519808"/>
            <a:ext cx="9144000" cy="493352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Failure Masking</a:t>
            </a:r>
            <a:r>
              <a:rPr lang="en-US" altLang="zh-TW" dirty="0" smtClean="0"/>
              <a:t>:</a:t>
            </a: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</a:rPr>
              <a:t>Make a system continue </a:t>
            </a:r>
            <a:r>
              <a:rPr lang="en-US" altLang="zh-TW" dirty="0">
                <a:ea typeface="新細明體" panose="02020500000000000000" pitchFamily="18" charset="-120"/>
              </a:rPr>
              <a:t>to provide its specified function(s) in the presence of </a:t>
            </a:r>
            <a:r>
              <a:rPr lang="en-US" altLang="zh-TW" dirty="0" smtClean="0">
                <a:ea typeface="新細明體" panose="02020500000000000000" pitchFamily="18" charset="-120"/>
              </a:rPr>
              <a:t>failures.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lvl="2"/>
            <a:r>
              <a:rPr lang="en-US" altLang="zh-TW" dirty="0" smtClean="0"/>
              <a:t>Example: </a:t>
            </a:r>
            <a:r>
              <a:rPr lang="en-US" altLang="zh-TW" dirty="0" smtClean="0">
                <a:solidFill>
                  <a:srgbClr val="FF0000"/>
                </a:solidFill>
              </a:rPr>
              <a:t>voting protocols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Redundancy</a:t>
            </a:r>
            <a:r>
              <a:rPr lang="en-US" altLang="zh-TW" dirty="0" smtClean="0"/>
              <a:t> is </a:t>
            </a:r>
            <a:r>
              <a:rPr lang="en-US" altLang="zh-TW" dirty="0"/>
              <a:t>the key technique for </a:t>
            </a:r>
            <a:r>
              <a:rPr lang="en-US" altLang="zh-TW" dirty="0" smtClean="0"/>
              <a:t>masking failures.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Well Defined </a:t>
            </a:r>
            <a:r>
              <a:rPr lang="en-US" altLang="zh-TW" dirty="0">
                <a:solidFill>
                  <a:srgbClr val="FF0000"/>
                </a:solidFill>
              </a:rPr>
              <a:t>F</a:t>
            </a:r>
            <a:r>
              <a:rPr lang="en-US" altLang="zh-TW" dirty="0" smtClean="0">
                <a:solidFill>
                  <a:srgbClr val="FF0000"/>
                </a:solidFill>
              </a:rPr>
              <a:t>ailure </a:t>
            </a:r>
            <a:r>
              <a:rPr lang="en-US" altLang="zh-TW" dirty="0">
                <a:solidFill>
                  <a:srgbClr val="FF0000"/>
                </a:solidFill>
              </a:rPr>
              <a:t>B</a:t>
            </a:r>
            <a:r>
              <a:rPr lang="en-US" altLang="zh-TW" dirty="0" smtClean="0">
                <a:solidFill>
                  <a:srgbClr val="FF0000"/>
                </a:solidFill>
              </a:rPr>
              <a:t>ehavior</a:t>
            </a:r>
            <a:r>
              <a:rPr lang="en-US" altLang="zh-TW" dirty="0" smtClean="0"/>
              <a:t>:</a:t>
            </a:r>
          </a:p>
          <a:p>
            <a:pPr lvl="1"/>
            <a:r>
              <a:rPr lang="en-US" altLang="zh-TW" dirty="0" smtClean="0"/>
              <a:t>Make a system exhibit </a:t>
            </a:r>
            <a:r>
              <a:rPr lang="en-US" altLang="zh-TW" dirty="0"/>
              <a:t>a well </a:t>
            </a:r>
            <a:r>
              <a:rPr lang="en-US" altLang="zh-TW" dirty="0" smtClean="0"/>
              <a:t>defined behavior </a:t>
            </a:r>
            <a:r>
              <a:rPr lang="en-US" altLang="zh-TW" dirty="0"/>
              <a:t>in the presence of </a:t>
            </a:r>
            <a:r>
              <a:rPr lang="en-US" altLang="zh-TW" dirty="0" smtClean="0"/>
              <a:t>failures.</a:t>
            </a:r>
            <a:endParaRPr lang="en-US" altLang="zh-TW" dirty="0"/>
          </a:p>
          <a:p>
            <a:pPr lvl="2"/>
            <a:r>
              <a:rPr lang="en-US" altLang="zh-TW" dirty="0"/>
              <a:t>It may or it may not perform its specified function(s</a:t>
            </a:r>
            <a:r>
              <a:rPr lang="en-US" altLang="zh-TW" dirty="0" smtClean="0"/>
              <a:t>) </a:t>
            </a:r>
            <a:r>
              <a:rPr lang="en-US" altLang="zh-TW" dirty="0"/>
              <a:t>but facilitates actions suitable for fault </a:t>
            </a:r>
            <a:r>
              <a:rPr lang="en-US" altLang="zh-TW" dirty="0" smtClean="0"/>
              <a:t>recovery.</a:t>
            </a:r>
            <a:endParaRPr lang="en-US" altLang="zh-TW" dirty="0"/>
          </a:p>
          <a:p>
            <a:pPr lvl="2"/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commit protocols </a:t>
            </a:r>
          </a:p>
          <a:p>
            <a:pPr lvl="3"/>
            <a:r>
              <a:rPr lang="en-US" altLang="zh-TW" dirty="0" smtClean="0"/>
              <a:t>The result of a </a:t>
            </a:r>
            <a:r>
              <a:rPr lang="en-US" altLang="zh-TW" dirty="0"/>
              <a:t>transaction </a:t>
            </a:r>
            <a:r>
              <a:rPr lang="en-US" altLang="zh-TW" dirty="0" smtClean="0"/>
              <a:t>is </a:t>
            </a:r>
            <a:r>
              <a:rPr lang="en-US" altLang="zh-TW" dirty="0"/>
              <a:t>made visible only if </a:t>
            </a:r>
            <a:r>
              <a:rPr lang="en-US" altLang="zh-TW" dirty="0" smtClean="0"/>
              <a:t>it is successful </a:t>
            </a:r>
            <a:r>
              <a:rPr lang="en-US" altLang="zh-TW" dirty="0"/>
              <a:t>and </a:t>
            </a:r>
            <a:r>
              <a:rPr lang="en-US" altLang="zh-TW" dirty="0" smtClean="0"/>
              <a:t>committed.</a:t>
            </a:r>
          </a:p>
          <a:p>
            <a:pPr lvl="3"/>
            <a:r>
              <a:rPr lang="en-US" altLang="zh-TW" dirty="0" smtClean="0"/>
              <a:t>Otherwise, the transaction </a:t>
            </a:r>
            <a:r>
              <a:rPr lang="en-US" altLang="zh-TW" dirty="0"/>
              <a:t>is </a:t>
            </a:r>
            <a:r>
              <a:rPr lang="en-US" altLang="zh-TW" dirty="0" smtClean="0"/>
              <a:t>aborted by undo.</a:t>
            </a:r>
          </a:p>
        </p:txBody>
      </p:sp>
    </p:spTree>
    <p:extLst>
      <p:ext uri="{BB962C8B-B14F-4D97-AF65-F5344CB8AC3E}">
        <p14:creationId xmlns:p14="http://schemas.microsoft.com/office/powerpoint/2010/main" val="3426701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Redundancy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519808"/>
            <a:ext cx="8856984" cy="4357464"/>
          </a:xfrm>
        </p:spPr>
        <p:txBody>
          <a:bodyPr/>
          <a:lstStyle/>
          <a:p>
            <a:r>
              <a:rPr lang="en-US" altLang="zh-TW" dirty="0" smtClean="0"/>
              <a:t>Hide </a:t>
            </a:r>
            <a:r>
              <a:rPr lang="en-US" altLang="zh-TW" dirty="0"/>
              <a:t>the occurrence of </a:t>
            </a:r>
            <a:r>
              <a:rPr lang="en-US" altLang="zh-TW" dirty="0" smtClean="0"/>
              <a:t>failures by </a:t>
            </a:r>
            <a:r>
              <a:rPr lang="en-US" altLang="zh-TW" dirty="0"/>
              <a:t>using </a:t>
            </a:r>
            <a:r>
              <a:rPr lang="en-US" altLang="zh-TW" dirty="0" smtClean="0"/>
              <a:t>redundancy.</a:t>
            </a:r>
          </a:p>
          <a:p>
            <a:r>
              <a:rPr lang="en-US" altLang="zh-TW" dirty="0" smtClean="0"/>
              <a:t>There are three types of redundancy: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Information </a:t>
            </a:r>
            <a:r>
              <a:rPr lang="en-US" altLang="zh-TW" dirty="0" smtClean="0">
                <a:solidFill>
                  <a:srgbClr val="FF0000"/>
                </a:solidFill>
              </a:rPr>
              <a:t>Redundancy </a:t>
            </a:r>
            <a:r>
              <a:rPr lang="en-US" altLang="zh-TW" dirty="0" smtClean="0"/>
              <a:t>adds </a:t>
            </a:r>
            <a:r>
              <a:rPr lang="en-US" altLang="zh-TW" dirty="0"/>
              <a:t>extra </a:t>
            </a:r>
            <a:r>
              <a:rPr lang="en-US" altLang="zh-TW" dirty="0" smtClean="0"/>
              <a:t>information </a:t>
            </a:r>
            <a:r>
              <a:rPr lang="en-US" altLang="zh-TW" dirty="0"/>
              <a:t>to allow for error </a:t>
            </a:r>
            <a:r>
              <a:rPr lang="en-US" altLang="zh-TW" dirty="0" smtClean="0"/>
              <a:t>detection and recovery.</a:t>
            </a:r>
          </a:p>
          <a:p>
            <a:pPr lvl="2"/>
            <a:r>
              <a:rPr lang="en-US" altLang="zh-TW" dirty="0" smtClean="0"/>
              <a:t>Error detection/correction codes: parity, checksum, </a:t>
            </a:r>
            <a:r>
              <a:rPr lang="en-US" altLang="zh-TW" dirty="0" smtClean="0">
                <a:solidFill>
                  <a:srgbClr val="FF0000"/>
                </a:solidFill>
              </a:rPr>
              <a:t>hamming codes</a:t>
            </a:r>
            <a:r>
              <a:rPr lang="en-US" altLang="zh-TW" dirty="0" smtClean="0"/>
              <a:t>, …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Time Redundancy </a:t>
            </a:r>
            <a:r>
              <a:rPr lang="en-US" altLang="zh-TW" dirty="0" smtClean="0"/>
              <a:t>performs extra computations to cope with failures.</a:t>
            </a:r>
          </a:p>
          <a:p>
            <a:pPr lvl="2"/>
            <a:r>
              <a:rPr lang="en-US" altLang="zh-TW" dirty="0" smtClean="0"/>
              <a:t>Checkpoint with retry, </a:t>
            </a:r>
            <a:r>
              <a:rPr lang="en-US" altLang="zh-TW" dirty="0" smtClean="0">
                <a:solidFill>
                  <a:srgbClr val="FF0000"/>
                </a:solidFill>
              </a:rPr>
              <a:t>recovery blocks</a:t>
            </a:r>
            <a:r>
              <a:rPr lang="en-US" altLang="zh-TW" dirty="0" smtClean="0"/>
              <a:t>, …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Space Redundancy </a:t>
            </a:r>
            <a:r>
              <a:rPr lang="en-US" altLang="zh-TW" dirty="0" smtClean="0"/>
              <a:t>adds </a:t>
            </a:r>
            <a:r>
              <a:rPr lang="en-US" altLang="zh-TW" dirty="0"/>
              <a:t>extra </a:t>
            </a:r>
            <a:r>
              <a:rPr lang="en-US" altLang="zh-TW" dirty="0" smtClean="0"/>
              <a:t>resources to cope with failures.</a:t>
            </a:r>
          </a:p>
          <a:p>
            <a:pPr lvl="2"/>
            <a:r>
              <a:rPr lang="en-US" altLang="zh-TW" dirty="0" smtClean="0"/>
              <a:t>Replications in data, process, hardware, software, …</a:t>
            </a:r>
          </a:p>
          <a:p>
            <a:pPr lvl="2"/>
            <a:r>
              <a:rPr lang="en-US" altLang="zh-TW" dirty="0" err="1">
                <a:solidFill>
                  <a:srgbClr val="FF0000"/>
                </a:solidFill>
              </a:rPr>
              <a:t>G</a:t>
            </a:r>
            <a:r>
              <a:rPr lang="en-US" altLang="zh-TW" dirty="0" err="1" smtClean="0">
                <a:solidFill>
                  <a:srgbClr val="FF0000"/>
                </a:solidFill>
              </a:rPr>
              <a:t>roupwork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rgbClr val="FF0000"/>
                </a:solidFill>
              </a:rPr>
              <a:t>n-version software</a:t>
            </a:r>
            <a:r>
              <a:rPr lang="en-US" altLang="zh-TW" dirty="0" smtClean="0"/>
              <a:t>, …</a:t>
            </a:r>
          </a:p>
          <a:p>
            <a:pPr lvl="2"/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45656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08912" cy="1224136"/>
          </a:xfrm>
        </p:spPr>
        <p:txBody>
          <a:bodyPr/>
          <a:lstStyle/>
          <a:p>
            <a:pPr algn="ctr"/>
            <a:r>
              <a:rPr lang="en-US" altLang="zh-TW" dirty="0" smtClean="0"/>
              <a:t>Information Redundancy: </a:t>
            </a:r>
            <a:br>
              <a:rPr lang="en-US" altLang="zh-TW" dirty="0" smtClean="0"/>
            </a:br>
            <a:r>
              <a:rPr lang="en-US" altLang="zh-TW" dirty="0" smtClean="0"/>
              <a:t>Hamming Codes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8032" y="1447800"/>
            <a:ext cx="7772400" cy="4572000"/>
          </a:xfrm>
        </p:spPr>
        <p:txBody>
          <a:bodyPr/>
          <a:lstStyle/>
          <a:p>
            <a:r>
              <a:rPr lang="en-US" altLang="zh-TW" dirty="0" smtClean="0"/>
              <a:t>The hamming code (7, 4), n=7, k=4</a:t>
            </a:r>
          </a:p>
          <a:p>
            <a:pPr lvl="1"/>
            <a:r>
              <a:rPr lang="en-US" altLang="zh-TW" dirty="0" smtClean="0"/>
              <a:t>Adds 3 extra bits to correct any single bit error for 4-bit data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797010"/>
            <a:ext cx="8640960" cy="322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90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183778"/>
            <a:ext cx="7772400" cy="1228998"/>
          </a:xfrm>
        </p:spPr>
        <p:txBody>
          <a:bodyPr/>
          <a:lstStyle/>
          <a:p>
            <a:pPr algn="ctr"/>
            <a:r>
              <a:rPr lang="en-US" altLang="zh-TW" dirty="0" smtClean="0"/>
              <a:t>Space Redundancy:</a:t>
            </a:r>
            <a:br>
              <a:rPr lang="en-US" altLang="zh-TW" dirty="0" smtClean="0"/>
            </a:br>
            <a:r>
              <a:rPr lang="en-US" altLang="zh-TW" dirty="0" smtClean="0"/>
              <a:t>Triple Modular Redundancy (</a:t>
            </a:r>
            <a:r>
              <a:rPr lang="en-US" altLang="zh-TW" dirty="0" smtClean="0">
                <a:solidFill>
                  <a:srgbClr val="FF0000"/>
                </a:solidFill>
              </a:rPr>
              <a:t>TMR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447800"/>
            <a:ext cx="8147248" cy="923720"/>
          </a:xfrm>
        </p:spPr>
        <p:txBody>
          <a:bodyPr/>
          <a:lstStyle/>
          <a:p>
            <a:r>
              <a:rPr lang="en-US" altLang="zh-TW" dirty="0" smtClean="0"/>
              <a:t>A TMR replaces each component by three components with 3 voters to cope any single component failure.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854453"/>
            <a:ext cx="7344816" cy="283858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406544"/>
            <a:ext cx="7344815" cy="1185876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323527" y="2708920"/>
            <a:ext cx="557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(a)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29716" y="4797152"/>
            <a:ext cx="557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(b)</a:t>
            </a:r>
            <a:endParaRPr lang="zh-TW" altLang="en-US" dirty="0"/>
          </a:p>
        </p:txBody>
      </p:sp>
      <p:sp>
        <p:nvSpPr>
          <p:cNvPr id="9" name="向下箭號 8"/>
          <p:cNvSpPr/>
          <p:nvPr/>
        </p:nvSpPr>
        <p:spPr>
          <a:xfrm>
            <a:off x="4644008" y="3592420"/>
            <a:ext cx="144016" cy="262033"/>
          </a:xfrm>
          <a:prstGeom prst="downArrow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6425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5192" y="183778"/>
            <a:ext cx="8435280" cy="1228998"/>
          </a:xfrm>
        </p:spPr>
        <p:txBody>
          <a:bodyPr/>
          <a:lstStyle/>
          <a:p>
            <a:pPr algn="ctr"/>
            <a:r>
              <a:rPr lang="en-US" altLang="zh-TW" dirty="0" smtClean="0"/>
              <a:t>Time Redundancy: </a:t>
            </a:r>
            <a:br>
              <a:rPr lang="en-US" altLang="zh-TW" dirty="0" smtClean="0"/>
            </a:br>
            <a:r>
              <a:rPr lang="en-US" altLang="zh-TW" dirty="0" smtClean="0"/>
              <a:t>Recovery Blocks (</a:t>
            </a:r>
            <a:r>
              <a:rPr lang="en-US" altLang="zh-TW" dirty="0" smtClean="0">
                <a:solidFill>
                  <a:srgbClr val="FF0000"/>
                </a:solidFill>
              </a:rPr>
              <a:t>RB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484784"/>
            <a:ext cx="8496944" cy="4933528"/>
          </a:xfrm>
        </p:spPr>
        <p:txBody>
          <a:bodyPr/>
          <a:lstStyle/>
          <a:p>
            <a:r>
              <a:rPr lang="en-US" altLang="zh-TW" dirty="0" smtClean="0"/>
              <a:t>A RB consists of </a:t>
            </a:r>
            <a:r>
              <a:rPr lang="en-US" altLang="zh-TW" dirty="0" smtClean="0">
                <a:solidFill>
                  <a:srgbClr val="FF0000"/>
                </a:solidFill>
              </a:rPr>
              <a:t>multiple alternates </a:t>
            </a:r>
            <a:r>
              <a:rPr lang="en-US" altLang="zh-TW" dirty="0" smtClean="0"/>
              <a:t>of the same function, a </a:t>
            </a:r>
            <a:r>
              <a:rPr lang="en-US" altLang="zh-TW" dirty="0" smtClean="0">
                <a:solidFill>
                  <a:srgbClr val="FF0000"/>
                </a:solidFill>
              </a:rPr>
              <a:t>checkpoint</a:t>
            </a:r>
            <a:r>
              <a:rPr lang="en-US" altLang="zh-TW" dirty="0" smtClean="0"/>
              <a:t> module, and an </a:t>
            </a:r>
            <a:r>
              <a:rPr lang="en-US" altLang="zh-TW" dirty="0" smtClean="0">
                <a:solidFill>
                  <a:srgbClr val="FF0000"/>
                </a:solidFill>
              </a:rPr>
              <a:t>acceptance test </a:t>
            </a:r>
            <a:r>
              <a:rPr lang="en-US" altLang="zh-TW" dirty="0" smtClean="0"/>
              <a:t>(AT) module.</a:t>
            </a:r>
          </a:p>
          <a:p>
            <a:pPr lvl="1"/>
            <a:r>
              <a:rPr lang="en-US" altLang="zh-TW" dirty="0" smtClean="0"/>
              <a:t>One alternate is the primary and the others are secondary.</a:t>
            </a:r>
          </a:p>
          <a:p>
            <a:r>
              <a:rPr lang="en-US" altLang="zh-TW" dirty="0" smtClean="0"/>
              <a:t>Upon involved, the RB first checkpoints the input and the current states, then executes the primary with the input.</a:t>
            </a:r>
          </a:p>
          <a:p>
            <a:pPr lvl="1"/>
            <a:r>
              <a:rPr lang="en-US" altLang="zh-TW" dirty="0" smtClean="0"/>
              <a:t>After the completion of the primary, the output is then validated by the AT for correctness.</a:t>
            </a:r>
          </a:p>
          <a:p>
            <a:pPr lvl="1"/>
            <a:r>
              <a:rPr lang="en-US" altLang="zh-TW" dirty="0" smtClean="0"/>
              <a:t>If the output is not acceptable, the RB restores its checkpoint and executes a secondary with the original input.</a:t>
            </a:r>
          </a:p>
          <a:p>
            <a:pPr lvl="2"/>
            <a:r>
              <a:rPr lang="en-US" altLang="zh-TW" dirty="0" smtClean="0"/>
              <a:t> The output is then validated by the AT.</a:t>
            </a:r>
          </a:p>
          <a:p>
            <a:pPr lvl="1"/>
            <a:r>
              <a:rPr lang="en-US" altLang="zh-TW" dirty="0" smtClean="0"/>
              <a:t>This procedure continues until either an output is accepted by the AT or all secondary are exhausted.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1201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8032" y="413792"/>
            <a:ext cx="7772400" cy="926976"/>
          </a:xfrm>
        </p:spPr>
        <p:txBody>
          <a:bodyPr/>
          <a:lstStyle/>
          <a:p>
            <a:pPr algn="ctr"/>
            <a:r>
              <a:rPr lang="en-US" altLang="zh-TW" dirty="0" smtClean="0"/>
              <a:t>An Example of RB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484784"/>
            <a:ext cx="7344816" cy="518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407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1048470"/>
          </a:xfrm>
        </p:spPr>
        <p:txBody>
          <a:bodyPr/>
          <a:lstStyle/>
          <a:p>
            <a:pPr algn="ctr"/>
            <a:r>
              <a:rPr lang="en-US" altLang="zh-TW" dirty="0" smtClean="0"/>
              <a:t>Network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There are six types of network services.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0" y="2132856"/>
            <a:ext cx="8532440" cy="43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453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OS </a:t>
            </a:r>
            <a:r>
              <a:rPr lang="en-US" altLang="zh-TW" dirty="0"/>
              <a:t>T</a:t>
            </a:r>
            <a:r>
              <a:rPr lang="en-US" altLang="zh-TW" dirty="0" smtClean="0"/>
              <a:t>ypes for Distributed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DOS (Distributed Operating Systems)</a:t>
            </a:r>
          </a:p>
          <a:p>
            <a:r>
              <a:rPr lang="en-US" altLang="zh-TW" dirty="0"/>
              <a:t>NOS (Network Operating Systems)</a:t>
            </a:r>
          </a:p>
          <a:p>
            <a:r>
              <a:rPr lang="en-US" altLang="zh-TW" dirty="0" smtClean="0"/>
              <a:t>Distributed system as a Middleware</a:t>
            </a:r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546316"/>
              </p:ext>
            </p:extLst>
          </p:nvPr>
        </p:nvGraphicFramePr>
        <p:xfrm>
          <a:off x="179512" y="3124200"/>
          <a:ext cx="8640960" cy="2926398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1797650800"/>
                    </a:ext>
                  </a:extLst>
                </a:gridCol>
                <a:gridCol w="4993641">
                  <a:extLst>
                    <a:ext uri="{9D8B030D-6E8A-4147-A177-3AD203B41FA5}">
                      <a16:colId xmlns:a16="http://schemas.microsoft.com/office/drawing/2014/main" val="1963173155"/>
                    </a:ext>
                  </a:extLst>
                </a:gridCol>
                <a:gridCol w="2279167">
                  <a:extLst>
                    <a:ext uri="{9D8B030D-6E8A-4147-A177-3AD203B41FA5}">
                      <a16:colId xmlns:a16="http://schemas.microsoft.com/office/drawing/2014/main" val="1574689485"/>
                    </a:ext>
                  </a:extLst>
                </a:gridCol>
              </a:tblGrid>
              <a:tr h="331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System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Description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Main Goal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725994"/>
                  </a:ext>
                </a:extLst>
              </a:tr>
              <a:tr h="854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DOS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Tightly-coupled operating system for multi-processors and homogeneous multicomputers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Hide and manage hardware resources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055479"/>
                  </a:ext>
                </a:extLst>
              </a:tr>
              <a:tr h="869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NOS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Loosely-coupled operating system for heterogeneous multicomputers (LAN and WAN)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Offer local services to remote clients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138058"/>
                  </a:ext>
                </a:extLst>
              </a:tr>
              <a:tr h="836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  <a:cs typeface="+mn-cs"/>
                        </a:rPr>
                        <a:t>Middleware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Additional layer on top of local OS to provide general-purpose services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Lucida Sans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Provide  transparency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31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891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Network Operating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447800"/>
            <a:ext cx="8219256" cy="132904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800" dirty="0" smtClean="0">
                <a:ea typeface="新細明體" panose="02020500000000000000" pitchFamily="18" charset="-120"/>
              </a:rPr>
              <a:t>Kernels </a:t>
            </a:r>
            <a:r>
              <a:rPr lang="en-US" altLang="zh-TW" sz="2800" dirty="0">
                <a:ea typeface="新細明體" panose="02020500000000000000" pitchFamily="18" charset="-120"/>
              </a:rPr>
              <a:t>can be different (Windows or Linux)</a:t>
            </a:r>
          </a:p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 panose="02020500000000000000" pitchFamily="18" charset="-120"/>
              </a:rPr>
              <a:t>Typical </a:t>
            </a:r>
            <a:r>
              <a:rPr lang="en-US" altLang="zh-TW" sz="2800" dirty="0" smtClean="0">
                <a:ea typeface="新細明體" panose="02020500000000000000" pitchFamily="18" charset="-120"/>
              </a:rPr>
              <a:t>services are: </a:t>
            </a:r>
            <a:r>
              <a:rPr lang="en-US" altLang="zh-TW" sz="2800" dirty="0">
                <a:ea typeface="新細明體" panose="02020500000000000000" pitchFamily="18" charset="-120"/>
              </a:rPr>
              <a:t>rlogin, </a:t>
            </a:r>
            <a:r>
              <a:rPr lang="en-US" altLang="zh-TW" sz="2800" dirty="0" err="1" smtClean="0">
                <a:ea typeface="新細明體" panose="02020500000000000000" pitchFamily="18" charset="-120"/>
              </a:rPr>
              <a:t>rsh</a:t>
            </a:r>
            <a:r>
              <a:rPr lang="en-US" altLang="zh-TW" sz="2800" dirty="0" smtClean="0">
                <a:ea typeface="新細明體" panose="02020500000000000000" pitchFamily="18" charset="-120"/>
              </a:rPr>
              <a:t>, ftp, …</a:t>
            </a:r>
            <a:endParaRPr lang="en-US" altLang="zh-TW" sz="2800" dirty="0">
              <a:ea typeface="新細明體" panose="02020500000000000000" pitchFamily="18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TW" dirty="0" smtClean="0">
                <a:ea typeface="新細明體" panose="02020500000000000000" pitchFamily="18" charset="-120"/>
              </a:rPr>
              <a:t>Resource sharing is usually done by a fairly primitive way</a:t>
            </a:r>
            <a:endParaRPr lang="en-US" altLang="zh-TW" dirty="0">
              <a:ea typeface="新細明體" panose="02020500000000000000" pitchFamily="18" charset="-120"/>
            </a:endParaRP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824552"/>
            <a:ext cx="7272808" cy="391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90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File Sharing in NOS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1560" y="1519808"/>
            <a:ext cx="8279706" cy="68505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800" dirty="0" smtClean="0">
                <a:ea typeface="新細明體" panose="02020500000000000000" pitchFamily="18" charset="-120"/>
              </a:rPr>
              <a:t>One </a:t>
            </a:r>
            <a:r>
              <a:rPr lang="en-US" altLang="zh-TW" sz="2800" dirty="0">
                <a:ea typeface="新細明體" panose="02020500000000000000" pitchFamily="18" charset="-120"/>
              </a:rPr>
              <a:t>computer </a:t>
            </a:r>
            <a:r>
              <a:rPr lang="en-US" altLang="zh-TW" sz="2800" dirty="0" smtClean="0">
                <a:ea typeface="新細明體" panose="02020500000000000000" pitchFamily="18" charset="-120"/>
              </a:rPr>
              <a:t>provides </a:t>
            </a:r>
            <a:r>
              <a:rPr lang="en-US" altLang="zh-TW" sz="2800" dirty="0">
                <a:ea typeface="新細明體" panose="02020500000000000000" pitchFamily="18" charset="-120"/>
              </a:rPr>
              <a:t>files </a:t>
            </a:r>
            <a:r>
              <a:rPr lang="en-US" altLang="zh-TW" sz="2800" dirty="0" smtClean="0">
                <a:ea typeface="新細明體" panose="02020500000000000000" pitchFamily="18" charset="-120"/>
              </a:rPr>
              <a:t>for </a:t>
            </a:r>
            <a:r>
              <a:rPr lang="en-US" altLang="zh-TW" sz="2800" dirty="0">
                <a:ea typeface="新細明體" panose="02020500000000000000" pitchFamily="18" charset="-120"/>
              </a:rPr>
              <a:t>others (NFS</a:t>
            </a:r>
            <a:r>
              <a:rPr lang="en-US" altLang="zh-TW" sz="2800" dirty="0" smtClean="0">
                <a:ea typeface="新細明體" panose="02020500000000000000" pitchFamily="18" charset="-120"/>
              </a:rPr>
              <a:t>)</a:t>
            </a:r>
            <a:endParaRPr lang="en-US" altLang="zh-TW" sz="2800" dirty="0">
              <a:ea typeface="新細明體" panose="02020500000000000000" pitchFamily="18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067400"/>
            <a:ext cx="7572941" cy="460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598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File Sharing in </a:t>
            </a:r>
            <a:r>
              <a:rPr lang="en-US" altLang="zh-TW" dirty="0" smtClean="0"/>
              <a:t>NOS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377280"/>
            <a:ext cx="8568952" cy="118762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 panose="02020500000000000000" pitchFamily="18" charset="-120"/>
              </a:rPr>
              <a:t>Different clients may mount the servers in different places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>
                <a:ea typeface="新細明體" panose="02020500000000000000" pitchFamily="18" charset="-120"/>
              </a:rPr>
              <a:t>NOS does not provide consistent view </a:t>
            </a:r>
            <a:r>
              <a:rPr lang="en-US" altLang="zh-TW" dirty="0">
                <a:ea typeface="新細明體" panose="02020500000000000000" pitchFamily="18" charset="-120"/>
              </a:rPr>
              <a:t>for </a:t>
            </a:r>
            <a:r>
              <a:rPr lang="en-US" altLang="zh-TW" dirty="0" smtClean="0">
                <a:ea typeface="新細明體" panose="02020500000000000000" pitchFamily="18" charset="-120"/>
              </a:rPr>
              <a:t>users.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>
                <a:ea typeface="新細明體" panose="02020500000000000000" pitchFamily="18" charset="-120"/>
              </a:rPr>
              <a:t>However, it is </a:t>
            </a:r>
            <a:r>
              <a:rPr lang="en-US" altLang="zh-TW" dirty="0">
                <a:ea typeface="新細明體" panose="02020500000000000000" pitchFamily="18" charset="-120"/>
              </a:rPr>
              <a:t>easier to scale by adding </a:t>
            </a:r>
            <a:r>
              <a:rPr lang="en-US" altLang="zh-TW" dirty="0" smtClean="0">
                <a:ea typeface="新細明體" panose="02020500000000000000" pitchFamily="18" charset="-120"/>
              </a:rPr>
              <a:t>computers in NOS.</a:t>
            </a:r>
            <a:endParaRPr lang="en-US" altLang="zh-TW" dirty="0">
              <a:ea typeface="新細明體" panose="02020500000000000000" pitchFamily="18" charset="-120"/>
            </a:endParaRP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626063"/>
            <a:ext cx="7056784" cy="173904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4421408"/>
            <a:ext cx="7056783" cy="2319960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107504" y="2636912"/>
            <a:ext cx="1584176" cy="369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Before Mount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07504" y="4437112"/>
            <a:ext cx="1584176" cy="369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After Mount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29701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>
                <a:ea typeface="新細明體" panose="02020500000000000000" pitchFamily="18" charset="-120"/>
              </a:rPr>
              <a:t>Distributed Operating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447800"/>
            <a:ext cx="8424936" cy="1045096"/>
          </a:xfrm>
        </p:spPr>
        <p:txBody>
          <a:bodyPr/>
          <a:lstStyle/>
          <a:p>
            <a:pPr marL="273050" lvl="1" indent="-273050">
              <a:lnSpc>
                <a:spcPct val="90000"/>
              </a:lnSpc>
              <a:spcBef>
                <a:spcPts val="575"/>
              </a:spcBef>
              <a:buClr>
                <a:schemeClr val="accent1"/>
              </a:buClr>
            </a:pPr>
            <a:r>
              <a:rPr lang="en-US" altLang="zh-TW" sz="2200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Message passing </a:t>
            </a:r>
            <a:r>
              <a:rPr lang="en-US" altLang="zh-TW" sz="2200" dirty="0" smtClean="0">
                <a:ea typeface="新細明體" panose="02020500000000000000" pitchFamily="18" charset="-120"/>
              </a:rPr>
              <a:t>is the default choice for communications.</a:t>
            </a:r>
            <a:endParaRPr lang="en-US" altLang="zh-TW" sz="2200" dirty="0">
              <a:ea typeface="新細明體" panose="02020500000000000000" pitchFamily="18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TW" sz="2200" dirty="0" smtClean="0">
                <a:ea typeface="新細明體" panose="02020500000000000000" pitchFamily="18" charset="-120"/>
              </a:rPr>
              <a:t>Some provide </a:t>
            </a:r>
            <a:r>
              <a:rPr lang="en-US" altLang="zh-TW" sz="2200" dirty="0">
                <a:solidFill>
                  <a:srgbClr val="FF0000"/>
                </a:solidFill>
                <a:ea typeface="新細明體" panose="02020500000000000000" pitchFamily="18" charset="-120"/>
              </a:rPr>
              <a:t>distributed shared memory</a:t>
            </a:r>
          </a:p>
          <a:p>
            <a:pPr lvl="2">
              <a:lnSpc>
                <a:spcPct val="90000"/>
              </a:lnSpc>
            </a:pPr>
            <a:r>
              <a:rPr lang="en-US" altLang="zh-TW" sz="1800" dirty="0" smtClean="0">
                <a:ea typeface="新細明體" panose="02020500000000000000" pitchFamily="18" charset="-120"/>
              </a:rPr>
              <a:t>The performance of DSM is usually unacceptable.</a:t>
            </a:r>
            <a:endParaRPr lang="en-US" altLang="zh-TW" sz="1800" dirty="0">
              <a:ea typeface="新細明體" panose="02020500000000000000" pitchFamily="18" charset="-120"/>
            </a:endParaRPr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40" y="2470688"/>
            <a:ext cx="7556376" cy="427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369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399802"/>
            <a:ext cx="8352928" cy="940966"/>
          </a:xfrm>
        </p:spPr>
        <p:txBody>
          <a:bodyPr/>
          <a:lstStyle/>
          <a:p>
            <a:pPr algn="ctr"/>
            <a:r>
              <a:rPr lang="en-US" altLang="zh-TW" dirty="0" smtClean="0"/>
              <a:t>Distributed System </a:t>
            </a:r>
            <a:r>
              <a:rPr lang="en-US" altLang="zh-TW" dirty="0"/>
              <a:t>as a Middleware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1600" y="1447800"/>
            <a:ext cx="7488832" cy="126112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NOSs do not provide a single image to users</a:t>
            </a:r>
          </a:p>
          <a:p>
            <a:pPr>
              <a:lnSpc>
                <a:spcPct val="9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DOSs </a:t>
            </a:r>
            <a:r>
              <a:rPr lang="en-US" altLang="zh-TW" sz="2400" dirty="0" smtClean="0">
                <a:ea typeface="新細明體" panose="02020500000000000000" pitchFamily="18" charset="-120"/>
              </a:rPr>
              <a:t>usually requires all nodes running the same kernel</a:t>
            </a:r>
            <a:endParaRPr lang="en-US" altLang="zh-TW" sz="2400" dirty="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Middleware can provide transparency and </a:t>
            </a:r>
            <a:r>
              <a:rPr lang="en-US" altLang="zh-TW" sz="2400" dirty="0" smtClean="0">
                <a:ea typeface="新細明體" panose="02020500000000000000" pitchFamily="18" charset="-120"/>
              </a:rPr>
              <a:t>autonomous</a:t>
            </a:r>
            <a:endParaRPr lang="en-US" altLang="zh-TW" sz="2400" dirty="0">
              <a:ea typeface="新細明體" panose="02020500000000000000" pitchFamily="18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663645"/>
            <a:ext cx="7200800" cy="407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914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Middleware Models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12776"/>
            <a:ext cx="8784976" cy="5221560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Document Based Middleware </a:t>
            </a:r>
            <a:r>
              <a:rPr lang="en-US" altLang="zh-TW" dirty="0" smtClean="0"/>
              <a:t>treat a DS as a giant collection of documents.</a:t>
            </a:r>
          </a:p>
          <a:p>
            <a:pPr lvl="1"/>
            <a:r>
              <a:rPr lang="en-US" altLang="zh-TW" dirty="0" smtClean="0"/>
              <a:t>The World Wide Web (Web)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File System Based Middleware </a:t>
            </a:r>
            <a:r>
              <a:rPr lang="en-US" altLang="zh-TW" dirty="0" smtClean="0"/>
              <a:t>treat a DS as a big file system.</a:t>
            </a:r>
          </a:p>
          <a:p>
            <a:pPr lvl="1"/>
            <a:r>
              <a:rPr lang="en-US" altLang="zh-TW" dirty="0"/>
              <a:t>Plan </a:t>
            </a:r>
            <a:r>
              <a:rPr lang="en-US" altLang="zh-TW" dirty="0" smtClean="0"/>
              <a:t>9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http://9p.io/plan9</a:t>
            </a:r>
            <a:r>
              <a:rPr lang="en-US" altLang="zh-TW" dirty="0" smtClean="0">
                <a:hlinkClick r:id="rId2"/>
              </a:rPr>
              <a:t>/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inferno </a:t>
            </a:r>
            <a:r>
              <a:rPr lang="en-US" altLang="zh-TW" dirty="0"/>
              <a:t>(</a:t>
            </a:r>
            <a:r>
              <a:rPr lang="en-US" altLang="zh-TW" dirty="0">
                <a:hlinkClick r:id="rId3"/>
              </a:rPr>
              <a:t>http://www.vitanuova.com/inferno</a:t>
            </a:r>
            <a:r>
              <a:rPr lang="en-US" altLang="zh-TW" dirty="0" smtClean="0">
                <a:hlinkClick r:id="rId3"/>
              </a:rPr>
              <a:t>/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Distributed File Systems (less strict)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Object Based Middleware </a:t>
            </a:r>
            <a:r>
              <a:rPr lang="en-US" altLang="zh-TW" dirty="0" smtClean="0"/>
              <a:t>treat everything as an object.</a:t>
            </a:r>
          </a:p>
          <a:p>
            <a:pPr lvl="1"/>
            <a:r>
              <a:rPr lang="en-US" altLang="zh-TW" dirty="0"/>
              <a:t>CORBA (</a:t>
            </a:r>
            <a:r>
              <a:rPr lang="en-US" altLang="zh-TW" dirty="0">
                <a:hlinkClick r:id="rId4"/>
              </a:rPr>
              <a:t>http://www.corba.org</a:t>
            </a:r>
            <a:r>
              <a:rPr lang="en-US" altLang="zh-TW" dirty="0" smtClean="0">
                <a:hlinkClick r:id="rId4"/>
              </a:rPr>
              <a:t>/</a:t>
            </a:r>
            <a:r>
              <a:rPr lang="en-US" altLang="zh-TW" dirty="0" smtClean="0"/>
              <a:t>), DCOM, </a:t>
            </a:r>
            <a:r>
              <a:rPr lang="en-US" altLang="zh-TW" dirty="0" err="1" smtClean="0"/>
              <a:t>Java+RMI</a:t>
            </a:r>
            <a:endParaRPr lang="en-US" altLang="zh-TW" dirty="0" smtClean="0"/>
          </a:p>
          <a:p>
            <a:r>
              <a:rPr lang="en-US" altLang="zh-TW" dirty="0" smtClean="0">
                <a:solidFill>
                  <a:srgbClr val="FF0000"/>
                </a:solidFill>
              </a:rPr>
              <a:t>Coordination Based Middleware </a:t>
            </a:r>
          </a:p>
          <a:p>
            <a:pPr lvl="1"/>
            <a:r>
              <a:rPr lang="en-US" altLang="zh-TW" dirty="0"/>
              <a:t>Linda (</a:t>
            </a:r>
            <a:r>
              <a:rPr lang="en-US" altLang="zh-TW" dirty="0">
                <a:hlinkClick r:id="rId5"/>
              </a:rPr>
              <a:t>http://</a:t>
            </a:r>
            <a:r>
              <a:rPr lang="en-US" altLang="zh-TW" dirty="0" smtClean="0">
                <a:hlinkClick r:id="rId5"/>
              </a:rPr>
              <a:t>lindaspaces.com/downloads/evaluation.html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Publish/subscribe (event based middleware)</a:t>
            </a:r>
          </a:p>
        </p:txBody>
      </p:sp>
    </p:spTree>
    <p:extLst>
      <p:ext uri="{BB962C8B-B14F-4D97-AF65-F5344CB8AC3E}">
        <p14:creationId xmlns:p14="http://schemas.microsoft.com/office/powerpoint/2010/main" val="2694831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World Wide Web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447800"/>
            <a:ext cx="8291264" cy="829072"/>
          </a:xfrm>
        </p:spPr>
        <p:txBody>
          <a:bodyPr/>
          <a:lstStyle/>
          <a:p>
            <a:r>
              <a:rPr lang="en-US" altLang="zh-TW" dirty="0">
                <a:cs typeface="Times New Roman" panose="02020603050405020304" pitchFamily="18" charset="0"/>
              </a:rPr>
              <a:t>The World Wide Web is a </a:t>
            </a:r>
            <a:r>
              <a:rPr lang="en-US" altLang="zh-TW" dirty="0" smtClean="0">
                <a:cs typeface="Times New Roman" panose="02020603050405020304" pitchFamily="18" charset="0"/>
              </a:rPr>
              <a:t>network </a:t>
            </a:r>
            <a:r>
              <a:rPr lang="en-US" altLang="zh-TW" dirty="0">
                <a:cs typeface="Times New Roman" panose="02020603050405020304" pitchFamily="18" charset="0"/>
              </a:rPr>
              <a:t>of </a:t>
            </a:r>
            <a:r>
              <a:rPr lang="en-US" altLang="zh-TW" dirty="0" smtClean="0">
                <a:cs typeface="Times New Roman" panose="02020603050405020304" pitchFamily="18" charset="0"/>
              </a:rPr>
              <a:t>hyperlinked documents </a:t>
            </a:r>
            <a:r>
              <a:rPr lang="en-US" altLang="zh-TW" dirty="0">
                <a:cs typeface="Times New Roman" panose="02020603050405020304" pitchFamily="18" charset="0"/>
              </a:rPr>
              <a:t>and other resources </a:t>
            </a:r>
            <a:r>
              <a:rPr lang="en-US" altLang="zh-TW" dirty="0" smtClean="0">
                <a:cs typeface="Times New Roman" panose="02020603050405020304" pitchFamily="18" charset="0"/>
              </a:rPr>
              <a:t>that are hold on </a:t>
            </a:r>
            <a:r>
              <a:rPr lang="en-US" altLang="zh-TW" dirty="0">
                <a:cs typeface="Times New Roman" panose="02020603050405020304" pitchFamily="18" charset="0"/>
              </a:rPr>
              <a:t>the </a:t>
            </a:r>
            <a:r>
              <a:rPr lang="en-US" altLang="zh-TW" dirty="0" smtClean="0">
                <a:cs typeface="Times New Roman" panose="02020603050405020304" pitchFamily="18" charset="0"/>
              </a:rPr>
              <a:t>Internet</a:t>
            </a:r>
            <a:r>
              <a:rPr lang="en-US" altLang="zh-TW" dirty="0">
                <a:cs typeface="Times New Roman" panose="02020603050405020304" pitchFamily="18" charset="0"/>
              </a:rPr>
              <a:t>.</a:t>
            </a:r>
            <a:endParaRPr lang="en-CA" altLang="zh-TW" dirty="0"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440" y="2276872"/>
            <a:ext cx="7083952" cy="439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81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Gets a Document from the Web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9036496" cy="5077544"/>
          </a:xfrm>
        </p:spPr>
        <p:txBody>
          <a:bodyPr/>
          <a:lstStyle/>
          <a:p>
            <a:r>
              <a:rPr lang="en-US" altLang="zh-TW" dirty="0" smtClean="0"/>
              <a:t>To get </a:t>
            </a:r>
            <a:r>
              <a:rPr lang="en-US" altLang="zh-TW" dirty="0"/>
              <a:t>the page </a:t>
            </a:r>
            <a:r>
              <a:rPr lang="en-US" altLang="zh-TW" dirty="0" smtClean="0"/>
              <a:t>of NYCU president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 smtClean="0"/>
              <a:t>	</a:t>
            </a:r>
            <a:r>
              <a:rPr lang="en-US" altLang="zh-TW" sz="2200" dirty="0" smtClean="0">
                <a:hlinkClick r:id="rId2"/>
              </a:rPr>
              <a:t>https</a:t>
            </a:r>
            <a:r>
              <a:rPr lang="en-US" altLang="zh-TW" sz="2200" dirty="0">
                <a:hlinkClick r:id="rId2"/>
              </a:rPr>
              <a:t>://</a:t>
            </a:r>
            <a:r>
              <a:rPr lang="en-US" altLang="zh-TW" sz="2200" dirty="0" smtClean="0">
                <a:hlinkClick r:id="rId2"/>
              </a:rPr>
              <a:t>www.nycu.edu.tw/president-office/chi-hung-lin/</a:t>
            </a:r>
            <a:endParaRPr lang="en-US" altLang="zh-TW" sz="2200" dirty="0" smtClean="0"/>
          </a:p>
          <a:p>
            <a:pPr lvl="1"/>
            <a:r>
              <a:rPr lang="en-US" altLang="zh-TW" dirty="0" smtClean="0"/>
              <a:t>A browser (UI to the web) first asks a DNS </a:t>
            </a:r>
            <a:r>
              <a:rPr lang="en-US" altLang="zh-TW" dirty="0"/>
              <a:t>for IP address of </a:t>
            </a:r>
            <a:r>
              <a:rPr lang="en-US" altLang="zh-TW" dirty="0" smtClean="0"/>
              <a:t>www.nycu.edu.tw</a:t>
            </a:r>
            <a:endParaRPr lang="en-US" altLang="zh-TW" dirty="0"/>
          </a:p>
          <a:p>
            <a:pPr lvl="2"/>
            <a:r>
              <a:rPr lang="en-US" altLang="zh-TW" dirty="0" smtClean="0"/>
              <a:t>The DNS replies </a:t>
            </a:r>
            <a:r>
              <a:rPr lang="en-US" altLang="zh-TW" dirty="0"/>
              <a:t>with </a:t>
            </a:r>
            <a:r>
              <a:rPr lang="en-US" altLang="zh-TW" dirty="0" err="1" smtClean="0"/>
              <a:t>xxx.xxx.xxx.xxx</a:t>
            </a:r>
            <a:endParaRPr lang="en-US" altLang="zh-TW" dirty="0"/>
          </a:p>
          <a:p>
            <a:pPr lvl="1"/>
            <a:r>
              <a:rPr lang="en-US" altLang="zh-TW" dirty="0" smtClean="0"/>
              <a:t>The browser then makes </a:t>
            </a:r>
            <a:r>
              <a:rPr lang="en-US" altLang="zh-TW" dirty="0"/>
              <a:t>a TCP connection to port 80 on </a:t>
            </a:r>
            <a:r>
              <a:rPr lang="en-US" altLang="zh-TW" dirty="0" err="1" smtClean="0"/>
              <a:t>xxx.xxx.xxx.xxx</a:t>
            </a:r>
            <a:r>
              <a:rPr lang="en-US" altLang="zh-TW" dirty="0" smtClean="0"/>
              <a:t> </a:t>
            </a:r>
          </a:p>
          <a:p>
            <a:pPr lvl="2"/>
            <a:r>
              <a:rPr lang="en-US" altLang="zh-TW" dirty="0" smtClean="0"/>
              <a:t>After connection is set up, it </a:t>
            </a:r>
            <a:r>
              <a:rPr lang="en-US" altLang="zh-TW" dirty="0"/>
              <a:t>sends a request asking for the </a:t>
            </a:r>
            <a:r>
              <a:rPr lang="en-US" altLang="zh-TW" dirty="0" smtClean="0"/>
              <a:t>document 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 smtClean="0"/>
              <a:t>“president-office/chi-hung-</a:t>
            </a:r>
            <a:r>
              <a:rPr lang="en-US" altLang="zh-TW" dirty="0" err="1" smtClean="0"/>
              <a:t>lin</a:t>
            </a:r>
            <a:r>
              <a:rPr lang="en-US" altLang="zh-TW" dirty="0" smtClean="0"/>
              <a:t>/”</a:t>
            </a:r>
          </a:p>
          <a:p>
            <a:pPr lvl="2"/>
            <a:r>
              <a:rPr lang="en-US" altLang="zh-TW" dirty="0"/>
              <a:t>The </a:t>
            </a:r>
            <a:r>
              <a:rPr lang="en-US" altLang="zh-TW" dirty="0" smtClean="0">
                <a:hlinkClick r:id="rId3"/>
              </a:rPr>
              <a:t>www.nycu.edu.tw</a:t>
            </a:r>
            <a:r>
              <a:rPr lang="en-US" altLang="zh-TW" dirty="0" smtClean="0"/>
              <a:t> server </a:t>
            </a:r>
            <a:r>
              <a:rPr lang="en-US" altLang="zh-TW" dirty="0"/>
              <a:t>sends </a:t>
            </a:r>
            <a:r>
              <a:rPr lang="en-US" altLang="zh-TW" dirty="0" smtClean="0"/>
              <a:t>back the document </a:t>
            </a:r>
            <a:endParaRPr lang="en-US" altLang="zh-TW" dirty="0"/>
          </a:p>
          <a:p>
            <a:pPr lvl="1"/>
            <a:r>
              <a:rPr lang="en-US" altLang="zh-TW" dirty="0" smtClean="0"/>
              <a:t>The browser </a:t>
            </a:r>
            <a:r>
              <a:rPr lang="en-US" altLang="zh-TW" dirty="0"/>
              <a:t>displays all the text in </a:t>
            </a:r>
            <a:r>
              <a:rPr lang="en-US" altLang="zh-TW" dirty="0" smtClean="0"/>
              <a:t>the returned document</a:t>
            </a:r>
            <a:endParaRPr lang="en-US" altLang="zh-TW" dirty="0"/>
          </a:p>
          <a:p>
            <a:pPr lvl="2"/>
            <a:r>
              <a:rPr lang="en-US" altLang="zh-TW" dirty="0" smtClean="0"/>
              <a:t>It also </a:t>
            </a:r>
            <a:r>
              <a:rPr lang="en-US" altLang="zh-TW" dirty="0"/>
              <a:t>fetches and displays all images on the page</a:t>
            </a:r>
          </a:p>
          <a:p>
            <a:pPr lvl="1"/>
            <a:r>
              <a:rPr lang="en-US" altLang="zh-TW" dirty="0" smtClean="0"/>
              <a:t>Finally, the </a:t>
            </a:r>
            <a:r>
              <a:rPr lang="en-US" altLang="zh-TW" dirty="0"/>
              <a:t>TCP connection is </a:t>
            </a:r>
            <a:r>
              <a:rPr lang="en-US" altLang="zh-TW" dirty="0" smtClean="0"/>
              <a:t>released</a:t>
            </a:r>
            <a:endParaRPr lang="en-US" altLang="zh-TW" dirty="0"/>
          </a:p>
          <a:p>
            <a:pPr lvl="2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19631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Uniform Resource Locator (</a:t>
            </a:r>
            <a:r>
              <a:rPr lang="en-US" altLang="zh-TW" dirty="0" smtClean="0">
                <a:solidFill>
                  <a:srgbClr val="FF0000"/>
                </a:solidFill>
              </a:rPr>
              <a:t>URL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519808"/>
            <a:ext cx="8856984" cy="3565376"/>
          </a:xfrm>
        </p:spPr>
        <p:txBody>
          <a:bodyPr/>
          <a:lstStyle/>
          <a:p>
            <a:r>
              <a:rPr lang="en-US" altLang="zh-TW" sz="2400" dirty="0" smtClean="0"/>
              <a:t>Each document in the web has a unique address, called a URL.</a:t>
            </a:r>
          </a:p>
          <a:p>
            <a:r>
              <a:rPr lang="en-US" altLang="zh-TW" sz="2400" dirty="0" smtClean="0"/>
              <a:t>Each URL consists of 4 components.</a:t>
            </a:r>
          </a:p>
          <a:p>
            <a:pPr lvl="1"/>
            <a:r>
              <a:rPr lang="en-US" altLang="zh-TW" sz="2000" dirty="0"/>
              <a:t>The </a:t>
            </a:r>
            <a:r>
              <a:rPr lang="en-US" altLang="zh-TW" sz="2000" dirty="0">
                <a:solidFill>
                  <a:srgbClr val="FF0000"/>
                </a:solidFill>
              </a:rPr>
              <a:t>protocol</a:t>
            </a:r>
            <a:r>
              <a:rPr lang="en-US" altLang="zh-TW" sz="2000" dirty="0"/>
              <a:t> gives the method of communication to be used</a:t>
            </a:r>
            <a:r>
              <a:rPr lang="en-US" altLang="zh-TW" sz="2000" dirty="0" smtClean="0"/>
              <a:t>.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</a:rPr>
              <a:t>http</a:t>
            </a:r>
            <a:r>
              <a:rPr lang="en-US" altLang="zh-TW" dirty="0" smtClean="0"/>
              <a:t> </a:t>
            </a:r>
            <a:r>
              <a:rPr lang="en-US" altLang="zh-TW" dirty="0"/>
              <a:t>is </a:t>
            </a:r>
            <a:r>
              <a:rPr lang="en-US" altLang="zh-TW" dirty="0" smtClean="0"/>
              <a:t>the most common one, </a:t>
            </a:r>
            <a:r>
              <a:rPr lang="en-US" altLang="zh-TW" dirty="0"/>
              <a:t>but </a:t>
            </a:r>
            <a:r>
              <a:rPr lang="en-US" altLang="zh-TW" dirty="0" smtClean="0">
                <a:solidFill>
                  <a:srgbClr val="FF0000"/>
                </a:solidFill>
              </a:rPr>
              <a:t>ftp</a:t>
            </a:r>
            <a:r>
              <a:rPr lang="en-US" altLang="zh-TW" dirty="0" smtClean="0"/>
              <a:t> and others are also used.</a:t>
            </a:r>
          </a:p>
          <a:p>
            <a:pPr lvl="1"/>
            <a:r>
              <a:rPr lang="en-US" altLang="zh-TW" sz="2000" dirty="0"/>
              <a:t>The </a:t>
            </a:r>
            <a:r>
              <a:rPr lang="en-US" altLang="zh-TW" sz="2000" dirty="0">
                <a:solidFill>
                  <a:srgbClr val="FF0000"/>
                </a:solidFill>
              </a:rPr>
              <a:t>domain name </a:t>
            </a:r>
            <a:r>
              <a:rPr lang="en-US" altLang="zh-TW" sz="2000" dirty="0"/>
              <a:t>is the name of the computer </a:t>
            </a:r>
            <a:r>
              <a:rPr lang="en-US" altLang="zh-TW" sz="2000" dirty="0" smtClean="0"/>
              <a:t>(host) that holds </a:t>
            </a:r>
            <a:r>
              <a:rPr lang="en-US" altLang="zh-TW" sz="2000" dirty="0"/>
              <a:t>the </a:t>
            </a:r>
            <a:r>
              <a:rPr lang="en-US" altLang="zh-TW" sz="2000" dirty="0" smtClean="0"/>
              <a:t>resource.</a:t>
            </a:r>
          </a:p>
          <a:p>
            <a:pPr lvl="1"/>
            <a:r>
              <a:rPr lang="en-US" altLang="zh-TW" sz="2000" dirty="0"/>
              <a:t>The </a:t>
            </a:r>
            <a:r>
              <a:rPr lang="en-US" altLang="zh-TW" sz="2000" dirty="0">
                <a:solidFill>
                  <a:srgbClr val="FF0000"/>
                </a:solidFill>
              </a:rPr>
              <a:t>port</a:t>
            </a:r>
            <a:r>
              <a:rPr lang="en-US" altLang="zh-TW" sz="2000" dirty="0"/>
              <a:t> specifies the port number that the server is listening to for requests.</a:t>
            </a:r>
          </a:p>
          <a:p>
            <a:pPr lvl="2"/>
            <a:r>
              <a:rPr lang="en-US" altLang="zh-TW" sz="1600" dirty="0" smtClean="0"/>
              <a:t>The port </a:t>
            </a:r>
            <a:r>
              <a:rPr lang="en-US" altLang="zh-TW" sz="1600" dirty="0"/>
              <a:t>number is </a:t>
            </a:r>
            <a:r>
              <a:rPr lang="en-US" altLang="zh-TW" sz="1600" dirty="0" smtClean="0"/>
              <a:t>optional</a:t>
            </a:r>
            <a:r>
              <a:rPr lang="en-US" altLang="zh-TW" sz="1600" dirty="0"/>
              <a:t>. If not given, the </a:t>
            </a:r>
            <a:r>
              <a:rPr lang="en-US" altLang="zh-TW" sz="1600" dirty="0" smtClean="0"/>
              <a:t>port </a:t>
            </a:r>
            <a:r>
              <a:rPr lang="en-US" altLang="zh-TW" sz="1600" dirty="0">
                <a:solidFill>
                  <a:srgbClr val="FF0000"/>
                </a:solidFill>
              </a:rPr>
              <a:t>80</a:t>
            </a:r>
            <a:r>
              <a:rPr lang="en-US" altLang="zh-TW" sz="1600" dirty="0"/>
              <a:t> is </a:t>
            </a:r>
            <a:r>
              <a:rPr lang="en-US" altLang="zh-TW" sz="1600" dirty="0" smtClean="0"/>
              <a:t>used as the default.</a:t>
            </a:r>
          </a:p>
          <a:p>
            <a:pPr lvl="1"/>
            <a:r>
              <a:rPr lang="en-US" altLang="zh-TW" sz="2200" dirty="0" smtClean="0"/>
              <a:t>The last part specifies the resource path in the host.</a:t>
            </a:r>
          </a:p>
          <a:p>
            <a:pPr lvl="2"/>
            <a:r>
              <a:rPr lang="en-US" altLang="zh-TW" sz="1800" dirty="0" smtClean="0"/>
              <a:t>It is also optional. If omitted, the file “</a:t>
            </a:r>
            <a:r>
              <a:rPr lang="en-US" altLang="zh-TW" sz="1800" dirty="0" smtClean="0">
                <a:solidFill>
                  <a:srgbClr val="FF0000"/>
                </a:solidFill>
              </a:rPr>
              <a:t>index.html</a:t>
            </a:r>
            <a:r>
              <a:rPr lang="en-US" altLang="zh-TW" sz="1800" dirty="0" smtClean="0"/>
              <a:t>” is used as the default. </a:t>
            </a:r>
            <a:endParaRPr lang="en-CA" altLang="zh-TW" sz="1800" dirty="0"/>
          </a:p>
          <a:p>
            <a:pPr lvl="1"/>
            <a:endParaRPr lang="en-US" altLang="zh-TW" sz="2000" dirty="0"/>
          </a:p>
          <a:p>
            <a:pPr lvl="1"/>
            <a:endParaRPr lang="en-CA" altLang="zh-TW" sz="2000" dirty="0">
              <a:ea typeface="新細明體" panose="02020500000000000000" pitchFamily="18" charset="-120"/>
            </a:endParaRPr>
          </a:p>
          <a:p>
            <a:pPr lvl="1"/>
            <a:endParaRPr lang="zh-TW" altLang="en-US" sz="2000" dirty="0"/>
          </a:p>
        </p:txBody>
      </p:sp>
      <p:grpSp>
        <p:nvGrpSpPr>
          <p:cNvPr id="9" name="群組 8"/>
          <p:cNvGrpSpPr/>
          <p:nvPr/>
        </p:nvGrpSpPr>
        <p:grpSpPr>
          <a:xfrm>
            <a:off x="107504" y="4936495"/>
            <a:ext cx="8892480" cy="1516841"/>
            <a:chOff x="107504" y="4936495"/>
            <a:chExt cx="8892480" cy="1516841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504" y="4936495"/>
              <a:ext cx="8892480" cy="1516841"/>
            </a:xfrm>
            <a:prstGeom prst="rect">
              <a:avLst/>
            </a:prstGeom>
          </p:spPr>
        </p:pic>
        <p:cxnSp>
          <p:nvCxnSpPr>
            <p:cNvPr id="7" name="直線接點 6"/>
            <p:cNvCxnSpPr/>
            <p:nvPr/>
          </p:nvCxnSpPr>
          <p:spPr>
            <a:xfrm>
              <a:off x="4932040" y="5877272"/>
              <a:ext cx="0" cy="4320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接點 7"/>
            <p:cNvCxnSpPr/>
            <p:nvPr/>
          </p:nvCxnSpPr>
          <p:spPr>
            <a:xfrm>
              <a:off x="6228184" y="5877272"/>
              <a:ext cx="0" cy="4320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04034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Plan 9 &amp; Inferno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928992" cy="5149552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Plan 9</a:t>
            </a:r>
            <a:r>
              <a:rPr lang="en-US" altLang="zh-TW" dirty="0" smtClean="0"/>
              <a:t> was </a:t>
            </a:r>
            <a:r>
              <a:rPr lang="en-US" altLang="zh-TW" dirty="0"/>
              <a:t>d</a:t>
            </a:r>
            <a:r>
              <a:rPr lang="en-US" altLang="zh-TW" dirty="0" smtClean="0"/>
              <a:t>esigned </a:t>
            </a:r>
            <a:r>
              <a:rPr lang="en-US" altLang="zh-TW" dirty="0"/>
              <a:t>in m</a:t>
            </a:r>
            <a:r>
              <a:rPr lang="en-US" altLang="zh-TW" dirty="0" smtClean="0"/>
              <a:t>id 80s </a:t>
            </a:r>
            <a:r>
              <a:rPr lang="en-US" altLang="zh-TW" dirty="0"/>
              <a:t>by many of the creators of </a:t>
            </a:r>
            <a:r>
              <a:rPr lang="en-US" altLang="zh-TW" dirty="0" smtClean="0"/>
              <a:t>UNIX in Bell Lab.</a:t>
            </a:r>
            <a:endParaRPr lang="en-US" altLang="zh-TW" dirty="0"/>
          </a:p>
          <a:p>
            <a:pPr lvl="1"/>
            <a:r>
              <a:rPr lang="en-US" altLang="zh-TW" dirty="0" smtClean="0"/>
              <a:t>Rob </a:t>
            </a:r>
            <a:r>
              <a:rPr lang="en-US" altLang="zh-TW" dirty="0"/>
              <a:t>Pike, Ken Thompson, Brian Kernighan, Dennis </a:t>
            </a:r>
            <a:r>
              <a:rPr lang="en-US" altLang="zh-TW" dirty="0" smtClean="0"/>
              <a:t>Ritchie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Inferno</a:t>
            </a:r>
            <a:r>
              <a:rPr lang="en-US" altLang="zh-TW" dirty="0"/>
              <a:t> is a light and embedded version of Plan </a:t>
            </a:r>
            <a:r>
              <a:rPr lang="en-US" altLang="zh-TW" dirty="0" smtClean="0"/>
              <a:t>9.</a:t>
            </a:r>
          </a:p>
          <a:p>
            <a:r>
              <a:rPr lang="en-US" altLang="zh-TW" dirty="0" smtClean="0"/>
              <a:t>The goal of Plan 9 was to 『</a:t>
            </a:r>
            <a:r>
              <a:rPr lang="en-US" altLang="zh-TW" dirty="0" smtClean="0">
                <a:solidFill>
                  <a:srgbClr val="FF0000"/>
                </a:solidFill>
              </a:rPr>
              <a:t>Build </a:t>
            </a:r>
            <a:r>
              <a:rPr lang="en-US" altLang="zh-TW" dirty="0">
                <a:solidFill>
                  <a:srgbClr val="FF0000"/>
                </a:solidFill>
              </a:rPr>
              <a:t>a UNIX out of little </a:t>
            </a:r>
            <a:r>
              <a:rPr lang="en-US" altLang="zh-TW" dirty="0" smtClean="0">
                <a:solidFill>
                  <a:srgbClr val="FF0000"/>
                </a:solidFill>
              </a:rPr>
              <a:t>system</a:t>
            </a:r>
            <a:r>
              <a:rPr lang="zh-TW" altLang="en-US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』</a:t>
            </a:r>
            <a:endParaRPr lang="en-US" altLang="zh-TW" dirty="0" smtClean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/>
            <a:r>
              <a:rPr lang="en-US" altLang="zh-TW" dirty="0"/>
              <a:t>Take the good </a:t>
            </a:r>
            <a:r>
              <a:rPr lang="en-US" altLang="zh-TW" dirty="0" smtClean="0"/>
              <a:t>things:</a:t>
            </a:r>
            <a:r>
              <a:rPr lang="zh-TW" altLang="en-US" dirty="0" smtClean="0"/>
              <a:t> </a:t>
            </a:r>
            <a:r>
              <a:rPr lang="en-US" altLang="zh-TW" dirty="0" smtClean="0"/>
              <a:t>『</a:t>
            </a:r>
            <a:r>
              <a:rPr lang="en-US" altLang="zh-TW" dirty="0" smtClean="0">
                <a:solidFill>
                  <a:srgbClr val="FF0000"/>
                </a:solidFill>
              </a:rPr>
              <a:t>Tree-structured </a:t>
            </a:r>
            <a:r>
              <a:rPr lang="en-US" altLang="zh-TW" dirty="0">
                <a:solidFill>
                  <a:srgbClr val="FF0000"/>
                </a:solidFill>
              </a:rPr>
              <a:t>file </a:t>
            </a:r>
            <a:r>
              <a:rPr lang="en-US" altLang="zh-TW" dirty="0" smtClean="0">
                <a:solidFill>
                  <a:srgbClr val="FF0000"/>
                </a:solidFill>
              </a:rPr>
              <a:t>system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』</a:t>
            </a:r>
          </a:p>
          <a:p>
            <a:pPr lvl="1"/>
            <a:r>
              <a:rPr lang="en-US" altLang="zh-TW" dirty="0"/>
              <a:t>Toss the rest </a:t>
            </a:r>
            <a:r>
              <a:rPr lang="en-US" altLang="zh-TW" dirty="0" smtClean="0"/>
              <a:t>:  </a:t>
            </a:r>
            <a:r>
              <a:rPr lang="en-US" altLang="zh-TW" dirty="0" err="1" smtClean="0"/>
              <a:t>ttys</a:t>
            </a:r>
            <a:r>
              <a:rPr lang="en-US" altLang="zh-TW" dirty="0"/>
              <a:t>, </a:t>
            </a:r>
            <a:r>
              <a:rPr lang="en-US" altLang="zh-TW" dirty="0" err="1"/>
              <a:t>ioctl</a:t>
            </a:r>
            <a:r>
              <a:rPr lang="en-US" altLang="zh-TW" dirty="0"/>
              <a:t>(), </a:t>
            </a:r>
            <a:r>
              <a:rPr lang="en-US" altLang="zh-TW" dirty="0" smtClean="0"/>
              <a:t>signals, …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Everything is a </a:t>
            </a:r>
            <a:r>
              <a:rPr lang="en-US" altLang="zh-TW" dirty="0" smtClean="0">
                <a:solidFill>
                  <a:srgbClr val="FF0000"/>
                </a:solidFill>
              </a:rPr>
              <a:t>file </a:t>
            </a:r>
            <a:r>
              <a:rPr lang="en-US" altLang="zh-TW" dirty="0" smtClean="0"/>
              <a:t>!!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Pathnames</a:t>
            </a:r>
            <a:r>
              <a:rPr lang="en-US" altLang="zh-TW" dirty="0" smtClean="0"/>
              <a:t> for </a:t>
            </a:r>
            <a:r>
              <a:rPr lang="en-US" altLang="zh-TW" dirty="0"/>
              <a:t>all </a:t>
            </a:r>
            <a:r>
              <a:rPr lang="en-US" altLang="zh-TW" dirty="0" smtClean="0"/>
              <a:t>resources (file, process, network, devices, …)</a:t>
            </a:r>
          </a:p>
          <a:p>
            <a:pPr lvl="1"/>
            <a:r>
              <a:rPr lang="en-US" altLang="zh-TW" dirty="0" smtClean="0"/>
              <a:t>A standard resource access protocol </a:t>
            </a:r>
            <a:r>
              <a:rPr lang="en-US" altLang="zh-TW" dirty="0" smtClean="0">
                <a:solidFill>
                  <a:srgbClr val="FF0000"/>
                </a:solidFill>
              </a:rPr>
              <a:t>9P</a:t>
            </a:r>
            <a:r>
              <a:rPr lang="en-US" altLang="zh-TW" dirty="0" smtClean="0"/>
              <a:t> is used to </a:t>
            </a:r>
            <a:r>
              <a:rPr lang="en-US" altLang="zh-TW" dirty="0"/>
              <a:t>access any </a:t>
            </a:r>
            <a:r>
              <a:rPr lang="en-US" altLang="zh-TW" dirty="0" smtClean="0"/>
              <a:t>resource (remote </a:t>
            </a:r>
            <a:r>
              <a:rPr lang="en-US" altLang="zh-TW" dirty="0"/>
              <a:t>or </a:t>
            </a:r>
            <a:r>
              <a:rPr lang="en-US" altLang="zh-TW" dirty="0" smtClean="0"/>
              <a:t>local are the same)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81071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Core Design Concept of Plan 9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5149552"/>
          </a:xfrm>
        </p:spPr>
        <p:txBody>
          <a:bodyPr/>
          <a:lstStyle/>
          <a:p>
            <a:r>
              <a:rPr lang="en-US" altLang="zh-TW" dirty="0"/>
              <a:t>All </a:t>
            </a:r>
            <a:r>
              <a:rPr lang="en-US" altLang="zh-TW" dirty="0" smtClean="0"/>
              <a:t>resources are represented </a:t>
            </a:r>
            <a:r>
              <a:rPr lang="en-US" altLang="zh-TW" dirty="0"/>
              <a:t>as </a:t>
            </a:r>
            <a:r>
              <a:rPr lang="en-US" altLang="zh-TW" dirty="0" smtClean="0"/>
              <a:t>file hierarchies</a:t>
            </a:r>
            <a:endParaRPr lang="en-US" altLang="zh-TW" dirty="0"/>
          </a:p>
          <a:p>
            <a:pPr lvl="1"/>
            <a:r>
              <a:rPr lang="en-US" altLang="zh-TW" dirty="0" smtClean="0"/>
              <a:t>System </a:t>
            </a:r>
            <a:r>
              <a:rPr lang="en-US" altLang="zh-TW" dirty="0"/>
              <a:t>Resources: processes, devices, networking stack</a:t>
            </a:r>
          </a:p>
          <a:p>
            <a:pPr lvl="1"/>
            <a:r>
              <a:rPr lang="en-US" altLang="zh-TW" dirty="0" smtClean="0"/>
              <a:t>System </a:t>
            </a:r>
            <a:r>
              <a:rPr lang="en-US" altLang="zh-TW" dirty="0"/>
              <a:t>Services: DNS, Window System, Plumbing</a:t>
            </a:r>
          </a:p>
          <a:p>
            <a:pPr lvl="1"/>
            <a:r>
              <a:rPr lang="en-US" altLang="zh-TW" dirty="0" smtClean="0"/>
              <a:t>Application </a:t>
            </a:r>
            <a:r>
              <a:rPr lang="en-US" altLang="zh-TW" dirty="0"/>
              <a:t>Services: Editor Interfaces, Plumbing</a:t>
            </a:r>
          </a:p>
          <a:p>
            <a:r>
              <a:rPr lang="en-US" altLang="zh-TW" dirty="0" smtClean="0"/>
              <a:t>Namespaces</a:t>
            </a:r>
            <a:endParaRPr lang="en-US" altLang="zh-TW" dirty="0"/>
          </a:p>
          <a:p>
            <a:pPr lvl="1"/>
            <a:r>
              <a:rPr lang="en-US" altLang="zh-TW" dirty="0"/>
              <a:t>a</a:t>
            </a:r>
            <a:r>
              <a:rPr lang="en-US" altLang="zh-TW" dirty="0" smtClean="0"/>
              <a:t>re private and </a:t>
            </a:r>
            <a:r>
              <a:rPr lang="en-US" altLang="zh-TW" dirty="0"/>
              <a:t>per-process by default</a:t>
            </a:r>
          </a:p>
          <a:p>
            <a:pPr lvl="1"/>
            <a:r>
              <a:rPr lang="en-US" altLang="zh-TW" dirty="0" smtClean="0"/>
              <a:t>can be manipulated by users</a:t>
            </a:r>
            <a:endParaRPr lang="en-US" altLang="zh-TW" dirty="0"/>
          </a:p>
          <a:p>
            <a:pPr lvl="1"/>
            <a:r>
              <a:rPr lang="en-US" altLang="zh-TW" dirty="0"/>
              <a:t>c</a:t>
            </a:r>
            <a:r>
              <a:rPr lang="en-US" altLang="zh-TW" dirty="0" smtClean="0"/>
              <a:t>an bind </a:t>
            </a:r>
            <a:r>
              <a:rPr lang="en-US" altLang="zh-TW" dirty="0"/>
              <a:t>and union directories</a:t>
            </a:r>
          </a:p>
          <a:p>
            <a:r>
              <a:rPr lang="en-US" altLang="zh-TW" dirty="0" smtClean="0"/>
              <a:t>Standard </a:t>
            </a:r>
            <a:r>
              <a:rPr lang="en-US" altLang="zh-TW" dirty="0"/>
              <a:t>Communication Protocol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standard protocol, 9P, </a:t>
            </a:r>
            <a:r>
              <a:rPr lang="en-US" altLang="zh-TW" dirty="0" smtClean="0"/>
              <a:t>is used </a:t>
            </a:r>
            <a:r>
              <a:rPr lang="en-US" altLang="zh-TW" dirty="0"/>
              <a:t>to access both local </a:t>
            </a:r>
            <a:r>
              <a:rPr lang="en-US" altLang="zh-TW" dirty="0" smtClean="0"/>
              <a:t>and remote </a:t>
            </a:r>
            <a:r>
              <a:rPr lang="en-US" altLang="zh-TW" dirty="0"/>
              <a:t>resources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475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27794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Basic Facts of 9P Protocol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519808"/>
            <a:ext cx="8712968" cy="5005536"/>
          </a:xfrm>
        </p:spPr>
        <p:txBody>
          <a:bodyPr/>
          <a:lstStyle/>
          <a:p>
            <a:r>
              <a:rPr lang="en-US" altLang="zh-TW" dirty="0"/>
              <a:t>One protocol to </a:t>
            </a:r>
            <a:r>
              <a:rPr lang="en-US" altLang="zh-TW" dirty="0" smtClean="0"/>
              <a:t>access all resources</a:t>
            </a:r>
          </a:p>
          <a:p>
            <a:pPr lvl="1"/>
            <a:r>
              <a:rPr lang="en-US" altLang="zh-TW" dirty="0"/>
              <a:t>9P is </a:t>
            </a:r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FF0000"/>
                </a:solidFill>
              </a:rPr>
              <a:t>VFS</a:t>
            </a:r>
            <a:r>
              <a:rPr lang="en-US" altLang="zh-TW" dirty="0" smtClean="0"/>
              <a:t> of the Plan 9</a:t>
            </a:r>
          </a:p>
          <a:p>
            <a:r>
              <a:rPr lang="en-US" altLang="zh-TW" dirty="0"/>
              <a:t>Local operations </a:t>
            </a:r>
            <a:r>
              <a:rPr lang="en-US" altLang="zh-TW" dirty="0" smtClean="0"/>
              <a:t>are degraded </a:t>
            </a:r>
            <a:r>
              <a:rPr lang="en-US" altLang="zh-TW" dirty="0"/>
              <a:t>to </a:t>
            </a:r>
            <a:r>
              <a:rPr lang="en-US" altLang="zh-TW" dirty="0" smtClean="0"/>
              <a:t>function calls</a:t>
            </a:r>
            <a:endParaRPr lang="en-US" altLang="zh-TW" dirty="0"/>
          </a:p>
          <a:p>
            <a:r>
              <a:rPr lang="en-US" altLang="zh-TW" dirty="0" smtClean="0"/>
              <a:t>Remote </a:t>
            </a:r>
            <a:r>
              <a:rPr lang="en-US" altLang="zh-TW" dirty="0"/>
              <a:t>operations </a:t>
            </a:r>
            <a:r>
              <a:rPr lang="en-US" altLang="zh-TW" dirty="0" smtClean="0"/>
              <a:t>are similar </a:t>
            </a:r>
            <a:r>
              <a:rPr lang="en-US" altLang="zh-TW" dirty="0"/>
              <a:t>to proxy operations</a:t>
            </a:r>
          </a:p>
          <a:p>
            <a:pPr lvl="1"/>
            <a:r>
              <a:rPr lang="en-US" altLang="zh-TW" dirty="0" smtClean="0"/>
              <a:t>Pure </a:t>
            </a:r>
            <a:r>
              <a:rPr lang="en-US" altLang="zh-TW" dirty="0"/>
              <a:t>request/response RPC </a:t>
            </a:r>
            <a:r>
              <a:rPr lang="en-US" altLang="zh-TW" dirty="0" smtClean="0"/>
              <a:t>model is used</a:t>
            </a:r>
            <a:endParaRPr lang="en-US" altLang="zh-TW" dirty="0"/>
          </a:p>
          <a:p>
            <a:pPr lvl="1"/>
            <a:r>
              <a:rPr lang="en-US" altLang="zh-TW" dirty="0" smtClean="0"/>
              <a:t>Reliable </a:t>
            </a:r>
            <a:r>
              <a:rPr lang="en-US" altLang="zh-TW" dirty="0"/>
              <a:t>and in order </a:t>
            </a:r>
            <a:r>
              <a:rPr lang="en-US" altLang="zh-TW" dirty="0" smtClean="0"/>
              <a:t>delivery are supported by transport layer</a:t>
            </a:r>
            <a:endParaRPr lang="en-US" altLang="zh-TW" dirty="0"/>
          </a:p>
          <a:p>
            <a:pPr lvl="2"/>
            <a:r>
              <a:rPr lang="en-US" altLang="zh-TW" dirty="0" smtClean="0"/>
              <a:t>It can </a:t>
            </a:r>
            <a:r>
              <a:rPr lang="en-US" altLang="zh-TW" dirty="0"/>
              <a:t>be </a:t>
            </a:r>
            <a:r>
              <a:rPr lang="en-US" altLang="zh-TW" dirty="0" smtClean="0"/>
              <a:t>associated </a:t>
            </a:r>
            <a:r>
              <a:rPr lang="en-US" altLang="zh-TW" dirty="0"/>
              <a:t>with authentication, encryption, </a:t>
            </a:r>
            <a:r>
              <a:rPr lang="en-US" altLang="zh-TW" dirty="0" smtClean="0"/>
              <a:t>and digesting modules</a:t>
            </a:r>
            <a:endParaRPr lang="en-US" altLang="zh-TW" dirty="0"/>
          </a:p>
          <a:p>
            <a:r>
              <a:rPr lang="en-US" altLang="zh-TW" dirty="0" smtClean="0"/>
              <a:t>By </a:t>
            </a:r>
            <a:r>
              <a:rPr lang="en-US" altLang="zh-TW" dirty="0"/>
              <a:t>default, requests are non-cached </a:t>
            </a:r>
            <a:r>
              <a:rPr lang="en-US" altLang="zh-TW" dirty="0" smtClean="0"/>
              <a:t>to avoid coherence problems </a:t>
            </a:r>
            <a:r>
              <a:rPr lang="en-US" altLang="zh-TW" dirty="0"/>
              <a:t>and race </a:t>
            </a:r>
            <a:r>
              <a:rPr lang="en-US" altLang="zh-TW" dirty="0" smtClean="0"/>
              <a:t>conditions</a:t>
            </a:r>
          </a:p>
          <a:p>
            <a:r>
              <a:rPr lang="en-US" altLang="zh-TW" dirty="0"/>
              <a:t>9P </a:t>
            </a:r>
            <a:r>
              <a:rPr lang="en-US" altLang="zh-TW" dirty="0" smtClean="0"/>
              <a:t>was supported by </a:t>
            </a:r>
            <a:r>
              <a:rPr lang="en-US" altLang="zh-TW" dirty="0"/>
              <a:t>the Linux Kernel since </a:t>
            </a:r>
            <a:r>
              <a:rPr lang="en-US" altLang="zh-TW" dirty="0" smtClean="0"/>
              <a:t>2.6.14</a:t>
            </a:r>
          </a:p>
          <a:p>
            <a:pPr lvl="1"/>
            <a:r>
              <a:rPr lang="en-US" altLang="zh-TW" dirty="0" smtClean="0"/>
              <a:t>/</a:t>
            </a:r>
            <a:r>
              <a:rPr lang="en-US" altLang="zh-TW" dirty="0"/>
              <a:t>net/9p 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Wingdings" panose="05000000000000000000" pitchFamily="2" charset="2"/>
              </a:rPr>
              <a:t></a:t>
            </a:r>
            <a:r>
              <a:rPr lang="en-US" altLang="zh-TW" dirty="0" smtClean="0"/>
              <a:t>   </a:t>
            </a:r>
            <a:r>
              <a:rPr lang="en-US" altLang="zh-TW" dirty="0"/>
              <a:t>global definitions and interface files</a:t>
            </a:r>
          </a:p>
        </p:txBody>
      </p:sp>
    </p:spTree>
    <p:extLst>
      <p:ext uri="{BB962C8B-B14F-4D97-AF65-F5344CB8AC3E}">
        <p14:creationId xmlns:p14="http://schemas.microsoft.com/office/powerpoint/2010/main" val="13615956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8032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Basic Operations of 9P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663824"/>
            <a:ext cx="4824536" cy="4573488"/>
          </a:xfrm>
        </p:spPr>
        <p:txBody>
          <a:bodyPr/>
          <a:lstStyle/>
          <a:p>
            <a:r>
              <a:rPr lang="en-US" altLang="zh-TW" sz="2400" dirty="0"/>
              <a:t>Session Management</a:t>
            </a:r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Version</a:t>
            </a:r>
            <a:r>
              <a:rPr lang="en-US" altLang="zh-TW" sz="2000" dirty="0"/>
              <a:t>: protocol version and </a:t>
            </a:r>
            <a:r>
              <a:rPr lang="en-US" altLang="zh-TW" sz="2000" dirty="0" smtClean="0"/>
              <a:t>capability negotiation</a:t>
            </a:r>
            <a:endParaRPr lang="en-US" altLang="zh-TW" sz="2000" dirty="0"/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Attach</a:t>
            </a:r>
            <a:r>
              <a:rPr lang="en-US" altLang="zh-TW" sz="2000" dirty="0"/>
              <a:t>: user identification and session </a:t>
            </a:r>
            <a:r>
              <a:rPr lang="en-US" altLang="zh-TW" sz="2000" dirty="0" smtClean="0"/>
              <a:t>option negotiation</a:t>
            </a:r>
            <a:endParaRPr lang="en-US" altLang="zh-TW" sz="2000" dirty="0"/>
          </a:p>
          <a:p>
            <a:pPr lvl="1"/>
            <a:r>
              <a:rPr lang="en-US" altLang="zh-TW" sz="2000" dirty="0" err="1" smtClean="0">
                <a:solidFill>
                  <a:srgbClr val="FF0000"/>
                </a:solidFill>
              </a:rPr>
              <a:t>Auth</a:t>
            </a:r>
            <a:r>
              <a:rPr lang="en-US" altLang="zh-TW" sz="2000" dirty="0"/>
              <a:t>: user authentication enablement</a:t>
            </a:r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Walk</a:t>
            </a:r>
            <a:r>
              <a:rPr lang="en-US" altLang="zh-TW" sz="2000" dirty="0"/>
              <a:t>: hierarchy traversal and </a:t>
            </a:r>
            <a:r>
              <a:rPr lang="en-US" altLang="zh-TW" sz="2000" dirty="0" smtClean="0"/>
              <a:t>transaction management</a:t>
            </a:r>
            <a:endParaRPr lang="en-US" altLang="zh-TW" sz="2000" dirty="0"/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Clunk</a:t>
            </a:r>
            <a:r>
              <a:rPr lang="en-US" altLang="zh-TW" sz="2000" dirty="0"/>
              <a:t>: forget about a </a:t>
            </a:r>
            <a:r>
              <a:rPr lang="en-US" altLang="zh-TW" sz="2000" dirty="0" smtClean="0"/>
              <a:t>fid</a:t>
            </a:r>
          </a:p>
          <a:p>
            <a:r>
              <a:rPr lang="en-US" altLang="zh-TW" sz="2400" dirty="0"/>
              <a:t>Error Management</a:t>
            </a:r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Error</a:t>
            </a:r>
            <a:r>
              <a:rPr lang="en-US" altLang="zh-TW" sz="2000" dirty="0"/>
              <a:t>: a pending request triggered an error</a:t>
            </a:r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Flush</a:t>
            </a:r>
            <a:r>
              <a:rPr lang="en-US" altLang="zh-TW" sz="2000" dirty="0"/>
              <a:t>: cancel a pending request</a:t>
            </a:r>
            <a:endParaRPr lang="zh-TW" altLang="en-US" sz="2000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4932040" y="1700808"/>
            <a:ext cx="4104456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+mn-lt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+mn-lt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+mn-lt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5pPr>
            <a:lvl6pPr marL="18288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6pPr>
            <a:lvl7pPr marL="22860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7pPr>
            <a:lvl8pPr marL="27432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8pPr>
            <a:lvl9pPr marL="32004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TW" sz="2400" dirty="0"/>
              <a:t>File </a:t>
            </a:r>
            <a:r>
              <a:rPr lang="en-US" altLang="zh-TW" sz="2400" dirty="0" smtClean="0"/>
              <a:t>I/O</a:t>
            </a:r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Create</a:t>
            </a:r>
            <a:r>
              <a:rPr lang="en-US" altLang="zh-TW" sz="2000" dirty="0"/>
              <a:t>: atomic </a:t>
            </a:r>
            <a:r>
              <a:rPr lang="en-US" altLang="zh-TW" sz="2000" dirty="0" smtClean="0"/>
              <a:t>create/open</a:t>
            </a:r>
          </a:p>
          <a:p>
            <a:pPr lvl="1"/>
            <a:r>
              <a:rPr lang="en-US" altLang="zh-TW" sz="2000" dirty="0" smtClean="0"/>
              <a:t>Open</a:t>
            </a:r>
            <a:r>
              <a:rPr lang="en-US" altLang="zh-TW" sz="2000" dirty="0"/>
              <a:t>, Read, Write, </a:t>
            </a:r>
            <a:r>
              <a:rPr lang="en-US" altLang="zh-TW" sz="2000" dirty="0" smtClean="0"/>
              <a:t>Close</a:t>
            </a:r>
          </a:p>
          <a:p>
            <a:pPr lvl="1"/>
            <a:r>
              <a:rPr lang="en-US" altLang="zh-TW" sz="2000" dirty="0" smtClean="0"/>
              <a:t>Directory </a:t>
            </a:r>
            <a:r>
              <a:rPr lang="en-US" altLang="zh-TW" sz="2000" dirty="0"/>
              <a:t>read packaged w/read operation (Reads stat information with file list</a:t>
            </a:r>
            <a:r>
              <a:rPr lang="en-US" altLang="zh-TW" sz="2000" dirty="0" smtClean="0"/>
              <a:t>)</a:t>
            </a:r>
          </a:p>
          <a:p>
            <a:pPr lvl="1"/>
            <a:r>
              <a:rPr lang="en-US" altLang="zh-TW" sz="2000" dirty="0" smtClean="0"/>
              <a:t>Remove</a:t>
            </a:r>
          </a:p>
          <a:p>
            <a:r>
              <a:rPr lang="en-US" altLang="zh-TW" sz="2400" dirty="0" smtClean="0"/>
              <a:t>Metadata Management</a:t>
            </a:r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Stat</a:t>
            </a:r>
            <a:r>
              <a:rPr lang="en-US" altLang="zh-TW" sz="2000" dirty="0"/>
              <a:t>: retrieve file </a:t>
            </a:r>
            <a:r>
              <a:rPr lang="en-US" altLang="zh-TW" sz="2000" dirty="0" smtClean="0"/>
              <a:t>metadata</a:t>
            </a:r>
          </a:p>
          <a:p>
            <a:pPr lvl="1"/>
            <a:r>
              <a:rPr lang="en-US" altLang="zh-TW" sz="2000" dirty="0" err="1" smtClean="0">
                <a:solidFill>
                  <a:srgbClr val="FF0000"/>
                </a:solidFill>
              </a:rPr>
              <a:t>Wstat</a:t>
            </a:r>
            <a:r>
              <a:rPr lang="en-US" altLang="zh-TW" sz="2000" dirty="0"/>
              <a:t>: write file metadata</a:t>
            </a:r>
            <a:endParaRPr kumimoji="0" lang="zh-TW" alt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22909324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Servers of Plan 9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447800"/>
            <a:ext cx="8291264" cy="3637384"/>
          </a:xfrm>
        </p:spPr>
        <p:txBody>
          <a:bodyPr/>
          <a:lstStyle/>
          <a:p>
            <a:r>
              <a:rPr lang="en-US" altLang="zh-TW" dirty="0" smtClean="0"/>
              <a:t>A </a:t>
            </a:r>
            <a:r>
              <a:rPr lang="en-US" altLang="zh-TW" dirty="0"/>
              <a:t>file server </a:t>
            </a:r>
            <a:r>
              <a:rPr lang="en-US" altLang="zh-TW" dirty="0" smtClean="0"/>
              <a:t>in Plan </a:t>
            </a:r>
            <a:r>
              <a:rPr lang="en-US" altLang="zh-TW" dirty="0"/>
              <a:t>9 is just something that </a:t>
            </a:r>
            <a:r>
              <a:rPr lang="en-US" altLang="zh-TW" dirty="0" smtClean="0"/>
              <a:t>serves resources </a:t>
            </a:r>
            <a:r>
              <a:rPr lang="en-US" altLang="zh-TW" dirty="0"/>
              <a:t>in the form of </a:t>
            </a:r>
            <a:r>
              <a:rPr lang="en-US" altLang="zh-TW" dirty="0" smtClean="0"/>
              <a:t>files</a:t>
            </a:r>
          </a:p>
          <a:p>
            <a:r>
              <a:rPr lang="en-US" altLang="zh-TW" dirty="0" smtClean="0"/>
              <a:t>Other notable servers are</a:t>
            </a:r>
          </a:p>
          <a:p>
            <a:pPr lvl="1"/>
            <a:r>
              <a:rPr lang="en-US" altLang="zh-TW" dirty="0"/>
              <a:t>Networking: /net</a:t>
            </a:r>
          </a:p>
          <a:p>
            <a:pPr lvl="1"/>
            <a:r>
              <a:rPr lang="en-US" altLang="zh-TW" dirty="0" smtClean="0"/>
              <a:t>Email</a:t>
            </a:r>
            <a:r>
              <a:rPr lang="en-US" altLang="zh-TW" dirty="0"/>
              <a:t>: /mail/fs</a:t>
            </a:r>
          </a:p>
          <a:p>
            <a:pPr lvl="1"/>
            <a:r>
              <a:rPr lang="en-US" altLang="zh-TW" dirty="0" smtClean="0"/>
              <a:t>Graphics</a:t>
            </a:r>
            <a:r>
              <a:rPr lang="en-US" altLang="zh-TW" dirty="0"/>
              <a:t>: /dev/draw</a:t>
            </a:r>
          </a:p>
          <a:p>
            <a:pPr lvl="1"/>
            <a:r>
              <a:rPr lang="en-US" altLang="zh-TW" dirty="0" smtClean="0"/>
              <a:t>Window </a:t>
            </a:r>
            <a:r>
              <a:rPr lang="en-US" altLang="zh-TW" dirty="0"/>
              <a:t>System: /dev/</a:t>
            </a:r>
            <a:r>
              <a:rPr lang="en-US" altLang="zh-TW" dirty="0" err="1"/>
              <a:t>wsys</a:t>
            </a:r>
            <a:endParaRPr lang="en-US" altLang="zh-TW" dirty="0"/>
          </a:p>
          <a:p>
            <a:pPr lvl="1"/>
            <a:r>
              <a:rPr lang="en-US" altLang="zh-TW" dirty="0" smtClean="0"/>
              <a:t>Process </a:t>
            </a:r>
            <a:r>
              <a:rPr lang="en-US" altLang="zh-TW" dirty="0"/>
              <a:t>Control: /</a:t>
            </a:r>
            <a:r>
              <a:rPr lang="en-US" altLang="zh-TW" dirty="0" err="1" smtClean="0"/>
              <a:t>proc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99239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27794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Namespace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435280" cy="4572000"/>
          </a:xfrm>
        </p:spPr>
        <p:txBody>
          <a:bodyPr/>
          <a:lstStyle/>
          <a:p>
            <a:r>
              <a:rPr lang="en-US" altLang="zh-TW" dirty="0"/>
              <a:t>Any </a:t>
            </a:r>
            <a:r>
              <a:rPr lang="en-US" altLang="zh-TW" dirty="0" smtClean="0"/>
              <a:t>resource </a:t>
            </a:r>
            <a:r>
              <a:rPr lang="en-US" altLang="zh-TW" dirty="0"/>
              <a:t>can be </a:t>
            </a:r>
            <a:r>
              <a:rPr lang="en-US" altLang="zh-TW" dirty="0" smtClean="0">
                <a:solidFill>
                  <a:srgbClr val="FF0000"/>
                </a:solidFill>
              </a:rPr>
              <a:t>mounted</a:t>
            </a:r>
            <a:r>
              <a:rPr lang="en-US" altLang="zh-TW" dirty="0" smtClean="0"/>
              <a:t> </a:t>
            </a:r>
            <a:r>
              <a:rPr lang="en-US" altLang="zh-TW" dirty="0"/>
              <a:t>in a </a:t>
            </a:r>
            <a:r>
              <a:rPr lang="en-US" altLang="zh-TW" dirty="0" smtClean="0"/>
              <a:t>customizable directory </a:t>
            </a:r>
            <a:r>
              <a:rPr lang="en-US" altLang="zh-TW" dirty="0"/>
              <a:t>hierarchy, or namespace:</a:t>
            </a:r>
          </a:p>
          <a:p>
            <a:pPr lvl="1"/>
            <a:r>
              <a:rPr lang="en-US" altLang="zh-TW" dirty="0" smtClean="0"/>
              <a:t>Several </a:t>
            </a:r>
            <a:r>
              <a:rPr lang="en-US" altLang="zh-TW" dirty="0"/>
              <a:t>directories can be mounted at the same </a:t>
            </a:r>
            <a:r>
              <a:rPr lang="en-US" altLang="zh-TW" dirty="0" smtClean="0"/>
              <a:t>point to replace </a:t>
            </a:r>
            <a:r>
              <a:rPr lang="en-US" altLang="zh-TW" dirty="0"/>
              <a:t>the need for a $PATH</a:t>
            </a:r>
          </a:p>
          <a:p>
            <a:pPr lvl="2"/>
            <a:r>
              <a:rPr lang="en-US" altLang="zh-TW" dirty="0"/>
              <a:t>bind /</a:t>
            </a:r>
            <a:r>
              <a:rPr lang="en-US" altLang="zh-TW" dirty="0" smtClean="0"/>
              <a:t>home/smyuan/bin   /</a:t>
            </a:r>
            <a:r>
              <a:rPr lang="en-US" altLang="zh-TW" dirty="0"/>
              <a:t>bin</a:t>
            </a:r>
          </a:p>
          <a:p>
            <a:pPr lvl="2"/>
            <a:r>
              <a:rPr lang="en-US" altLang="zh-TW" dirty="0"/>
              <a:t>bind /i386/bin </a:t>
            </a:r>
            <a:r>
              <a:rPr lang="en-US" altLang="zh-TW" dirty="0" smtClean="0"/>
              <a:t>   /</a:t>
            </a:r>
            <a:r>
              <a:rPr lang="en-US" altLang="zh-TW" dirty="0"/>
              <a:t>bin</a:t>
            </a:r>
          </a:p>
          <a:p>
            <a:pPr lvl="1"/>
            <a:r>
              <a:rPr lang="en-US" altLang="zh-TW" dirty="0" smtClean="0"/>
              <a:t>Copying </a:t>
            </a:r>
            <a:r>
              <a:rPr lang="en-US" altLang="zh-TW" dirty="0"/>
              <a:t>a local file foo to a remote floppy:</a:t>
            </a:r>
          </a:p>
          <a:p>
            <a:pPr lvl="2"/>
            <a:r>
              <a:rPr lang="en-US" altLang="zh-TW" dirty="0"/>
              <a:t>import </a:t>
            </a:r>
            <a:r>
              <a:rPr lang="en-US" altLang="zh-TW" dirty="0" smtClean="0"/>
              <a:t>  lab.pc   /</a:t>
            </a:r>
            <a:r>
              <a:rPr lang="en-US" altLang="zh-TW" dirty="0"/>
              <a:t>a: </a:t>
            </a:r>
            <a:r>
              <a:rPr lang="en-US" altLang="zh-TW" dirty="0" smtClean="0"/>
              <a:t>   </a:t>
            </a:r>
            <a:r>
              <a:rPr lang="en-US" altLang="zh-TW" dirty="0" smtClean="0">
                <a:solidFill>
                  <a:srgbClr val="FF0000"/>
                </a:solidFill>
              </a:rPr>
              <a:t>/</a:t>
            </a:r>
            <a:r>
              <a:rPr lang="en-US" altLang="zh-TW" dirty="0">
                <a:solidFill>
                  <a:srgbClr val="FF0000"/>
                </a:solidFill>
              </a:rPr>
              <a:t>n/dos</a:t>
            </a:r>
          </a:p>
          <a:p>
            <a:pPr lvl="2"/>
            <a:r>
              <a:rPr lang="en-US" altLang="zh-TW" dirty="0"/>
              <a:t>cp </a:t>
            </a:r>
            <a:r>
              <a:rPr lang="en-US" altLang="zh-TW" dirty="0" smtClean="0"/>
              <a:t>   foo     /</a:t>
            </a:r>
            <a:r>
              <a:rPr lang="en-US" altLang="zh-TW" dirty="0"/>
              <a:t>n/dos/</a:t>
            </a:r>
          </a:p>
          <a:p>
            <a:pPr lvl="1"/>
            <a:r>
              <a:rPr lang="en-US" altLang="zh-TW" dirty="0" smtClean="0"/>
              <a:t>Piping </a:t>
            </a:r>
            <a:r>
              <a:rPr lang="en-US" altLang="zh-TW" dirty="0"/>
              <a:t>the output of foo on host1 to </a:t>
            </a:r>
            <a:r>
              <a:rPr lang="en-US" altLang="zh-TW" dirty="0" smtClean="0"/>
              <a:t>the input of bar </a:t>
            </a:r>
            <a:r>
              <a:rPr lang="en-US" altLang="zh-TW" dirty="0"/>
              <a:t>on host2</a:t>
            </a:r>
          </a:p>
          <a:p>
            <a:pPr lvl="2"/>
            <a:r>
              <a:rPr lang="en-US" altLang="zh-TW" dirty="0"/>
              <a:t>cpu -h host1 </a:t>
            </a:r>
            <a:r>
              <a:rPr lang="en-US" altLang="zh-TW" dirty="0">
                <a:solidFill>
                  <a:srgbClr val="FF0000"/>
                </a:solidFill>
              </a:rPr>
              <a:t>foo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|</a:t>
            </a:r>
            <a:r>
              <a:rPr lang="en-US" altLang="zh-TW" dirty="0"/>
              <a:t> cpu -h hos2 </a:t>
            </a:r>
            <a:r>
              <a:rPr lang="en-US" altLang="zh-TW" dirty="0">
                <a:solidFill>
                  <a:srgbClr val="FF0000"/>
                </a:solidFill>
              </a:rPr>
              <a:t>bar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8337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Distributed File Systems (DFSs)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447800"/>
            <a:ext cx="8424936" cy="4572000"/>
          </a:xfrm>
        </p:spPr>
        <p:txBody>
          <a:bodyPr/>
          <a:lstStyle/>
          <a:p>
            <a:r>
              <a:rPr lang="en-US" altLang="zh-TW" dirty="0" smtClean="0"/>
              <a:t>1984, Network File System (NFS), Sun Microsystems</a:t>
            </a:r>
          </a:p>
          <a:p>
            <a:pPr lvl="1"/>
            <a:r>
              <a:rPr lang="en-US" altLang="zh-TW" dirty="0">
                <a:hlinkClick r:id="rId2"/>
              </a:rPr>
              <a:t>http://nfs.sourceforge.net</a:t>
            </a:r>
            <a:r>
              <a:rPr lang="en-US" altLang="zh-TW" dirty="0" smtClean="0">
                <a:hlinkClick r:id="rId2"/>
              </a:rPr>
              <a:t>/</a:t>
            </a:r>
            <a:endParaRPr lang="en-US" altLang="zh-TW" dirty="0" smtClean="0"/>
          </a:p>
          <a:p>
            <a:pPr lvl="1"/>
            <a:r>
              <a:rPr lang="en-US" altLang="zh-TW" dirty="0">
                <a:hlinkClick r:id="rId3"/>
              </a:rPr>
              <a:t>https://github.com/nfs-ganesha/nfs-ganesha/wiki</a:t>
            </a:r>
            <a:endParaRPr lang="en-US" altLang="zh-TW" dirty="0" smtClean="0"/>
          </a:p>
          <a:p>
            <a:r>
              <a:rPr lang="en-US" altLang="zh-TW" dirty="0"/>
              <a:t>1985, Andrew File System (AFS), </a:t>
            </a:r>
            <a:r>
              <a:rPr lang="en-US" altLang="zh-TW" dirty="0" smtClean="0"/>
              <a:t>CMU</a:t>
            </a:r>
          </a:p>
          <a:p>
            <a:pPr lvl="1"/>
            <a:r>
              <a:rPr lang="en-US" altLang="zh-TW" dirty="0" err="1" smtClean="0"/>
              <a:t>OpenAFS</a:t>
            </a:r>
            <a:r>
              <a:rPr lang="en-US" altLang="zh-TW" dirty="0"/>
              <a:t>, </a:t>
            </a:r>
            <a:r>
              <a:rPr lang="en-US" altLang="zh-TW" dirty="0">
                <a:hlinkClick r:id="rId4"/>
              </a:rPr>
              <a:t>http://www.openafs.org/</a:t>
            </a:r>
            <a:endParaRPr lang="en-US" altLang="zh-TW" dirty="0"/>
          </a:p>
          <a:p>
            <a:r>
              <a:rPr lang="en-US" altLang="zh-TW" dirty="0"/>
              <a:t>2003, </a:t>
            </a:r>
            <a:r>
              <a:rPr lang="en-US" altLang="zh-TW" dirty="0" err="1"/>
              <a:t>Lustre</a:t>
            </a:r>
            <a:r>
              <a:rPr lang="en-US" altLang="zh-TW" dirty="0"/>
              <a:t>, </a:t>
            </a:r>
            <a:r>
              <a:rPr lang="en-US" altLang="zh-TW" dirty="0">
                <a:hlinkClick r:id="rId5"/>
              </a:rPr>
              <a:t>http://</a:t>
            </a:r>
            <a:r>
              <a:rPr lang="en-US" altLang="zh-TW" dirty="0" smtClean="0">
                <a:hlinkClick r:id="rId5"/>
              </a:rPr>
              <a:t>lustre.org/</a:t>
            </a:r>
            <a:endParaRPr lang="en-US" altLang="zh-TW" dirty="0"/>
          </a:p>
          <a:p>
            <a:r>
              <a:rPr lang="en-US" altLang="zh-TW" dirty="0"/>
              <a:t>2005, </a:t>
            </a:r>
            <a:r>
              <a:rPr lang="en-US" altLang="zh-TW" dirty="0" err="1"/>
              <a:t>GlusterFS</a:t>
            </a:r>
            <a:r>
              <a:rPr lang="en-US" altLang="zh-TW" dirty="0"/>
              <a:t>, </a:t>
            </a:r>
            <a:r>
              <a:rPr lang="en-US" altLang="zh-TW" dirty="0" smtClean="0">
                <a:hlinkClick r:id="rId6"/>
              </a:rPr>
              <a:t>http</a:t>
            </a:r>
            <a:r>
              <a:rPr lang="en-US" altLang="zh-TW" dirty="0">
                <a:hlinkClick r:id="rId6"/>
              </a:rPr>
              <a:t>://www.gluster.org/</a:t>
            </a:r>
            <a:endParaRPr lang="en-US" altLang="zh-TW" dirty="0"/>
          </a:p>
          <a:p>
            <a:r>
              <a:rPr lang="en-US" altLang="zh-TW" dirty="0" smtClean="0"/>
              <a:t>2006, </a:t>
            </a:r>
            <a:r>
              <a:rPr lang="en-US" altLang="zh-TW" dirty="0"/>
              <a:t>Hadoop Distributed File System (HDFS), </a:t>
            </a:r>
            <a:r>
              <a:rPr lang="en-US" altLang="zh-TW" dirty="0">
                <a:hlinkClick r:id="rId7"/>
              </a:rPr>
              <a:t>http://hadoop.apache.org</a:t>
            </a:r>
            <a:r>
              <a:rPr lang="en-US" altLang="zh-TW" dirty="0" smtClean="0">
                <a:hlinkClick r:id="rId7"/>
              </a:rPr>
              <a:t>/</a:t>
            </a:r>
            <a:endParaRPr lang="en-US" altLang="zh-TW" dirty="0" smtClean="0"/>
          </a:p>
          <a:p>
            <a:r>
              <a:rPr lang="en-US" altLang="zh-TW" dirty="0" smtClean="0"/>
              <a:t>2007</a:t>
            </a:r>
            <a:r>
              <a:rPr lang="en-US" altLang="zh-TW" dirty="0"/>
              <a:t>, </a:t>
            </a:r>
            <a:r>
              <a:rPr lang="en-US" altLang="zh-TW" dirty="0" err="1" smtClean="0"/>
              <a:t>Ceph</a:t>
            </a:r>
            <a:r>
              <a:rPr lang="en-US" altLang="zh-TW" dirty="0" smtClean="0"/>
              <a:t>, </a:t>
            </a:r>
            <a:r>
              <a:rPr lang="en-US" altLang="zh-TW" dirty="0" smtClean="0">
                <a:hlinkClick r:id="rId8"/>
              </a:rPr>
              <a:t>http</a:t>
            </a:r>
            <a:r>
              <a:rPr lang="en-US" altLang="zh-TW" dirty="0">
                <a:hlinkClick r:id="rId8"/>
              </a:rPr>
              <a:t>://ceph.com/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93597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Data Transfer Models of DFSs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447800"/>
            <a:ext cx="8147248" cy="1837184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Upload download model </a:t>
            </a:r>
            <a:r>
              <a:rPr lang="en-US" altLang="zh-TW" dirty="0" smtClean="0"/>
              <a:t>is simple and efficient, but it requires space to hold the whole file.</a:t>
            </a:r>
          </a:p>
          <a:p>
            <a:pPr lvl="1"/>
            <a:r>
              <a:rPr lang="en-US" altLang="zh-TW" dirty="0" smtClean="0"/>
              <a:t>Consistency problems need to be handled with care.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Remote access model </a:t>
            </a:r>
            <a:r>
              <a:rPr lang="en-US" altLang="zh-TW" dirty="0" smtClean="0"/>
              <a:t>is good for diskless clients.</a:t>
            </a:r>
          </a:p>
          <a:p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827584" y="6372036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The upload download model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5436096" y="6372036"/>
            <a:ext cx="2995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The remote access model</a:t>
            </a:r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51" y="3284984"/>
            <a:ext cx="4078717" cy="3087051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188" y="3277130"/>
            <a:ext cx="4402300" cy="309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298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Directory Hierarchies of DFSs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1"/>
            <a:ext cx="8640960" cy="1343226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Single directory </a:t>
            </a:r>
            <a:r>
              <a:rPr lang="en-US" altLang="zh-TW" dirty="0" smtClean="0"/>
              <a:t>image model makes a system easier to use.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Multiple directory </a:t>
            </a:r>
            <a:r>
              <a:rPr lang="en-US" altLang="zh-TW" dirty="0" smtClean="0"/>
              <a:t>image model is easy to implement, but the system is not transparent.</a:t>
            </a:r>
            <a:endParaRPr lang="zh-TW" altLang="en-US" dirty="0"/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66" y="2816516"/>
            <a:ext cx="8141082" cy="386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468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Naming in DFSs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928992" cy="5077544"/>
          </a:xfrm>
        </p:spPr>
        <p:txBody>
          <a:bodyPr/>
          <a:lstStyle/>
          <a:p>
            <a:r>
              <a:rPr lang="en-US" altLang="zh-TW" dirty="0" smtClean="0"/>
              <a:t>There are 3 common approaches:</a:t>
            </a:r>
          </a:p>
          <a:p>
            <a:pPr lvl="1"/>
            <a:r>
              <a:rPr lang="en-US" altLang="zh-TW" dirty="0" smtClean="0"/>
              <a:t>Machine + path naming: </a:t>
            </a:r>
            <a:r>
              <a:rPr lang="en-US" altLang="zh-TW" dirty="0" smtClean="0">
                <a:solidFill>
                  <a:srgbClr val="FF0000"/>
                </a:solidFill>
              </a:rPr>
              <a:t>/hostname/path</a:t>
            </a:r>
            <a:endParaRPr lang="en-US" altLang="zh-TW" dirty="0"/>
          </a:p>
          <a:p>
            <a:pPr lvl="2"/>
            <a:r>
              <a:rPr lang="en-US" altLang="zh-TW" dirty="0" smtClean="0"/>
              <a:t>This satisfies the </a:t>
            </a:r>
            <a:r>
              <a:rPr lang="en-US" altLang="zh-TW" dirty="0" smtClean="0">
                <a:solidFill>
                  <a:srgbClr val="FF0000"/>
                </a:solidFill>
              </a:rPr>
              <a:t>location transparency</a:t>
            </a:r>
            <a:r>
              <a:rPr lang="en-US" altLang="zh-TW" dirty="0" smtClean="0"/>
              <a:t>, since a path of /server1/dir1/dir2/filename does not tell where the server1 is located.</a:t>
            </a:r>
          </a:p>
          <a:p>
            <a:pPr lvl="2"/>
            <a:r>
              <a:rPr lang="en-US" altLang="zh-TW" dirty="0" smtClean="0"/>
              <a:t>The server1 can be moved to anywhere freely.</a:t>
            </a:r>
          </a:p>
          <a:p>
            <a:pPr lvl="2"/>
            <a:r>
              <a:rPr lang="en-US" altLang="zh-TW" dirty="0" smtClean="0"/>
              <a:t>However, a file can not be moved among hosts freely.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A single name space </a:t>
            </a:r>
            <a:r>
              <a:rPr lang="en-US" altLang="zh-TW" dirty="0"/>
              <a:t>for all hosts such that files can be moved freely without changing their names</a:t>
            </a:r>
            <a:r>
              <a:rPr lang="en-US" altLang="zh-TW" dirty="0" smtClean="0"/>
              <a:t>.</a:t>
            </a:r>
            <a:r>
              <a:rPr lang="en-US" altLang="zh-TW" dirty="0"/>
              <a:t>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This </a:t>
            </a:r>
            <a:r>
              <a:rPr lang="en-US" altLang="zh-TW" dirty="0"/>
              <a:t>is also called </a:t>
            </a:r>
            <a:r>
              <a:rPr lang="en-US" altLang="zh-TW" dirty="0">
                <a:solidFill>
                  <a:srgbClr val="FF0000"/>
                </a:solidFill>
              </a:rPr>
              <a:t>location independence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 smtClean="0"/>
              <a:t>Mount remote file systems onto the local file hierarchy.</a:t>
            </a:r>
          </a:p>
          <a:p>
            <a:pPr lvl="2"/>
            <a:r>
              <a:rPr lang="en-US" altLang="zh-TW" dirty="0" smtClean="0"/>
              <a:t>Each client host may have different directory hierarchy.</a:t>
            </a:r>
          </a:p>
          <a:p>
            <a:pPr lvl="2"/>
            <a:r>
              <a:rPr lang="en-US" altLang="zh-TW" dirty="0" smtClean="0"/>
              <a:t>A file may have different pathnames when accessed from different client host.</a:t>
            </a:r>
          </a:p>
          <a:p>
            <a:pPr lvl="2"/>
            <a:r>
              <a:rPr lang="en-US" altLang="zh-TW" dirty="0" smtClean="0"/>
              <a:t>Also, files can not be moved without changing their names.</a:t>
            </a:r>
          </a:p>
        </p:txBody>
      </p:sp>
    </p:spTree>
    <p:extLst>
      <p:ext uri="{BB962C8B-B14F-4D97-AF65-F5344CB8AC3E}">
        <p14:creationId xmlns:p14="http://schemas.microsoft.com/office/powerpoint/2010/main" val="18557123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File Sharing Semantics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784976" cy="4357464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Consistency </a:t>
            </a:r>
            <a:r>
              <a:rPr lang="en-US" altLang="zh-TW" dirty="0" smtClean="0">
                <a:solidFill>
                  <a:srgbClr val="FF0000"/>
                </a:solidFill>
              </a:rPr>
              <a:t>Semantics </a:t>
            </a:r>
            <a:r>
              <a:rPr lang="en-US" altLang="zh-TW" dirty="0" smtClean="0"/>
              <a:t>is a </a:t>
            </a:r>
            <a:r>
              <a:rPr lang="en-US" altLang="zh-TW" dirty="0"/>
              <a:t>contract between </a:t>
            </a:r>
            <a:r>
              <a:rPr lang="en-US" altLang="zh-TW" dirty="0" smtClean="0"/>
              <a:t>the data </a:t>
            </a:r>
            <a:r>
              <a:rPr lang="en-US" altLang="zh-TW" dirty="0"/>
              <a:t>store and its clients that specifies </a:t>
            </a:r>
            <a:r>
              <a:rPr lang="en-US" altLang="zh-TW" dirty="0" smtClean="0"/>
              <a:t>the results </a:t>
            </a:r>
            <a:r>
              <a:rPr lang="en-US" altLang="zh-TW" dirty="0"/>
              <a:t>that clients can expect to obtain </a:t>
            </a:r>
            <a:r>
              <a:rPr lang="en-US" altLang="zh-TW" dirty="0" smtClean="0"/>
              <a:t>when accessing </a:t>
            </a:r>
            <a:r>
              <a:rPr lang="en-US" altLang="zh-TW" dirty="0"/>
              <a:t>the data </a:t>
            </a:r>
            <a:r>
              <a:rPr lang="en-US" altLang="zh-TW" dirty="0" smtClean="0"/>
              <a:t>store.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Sequential consistency 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Lamport</a:t>
            </a:r>
            <a:r>
              <a:rPr lang="en-US" altLang="zh-TW" dirty="0"/>
              <a:t>, 1979</a:t>
            </a:r>
            <a:r>
              <a:rPr lang="en-US" altLang="zh-TW" dirty="0" smtClean="0"/>
              <a:t>):</a:t>
            </a:r>
          </a:p>
          <a:p>
            <a:pPr marL="593725" lvl="2" indent="0">
              <a:buNone/>
            </a:pPr>
            <a:r>
              <a:rPr lang="en-US" altLang="zh-TW" dirty="0"/>
              <a:t>“The result of any execution is the same as if the operations of all </a:t>
            </a:r>
            <a:r>
              <a:rPr lang="en-US" altLang="zh-TW" dirty="0" smtClean="0"/>
              <a:t>the processes </a:t>
            </a:r>
            <a:r>
              <a:rPr lang="en-US" altLang="zh-TW" dirty="0"/>
              <a:t>were executed in some sequential order and the </a:t>
            </a:r>
            <a:r>
              <a:rPr lang="en-US" altLang="zh-TW" dirty="0" smtClean="0"/>
              <a:t>operations of </a:t>
            </a:r>
            <a:r>
              <a:rPr lang="en-US" altLang="zh-TW" dirty="0"/>
              <a:t>each individual process appear in this sequence in the order </a:t>
            </a:r>
            <a:r>
              <a:rPr lang="en-US" altLang="zh-TW" dirty="0" smtClean="0"/>
              <a:t>specified by </a:t>
            </a:r>
            <a:r>
              <a:rPr lang="en-US" altLang="zh-TW" dirty="0"/>
              <a:t>its program” </a:t>
            </a:r>
            <a:endParaRPr lang="en-US" altLang="zh-TW" dirty="0" smtClean="0"/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Causal consistency </a:t>
            </a:r>
            <a:r>
              <a:rPr lang="en-US" altLang="zh-TW" dirty="0"/>
              <a:t>(Hutto and </a:t>
            </a:r>
            <a:r>
              <a:rPr lang="en-US" altLang="zh-TW" dirty="0" err="1"/>
              <a:t>Ahamad</a:t>
            </a:r>
            <a:r>
              <a:rPr lang="en-US" altLang="zh-TW" dirty="0"/>
              <a:t>, </a:t>
            </a:r>
            <a:r>
              <a:rPr lang="en-US" altLang="zh-TW" dirty="0" smtClean="0"/>
              <a:t>1990):</a:t>
            </a:r>
          </a:p>
          <a:p>
            <a:pPr marL="593725" lvl="2" indent="0">
              <a:buNone/>
            </a:pPr>
            <a:r>
              <a:rPr lang="en-US" altLang="zh-TW" dirty="0" smtClean="0"/>
              <a:t>“Writes </a:t>
            </a:r>
            <a:r>
              <a:rPr lang="en-US" altLang="zh-TW" dirty="0"/>
              <a:t>that are potentially causally related must be seen by </a:t>
            </a:r>
            <a:r>
              <a:rPr lang="en-US" altLang="zh-TW" dirty="0" smtClean="0"/>
              <a:t>all processes </a:t>
            </a:r>
            <a:r>
              <a:rPr lang="en-US" altLang="zh-TW" dirty="0"/>
              <a:t>in the same order. C</a:t>
            </a:r>
            <a:r>
              <a:rPr lang="en-US" altLang="zh-TW" dirty="0" smtClean="0"/>
              <a:t>oncurrent </a:t>
            </a:r>
            <a:r>
              <a:rPr lang="en-US" altLang="zh-TW" dirty="0"/>
              <a:t>writes may be seen in </a:t>
            </a:r>
            <a:r>
              <a:rPr lang="en-US" altLang="zh-TW" dirty="0" smtClean="0"/>
              <a:t>a different </a:t>
            </a:r>
            <a:r>
              <a:rPr lang="en-US" altLang="zh-TW" dirty="0"/>
              <a:t>order on different </a:t>
            </a:r>
            <a:r>
              <a:rPr lang="en-US" altLang="zh-TW" dirty="0" smtClean="0"/>
              <a:t>machines”</a:t>
            </a:r>
          </a:p>
        </p:txBody>
      </p:sp>
    </p:spTree>
    <p:extLst>
      <p:ext uri="{BB962C8B-B14F-4D97-AF65-F5344CB8AC3E}">
        <p14:creationId xmlns:p14="http://schemas.microsoft.com/office/powerpoint/2010/main" val="38122246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File Sharing Semantics </a:t>
            </a:r>
            <a:r>
              <a:rPr lang="en-US" altLang="zh-TW" dirty="0" smtClean="0"/>
              <a:t>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4789512"/>
          </a:xfrm>
        </p:spPr>
        <p:txBody>
          <a:bodyPr/>
          <a:lstStyle/>
          <a:p>
            <a:pPr lvl="1"/>
            <a:r>
              <a:rPr lang="en-US" altLang="zh-TW" dirty="0">
                <a:solidFill>
                  <a:srgbClr val="FF0000"/>
                </a:solidFill>
              </a:rPr>
              <a:t>FIFO </a:t>
            </a:r>
            <a:r>
              <a:rPr lang="en-US" altLang="zh-TW" dirty="0" smtClean="0">
                <a:solidFill>
                  <a:srgbClr val="FF0000"/>
                </a:solidFill>
              </a:rPr>
              <a:t>consistency</a:t>
            </a:r>
            <a:r>
              <a:rPr lang="en-US" altLang="zh-TW" dirty="0" smtClean="0"/>
              <a:t>:</a:t>
            </a:r>
          </a:p>
          <a:p>
            <a:pPr marL="593725" lvl="2" indent="0">
              <a:buNone/>
            </a:pPr>
            <a:r>
              <a:rPr lang="en-US" altLang="zh-TW" dirty="0" smtClean="0"/>
              <a:t>“Writes </a:t>
            </a:r>
            <a:r>
              <a:rPr lang="en-US" altLang="zh-TW" dirty="0"/>
              <a:t>done by a single process are seen by all other processes </a:t>
            </a:r>
            <a:r>
              <a:rPr lang="en-US" altLang="zh-TW" dirty="0" smtClean="0"/>
              <a:t>in the </a:t>
            </a:r>
            <a:r>
              <a:rPr lang="en-US" altLang="zh-TW" dirty="0"/>
              <a:t>order in which they were issued, but writes from </a:t>
            </a:r>
            <a:r>
              <a:rPr lang="en-US" altLang="zh-TW" dirty="0" smtClean="0"/>
              <a:t>different processes </a:t>
            </a:r>
            <a:r>
              <a:rPr lang="en-US" altLang="zh-TW" dirty="0"/>
              <a:t>may be seen in a different order by </a:t>
            </a:r>
            <a:r>
              <a:rPr lang="en-US" altLang="zh-TW" dirty="0" smtClean="0"/>
              <a:t>different processes</a:t>
            </a:r>
            <a:r>
              <a:rPr lang="en-US" altLang="zh-TW" dirty="0"/>
              <a:t>” (PRAM consistency, Lipton and Sandberg 1988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Session </a:t>
            </a:r>
            <a:r>
              <a:rPr lang="en-US" altLang="zh-TW" dirty="0" smtClean="0">
                <a:solidFill>
                  <a:srgbClr val="FF0000"/>
                </a:solidFill>
              </a:rPr>
              <a:t>consistency </a:t>
            </a:r>
            <a:r>
              <a:rPr lang="en-US" altLang="zh-TW" dirty="0" smtClean="0"/>
              <a:t>was proposed and used in AFS.</a:t>
            </a:r>
          </a:p>
          <a:p>
            <a:pPr lvl="2"/>
            <a:r>
              <a:rPr lang="en-US" altLang="zh-TW" dirty="0" smtClean="0"/>
              <a:t>The AFS server </a:t>
            </a:r>
            <a:r>
              <a:rPr lang="en-US" altLang="zh-TW" dirty="0"/>
              <a:t>keeps </a:t>
            </a:r>
            <a:r>
              <a:rPr lang="en-US" altLang="zh-TW" dirty="0" smtClean="0"/>
              <a:t>a list </a:t>
            </a:r>
            <a:r>
              <a:rPr lang="en-US" altLang="zh-TW" dirty="0"/>
              <a:t>of which client has which </a:t>
            </a:r>
            <a:r>
              <a:rPr lang="en-US" altLang="zh-TW" dirty="0" smtClean="0"/>
              <a:t>file.</a:t>
            </a:r>
            <a:endParaRPr lang="en-US" altLang="zh-TW" dirty="0"/>
          </a:p>
          <a:p>
            <a:pPr lvl="2"/>
            <a:r>
              <a:rPr lang="en-US" altLang="zh-TW" dirty="0" smtClean="0"/>
              <a:t>All updates are written back to the server on </a:t>
            </a:r>
            <a:r>
              <a:rPr lang="en-US" altLang="zh-TW" dirty="0"/>
              <a:t>file </a:t>
            </a:r>
            <a:r>
              <a:rPr lang="en-US" altLang="zh-TW" dirty="0" smtClean="0"/>
              <a:t>close.</a:t>
            </a:r>
            <a:endParaRPr lang="en-US" altLang="zh-TW" dirty="0"/>
          </a:p>
          <a:p>
            <a:pPr lvl="3"/>
            <a:r>
              <a:rPr lang="en-US" altLang="zh-TW" dirty="0" smtClean="0"/>
              <a:t>On close, if a </a:t>
            </a:r>
            <a:r>
              <a:rPr lang="en-US" altLang="zh-TW" dirty="0"/>
              <a:t>file </a:t>
            </a:r>
            <a:r>
              <a:rPr lang="en-US" altLang="zh-TW" dirty="0" smtClean="0"/>
              <a:t>has been changed, the server </a:t>
            </a:r>
            <a:r>
              <a:rPr lang="en-US" altLang="zh-TW" dirty="0"/>
              <a:t>notifies all clients with </a:t>
            </a:r>
            <a:r>
              <a:rPr lang="en-US" altLang="zh-TW" dirty="0" smtClean="0"/>
              <a:t>a copy.</a:t>
            </a:r>
          </a:p>
          <a:p>
            <a:pPr lvl="3"/>
            <a:r>
              <a:rPr lang="en-US" altLang="zh-TW" dirty="0" smtClean="0"/>
              <a:t>The client can decide either reopen it to get the lasted version or continue with the old version.</a:t>
            </a:r>
            <a:endParaRPr lang="en-US" altLang="zh-TW" dirty="0"/>
          </a:p>
          <a:p>
            <a:pPr lvl="2"/>
            <a:r>
              <a:rPr lang="en-US" altLang="zh-TW" dirty="0" smtClean="0"/>
              <a:t>Therefore, </a:t>
            </a:r>
            <a:r>
              <a:rPr lang="en-US" altLang="zh-TW" dirty="0"/>
              <a:t>updates </a:t>
            </a:r>
            <a:r>
              <a:rPr lang="en-US" altLang="zh-TW" dirty="0" smtClean="0"/>
              <a:t>are visible </a:t>
            </a:r>
            <a:r>
              <a:rPr lang="en-US" altLang="zh-TW" dirty="0"/>
              <a:t>only </a:t>
            </a:r>
            <a:r>
              <a:rPr lang="en-US" altLang="zh-TW" dirty="0" smtClean="0"/>
              <a:t>after </a:t>
            </a:r>
            <a:r>
              <a:rPr lang="en-US" altLang="zh-TW" dirty="0"/>
              <a:t>file </a:t>
            </a:r>
            <a:r>
              <a:rPr lang="en-US" altLang="zh-TW" dirty="0" smtClean="0"/>
              <a:t>close.</a:t>
            </a:r>
            <a:endParaRPr lang="en-US" altLang="zh-TW" dirty="0"/>
          </a:p>
          <a:p>
            <a:pPr lvl="2"/>
            <a:r>
              <a:rPr lang="en-US" altLang="zh-TW" dirty="0" smtClean="0"/>
              <a:t>On opening a file, a client gets the last closed version.</a:t>
            </a:r>
          </a:p>
          <a:p>
            <a:pPr lvl="2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753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A Sequential Consistency Example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763688" y="3573016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The above system does not satisfy the sequential consistency.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835696" y="6084004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The above system satisfies the sequential consistency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55624"/>
              </p:ext>
            </p:extLst>
          </p:nvPr>
        </p:nvGraphicFramePr>
        <p:xfrm>
          <a:off x="2051720" y="1769931"/>
          <a:ext cx="5106100" cy="157726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11869">
                  <a:extLst>
                    <a:ext uri="{9D8B030D-6E8A-4147-A177-3AD203B41FA5}">
                      <a16:colId xmlns:a16="http://schemas.microsoft.com/office/drawing/2014/main" val="2580039160"/>
                    </a:ext>
                  </a:extLst>
                </a:gridCol>
                <a:gridCol w="949814">
                  <a:extLst>
                    <a:ext uri="{9D8B030D-6E8A-4147-A177-3AD203B41FA5}">
                      <a16:colId xmlns:a16="http://schemas.microsoft.com/office/drawing/2014/main" val="416795864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56818343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65822371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585796288"/>
                    </a:ext>
                  </a:extLst>
                </a:gridCol>
                <a:gridCol w="936105">
                  <a:extLst>
                    <a:ext uri="{9D8B030D-6E8A-4147-A177-3AD203B41FA5}">
                      <a16:colId xmlns:a16="http://schemas.microsoft.com/office/drawing/2014/main" val="289760208"/>
                    </a:ext>
                  </a:extLst>
                </a:gridCol>
              </a:tblGrid>
              <a:tr h="394316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b="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W(x)a</a:t>
                      </a:r>
                      <a:endParaRPr lang="zh-TW" altLang="en-US" sz="18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614650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9517861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6579939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3722312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4283968" y="2413299"/>
            <a:ext cx="1005880" cy="64807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4786908" y="2238653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5182952" y="2830295"/>
            <a:ext cx="1005880" cy="648071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679655" y="3228115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1</a:t>
            </a:r>
            <a:endParaRPr lang="zh-TW" altLang="en-US" dirty="0">
              <a:solidFill>
                <a:srgbClr val="00B0F0"/>
              </a:solidFill>
            </a:endParaRPr>
          </a:p>
        </p:txBody>
      </p:sp>
      <p:grpSp>
        <p:nvGrpSpPr>
          <p:cNvPr id="29" name="群組 28"/>
          <p:cNvGrpSpPr/>
          <p:nvPr/>
        </p:nvGrpSpPr>
        <p:grpSpPr>
          <a:xfrm>
            <a:off x="6230416" y="2238653"/>
            <a:ext cx="1005880" cy="1343655"/>
            <a:chOff x="6230416" y="2238653"/>
            <a:chExt cx="1005880" cy="1343655"/>
          </a:xfrm>
        </p:grpSpPr>
        <p:sp>
          <p:nvSpPr>
            <p:cNvPr id="10" name="橢圓 9"/>
            <p:cNvSpPr/>
            <p:nvPr/>
          </p:nvSpPr>
          <p:spPr>
            <a:xfrm>
              <a:off x="6230416" y="2413299"/>
              <a:ext cx="1005880" cy="592945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6730008" y="2238653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</a:rPr>
                <a:t>1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4" name="橢圓 13"/>
            <p:cNvSpPr/>
            <p:nvPr/>
          </p:nvSpPr>
          <p:spPr>
            <a:xfrm>
              <a:off x="6230416" y="2901168"/>
              <a:ext cx="1005880" cy="577198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6658000" y="3212976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00B0F0"/>
                  </a:solidFill>
                </a:rPr>
                <a:t>2</a:t>
              </a:r>
              <a:endParaRPr lang="zh-TW" altLang="en-US" dirty="0">
                <a:solidFill>
                  <a:srgbClr val="00B0F0"/>
                </a:solidFill>
              </a:endParaRPr>
            </a:p>
          </p:txBody>
        </p:sp>
      </p:grp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151596"/>
              </p:ext>
            </p:extLst>
          </p:nvPr>
        </p:nvGraphicFramePr>
        <p:xfrm>
          <a:off x="2053951" y="4121734"/>
          <a:ext cx="5106100" cy="157726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11869">
                  <a:extLst>
                    <a:ext uri="{9D8B030D-6E8A-4147-A177-3AD203B41FA5}">
                      <a16:colId xmlns:a16="http://schemas.microsoft.com/office/drawing/2014/main" val="2580039160"/>
                    </a:ext>
                  </a:extLst>
                </a:gridCol>
                <a:gridCol w="949814">
                  <a:extLst>
                    <a:ext uri="{9D8B030D-6E8A-4147-A177-3AD203B41FA5}">
                      <a16:colId xmlns:a16="http://schemas.microsoft.com/office/drawing/2014/main" val="416795864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56818343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65822371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585796288"/>
                    </a:ext>
                  </a:extLst>
                </a:gridCol>
                <a:gridCol w="936105">
                  <a:extLst>
                    <a:ext uri="{9D8B030D-6E8A-4147-A177-3AD203B41FA5}">
                      <a16:colId xmlns:a16="http://schemas.microsoft.com/office/drawing/2014/main" val="289760208"/>
                    </a:ext>
                  </a:extLst>
                </a:gridCol>
              </a:tblGrid>
              <a:tr h="394316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b="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W(x)a</a:t>
                      </a:r>
                      <a:endParaRPr lang="zh-TW" altLang="en-US" sz="18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614650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9517861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6579939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3722312"/>
                  </a:ext>
                </a:extLst>
              </a:tr>
            </a:tbl>
          </a:graphicData>
        </a:graphic>
      </p:graphicFrame>
      <p:grpSp>
        <p:nvGrpSpPr>
          <p:cNvPr id="28" name="群組 27"/>
          <p:cNvGrpSpPr/>
          <p:nvPr/>
        </p:nvGrpSpPr>
        <p:grpSpPr>
          <a:xfrm>
            <a:off x="4283968" y="4590486"/>
            <a:ext cx="2952328" cy="1358794"/>
            <a:chOff x="4283968" y="4590486"/>
            <a:chExt cx="2952328" cy="1358794"/>
          </a:xfrm>
        </p:grpSpPr>
        <p:sp>
          <p:nvSpPr>
            <p:cNvPr id="19" name="橢圓 18"/>
            <p:cNvSpPr/>
            <p:nvPr/>
          </p:nvSpPr>
          <p:spPr>
            <a:xfrm>
              <a:off x="4283968" y="4765132"/>
              <a:ext cx="1005880" cy="648071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4786908" y="4590486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</a:rPr>
                <a:t>2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1" name="橢圓 20"/>
            <p:cNvSpPr/>
            <p:nvPr/>
          </p:nvSpPr>
          <p:spPr>
            <a:xfrm>
              <a:off x="6230416" y="4765132"/>
              <a:ext cx="1005880" cy="592945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6730008" y="4590486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</a:rPr>
                <a:t>1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3" name="橢圓 22"/>
            <p:cNvSpPr/>
            <p:nvPr/>
          </p:nvSpPr>
          <p:spPr>
            <a:xfrm>
              <a:off x="5182952" y="5182128"/>
              <a:ext cx="1005880" cy="64807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5679655" y="5579948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00B0F0"/>
                  </a:solidFill>
                </a:rPr>
                <a:t>2</a:t>
              </a:r>
              <a:endParaRPr lang="zh-TW" altLang="en-US" dirty="0">
                <a:solidFill>
                  <a:srgbClr val="00B0F0"/>
                </a:solidFill>
              </a:endParaRPr>
            </a:p>
          </p:txBody>
        </p:sp>
        <p:sp>
          <p:nvSpPr>
            <p:cNvPr id="25" name="橢圓 24"/>
            <p:cNvSpPr/>
            <p:nvPr/>
          </p:nvSpPr>
          <p:spPr>
            <a:xfrm>
              <a:off x="6230416" y="5253001"/>
              <a:ext cx="1005880" cy="577198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6732240" y="5564809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00B0F0"/>
                  </a:solidFill>
                </a:rPr>
                <a:t>1</a:t>
              </a:r>
              <a:endParaRPr lang="zh-TW" altLang="en-US" dirty="0">
                <a:solidFill>
                  <a:srgbClr val="00B0F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138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A Causal Consistency Example 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689448" y="361081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This system is not sequentially consistent.</a:t>
            </a:r>
          </a:p>
          <a:p>
            <a:r>
              <a:rPr lang="en-US" altLang="zh-TW" dirty="0" smtClean="0"/>
              <a:t>However, it is causally consistent.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918306"/>
              </p:ext>
            </p:extLst>
          </p:nvPr>
        </p:nvGraphicFramePr>
        <p:xfrm>
          <a:off x="1475657" y="1772816"/>
          <a:ext cx="6192688" cy="157726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99515">
                  <a:extLst>
                    <a:ext uri="{9D8B030D-6E8A-4147-A177-3AD203B41FA5}">
                      <a16:colId xmlns:a16="http://schemas.microsoft.com/office/drawing/2014/main" val="2580039160"/>
                    </a:ext>
                  </a:extLst>
                </a:gridCol>
                <a:gridCol w="822520">
                  <a:extLst>
                    <a:ext uri="{9D8B030D-6E8A-4147-A177-3AD203B41FA5}">
                      <a16:colId xmlns:a16="http://schemas.microsoft.com/office/drawing/2014/main" val="4167958645"/>
                    </a:ext>
                  </a:extLst>
                </a:gridCol>
                <a:gridCol w="834969">
                  <a:extLst>
                    <a:ext uri="{9D8B030D-6E8A-4147-A177-3AD203B41FA5}">
                      <a16:colId xmlns:a16="http://schemas.microsoft.com/office/drawing/2014/main" val="2568183439"/>
                    </a:ext>
                  </a:extLst>
                </a:gridCol>
                <a:gridCol w="834969">
                  <a:extLst>
                    <a:ext uri="{9D8B030D-6E8A-4147-A177-3AD203B41FA5}">
                      <a16:colId xmlns:a16="http://schemas.microsoft.com/office/drawing/2014/main" val="821168420"/>
                    </a:ext>
                  </a:extLst>
                </a:gridCol>
                <a:gridCol w="904550">
                  <a:extLst>
                    <a:ext uri="{9D8B030D-6E8A-4147-A177-3AD203B41FA5}">
                      <a16:colId xmlns:a16="http://schemas.microsoft.com/office/drawing/2014/main" val="3658223717"/>
                    </a:ext>
                  </a:extLst>
                </a:gridCol>
                <a:gridCol w="1043712">
                  <a:extLst>
                    <a:ext uri="{9D8B030D-6E8A-4147-A177-3AD203B41FA5}">
                      <a16:colId xmlns:a16="http://schemas.microsoft.com/office/drawing/2014/main" val="2585796288"/>
                    </a:ext>
                  </a:extLst>
                </a:gridCol>
                <a:gridCol w="1252453">
                  <a:extLst>
                    <a:ext uri="{9D8B030D-6E8A-4147-A177-3AD203B41FA5}">
                      <a16:colId xmlns:a16="http://schemas.microsoft.com/office/drawing/2014/main" val="289760208"/>
                    </a:ext>
                  </a:extLst>
                </a:gridCol>
              </a:tblGrid>
              <a:tr h="394316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b="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W(x)a</a:t>
                      </a:r>
                      <a:endParaRPr lang="zh-TW" altLang="en-US" sz="18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W(x)c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614650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9517861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6579939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3722312"/>
                  </a:ext>
                </a:extLst>
              </a:tr>
            </a:tbl>
          </a:graphicData>
        </a:graphic>
      </p:graphicFrame>
      <p:grpSp>
        <p:nvGrpSpPr>
          <p:cNvPr id="3" name="群組 2"/>
          <p:cNvGrpSpPr/>
          <p:nvPr/>
        </p:nvGrpSpPr>
        <p:grpSpPr>
          <a:xfrm>
            <a:off x="5220072" y="2276872"/>
            <a:ext cx="2088232" cy="1296144"/>
            <a:chOff x="5220072" y="4581128"/>
            <a:chExt cx="2088232" cy="1296144"/>
          </a:xfrm>
        </p:grpSpPr>
        <p:sp>
          <p:nvSpPr>
            <p:cNvPr id="9" name="橢圓 8"/>
            <p:cNvSpPr/>
            <p:nvPr/>
          </p:nvSpPr>
          <p:spPr>
            <a:xfrm>
              <a:off x="5220072" y="4768065"/>
              <a:ext cx="1005880" cy="533143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5723012" y="4583399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</a:rPr>
                <a:t>1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" name="橢圓 10"/>
            <p:cNvSpPr/>
            <p:nvPr/>
          </p:nvSpPr>
          <p:spPr>
            <a:xfrm>
              <a:off x="5220072" y="5196132"/>
              <a:ext cx="1005880" cy="577198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5647656" y="5507940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00B0F0"/>
                  </a:solidFill>
                </a:rPr>
                <a:t>2</a:t>
              </a:r>
              <a:endParaRPr lang="zh-TW" altLang="en-US" dirty="0">
                <a:solidFill>
                  <a:srgbClr val="00B0F0"/>
                </a:solidFill>
              </a:endParaRPr>
            </a:p>
          </p:txBody>
        </p:sp>
        <p:sp>
          <p:nvSpPr>
            <p:cNvPr id="13" name="橢圓 12"/>
            <p:cNvSpPr/>
            <p:nvPr/>
          </p:nvSpPr>
          <p:spPr>
            <a:xfrm>
              <a:off x="6302424" y="4765794"/>
              <a:ext cx="1005880" cy="533143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6805364" y="4581128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</a:rPr>
                <a:t>2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5" name="橢圓 14"/>
            <p:cNvSpPr/>
            <p:nvPr/>
          </p:nvSpPr>
          <p:spPr>
            <a:xfrm>
              <a:off x="6302424" y="5193861"/>
              <a:ext cx="1005880" cy="577198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6730008" y="5505669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00B0F0"/>
                  </a:solidFill>
                </a:rPr>
                <a:t>1</a:t>
              </a:r>
              <a:endParaRPr lang="zh-TW" altLang="en-US" dirty="0">
                <a:solidFill>
                  <a:srgbClr val="00B0F0"/>
                </a:solidFill>
              </a:endParaRPr>
            </a:p>
          </p:txBody>
        </p:sp>
      </p:grp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881245"/>
              </p:ext>
            </p:extLst>
          </p:nvPr>
        </p:nvGraphicFramePr>
        <p:xfrm>
          <a:off x="1475656" y="4653136"/>
          <a:ext cx="6192688" cy="157726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99515">
                  <a:extLst>
                    <a:ext uri="{9D8B030D-6E8A-4147-A177-3AD203B41FA5}">
                      <a16:colId xmlns:a16="http://schemas.microsoft.com/office/drawing/2014/main" val="2580039160"/>
                    </a:ext>
                  </a:extLst>
                </a:gridCol>
                <a:gridCol w="822520">
                  <a:extLst>
                    <a:ext uri="{9D8B030D-6E8A-4147-A177-3AD203B41FA5}">
                      <a16:colId xmlns:a16="http://schemas.microsoft.com/office/drawing/2014/main" val="4167958645"/>
                    </a:ext>
                  </a:extLst>
                </a:gridCol>
                <a:gridCol w="834969">
                  <a:extLst>
                    <a:ext uri="{9D8B030D-6E8A-4147-A177-3AD203B41FA5}">
                      <a16:colId xmlns:a16="http://schemas.microsoft.com/office/drawing/2014/main" val="2568183439"/>
                    </a:ext>
                  </a:extLst>
                </a:gridCol>
                <a:gridCol w="834969">
                  <a:extLst>
                    <a:ext uri="{9D8B030D-6E8A-4147-A177-3AD203B41FA5}">
                      <a16:colId xmlns:a16="http://schemas.microsoft.com/office/drawing/2014/main" val="821168420"/>
                    </a:ext>
                  </a:extLst>
                </a:gridCol>
                <a:gridCol w="904550">
                  <a:extLst>
                    <a:ext uri="{9D8B030D-6E8A-4147-A177-3AD203B41FA5}">
                      <a16:colId xmlns:a16="http://schemas.microsoft.com/office/drawing/2014/main" val="3658223717"/>
                    </a:ext>
                  </a:extLst>
                </a:gridCol>
                <a:gridCol w="1043712">
                  <a:extLst>
                    <a:ext uri="{9D8B030D-6E8A-4147-A177-3AD203B41FA5}">
                      <a16:colId xmlns:a16="http://schemas.microsoft.com/office/drawing/2014/main" val="2585796288"/>
                    </a:ext>
                  </a:extLst>
                </a:gridCol>
                <a:gridCol w="1252453">
                  <a:extLst>
                    <a:ext uri="{9D8B030D-6E8A-4147-A177-3AD203B41FA5}">
                      <a16:colId xmlns:a16="http://schemas.microsoft.com/office/drawing/2014/main" val="289760208"/>
                    </a:ext>
                  </a:extLst>
                </a:gridCol>
              </a:tblGrid>
              <a:tr h="394316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b="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W(x)a</a:t>
                      </a:r>
                      <a:endParaRPr lang="zh-TW" altLang="en-US" sz="18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W(x)c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614650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9517861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6579939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3722312"/>
                  </a:ext>
                </a:extLst>
              </a:tr>
            </a:tbl>
          </a:graphicData>
        </a:graphic>
      </p:graphicFrame>
      <p:sp>
        <p:nvSpPr>
          <p:cNvPr id="19" name="AutoShape 3"/>
          <p:cNvSpPr>
            <a:spLocks noChangeAspect="1" noChangeArrowheads="1" noTextEdit="1"/>
          </p:cNvSpPr>
          <p:nvPr/>
        </p:nvSpPr>
        <p:spPr bwMode="auto">
          <a:xfrm>
            <a:off x="-3852863" y="1649413"/>
            <a:ext cx="5270501" cy="210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grpSp>
        <p:nvGrpSpPr>
          <p:cNvPr id="54" name="群組 53"/>
          <p:cNvGrpSpPr/>
          <p:nvPr/>
        </p:nvGrpSpPr>
        <p:grpSpPr>
          <a:xfrm>
            <a:off x="2339752" y="4869160"/>
            <a:ext cx="4465612" cy="1145216"/>
            <a:chOff x="2339752" y="4869160"/>
            <a:chExt cx="4465612" cy="1145216"/>
          </a:xfrm>
        </p:grpSpPr>
        <p:cxnSp>
          <p:nvCxnSpPr>
            <p:cNvPr id="21" name="直線單箭頭接點 20"/>
            <p:cNvCxnSpPr/>
            <p:nvPr/>
          </p:nvCxnSpPr>
          <p:spPr>
            <a:xfrm>
              <a:off x="2716350" y="4869160"/>
              <a:ext cx="1855650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/>
            <p:nvPr/>
          </p:nvCxnSpPr>
          <p:spPr>
            <a:xfrm>
              <a:off x="2339752" y="5013176"/>
              <a:ext cx="504056" cy="21602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/>
            <p:nvPr/>
          </p:nvCxnSpPr>
          <p:spPr>
            <a:xfrm>
              <a:off x="2339752" y="5013176"/>
              <a:ext cx="504056" cy="57606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單箭頭接點 27"/>
            <p:cNvCxnSpPr/>
            <p:nvPr/>
          </p:nvCxnSpPr>
          <p:spPr>
            <a:xfrm>
              <a:off x="2339752" y="5013176"/>
              <a:ext cx="504056" cy="100120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/>
            <p:cNvCxnSpPr/>
            <p:nvPr/>
          </p:nvCxnSpPr>
          <p:spPr>
            <a:xfrm>
              <a:off x="3431227" y="5661248"/>
              <a:ext cx="348685" cy="517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/>
            <p:nvPr/>
          </p:nvCxnSpPr>
          <p:spPr>
            <a:xfrm>
              <a:off x="4319972" y="5697253"/>
              <a:ext cx="1116124" cy="31712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/>
            <p:nvPr/>
          </p:nvCxnSpPr>
          <p:spPr>
            <a:xfrm>
              <a:off x="5037737" y="4933323"/>
              <a:ext cx="609919" cy="5804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/>
            <p:nvPr/>
          </p:nvCxnSpPr>
          <p:spPr>
            <a:xfrm>
              <a:off x="5037737" y="4933323"/>
              <a:ext cx="1459689" cy="10810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手繪多邊形 47"/>
            <p:cNvSpPr/>
            <p:nvPr/>
          </p:nvSpPr>
          <p:spPr>
            <a:xfrm>
              <a:off x="4313583" y="5307390"/>
              <a:ext cx="2392017" cy="258523"/>
            </a:xfrm>
            <a:custGeom>
              <a:avLst/>
              <a:gdLst>
                <a:gd name="connsiteX0" fmla="*/ 0 w 2392017"/>
                <a:gd name="connsiteY0" fmla="*/ 258523 h 258523"/>
                <a:gd name="connsiteX1" fmla="*/ 450574 w 2392017"/>
                <a:gd name="connsiteY1" fmla="*/ 66367 h 258523"/>
                <a:gd name="connsiteX2" fmla="*/ 1623391 w 2392017"/>
                <a:gd name="connsiteY2" fmla="*/ 6732 h 258523"/>
                <a:gd name="connsiteX3" fmla="*/ 2392017 w 2392017"/>
                <a:gd name="connsiteY3" fmla="*/ 205514 h 25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2017" h="258523">
                  <a:moveTo>
                    <a:pt x="0" y="258523"/>
                  </a:moveTo>
                  <a:cubicBezTo>
                    <a:pt x="90004" y="183427"/>
                    <a:pt x="180009" y="108332"/>
                    <a:pt x="450574" y="66367"/>
                  </a:cubicBezTo>
                  <a:cubicBezTo>
                    <a:pt x="721139" y="24402"/>
                    <a:pt x="1299817" y="-16459"/>
                    <a:pt x="1623391" y="6732"/>
                  </a:cubicBezTo>
                  <a:cubicBezTo>
                    <a:pt x="1946965" y="29923"/>
                    <a:pt x="2392017" y="205514"/>
                    <a:pt x="2392017" y="205514"/>
                  </a:cubicBezTo>
                </a:path>
              </a:pathLst>
            </a:cu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0" name="直線單箭頭接點 49"/>
            <p:cNvCxnSpPr/>
            <p:nvPr/>
          </p:nvCxnSpPr>
          <p:spPr>
            <a:xfrm>
              <a:off x="6705600" y="5513776"/>
              <a:ext cx="99764" cy="5213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753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6672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Another </a:t>
            </a:r>
            <a:r>
              <a:rPr lang="en-US" altLang="zh-TW" dirty="0"/>
              <a:t>Causal Consistency Example 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043608" y="3501008"/>
            <a:ext cx="727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This system is neither sequentially consistent nor causally consistent.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2411760" y="6095037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This system is not sequentially consistent.</a:t>
            </a:r>
          </a:p>
          <a:p>
            <a:r>
              <a:rPr lang="en-US" altLang="zh-TW" dirty="0" smtClean="0"/>
              <a:t>However, it is causally consistent.</a:t>
            </a:r>
            <a:endParaRPr lang="zh-TW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185117"/>
              </p:ext>
            </p:extLst>
          </p:nvPr>
        </p:nvGraphicFramePr>
        <p:xfrm>
          <a:off x="2126962" y="1633319"/>
          <a:ext cx="5106100" cy="157726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11869">
                  <a:extLst>
                    <a:ext uri="{9D8B030D-6E8A-4147-A177-3AD203B41FA5}">
                      <a16:colId xmlns:a16="http://schemas.microsoft.com/office/drawing/2014/main" val="2580039160"/>
                    </a:ext>
                  </a:extLst>
                </a:gridCol>
                <a:gridCol w="949814">
                  <a:extLst>
                    <a:ext uri="{9D8B030D-6E8A-4147-A177-3AD203B41FA5}">
                      <a16:colId xmlns:a16="http://schemas.microsoft.com/office/drawing/2014/main" val="416795864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56818343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65822371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585796288"/>
                    </a:ext>
                  </a:extLst>
                </a:gridCol>
                <a:gridCol w="936105">
                  <a:extLst>
                    <a:ext uri="{9D8B030D-6E8A-4147-A177-3AD203B41FA5}">
                      <a16:colId xmlns:a16="http://schemas.microsoft.com/office/drawing/2014/main" val="289760208"/>
                    </a:ext>
                  </a:extLst>
                </a:gridCol>
              </a:tblGrid>
              <a:tr h="394316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b="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W(x)a</a:t>
                      </a:r>
                      <a:endParaRPr lang="zh-TW" altLang="en-US" sz="18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614650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9517861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6579939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3722312"/>
                  </a:ext>
                </a:extLst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>
            <a:off x="3059832" y="1988840"/>
            <a:ext cx="504056" cy="21602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4067944" y="2204864"/>
            <a:ext cx="50405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09015"/>
              </p:ext>
            </p:extLst>
          </p:nvPr>
        </p:nvGraphicFramePr>
        <p:xfrm>
          <a:off x="2279362" y="4372016"/>
          <a:ext cx="5106100" cy="157726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11869">
                  <a:extLst>
                    <a:ext uri="{9D8B030D-6E8A-4147-A177-3AD203B41FA5}">
                      <a16:colId xmlns:a16="http://schemas.microsoft.com/office/drawing/2014/main" val="2580039160"/>
                    </a:ext>
                  </a:extLst>
                </a:gridCol>
                <a:gridCol w="949814">
                  <a:extLst>
                    <a:ext uri="{9D8B030D-6E8A-4147-A177-3AD203B41FA5}">
                      <a16:colId xmlns:a16="http://schemas.microsoft.com/office/drawing/2014/main" val="416795864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56818343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65822371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585796288"/>
                    </a:ext>
                  </a:extLst>
                </a:gridCol>
                <a:gridCol w="936105">
                  <a:extLst>
                    <a:ext uri="{9D8B030D-6E8A-4147-A177-3AD203B41FA5}">
                      <a16:colId xmlns:a16="http://schemas.microsoft.com/office/drawing/2014/main" val="289760208"/>
                    </a:ext>
                  </a:extLst>
                </a:gridCol>
              </a:tblGrid>
              <a:tr h="394316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b="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W(x)a</a:t>
                      </a:r>
                      <a:endParaRPr lang="zh-TW" altLang="en-US" sz="18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614650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9517861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6579939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3722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9099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A FIFO </a:t>
            </a:r>
            <a:r>
              <a:rPr lang="en-US" altLang="zh-TW" dirty="0"/>
              <a:t>Consistency Example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2267744" y="3790781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This system is not causally consistent.</a:t>
            </a:r>
          </a:p>
          <a:p>
            <a:r>
              <a:rPr lang="en-US" altLang="zh-TW" dirty="0" smtClean="0"/>
              <a:t>However, it is FIFO consistent.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6156176" y="5445224"/>
            <a:ext cx="144016" cy="0"/>
          </a:xfrm>
          <a:prstGeom prst="straightConnector1">
            <a:avLst/>
          </a:prstGeom>
          <a:ln>
            <a:solidFill>
              <a:srgbClr val="B82E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弧形 8"/>
          <p:cNvSpPr/>
          <p:nvPr/>
        </p:nvSpPr>
        <p:spPr>
          <a:xfrm>
            <a:off x="5436096" y="4823441"/>
            <a:ext cx="1008112" cy="261743"/>
          </a:xfrm>
          <a:prstGeom prst="arc">
            <a:avLst>
              <a:gd name="adj1" fmla="val 10833651"/>
              <a:gd name="adj2" fmla="val 0"/>
            </a:avLst>
          </a:prstGeom>
          <a:ln>
            <a:solidFill>
              <a:srgbClr val="B82E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/>
          <p:cNvCxnSpPr>
            <a:endCxn id="9" idx="2"/>
          </p:cNvCxnSpPr>
          <p:nvPr/>
        </p:nvCxnSpPr>
        <p:spPr>
          <a:xfrm>
            <a:off x="6300192" y="4861723"/>
            <a:ext cx="144016" cy="92590"/>
          </a:xfrm>
          <a:prstGeom prst="straightConnector1">
            <a:avLst/>
          </a:prstGeom>
          <a:ln>
            <a:solidFill>
              <a:srgbClr val="B82E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600083"/>
              </p:ext>
            </p:extLst>
          </p:nvPr>
        </p:nvGraphicFramePr>
        <p:xfrm>
          <a:off x="1259632" y="1998431"/>
          <a:ext cx="6582772" cy="157726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62092">
                  <a:extLst>
                    <a:ext uri="{9D8B030D-6E8A-4147-A177-3AD203B41FA5}">
                      <a16:colId xmlns:a16="http://schemas.microsoft.com/office/drawing/2014/main" val="258003916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416795864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56818343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65822371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07465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70879789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58579628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89760208"/>
                    </a:ext>
                  </a:extLst>
                </a:gridCol>
              </a:tblGrid>
              <a:tr h="394316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b="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W(x)a</a:t>
                      </a:r>
                      <a:endParaRPr lang="zh-TW" altLang="en-US" sz="18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614650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W(x)c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9517861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R(x)c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6579939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R(x)c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3722312"/>
                  </a:ext>
                </a:extLst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>
            <a:off x="2051720" y="2360835"/>
            <a:ext cx="576064" cy="20581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3203848" y="2566646"/>
            <a:ext cx="28803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4067944" y="2564904"/>
            <a:ext cx="360040" cy="17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58690"/>
              </p:ext>
            </p:extLst>
          </p:nvPr>
        </p:nvGraphicFramePr>
        <p:xfrm>
          <a:off x="1259632" y="4724983"/>
          <a:ext cx="6582772" cy="157726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62092">
                  <a:extLst>
                    <a:ext uri="{9D8B030D-6E8A-4147-A177-3AD203B41FA5}">
                      <a16:colId xmlns:a16="http://schemas.microsoft.com/office/drawing/2014/main" val="258003916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416795864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56818343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65822371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07465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70879789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58579628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89760208"/>
                    </a:ext>
                  </a:extLst>
                </a:gridCol>
              </a:tblGrid>
              <a:tr h="394316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b="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W(x)a</a:t>
                      </a:r>
                      <a:endParaRPr lang="zh-TW" altLang="en-US" sz="18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614650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W(x)c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9517861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R(x)c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6579939"/>
                  </a:ext>
                </a:extLst>
              </a:tr>
              <a:tr h="3943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R(x)b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R(x)c</a:t>
                      </a:r>
                      <a:endParaRPr lang="zh-TW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3722312"/>
                  </a:ext>
                </a:extLst>
              </a:tr>
            </a:tbl>
          </a:graphicData>
        </a:graphic>
      </p:graphicFrame>
      <p:cxnSp>
        <p:nvCxnSpPr>
          <p:cNvPr id="21" name="直線單箭頭接點 20"/>
          <p:cNvCxnSpPr/>
          <p:nvPr/>
        </p:nvCxnSpPr>
        <p:spPr>
          <a:xfrm flipV="1">
            <a:off x="4067944" y="5299466"/>
            <a:ext cx="360040" cy="17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66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447800"/>
            <a:ext cx="8147248" cy="4501480"/>
          </a:xfrm>
        </p:spPr>
        <p:txBody>
          <a:bodyPr/>
          <a:lstStyle/>
          <a:p>
            <a:r>
              <a:rPr lang="en-US" altLang="zh-TW" dirty="0"/>
              <a:t>Leslie </a:t>
            </a:r>
            <a:r>
              <a:rPr lang="en-US" altLang="zh-TW" dirty="0" err="1"/>
              <a:t>Lamport</a:t>
            </a:r>
            <a:r>
              <a:rPr lang="en-US" altLang="zh-TW" dirty="0"/>
              <a:t>, </a:t>
            </a:r>
            <a:r>
              <a:rPr lang="en-US" altLang="zh-TW" b="1" dirty="0" smtClean="0"/>
              <a:t>How </a:t>
            </a:r>
            <a:r>
              <a:rPr lang="en-US" altLang="zh-TW" b="1" dirty="0"/>
              <a:t>to Make a Multiprocessor Computer </a:t>
            </a:r>
            <a:r>
              <a:rPr lang="en-US" altLang="zh-TW" b="1" dirty="0" smtClean="0"/>
              <a:t>that </a:t>
            </a:r>
            <a:r>
              <a:rPr lang="en-US" altLang="zh-TW" b="1" dirty="0"/>
              <a:t>Correctly Executes Multiprocess </a:t>
            </a:r>
            <a:r>
              <a:rPr lang="en-US" altLang="zh-TW" b="1" dirty="0" smtClean="0"/>
              <a:t>Program</a:t>
            </a:r>
            <a:r>
              <a:rPr lang="en-US" altLang="zh-TW" dirty="0" smtClean="0"/>
              <a:t>, </a:t>
            </a:r>
            <a:r>
              <a:rPr lang="en-US" altLang="zh-TW" dirty="0"/>
              <a:t>IEEE Trans. </a:t>
            </a:r>
            <a:r>
              <a:rPr lang="en-US" altLang="zh-TW" dirty="0" err="1"/>
              <a:t>Comput</a:t>
            </a:r>
            <a:r>
              <a:rPr lang="en-US" altLang="zh-TW" dirty="0"/>
              <a:t>. C-28,9 (Sept. 1979), 690-691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Phillip W Hutto, </a:t>
            </a:r>
            <a:r>
              <a:rPr lang="en-US" altLang="zh-TW" dirty="0" err="1"/>
              <a:t>Mustaque</a:t>
            </a:r>
            <a:r>
              <a:rPr lang="en-US" altLang="zh-TW" dirty="0"/>
              <a:t> </a:t>
            </a:r>
            <a:r>
              <a:rPr lang="en-US" altLang="zh-TW" dirty="0" err="1" smtClean="0"/>
              <a:t>Ahamad</a:t>
            </a:r>
            <a:r>
              <a:rPr lang="en-US" altLang="zh-TW" dirty="0"/>
              <a:t>, </a:t>
            </a:r>
            <a:r>
              <a:rPr lang="en-US" altLang="zh-TW" b="1" dirty="0"/>
              <a:t>Slow memory: Weakening consistency to enhance concurrency in distributed shared memories</a:t>
            </a:r>
            <a:r>
              <a:rPr lang="en-US" altLang="zh-TW" dirty="0"/>
              <a:t>, </a:t>
            </a:r>
            <a:r>
              <a:rPr lang="en-US" altLang="zh-TW" dirty="0" smtClean="0"/>
              <a:t>ICDCS-1990 Proceedings,  302-309.</a:t>
            </a:r>
          </a:p>
          <a:p>
            <a:r>
              <a:rPr lang="en-US" altLang="zh-TW" dirty="0"/>
              <a:t>Richard J</a:t>
            </a:r>
            <a:r>
              <a:rPr lang="en-US" altLang="zh-TW" dirty="0" smtClean="0"/>
              <a:t>. Lipton, Jonathan </a:t>
            </a:r>
            <a:r>
              <a:rPr lang="en-US" altLang="zh-TW" dirty="0"/>
              <a:t>S. </a:t>
            </a:r>
            <a:r>
              <a:rPr lang="en-US" altLang="zh-TW" dirty="0" smtClean="0"/>
              <a:t>Sandberg, </a:t>
            </a:r>
            <a:r>
              <a:rPr lang="en-US" altLang="zh-TW" b="1" dirty="0"/>
              <a:t>PRAM: A scalable shared </a:t>
            </a:r>
            <a:r>
              <a:rPr lang="en-US" altLang="zh-TW" b="1" dirty="0" smtClean="0"/>
              <a:t>memory</a:t>
            </a:r>
            <a:r>
              <a:rPr lang="en-US" altLang="zh-TW" dirty="0" smtClean="0"/>
              <a:t>, Princeton </a:t>
            </a:r>
            <a:r>
              <a:rPr lang="en-US" altLang="zh-TW" dirty="0"/>
              <a:t>University, Department of Computer Science, 1988.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1454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404664"/>
            <a:ext cx="8957837" cy="854968"/>
          </a:xfrm>
        </p:spPr>
        <p:txBody>
          <a:bodyPr/>
          <a:lstStyle/>
          <a:p>
            <a:pPr algn="ctr"/>
            <a:r>
              <a:rPr lang="en-US" altLang="zh-TW" dirty="0" smtClean="0"/>
              <a:t>Object Based Middleware:  CORBA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591816"/>
            <a:ext cx="8712968" cy="4357464"/>
          </a:xfrm>
        </p:spPr>
        <p:txBody>
          <a:bodyPr/>
          <a:lstStyle/>
          <a:p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FF0000"/>
                </a:solidFill>
              </a:rPr>
              <a:t>CORBA</a:t>
            </a:r>
            <a:r>
              <a:rPr lang="en-US" altLang="zh-TW" dirty="0" smtClean="0"/>
              <a:t> (Common Object Request Broker </a:t>
            </a:r>
            <a:r>
              <a:rPr lang="en-US" altLang="zh-TW" dirty="0"/>
              <a:t>Architecture) </a:t>
            </a:r>
            <a:r>
              <a:rPr lang="en-US" altLang="zh-TW" dirty="0" smtClean="0"/>
              <a:t>is </a:t>
            </a:r>
            <a:r>
              <a:rPr lang="en-US" altLang="zh-TW" dirty="0"/>
              <a:t>a standard defined by the Object Management Group (</a:t>
            </a:r>
            <a:r>
              <a:rPr lang="en-US" altLang="zh-TW" dirty="0">
                <a:solidFill>
                  <a:srgbClr val="FF0000"/>
                </a:solidFill>
              </a:rPr>
              <a:t>OMG</a:t>
            </a:r>
            <a:r>
              <a:rPr lang="en-US" altLang="zh-TW" dirty="0" smtClean="0"/>
              <a:t>).</a:t>
            </a:r>
          </a:p>
          <a:p>
            <a:pPr lvl="1"/>
            <a:r>
              <a:rPr lang="en-US" altLang="zh-TW" dirty="0" smtClean="0"/>
              <a:t>The standard was first released in 1991.</a:t>
            </a:r>
          </a:p>
          <a:p>
            <a:r>
              <a:rPr lang="en-US" altLang="zh-TW" dirty="0" smtClean="0"/>
              <a:t>The basic CORBA standard consists of </a:t>
            </a:r>
          </a:p>
          <a:p>
            <a:pPr lvl="1"/>
            <a:r>
              <a:rPr lang="en-US" altLang="zh-TW" dirty="0" smtClean="0"/>
              <a:t>Interface Design Language </a:t>
            </a:r>
            <a:r>
              <a:rPr lang="en-US" altLang="zh-TW" dirty="0"/>
              <a:t>(IDL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Object </a:t>
            </a:r>
            <a:r>
              <a:rPr lang="en-US" altLang="zh-TW" dirty="0"/>
              <a:t>Request </a:t>
            </a:r>
            <a:r>
              <a:rPr lang="en-US" altLang="zh-TW" dirty="0" smtClean="0"/>
              <a:t>Broker </a:t>
            </a:r>
            <a:r>
              <a:rPr lang="en-US" altLang="zh-TW" dirty="0"/>
              <a:t>(ORB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Internet Inter-ORB Protocol (IIOP)</a:t>
            </a:r>
          </a:p>
          <a:p>
            <a:r>
              <a:rPr lang="en-US" altLang="zh-TW" dirty="0" smtClean="0"/>
              <a:t>Official CORBA </a:t>
            </a:r>
            <a:r>
              <a:rPr lang="en-US" altLang="zh-TW" dirty="0"/>
              <a:t>web </a:t>
            </a:r>
            <a:r>
              <a:rPr lang="en-US" altLang="zh-TW" dirty="0" smtClean="0"/>
              <a:t>site is </a:t>
            </a:r>
            <a:r>
              <a:rPr lang="en-US" altLang="zh-TW" dirty="0" smtClean="0">
                <a:hlinkClick r:id="rId2"/>
              </a:rPr>
              <a:t>http</a:t>
            </a:r>
            <a:r>
              <a:rPr lang="en-US" altLang="zh-TW" dirty="0">
                <a:hlinkClick r:id="rId2"/>
              </a:rPr>
              <a:t>://www.corba.org</a:t>
            </a:r>
            <a:r>
              <a:rPr lang="en-US" altLang="zh-TW" dirty="0" smtClean="0">
                <a:hlinkClick r:id="rId2"/>
              </a:rPr>
              <a:t>/</a:t>
            </a:r>
            <a:endParaRPr lang="en-US" altLang="zh-TW" dirty="0" smtClean="0"/>
          </a:p>
          <a:p>
            <a:r>
              <a:rPr lang="en-US" altLang="zh-TW" dirty="0" smtClean="0"/>
              <a:t>Official OMG web site </a:t>
            </a:r>
            <a:r>
              <a:rPr lang="en-US" altLang="zh-TW" dirty="0"/>
              <a:t>is </a:t>
            </a:r>
            <a:r>
              <a:rPr lang="en-US" altLang="zh-TW" dirty="0">
                <a:hlinkClick r:id="rId3"/>
              </a:rPr>
              <a:t>http://www.omg.org/</a:t>
            </a:r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98328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Goals of the CORBA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591816"/>
            <a:ext cx="8219256" cy="3421360"/>
          </a:xfrm>
        </p:spPr>
        <p:txBody>
          <a:bodyPr/>
          <a:lstStyle/>
          <a:p>
            <a:r>
              <a:rPr lang="en-US" altLang="zh-TW" dirty="0" smtClean="0"/>
              <a:t>Define </a:t>
            </a:r>
            <a:r>
              <a:rPr lang="en-US" altLang="zh-TW" dirty="0"/>
              <a:t>a common infrastructure of </a:t>
            </a:r>
            <a:r>
              <a:rPr lang="en-US" altLang="zh-TW" dirty="0" smtClean="0"/>
              <a:t>plug-and-play </a:t>
            </a:r>
            <a:r>
              <a:rPr lang="en-US" altLang="zh-TW" dirty="0"/>
              <a:t>distributed </a:t>
            </a:r>
            <a:r>
              <a:rPr lang="en-US" altLang="zh-TW" dirty="0" smtClean="0"/>
              <a:t>and object-oriented environment.</a:t>
            </a:r>
          </a:p>
          <a:p>
            <a:r>
              <a:rPr lang="en-US" altLang="zh-TW" dirty="0" smtClean="0"/>
              <a:t>Enable </a:t>
            </a:r>
            <a:r>
              <a:rPr lang="en-US" altLang="zh-TW" dirty="0"/>
              <a:t>the development of portable, </a:t>
            </a:r>
            <a:r>
              <a:rPr lang="en-US" altLang="zh-TW" dirty="0" smtClean="0"/>
              <a:t>object-oriented</a:t>
            </a:r>
            <a:r>
              <a:rPr lang="en-US" altLang="zh-TW" dirty="0"/>
              <a:t>, interoperable distributed </a:t>
            </a:r>
            <a:r>
              <a:rPr lang="en-US" altLang="zh-TW" dirty="0" smtClean="0"/>
              <a:t>applications.</a:t>
            </a:r>
          </a:p>
          <a:p>
            <a:r>
              <a:rPr lang="en-US" altLang="zh-TW" dirty="0" smtClean="0"/>
              <a:t>Facilitate the independent implementation of hardware</a:t>
            </a:r>
            <a:r>
              <a:rPr lang="en-US" altLang="zh-TW" dirty="0"/>
              <a:t>, operating system, network, and programming </a:t>
            </a:r>
            <a:r>
              <a:rPr lang="en-US" altLang="zh-TW" dirty="0" smtClean="0"/>
              <a:t>language.</a:t>
            </a:r>
          </a:p>
          <a:p>
            <a:r>
              <a:rPr lang="en-US" altLang="zh-TW" dirty="0"/>
              <a:t>A</a:t>
            </a:r>
            <a:r>
              <a:rPr lang="en-US" altLang="zh-TW" dirty="0" smtClean="0"/>
              <a:t>llow client server </a:t>
            </a:r>
            <a:r>
              <a:rPr lang="en-US" altLang="zh-TW" dirty="0"/>
              <a:t>interaction </a:t>
            </a:r>
            <a:r>
              <a:rPr lang="en-US" altLang="zh-TW" dirty="0" smtClean="0"/>
              <a:t>among interoperable ORBs.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13863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Interface Definition Language (IDL)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521296"/>
            <a:ext cx="8928992" cy="4572000"/>
          </a:xfrm>
        </p:spPr>
        <p:txBody>
          <a:bodyPr/>
          <a:lstStyle/>
          <a:p>
            <a:r>
              <a:rPr lang="en-US" altLang="zh-TW" dirty="0" smtClean="0"/>
              <a:t>IDL is language independent and can be mapped to any programming languages.</a:t>
            </a:r>
          </a:p>
          <a:p>
            <a:pPr lvl="1"/>
            <a:r>
              <a:rPr lang="en-US" altLang="zh-TW" dirty="0" smtClean="0"/>
              <a:t>C, </a:t>
            </a:r>
            <a:r>
              <a:rPr lang="en-US" altLang="zh-TW" dirty="0"/>
              <a:t>C++, Java, Cobol, Smalltalk, </a:t>
            </a:r>
            <a:r>
              <a:rPr lang="en-US" altLang="zh-TW" dirty="0" smtClean="0"/>
              <a:t>Ada, …</a:t>
            </a:r>
            <a:endParaRPr lang="en-US" altLang="zh-TW" dirty="0"/>
          </a:p>
          <a:p>
            <a:r>
              <a:rPr lang="en-US" altLang="zh-TW" dirty="0" smtClean="0"/>
              <a:t>IDL is used to define object interfaces of CORBA objects.</a:t>
            </a:r>
            <a:endParaRPr lang="en-US" altLang="zh-TW" dirty="0"/>
          </a:p>
          <a:p>
            <a:pPr lvl="1"/>
            <a:r>
              <a:rPr lang="en-US" altLang="zh-TW" dirty="0" smtClean="0"/>
              <a:t>It hides </a:t>
            </a:r>
            <a:r>
              <a:rPr lang="en-US" altLang="zh-TW" dirty="0"/>
              <a:t>underlying object </a:t>
            </a:r>
            <a:r>
              <a:rPr lang="en-US" altLang="zh-TW" dirty="0" smtClean="0"/>
              <a:t>implementation from clients.</a:t>
            </a:r>
          </a:p>
          <a:p>
            <a:r>
              <a:rPr lang="en-US" altLang="zh-TW" dirty="0" smtClean="0"/>
              <a:t>IDL definitions can be compiled into a </a:t>
            </a:r>
            <a:r>
              <a:rPr lang="en-US" altLang="zh-TW" dirty="0" smtClean="0">
                <a:solidFill>
                  <a:srgbClr val="FF0000"/>
                </a:solidFill>
              </a:rPr>
              <a:t>client stub </a:t>
            </a:r>
            <a:r>
              <a:rPr lang="en-US" altLang="zh-TW" dirty="0" smtClean="0"/>
              <a:t>module and a </a:t>
            </a:r>
            <a:r>
              <a:rPr lang="en-US" altLang="zh-TW" dirty="0" smtClean="0">
                <a:solidFill>
                  <a:srgbClr val="FF0000"/>
                </a:solidFill>
              </a:rPr>
              <a:t>server skeleton </a:t>
            </a:r>
            <a:r>
              <a:rPr lang="en-US" altLang="zh-TW" dirty="0" smtClean="0"/>
              <a:t>module.</a:t>
            </a:r>
          </a:p>
          <a:p>
            <a:pPr lvl="1"/>
            <a:r>
              <a:rPr lang="en-US" altLang="zh-TW" dirty="0" smtClean="0"/>
              <a:t>The client stub is used in the client side as a </a:t>
            </a:r>
            <a:r>
              <a:rPr lang="en-US" altLang="zh-TW" dirty="0" smtClean="0">
                <a:solidFill>
                  <a:srgbClr val="FF0000"/>
                </a:solidFill>
              </a:rPr>
              <a:t>proxy </a:t>
            </a:r>
            <a:r>
              <a:rPr lang="en-US" altLang="zh-TW" dirty="0" smtClean="0"/>
              <a:t>of the server object.</a:t>
            </a:r>
          </a:p>
          <a:p>
            <a:pPr lvl="1"/>
            <a:r>
              <a:rPr lang="en-US" altLang="zh-TW" dirty="0" smtClean="0"/>
              <a:t>The server skeleton is used on the server side as an </a:t>
            </a:r>
            <a:r>
              <a:rPr lang="en-US" altLang="zh-TW" dirty="0" smtClean="0">
                <a:solidFill>
                  <a:srgbClr val="FF0000"/>
                </a:solidFill>
              </a:rPr>
              <a:t>agent</a:t>
            </a:r>
            <a:r>
              <a:rPr lang="en-US" altLang="zh-TW" dirty="0" smtClean="0"/>
              <a:t> of the client.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825510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IDL syntax</a:t>
            </a:r>
            <a:endParaRPr lang="zh-TW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39552" y="1844824"/>
            <a:ext cx="5257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+mn-lt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+mn-lt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+mn-lt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5pPr>
            <a:lvl6pPr marL="18288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6pPr>
            <a:lvl7pPr marL="22860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7pPr>
            <a:lvl8pPr marL="27432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8pPr>
            <a:lvl9pPr marL="32004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en-US" altLang="tr-TR" sz="2000" b="1" kern="0" smtClean="0"/>
              <a:t>module &lt;identifier&gt;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en-US" altLang="tr-TR" sz="2000" b="1" kern="0" smtClean="0"/>
              <a:t>	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en-US" altLang="tr-TR" sz="2000" b="1" kern="0" smtClean="0"/>
              <a:t>	interface &lt;identifier&gt; [:inheritance]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en-US" altLang="tr-TR" sz="2000" b="1" kern="0" smtClean="0"/>
              <a:t>		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en-US" altLang="tr-TR" sz="2000" b="1" kern="0" smtClean="0"/>
              <a:t>		&lt;type declarations&gt;;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en-US" altLang="tr-TR" sz="2000" b="1" kern="0" smtClean="0"/>
              <a:t>		&lt;constant declarations&gt;;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en-US" altLang="tr-TR" sz="2000" b="1" kern="0" smtClean="0"/>
              <a:t>		&lt;exception declarations&gt;;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en-US" altLang="tr-TR" sz="2000" b="1" kern="0" smtClean="0"/>
              <a:t>		&lt;attribute declarations&gt;;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en-US" altLang="tr-TR" sz="2000" b="1" kern="0" smtClean="0"/>
              <a:t>	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en-US" altLang="tr-TR" sz="2000" b="1" kern="0" smtClean="0"/>
              <a:t>		[&lt;op_type&gt;] &lt;identifier&gt;(&lt;parameters&gt;)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en-US" altLang="tr-TR" sz="2000" b="1" kern="0" smtClean="0"/>
              <a:t>		[raises exception][context];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en-US" altLang="tr-TR" sz="2000" b="1" kern="0" smtClean="0"/>
              <a:t>		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en-US" altLang="tr-TR" sz="2000" b="1" kern="0" smtClean="0"/>
              <a:t>	}</a:t>
            </a:r>
            <a:endParaRPr kumimoji="0" lang="en-US" altLang="tr-TR" sz="2000" b="1" kern="0" dirty="0" smtClean="0"/>
          </a:p>
        </p:txBody>
      </p:sp>
      <p:grpSp>
        <p:nvGrpSpPr>
          <p:cNvPr id="5" name="群組 4"/>
          <p:cNvGrpSpPr/>
          <p:nvPr/>
        </p:nvGrpSpPr>
        <p:grpSpPr>
          <a:xfrm>
            <a:off x="2977952" y="1844824"/>
            <a:ext cx="5638800" cy="4412397"/>
            <a:chOff x="3124200" y="2057400"/>
            <a:chExt cx="5638800" cy="4412397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6477000" y="3276600"/>
              <a:ext cx="2133600" cy="1200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tr-TR" b="1"/>
                <a:t>Defines a CORBA object</a:t>
              </a: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629400" y="5638800"/>
              <a:ext cx="2133600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tr-TR" b="1"/>
                <a:t>Defines a method</a:t>
              </a: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 flipV="1">
              <a:off x="5181600" y="5562600"/>
              <a:ext cx="167640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TW" altLang="en-US" b="1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H="1" flipV="1">
              <a:off x="4800600" y="3124200"/>
              <a:ext cx="152400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TW" altLang="en-US" b="1"/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5715000" y="2057400"/>
              <a:ext cx="2743200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tr-TR" b="1"/>
                <a:t>Defines a container (namespace)</a:t>
              </a: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3124200" y="2286000"/>
              <a:ext cx="2590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TW" altLang="en-US" b="1"/>
            </a:p>
          </p:txBody>
        </p:sp>
      </p:grpSp>
    </p:spTree>
    <p:extLst>
      <p:ext uri="{BB962C8B-B14F-4D97-AF65-F5344CB8AC3E}">
        <p14:creationId xmlns:p14="http://schemas.microsoft.com/office/powerpoint/2010/main" val="30766673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IDL Compiler</a:t>
            </a:r>
            <a:endParaRPr lang="zh-TW" altLang="en-US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944416" y="2133600"/>
            <a:ext cx="1752600" cy="835025"/>
          </a:xfrm>
          <a:prstGeom prst="rect">
            <a:avLst/>
          </a:prstGeom>
          <a:solidFill>
            <a:srgbClr val="333399"/>
          </a:solidFill>
          <a:ln w="12700">
            <a:solidFill>
              <a:srgbClr val="FFFFCC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IDL Definitions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944416" y="3886200"/>
            <a:ext cx="1752600" cy="835025"/>
          </a:xfrm>
          <a:prstGeom prst="rect">
            <a:avLst/>
          </a:prstGeom>
          <a:solidFill>
            <a:srgbClr val="333399"/>
          </a:solidFill>
          <a:ln w="12700">
            <a:solidFill>
              <a:srgbClr val="FFFFCC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tr-TR" sz="2400" b="0" i="0" u="none" strike="noStrike" kern="0" cap="none" spc="0" normalizeH="0" baseline="0" noProof="0" smtClean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IDL Compiler</a:t>
            </a: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3782616" y="29718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0" i="0" u="none" strike="noStrike" kern="0" cap="none" spc="0" normalizeH="0" baseline="0" noProof="0" smtClean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115616" y="5638800"/>
            <a:ext cx="1752600" cy="469900"/>
          </a:xfrm>
          <a:prstGeom prst="rect">
            <a:avLst/>
          </a:prstGeom>
          <a:solidFill>
            <a:srgbClr val="333399"/>
          </a:solidFill>
          <a:ln w="12700">
            <a:solidFill>
              <a:srgbClr val="FFFFCC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tr-TR" sz="2400" b="0" i="0" u="none" strike="noStrike" kern="0" cap="none" spc="0" normalizeH="0" baseline="0" noProof="0" smtClean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Stubs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4697016" y="5638800"/>
            <a:ext cx="1752600" cy="469900"/>
          </a:xfrm>
          <a:prstGeom prst="rect">
            <a:avLst/>
          </a:prstGeom>
          <a:solidFill>
            <a:srgbClr val="333399"/>
          </a:solidFill>
          <a:ln w="12700">
            <a:solidFill>
              <a:srgbClr val="FFFFCC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tr-TR" sz="2400" b="0" i="0" u="none" strike="noStrike" kern="0" cap="none" spc="0" normalizeH="0" baseline="0" noProof="0" smtClean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Skeletons</a:t>
            </a: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 flipH="1">
            <a:off x="2868216" y="4724400"/>
            <a:ext cx="91440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0" i="0" u="none" strike="noStrike" kern="0" cap="none" spc="0" normalizeH="0" baseline="0" noProof="0" smtClean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3782616" y="4724400"/>
            <a:ext cx="91440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0" i="0" u="none" strike="noStrike" kern="0" cap="none" spc="0" normalizeH="0" baseline="0" noProof="0" smtClean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5336232" y="2590800"/>
            <a:ext cx="3350568" cy="266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lIns="92075" tIns="46038" rIns="92075" bIns="46038"/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marR="0" lvl="0" indent="-4572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CC66"/>
              </a:buClr>
              <a:buSzTx/>
              <a:buFontTx/>
              <a:buAutoNum type="arabicPeriod"/>
              <a:tabLst/>
              <a:defRPr/>
            </a:pPr>
            <a:r>
              <a:rPr kumimoji="0" lang="en-US" altLang="tr-T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Define objects using IDL</a:t>
            </a:r>
          </a:p>
          <a:p>
            <a:pPr marL="457200" marR="0" lvl="0" indent="-4572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CC66"/>
              </a:buClr>
              <a:buSzTx/>
              <a:buFontTx/>
              <a:buAutoNum type="arabicPeriod"/>
              <a:tabLst/>
              <a:defRPr/>
            </a:pPr>
            <a:r>
              <a:rPr kumimoji="0" lang="en-US" altLang="tr-T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Run IDL file through IDL compiler</a:t>
            </a:r>
          </a:p>
          <a:p>
            <a:pPr marL="457200" marR="0" lvl="0" indent="-4572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CC66"/>
              </a:buClr>
              <a:buSzTx/>
              <a:buFontTx/>
              <a:buAutoNum type="arabicPeriod"/>
              <a:tabLst/>
              <a:defRPr/>
            </a:pPr>
            <a:r>
              <a:rPr kumimoji="0" lang="en-US" altLang="tr-T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Compiler uses language mappings to generate programming language specific stubs and skeletons</a:t>
            </a:r>
          </a:p>
        </p:txBody>
      </p:sp>
    </p:spTree>
    <p:extLst>
      <p:ext uri="{BB962C8B-B14F-4D97-AF65-F5344CB8AC3E}">
        <p14:creationId xmlns:p14="http://schemas.microsoft.com/office/powerpoint/2010/main" val="31551794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260648"/>
            <a:ext cx="7772400" cy="1012974"/>
          </a:xfrm>
        </p:spPr>
        <p:txBody>
          <a:bodyPr/>
          <a:lstStyle/>
          <a:p>
            <a:pPr algn="ctr"/>
            <a:r>
              <a:rPr lang="en-US" altLang="zh-TW" dirty="0"/>
              <a:t>Client Server Interaction in CORBA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519808"/>
            <a:ext cx="8784976" cy="1405136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ORB</a:t>
            </a:r>
            <a:r>
              <a:rPr lang="en-US" altLang="zh-TW" dirty="0"/>
              <a:t> is a middleware that </a:t>
            </a:r>
            <a:r>
              <a:rPr lang="en-US" altLang="zh-TW" dirty="0" smtClean="0"/>
              <a:t>implements </a:t>
            </a:r>
            <a:r>
              <a:rPr lang="en-US" altLang="zh-TW" dirty="0"/>
              <a:t>the CORBA standard.</a:t>
            </a:r>
          </a:p>
          <a:p>
            <a:r>
              <a:rPr lang="en-US" altLang="zh-TW" dirty="0"/>
              <a:t>It is a conceptual software bus that hides location and implementation details about objects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880292"/>
            <a:ext cx="7560840" cy="386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0858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ORB Architecture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518541"/>
            <a:ext cx="7956376" cy="515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619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940966"/>
          </a:xfrm>
        </p:spPr>
        <p:txBody>
          <a:bodyPr/>
          <a:lstStyle/>
          <a:p>
            <a:r>
              <a:rPr lang="en-US" altLang="zh-TW" dirty="0" smtClean="0"/>
              <a:t>A CORBA Based Distributed System 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628800"/>
            <a:ext cx="8057696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347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Linda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84784"/>
            <a:ext cx="8856984" cy="5040560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Linda</a:t>
            </a:r>
            <a:r>
              <a:rPr lang="en-US" altLang="zh-TW" dirty="0"/>
              <a:t> is a </a:t>
            </a:r>
            <a:r>
              <a:rPr lang="en-US" altLang="zh-TW" dirty="0" smtClean="0"/>
              <a:t>novel system </a:t>
            </a:r>
            <a:r>
              <a:rPr lang="en-US" altLang="zh-TW" dirty="0"/>
              <a:t>of </a:t>
            </a:r>
            <a:r>
              <a:rPr lang="en-US" altLang="zh-TW" dirty="0">
                <a:solidFill>
                  <a:srgbClr val="FF0000"/>
                </a:solidFill>
              </a:rPr>
              <a:t>coordination and communication </a:t>
            </a:r>
            <a:r>
              <a:rPr lang="en-US" altLang="zh-TW" dirty="0"/>
              <a:t>among </a:t>
            </a:r>
            <a:r>
              <a:rPr lang="en-US" altLang="zh-TW" dirty="0" smtClean="0"/>
              <a:t>processes </a:t>
            </a:r>
            <a:r>
              <a:rPr lang="en-US" altLang="zh-TW" dirty="0"/>
              <a:t>operating upon </a:t>
            </a:r>
            <a:r>
              <a:rPr lang="en-US" altLang="zh-TW" dirty="0" smtClean="0"/>
              <a:t>data </a:t>
            </a:r>
            <a:r>
              <a:rPr lang="en-US" altLang="zh-TW" dirty="0"/>
              <a:t>stored in and retrieved from </a:t>
            </a:r>
            <a:r>
              <a:rPr lang="en-US" altLang="zh-TW" dirty="0" smtClean="0"/>
              <a:t>a (virtually) shared </a:t>
            </a:r>
            <a:r>
              <a:rPr lang="en-US" altLang="zh-TW" dirty="0"/>
              <a:t>memory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It </a:t>
            </a:r>
            <a:r>
              <a:rPr lang="en-US" altLang="zh-TW" dirty="0"/>
              <a:t>was </a:t>
            </a:r>
            <a:r>
              <a:rPr lang="en-US" altLang="zh-TW" dirty="0" smtClean="0"/>
              <a:t>proposed by </a:t>
            </a:r>
            <a:r>
              <a:rPr lang="en-US" altLang="zh-TW" dirty="0"/>
              <a:t>David Gelernter </a:t>
            </a:r>
            <a:r>
              <a:rPr lang="en-US" altLang="zh-TW" dirty="0" smtClean="0"/>
              <a:t>and </a:t>
            </a:r>
            <a:r>
              <a:rPr lang="en-US" altLang="zh-TW" dirty="0"/>
              <a:t>Nick </a:t>
            </a:r>
            <a:r>
              <a:rPr lang="en-US" altLang="zh-TW" dirty="0" err="1" smtClean="0"/>
              <a:t>Carriero</a:t>
            </a:r>
            <a:r>
              <a:rPr lang="en-US" altLang="zh-TW" dirty="0" smtClean="0"/>
              <a:t> at Yale University. (1985~)</a:t>
            </a:r>
          </a:p>
          <a:p>
            <a:pPr lvl="1"/>
            <a:r>
              <a:rPr lang="en-US" altLang="zh-TW" dirty="0" smtClean="0"/>
              <a:t>The technology </a:t>
            </a:r>
            <a:r>
              <a:rPr lang="en-US" altLang="zh-TW" dirty="0"/>
              <a:t>was </a:t>
            </a:r>
            <a:r>
              <a:rPr lang="en-US" altLang="zh-TW" dirty="0" smtClean="0"/>
              <a:t>later transferred </a:t>
            </a:r>
            <a:r>
              <a:rPr lang="en-US" altLang="zh-TW" dirty="0"/>
              <a:t>to Scientific Computing Associates, Inc</a:t>
            </a:r>
            <a:r>
              <a:rPr lang="en-US" altLang="zh-TW" dirty="0" smtClean="0"/>
              <a:t>. (SCAI)</a:t>
            </a:r>
          </a:p>
          <a:p>
            <a:pPr lvl="2"/>
            <a:r>
              <a:rPr lang="en-US" altLang="zh-TW" dirty="0" smtClean="0"/>
              <a:t>TCP-Linda was the product provided by SCAI</a:t>
            </a:r>
          </a:p>
          <a:p>
            <a:pPr lvl="2"/>
            <a:r>
              <a:rPr lang="en-US" altLang="zh-TW" dirty="0"/>
              <a:t>Official web site is </a:t>
            </a:r>
            <a:r>
              <a:rPr lang="en-US" altLang="zh-TW" dirty="0">
                <a:hlinkClick r:id="rId2"/>
              </a:rPr>
              <a:t>http://</a:t>
            </a:r>
            <a:r>
              <a:rPr lang="en-US" altLang="zh-TW" dirty="0" smtClean="0">
                <a:hlinkClick r:id="rId2"/>
              </a:rPr>
              <a:t>lindaspaces.com/products/linda.html</a:t>
            </a:r>
            <a:endParaRPr lang="en-US" altLang="zh-TW" dirty="0" smtClean="0"/>
          </a:p>
          <a:p>
            <a:r>
              <a:rPr lang="en-US" altLang="zh-TW" dirty="0" smtClean="0"/>
              <a:t>Some </a:t>
            </a:r>
            <a:r>
              <a:rPr lang="en-US" altLang="zh-TW" dirty="0"/>
              <a:t>o</a:t>
            </a:r>
            <a:r>
              <a:rPr lang="en-US" altLang="zh-TW" dirty="0" smtClean="0"/>
              <a:t>ther implementations are</a:t>
            </a:r>
          </a:p>
          <a:p>
            <a:pPr lvl="1"/>
            <a:r>
              <a:rPr lang="en-US" altLang="zh-TW" dirty="0" err="1" smtClean="0"/>
              <a:t>LinuxTuples</a:t>
            </a:r>
            <a:r>
              <a:rPr lang="en-US" altLang="zh-TW" dirty="0" smtClean="0"/>
              <a:t>: </a:t>
            </a:r>
            <a:r>
              <a:rPr lang="en-US" altLang="zh-TW" dirty="0">
                <a:hlinkClick r:id="rId3"/>
              </a:rPr>
              <a:t>https://sourceforge.net/projects/linuxtuples</a:t>
            </a:r>
            <a:r>
              <a:rPr lang="en-US" altLang="zh-TW" dirty="0" smtClean="0">
                <a:hlinkClick r:id="rId3"/>
              </a:rPr>
              <a:t>/</a:t>
            </a:r>
            <a:endParaRPr lang="en-US" altLang="zh-TW" dirty="0" smtClean="0"/>
          </a:p>
          <a:p>
            <a:pPr lvl="1"/>
            <a:r>
              <a:rPr lang="en-US" altLang="zh-TW" dirty="0"/>
              <a:t>Simple C-Linda: </a:t>
            </a:r>
            <a:r>
              <a:rPr lang="en-US" altLang="zh-TW" dirty="0">
                <a:hlinkClick r:id="rId4"/>
              </a:rPr>
              <a:t>https://www.comp.nus.edu.sg/~</a:t>
            </a:r>
            <a:r>
              <a:rPr lang="en-US" altLang="zh-TW" dirty="0" smtClean="0">
                <a:hlinkClick r:id="rId4"/>
              </a:rPr>
              <a:t>wongwf/linda.html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8512308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The Linda Concept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12776"/>
            <a:ext cx="8712968" cy="5221560"/>
          </a:xfrm>
        </p:spPr>
        <p:txBody>
          <a:bodyPr/>
          <a:lstStyle/>
          <a:p>
            <a:r>
              <a:rPr lang="en-US" altLang="zh-TW" dirty="0" smtClean="0"/>
              <a:t>In Linda, processes communicate via a shared </a:t>
            </a:r>
            <a:r>
              <a:rPr lang="en-US" altLang="zh-TW" dirty="0" smtClean="0">
                <a:solidFill>
                  <a:srgbClr val="FF0000"/>
                </a:solidFill>
              </a:rPr>
              <a:t>tuple space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The tuple space (TS) is a shared global repository that holds tuples inserted by all processes.</a:t>
            </a:r>
          </a:p>
          <a:p>
            <a:pPr lvl="1"/>
            <a:r>
              <a:rPr lang="en-US" altLang="zh-TW" dirty="0" smtClean="0"/>
              <a:t>All tuples can be read and retrieved by any process in Linda.</a:t>
            </a:r>
          </a:p>
          <a:p>
            <a:r>
              <a:rPr lang="en-US" altLang="zh-TW" dirty="0" smtClean="0"/>
              <a:t>A tuple is a vector that consists of one or more fields.</a:t>
            </a:r>
          </a:p>
          <a:p>
            <a:pPr lvl="1"/>
            <a:r>
              <a:rPr lang="en-US" altLang="zh-TW" dirty="0" smtClean="0"/>
              <a:t>Each field is a value of some type supported by the base language.</a:t>
            </a:r>
          </a:p>
          <a:p>
            <a:r>
              <a:rPr lang="en-US" altLang="zh-TW" dirty="0" smtClean="0"/>
              <a:t>Linda is usually implemented by adding a library to an existing language, such as C, Java, …</a:t>
            </a:r>
          </a:p>
          <a:p>
            <a:r>
              <a:rPr lang="en-US" altLang="zh-TW" dirty="0"/>
              <a:t>The original Linda model </a:t>
            </a:r>
            <a:r>
              <a:rPr lang="en-US" altLang="zh-TW" dirty="0" smtClean="0"/>
              <a:t>has only four tuple operations: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In(), Out() </a:t>
            </a:r>
            <a:r>
              <a:rPr lang="en-US" altLang="zh-TW" dirty="0"/>
              <a:t>moves </a:t>
            </a:r>
            <a:r>
              <a:rPr lang="en-US" altLang="zh-TW" dirty="0" smtClean="0"/>
              <a:t>a tuple to and from the tuple space.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Eval() </a:t>
            </a:r>
            <a:r>
              <a:rPr lang="en-US" altLang="zh-TW" dirty="0"/>
              <a:t>spawns </a:t>
            </a:r>
            <a:r>
              <a:rPr lang="en-US" altLang="zh-TW" dirty="0" smtClean="0"/>
              <a:t>a new process to perform some task in tuple space.</a:t>
            </a:r>
            <a:endParaRPr lang="en-US" altLang="zh-TW" dirty="0"/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Rd() </a:t>
            </a:r>
            <a:r>
              <a:rPr lang="en-US" altLang="zh-TW" dirty="0" smtClean="0"/>
              <a:t>reads </a:t>
            </a:r>
            <a:r>
              <a:rPr lang="en-US" altLang="zh-TW" dirty="0"/>
              <a:t>a </a:t>
            </a:r>
            <a:r>
              <a:rPr lang="en-US" altLang="zh-TW" dirty="0" smtClean="0"/>
              <a:t>tuple from the tuple space without erasing it.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614516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Tuple Space Concept</a:t>
            </a:r>
            <a:endParaRPr lang="zh-TW" altLang="en-US" dirty="0"/>
          </a:p>
        </p:txBody>
      </p:sp>
      <p:sp>
        <p:nvSpPr>
          <p:cNvPr id="5" name="手繪多邊形 4"/>
          <p:cNvSpPr/>
          <p:nvPr/>
        </p:nvSpPr>
        <p:spPr>
          <a:xfrm>
            <a:off x="1763688" y="2492896"/>
            <a:ext cx="5760639" cy="3384376"/>
          </a:xfrm>
          <a:custGeom>
            <a:avLst/>
            <a:gdLst>
              <a:gd name="connsiteX0" fmla="*/ 298174 w 3756991"/>
              <a:gd name="connsiteY0" fmla="*/ 2630557 h 3055847"/>
              <a:gd name="connsiteX1" fmla="*/ 298174 w 3756991"/>
              <a:gd name="connsiteY1" fmla="*/ 2630557 h 3055847"/>
              <a:gd name="connsiteX2" fmla="*/ 357809 w 3756991"/>
              <a:gd name="connsiteY2" fmla="*/ 2597426 h 3055847"/>
              <a:gd name="connsiteX3" fmla="*/ 318052 w 3756991"/>
              <a:gd name="connsiteY3" fmla="*/ 2544417 h 3055847"/>
              <a:gd name="connsiteX4" fmla="*/ 311426 w 3756991"/>
              <a:gd name="connsiteY4" fmla="*/ 2517913 h 3055847"/>
              <a:gd name="connsiteX5" fmla="*/ 298174 w 3756991"/>
              <a:gd name="connsiteY5" fmla="*/ 2478157 h 3055847"/>
              <a:gd name="connsiteX6" fmla="*/ 291548 w 3756991"/>
              <a:gd name="connsiteY6" fmla="*/ 2451652 h 3055847"/>
              <a:gd name="connsiteX7" fmla="*/ 278296 w 3756991"/>
              <a:gd name="connsiteY7" fmla="*/ 2411896 h 3055847"/>
              <a:gd name="connsiteX8" fmla="*/ 265043 w 3756991"/>
              <a:gd name="connsiteY8" fmla="*/ 2365513 h 3055847"/>
              <a:gd name="connsiteX9" fmla="*/ 245165 w 3756991"/>
              <a:gd name="connsiteY9" fmla="*/ 2332383 h 3055847"/>
              <a:gd name="connsiteX10" fmla="*/ 238539 w 3756991"/>
              <a:gd name="connsiteY10" fmla="*/ 2305878 h 3055847"/>
              <a:gd name="connsiteX11" fmla="*/ 225287 w 3756991"/>
              <a:gd name="connsiteY11" fmla="*/ 2239617 h 3055847"/>
              <a:gd name="connsiteX12" fmla="*/ 212035 w 3756991"/>
              <a:gd name="connsiteY12" fmla="*/ 2199861 h 3055847"/>
              <a:gd name="connsiteX13" fmla="*/ 198782 w 3756991"/>
              <a:gd name="connsiteY13" fmla="*/ 2179983 h 3055847"/>
              <a:gd name="connsiteX14" fmla="*/ 192156 w 3756991"/>
              <a:gd name="connsiteY14" fmla="*/ 2153478 h 3055847"/>
              <a:gd name="connsiteX15" fmla="*/ 178904 w 3756991"/>
              <a:gd name="connsiteY15" fmla="*/ 2113722 h 3055847"/>
              <a:gd name="connsiteX16" fmla="*/ 159026 w 3756991"/>
              <a:gd name="connsiteY16" fmla="*/ 2054087 h 3055847"/>
              <a:gd name="connsiteX17" fmla="*/ 152400 w 3756991"/>
              <a:gd name="connsiteY17" fmla="*/ 2001078 h 3055847"/>
              <a:gd name="connsiteX18" fmla="*/ 139148 w 3756991"/>
              <a:gd name="connsiteY18" fmla="*/ 1842052 h 3055847"/>
              <a:gd name="connsiteX19" fmla="*/ 125896 w 3756991"/>
              <a:gd name="connsiteY19" fmla="*/ 1808922 h 3055847"/>
              <a:gd name="connsiteX20" fmla="*/ 119269 w 3756991"/>
              <a:gd name="connsiteY20" fmla="*/ 1736035 h 3055847"/>
              <a:gd name="connsiteX21" fmla="*/ 112643 w 3756991"/>
              <a:gd name="connsiteY21" fmla="*/ 1643270 h 3055847"/>
              <a:gd name="connsiteX22" fmla="*/ 99391 w 3756991"/>
              <a:gd name="connsiteY22" fmla="*/ 1583635 h 3055847"/>
              <a:gd name="connsiteX23" fmla="*/ 86139 w 3756991"/>
              <a:gd name="connsiteY23" fmla="*/ 1490870 h 3055847"/>
              <a:gd name="connsiteX24" fmla="*/ 72887 w 3756991"/>
              <a:gd name="connsiteY24" fmla="*/ 1431235 h 3055847"/>
              <a:gd name="connsiteX25" fmla="*/ 59635 w 3756991"/>
              <a:gd name="connsiteY25" fmla="*/ 1358348 h 3055847"/>
              <a:gd name="connsiteX26" fmla="*/ 39756 w 3756991"/>
              <a:gd name="connsiteY26" fmla="*/ 1298713 h 3055847"/>
              <a:gd name="connsiteX27" fmla="*/ 26504 w 3756991"/>
              <a:gd name="connsiteY27" fmla="*/ 1232452 h 3055847"/>
              <a:gd name="connsiteX28" fmla="*/ 13252 w 3756991"/>
              <a:gd name="connsiteY28" fmla="*/ 1186070 h 3055847"/>
              <a:gd name="connsiteX29" fmla="*/ 6626 w 3756991"/>
              <a:gd name="connsiteY29" fmla="*/ 1119809 h 3055847"/>
              <a:gd name="connsiteX30" fmla="*/ 0 w 3756991"/>
              <a:gd name="connsiteY30" fmla="*/ 1080052 h 3055847"/>
              <a:gd name="connsiteX31" fmla="*/ 6626 w 3756991"/>
              <a:gd name="connsiteY31" fmla="*/ 901148 h 3055847"/>
              <a:gd name="connsiteX32" fmla="*/ 13252 w 3756991"/>
              <a:gd name="connsiteY32" fmla="*/ 881270 h 3055847"/>
              <a:gd name="connsiteX33" fmla="*/ 59635 w 3756991"/>
              <a:gd name="connsiteY33" fmla="*/ 828261 h 3055847"/>
              <a:gd name="connsiteX34" fmla="*/ 112643 w 3756991"/>
              <a:gd name="connsiteY34" fmla="*/ 801757 h 3055847"/>
              <a:gd name="connsiteX35" fmla="*/ 145774 w 3756991"/>
              <a:gd name="connsiteY35" fmla="*/ 788504 h 3055847"/>
              <a:gd name="connsiteX36" fmla="*/ 165652 w 3756991"/>
              <a:gd name="connsiteY36" fmla="*/ 781878 h 3055847"/>
              <a:gd name="connsiteX37" fmla="*/ 185530 w 3756991"/>
              <a:gd name="connsiteY37" fmla="*/ 768626 h 3055847"/>
              <a:gd name="connsiteX38" fmla="*/ 212035 w 3756991"/>
              <a:gd name="connsiteY38" fmla="*/ 762000 h 3055847"/>
              <a:gd name="connsiteX39" fmla="*/ 291548 w 3756991"/>
              <a:gd name="connsiteY39" fmla="*/ 735496 h 3055847"/>
              <a:gd name="connsiteX40" fmla="*/ 318052 w 3756991"/>
              <a:gd name="connsiteY40" fmla="*/ 728870 h 3055847"/>
              <a:gd name="connsiteX41" fmla="*/ 344556 w 3756991"/>
              <a:gd name="connsiteY41" fmla="*/ 715617 h 3055847"/>
              <a:gd name="connsiteX42" fmla="*/ 417443 w 3756991"/>
              <a:gd name="connsiteY42" fmla="*/ 695739 h 3055847"/>
              <a:gd name="connsiteX43" fmla="*/ 457200 w 3756991"/>
              <a:gd name="connsiteY43" fmla="*/ 682487 h 3055847"/>
              <a:gd name="connsiteX44" fmla="*/ 516835 w 3756991"/>
              <a:gd name="connsiteY44" fmla="*/ 669235 h 3055847"/>
              <a:gd name="connsiteX45" fmla="*/ 549965 w 3756991"/>
              <a:gd name="connsiteY45" fmla="*/ 662609 h 3055847"/>
              <a:gd name="connsiteX46" fmla="*/ 616226 w 3756991"/>
              <a:gd name="connsiteY46" fmla="*/ 636104 h 3055847"/>
              <a:gd name="connsiteX47" fmla="*/ 689113 w 3756991"/>
              <a:gd name="connsiteY47" fmla="*/ 609600 h 3055847"/>
              <a:gd name="connsiteX48" fmla="*/ 815009 w 3756991"/>
              <a:gd name="connsiteY48" fmla="*/ 569844 h 3055847"/>
              <a:gd name="connsiteX49" fmla="*/ 834887 w 3756991"/>
              <a:gd name="connsiteY49" fmla="*/ 563217 h 3055847"/>
              <a:gd name="connsiteX50" fmla="*/ 901148 w 3756991"/>
              <a:gd name="connsiteY50" fmla="*/ 543339 h 3055847"/>
              <a:gd name="connsiteX51" fmla="*/ 921026 w 3756991"/>
              <a:gd name="connsiteY51" fmla="*/ 536713 h 3055847"/>
              <a:gd name="connsiteX52" fmla="*/ 947530 w 3756991"/>
              <a:gd name="connsiteY52" fmla="*/ 523461 h 3055847"/>
              <a:gd name="connsiteX53" fmla="*/ 1013791 w 3756991"/>
              <a:gd name="connsiteY53" fmla="*/ 503583 h 3055847"/>
              <a:gd name="connsiteX54" fmla="*/ 1046922 w 3756991"/>
              <a:gd name="connsiteY54" fmla="*/ 490331 h 3055847"/>
              <a:gd name="connsiteX55" fmla="*/ 1066800 w 3756991"/>
              <a:gd name="connsiteY55" fmla="*/ 483704 h 3055847"/>
              <a:gd name="connsiteX56" fmla="*/ 1126435 w 3756991"/>
              <a:gd name="connsiteY56" fmla="*/ 450574 h 3055847"/>
              <a:gd name="connsiteX57" fmla="*/ 1146313 w 3756991"/>
              <a:gd name="connsiteY57" fmla="*/ 443948 h 3055847"/>
              <a:gd name="connsiteX58" fmla="*/ 1166191 w 3756991"/>
              <a:gd name="connsiteY58" fmla="*/ 424070 h 3055847"/>
              <a:gd name="connsiteX59" fmla="*/ 1252330 w 3756991"/>
              <a:gd name="connsiteY59" fmla="*/ 357809 h 3055847"/>
              <a:gd name="connsiteX60" fmla="*/ 1292087 w 3756991"/>
              <a:gd name="connsiteY60" fmla="*/ 311426 h 3055847"/>
              <a:gd name="connsiteX61" fmla="*/ 1391478 w 3756991"/>
              <a:gd name="connsiteY61" fmla="*/ 212035 h 3055847"/>
              <a:gd name="connsiteX62" fmla="*/ 1451113 w 3756991"/>
              <a:gd name="connsiteY62" fmla="*/ 139148 h 3055847"/>
              <a:gd name="connsiteX63" fmla="*/ 1477617 w 3756991"/>
              <a:gd name="connsiteY63" fmla="*/ 99391 h 3055847"/>
              <a:gd name="connsiteX64" fmla="*/ 1504122 w 3756991"/>
              <a:gd name="connsiteY64" fmla="*/ 72887 h 3055847"/>
              <a:gd name="connsiteX65" fmla="*/ 1524000 w 3756991"/>
              <a:gd name="connsiteY65" fmla="*/ 46383 h 3055847"/>
              <a:gd name="connsiteX66" fmla="*/ 1570382 w 3756991"/>
              <a:gd name="connsiteY66" fmla="*/ 13252 h 3055847"/>
              <a:gd name="connsiteX67" fmla="*/ 1683026 w 3756991"/>
              <a:gd name="connsiteY67" fmla="*/ 0 h 3055847"/>
              <a:gd name="connsiteX68" fmla="*/ 1934817 w 3756991"/>
              <a:gd name="connsiteY68" fmla="*/ 6626 h 3055847"/>
              <a:gd name="connsiteX69" fmla="*/ 2007704 w 3756991"/>
              <a:gd name="connsiteY69" fmla="*/ 26504 h 3055847"/>
              <a:gd name="connsiteX70" fmla="*/ 2226365 w 3756991"/>
              <a:gd name="connsiteY70" fmla="*/ 132522 h 3055847"/>
              <a:gd name="connsiteX71" fmla="*/ 2279374 w 3756991"/>
              <a:gd name="connsiteY71" fmla="*/ 159026 h 3055847"/>
              <a:gd name="connsiteX72" fmla="*/ 2332382 w 3756991"/>
              <a:gd name="connsiteY72" fmla="*/ 192157 h 3055847"/>
              <a:gd name="connsiteX73" fmla="*/ 2425148 w 3756991"/>
              <a:gd name="connsiteY73" fmla="*/ 231913 h 3055847"/>
              <a:gd name="connsiteX74" fmla="*/ 2464904 w 3756991"/>
              <a:gd name="connsiteY74" fmla="*/ 278296 h 3055847"/>
              <a:gd name="connsiteX75" fmla="*/ 2504661 w 3756991"/>
              <a:gd name="connsiteY75" fmla="*/ 304800 h 3055847"/>
              <a:gd name="connsiteX76" fmla="*/ 2597426 w 3756991"/>
              <a:gd name="connsiteY76" fmla="*/ 390939 h 3055847"/>
              <a:gd name="connsiteX77" fmla="*/ 2736574 w 3756991"/>
              <a:gd name="connsiteY77" fmla="*/ 543339 h 3055847"/>
              <a:gd name="connsiteX78" fmla="*/ 2849217 w 3756991"/>
              <a:gd name="connsiteY78" fmla="*/ 609600 h 3055847"/>
              <a:gd name="connsiteX79" fmla="*/ 3154017 w 3756991"/>
              <a:gd name="connsiteY79" fmla="*/ 702365 h 3055847"/>
              <a:gd name="connsiteX80" fmla="*/ 3339548 w 3756991"/>
              <a:gd name="connsiteY80" fmla="*/ 755374 h 3055847"/>
              <a:gd name="connsiteX81" fmla="*/ 3392556 w 3756991"/>
              <a:gd name="connsiteY81" fmla="*/ 775252 h 3055847"/>
              <a:gd name="connsiteX82" fmla="*/ 3425687 w 3756991"/>
              <a:gd name="connsiteY82" fmla="*/ 801757 h 3055847"/>
              <a:gd name="connsiteX83" fmla="*/ 3525078 w 3756991"/>
              <a:gd name="connsiteY83" fmla="*/ 927652 h 3055847"/>
              <a:gd name="connsiteX84" fmla="*/ 3684104 w 3756991"/>
              <a:gd name="connsiteY84" fmla="*/ 1245704 h 3055847"/>
              <a:gd name="connsiteX85" fmla="*/ 3730487 w 3756991"/>
              <a:gd name="connsiteY85" fmla="*/ 1457739 h 3055847"/>
              <a:gd name="connsiteX86" fmla="*/ 3756991 w 3756991"/>
              <a:gd name="connsiteY86" fmla="*/ 1570383 h 3055847"/>
              <a:gd name="connsiteX87" fmla="*/ 3737113 w 3756991"/>
              <a:gd name="connsiteY87" fmla="*/ 1742661 h 3055847"/>
              <a:gd name="connsiteX88" fmla="*/ 3697356 w 3756991"/>
              <a:gd name="connsiteY88" fmla="*/ 1835426 h 3055847"/>
              <a:gd name="connsiteX89" fmla="*/ 3544956 w 3756991"/>
              <a:gd name="connsiteY89" fmla="*/ 2087217 h 3055847"/>
              <a:gd name="connsiteX90" fmla="*/ 3485322 w 3756991"/>
              <a:gd name="connsiteY90" fmla="*/ 2186609 h 3055847"/>
              <a:gd name="connsiteX91" fmla="*/ 3465443 w 3756991"/>
              <a:gd name="connsiteY91" fmla="*/ 2239617 h 3055847"/>
              <a:gd name="connsiteX92" fmla="*/ 3432313 w 3756991"/>
              <a:gd name="connsiteY92" fmla="*/ 2325757 h 3055847"/>
              <a:gd name="connsiteX93" fmla="*/ 3419061 w 3756991"/>
              <a:gd name="connsiteY93" fmla="*/ 2372139 h 3055847"/>
              <a:gd name="connsiteX94" fmla="*/ 3385930 w 3756991"/>
              <a:gd name="connsiteY94" fmla="*/ 2498035 h 3055847"/>
              <a:gd name="connsiteX95" fmla="*/ 3359426 w 3756991"/>
              <a:gd name="connsiteY95" fmla="*/ 2537791 h 3055847"/>
              <a:gd name="connsiteX96" fmla="*/ 3332922 w 3756991"/>
              <a:gd name="connsiteY96" fmla="*/ 2630557 h 3055847"/>
              <a:gd name="connsiteX97" fmla="*/ 3319669 w 3756991"/>
              <a:gd name="connsiteY97" fmla="*/ 2670313 h 3055847"/>
              <a:gd name="connsiteX98" fmla="*/ 3273287 w 3756991"/>
              <a:gd name="connsiteY98" fmla="*/ 2763078 h 3055847"/>
              <a:gd name="connsiteX99" fmla="*/ 3220278 w 3756991"/>
              <a:gd name="connsiteY99" fmla="*/ 2869096 h 3055847"/>
              <a:gd name="connsiteX100" fmla="*/ 3173896 w 3756991"/>
              <a:gd name="connsiteY100" fmla="*/ 2908852 h 3055847"/>
              <a:gd name="connsiteX101" fmla="*/ 3087756 w 3756991"/>
              <a:gd name="connsiteY101" fmla="*/ 2961861 h 3055847"/>
              <a:gd name="connsiteX102" fmla="*/ 3034748 w 3756991"/>
              <a:gd name="connsiteY102" fmla="*/ 2975113 h 3055847"/>
              <a:gd name="connsiteX103" fmla="*/ 2617304 w 3756991"/>
              <a:gd name="connsiteY103" fmla="*/ 3001617 h 3055847"/>
              <a:gd name="connsiteX104" fmla="*/ 2113722 w 3756991"/>
              <a:gd name="connsiteY104" fmla="*/ 3008244 h 3055847"/>
              <a:gd name="connsiteX105" fmla="*/ 1974574 w 3756991"/>
              <a:gd name="connsiteY105" fmla="*/ 3021496 h 3055847"/>
              <a:gd name="connsiteX106" fmla="*/ 1762539 w 3756991"/>
              <a:gd name="connsiteY106" fmla="*/ 3028122 h 3055847"/>
              <a:gd name="connsiteX107" fmla="*/ 1583635 w 3756991"/>
              <a:gd name="connsiteY107" fmla="*/ 3034748 h 3055847"/>
              <a:gd name="connsiteX108" fmla="*/ 1298713 w 3756991"/>
              <a:gd name="connsiteY108" fmla="*/ 3041374 h 3055847"/>
              <a:gd name="connsiteX109" fmla="*/ 1126435 w 3756991"/>
              <a:gd name="connsiteY109" fmla="*/ 3001617 h 3055847"/>
              <a:gd name="connsiteX110" fmla="*/ 1040296 w 3756991"/>
              <a:gd name="connsiteY110" fmla="*/ 2981739 h 3055847"/>
              <a:gd name="connsiteX111" fmla="*/ 1007165 w 3756991"/>
              <a:gd name="connsiteY111" fmla="*/ 2975113 h 3055847"/>
              <a:gd name="connsiteX112" fmla="*/ 967409 w 3756991"/>
              <a:gd name="connsiteY112" fmla="*/ 2961861 h 3055847"/>
              <a:gd name="connsiteX113" fmla="*/ 874643 w 3756991"/>
              <a:gd name="connsiteY113" fmla="*/ 2935357 h 3055847"/>
              <a:gd name="connsiteX114" fmla="*/ 828261 w 3756991"/>
              <a:gd name="connsiteY114" fmla="*/ 2922104 h 3055847"/>
              <a:gd name="connsiteX115" fmla="*/ 781878 w 3756991"/>
              <a:gd name="connsiteY115" fmla="*/ 2895600 h 3055847"/>
              <a:gd name="connsiteX116" fmla="*/ 669235 w 3756991"/>
              <a:gd name="connsiteY116" fmla="*/ 2862470 h 3055847"/>
              <a:gd name="connsiteX117" fmla="*/ 629478 w 3756991"/>
              <a:gd name="connsiteY117" fmla="*/ 2849217 h 3055847"/>
              <a:gd name="connsiteX118" fmla="*/ 589722 w 3756991"/>
              <a:gd name="connsiteY118" fmla="*/ 2829339 h 3055847"/>
              <a:gd name="connsiteX119" fmla="*/ 556591 w 3756991"/>
              <a:gd name="connsiteY119" fmla="*/ 2796209 h 3055847"/>
              <a:gd name="connsiteX120" fmla="*/ 523461 w 3756991"/>
              <a:gd name="connsiteY120" fmla="*/ 2756452 h 3055847"/>
              <a:gd name="connsiteX121" fmla="*/ 496956 w 3756991"/>
              <a:gd name="connsiteY121" fmla="*/ 2743200 h 3055847"/>
              <a:gd name="connsiteX122" fmla="*/ 457200 w 3756991"/>
              <a:gd name="connsiteY122" fmla="*/ 2703444 h 3055847"/>
              <a:gd name="connsiteX123" fmla="*/ 443948 w 3756991"/>
              <a:gd name="connsiteY123" fmla="*/ 2690191 h 3055847"/>
              <a:gd name="connsiteX124" fmla="*/ 371061 w 3756991"/>
              <a:gd name="connsiteY124" fmla="*/ 2683565 h 3055847"/>
              <a:gd name="connsiteX125" fmla="*/ 357809 w 3756991"/>
              <a:gd name="connsiteY125" fmla="*/ 2657061 h 3055847"/>
              <a:gd name="connsiteX126" fmla="*/ 298174 w 3756991"/>
              <a:gd name="connsiteY126" fmla="*/ 2630557 h 305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3756991" h="3055847">
                <a:moveTo>
                  <a:pt x="298174" y="2630557"/>
                </a:moveTo>
                <a:lnTo>
                  <a:pt x="298174" y="2630557"/>
                </a:lnTo>
                <a:cubicBezTo>
                  <a:pt x="318052" y="2619513"/>
                  <a:pt x="352696" y="2619584"/>
                  <a:pt x="357809" y="2597426"/>
                </a:cubicBezTo>
                <a:cubicBezTo>
                  <a:pt x="362775" y="2575904"/>
                  <a:pt x="318052" y="2544417"/>
                  <a:pt x="318052" y="2544417"/>
                </a:cubicBezTo>
                <a:cubicBezTo>
                  <a:pt x="315843" y="2535582"/>
                  <a:pt x="314043" y="2526636"/>
                  <a:pt x="311426" y="2517913"/>
                </a:cubicBezTo>
                <a:cubicBezTo>
                  <a:pt x="307412" y="2504533"/>
                  <a:pt x="301562" y="2491709"/>
                  <a:pt x="298174" y="2478157"/>
                </a:cubicBezTo>
                <a:cubicBezTo>
                  <a:pt x="295965" y="2469322"/>
                  <a:pt x="294165" y="2460375"/>
                  <a:pt x="291548" y="2451652"/>
                </a:cubicBezTo>
                <a:cubicBezTo>
                  <a:pt x="287534" y="2438272"/>
                  <a:pt x="281684" y="2425448"/>
                  <a:pt x="278296" y="2411896"/>
                </a:cubicBezTo>
                <a:cubicBezTo>
                  <a:pt x="276174" y="2403407"/>
                  <a:pt x="269795" y="2375017"/>
                  <a:pt x="265043" y="2365513"/>
                </a:cubicBezTo>
                <a:cubicBezTo>
                  <a:pt x="259284" y="2353994"/>
                  <a:pt x="251791" y="2343426"/>
                  <a:pt x="245165" y="2332383"/>
                </a:cubicBezTo>
                <a:cubicBezTo>
                  <a:pt x="242956" y="2323548"/>
                  <a:pt x="240447" y="2314783"/>
                  <a:pt x="238539" y="2305878"/>
                </a:cubicBezTo>
                <a:cubicBezTo>
                  <a:pt x="233820" y="2283854"/>
                  <a:pt x="232410" y="2260986"/>
                  <a:pt x="225287" y="2239617"/>
                </a:cubicBezTo>
                <a:cubicBezTo>
                  <a:pt x="220870" y="2226365"/>
                  <a:pt x="219784" y="2211484"/>
                  <a:pt x="212035" y="2199861"/>
                </a:cubicBezTo>
                <a:lnTo>
                  <a:pt x="198782" y="2179983"/>
                </a:lnTo>
                <a:cubicBezTo>
                  <a:pt x="196573" y="2171148"/>
                  <a:pt x="194773" y="2162201"/>
                  <a:pt x="192156" y="2153478"/>
                </a:cubicBezTo>
                <a:cubicBezTo>
                  <a:pt x="188142" y="2140098"/>
                  <a:pt x="182292" y="2127274"/>
                  <a:pt x="178904" y="2113722"/>
                </a:cubicBezTo>
                <a:cubicBezTo>
                  <a:pt x="169393" y="2075678"/>
                  <a:pt x="175660" y="2095673"/>
                  <a:pt x="159026" y="2054087"/>
                </a:cubicBezTo>
                <a:cubicBezTo>
                  <a:pt x="156817" y="2036417"/>
                  <a:pt x="153879" y="2018824"/>
                  <a:pt x="152400" y="2001078"/>
                </a:cubicBezTo>
                <a:cubicBezTo>
                  <a:pt x="151104" y="1985532"/>
                  <a:pt x="146926" y="1875759"/>
                  <a:pt x="139148" y="1842052"/>
                </a:cubicBezTo>
                <a:cubicBezTo>
                  <a:pt x="136474" y="1830463"/>
                  <a:pt x="130313" y="1819965"/>
                  <a:pt x="125896" y="1808922"/>
                </a:cubicBezTo>
                <a:cubicBezTo>
                  <a:pt x="123687" y="1784626"/>
                  <a:pt x="121215" y="1760353"/>
                  <a:pt x="119269" y="1736035"/>
                </a:cubicBezTo>
                <a:cubicBezTo>
                  <a:pt x="116797" y="1705133"/>
                  <a:pt x="116653" y="1674010"/>
                  <a:pt x="112643" y="1643270"/>
                </a:cubicBezTo>
                <a:cubicBezTo>
                  <a:pt x="110009" y="1623078"/>
                  <a:pt x="102930" y="1603688"/>
                  <a:pt x="99391" y="1583635"/>
                </a:cubicBezTo>
                <a:cubicBezTo>
                  <a:pt x="81069" y="1479806"/>
                  <a:pt x="103260" y="1576475"/>
                  <a:pt x="86139" y="1490870"/>
                </a:cubicBezTo>
                <a:cubicBezTo>
                  <a:pt x="82145" y="1470902"/>
                  <a:pt x="76880" y="1451203"/>
                  <a:pt x="72887" y="1431235"/>
                </a:cubicBezTo>
                <a:cubicBezTo>
                  <a:pt x="69805" y="1415827"/>
                  <a:pt x="64373" y="1374930"/>
                  <a:pt x="59635" y="1358348"/>
                </a:cubicBezTo>
                <a:cubicBezTo>
                  <a:pt x="53878" y="1338201"/>
                  <a:pt x="45089" y="1318977"/>
                  <a:pt x="39756" y="1298713"/>
                </a:cubicBezTo>
                <a:cubicBezTo>
                  <a:pt x="34024" y="1276930"/>
                  <a:pt x="31967" y="1254304"/>
                  <a:pt x="26504" y="1232452"/>
                </a:cubicBezTo>
                <a:cubicBezTo>
                  <a:pt x="18184" y="1199172"/>
                  <a:pt x="22758" y="1214587"/>
                  <a:pt x="13252" y="1186070"/>
                </a:cubicBezTo>
                <a:cubicBezTo>
                  <a:pt x="11043" y="1163983"/>
                  <a:pt x="9379" y="1141835"/>
                  <a:pt x="6626" y="1119809"/>
                </a:cubicBezTo>
                <a:cubicBezTo>
                  <a:pt x="4960" y="1106478"/>
                  <a:pt x="0" y="1093487"/>
                  <a:pt x="0" y="1080052"/>
                </a:cubicBezTo>
                <a:cubicBezTo>
                  <a:pt x="0" y="1020376"/>
                  <a:pt x="2656" y="960691"/>
                  <a:pt x="6626" y="901148"/>
                </a:cubicBezTo>
                <a:cubicBezTo>
                  <a:pt x="7091" y="894179"/>
                  <a:pt x="9860" y="887376"/>
                  <a:pt x="13252" y="881270"/>
                </a:cubicBezTo>
                <a:cubicBezTo>
                  <a:pt x="30379" y="850441"/>
                  <a:pt x="33401" y="842570"/>
                  <a:pt x="59635" y="828261"/>
                </a:cubicBezTo>
                <a:cubicBezTo>
                  <a:pt x="76978" y="818801"/>
                  <a:pt x="94706" y="810036"/>
                  <a:pt x="112643" y="801757"/>
                </a:cubicBezTo>
                <a:cubicBezTo>
                  <a:pt x="123443" y="796772"/>
                  <a:pt x="134637" y="792681"/>
                  <a:pt x="145774" y="788504"/>
                </a:cubicBezTo>
                <a:cubicBezTo>
                  <a:pt x="152314" y="786052"/>
                  <a:pt x="159405" y="785002"/>
                  <a:pt x="165652" y="781878"/>
                </a:cubicBezTo>
                <a:cubicBezTo>
                  <a:pt x="172775" y="778317"/>
                  <a:pt x="178210" y="771763"/>
                  <a:pt x="185530" y="768626"/>
                </a:cubicBezTo>
                <a:cubicBezTo>
                  <a:pt x="193901" y="765039"/>
                  <a:pt x="203312" y="764617"/>
                  <a:pt x="212035" y="762000"/>
                </a:cubicBezTo>
                <a:cubicBezTo>
                  <a:pt x="212045" y="761997"/>
                  <a:pt x="291539" y="735498"/>
                  <a:pt x="291548" y="735496"/>
                </a:cubicBezTo>
                <a:lnTo>
                  <a:pt x="318052" y="728870"/>
                </a:lnTo>
                <a:cubicBezTo>
                  <a:pt x="326887" y="724452"/>
                  <a:pt x="335273" y="718993"/>
                  <a:pt x="344556" y="715617"/>
                </a:cubicBezTo>
                <a:cubicBezTo>
                  <a:pt x="390574" y="698883"/>
                  <a:pt x="380505" y="706820"/>
                  <a:pt x="417443" y="695739"/>
                </a:cubicBezTo>
                <a:cubicBezTo>
                  <a:pt x="430823" y="691725"/>
                  <a:pt x="443502" y="685227"/>
                  <a:pt x="457200" y="682487"/>
                </a:cubicBezTo>
                <a:cubicBezTo>
                  <a:pt x="557119" y="662503"/>
                  <a:pt x="432617" y="687950"/>
                  <a:pt x="516835" y="669235"/>
                </a:cubicBezTo>
                <a:cubicBezTo>
                  <a:pt x="527829" y="666792"/>
                  <a:pt x="538922" y="664818"/>
                  <a:pt x="549965" y="662609"/>
                </a:cubicBezTo>
                <a:cubicBezTo>
                  <a:pt x="628982" y="615201"/>
                  <a:pt x="538787" y="664265"/>
                  <a:pt x="616226" y="636104"/>
                </a:cubicBezTo>
                <a:cubicBezTo>
                  <a:pt x="707571" y="602887"/>
                  <a:pt x="609896" y="625443"/>
                  <a:pt x="689113" y="609600"/>
                </a:cubicBezTo>
                <a:cubicBezTo>
                  <a:pt x="755165" y="583179"/>
                  <a:pt x="702527" y="602927"/>
                  <a:pt x="815009" y="569844"/>
                </a:cubicBezTo>
                <a:cubicBezTo>
                  <a:pt x="821710" y="567873"/>
                  <a:pt x="828171" y="565136"/>
                  <a:pt x="834887" y="563217"/>
                </a:cubicBezTo>
                <a:cubicBezTo>
                  <a:pt x="905019" y="543178"/>
                  <a:pt x="806617" y="574849"/>
                  <a:pt x="901148" y="543339"/>
                </a:cubicBezTo>
                <a:cubicBezTo>
                  <a:pt x="907774" y="541130"/>
                  <a:pt x="914779" y="539837"/>
                  <a:pt x="921026" y="536713"/>
                </a:cubicBezTo>
                <a:cubicBezTo>
                  <a:pt x="929861" y="532296"/>
                  <a:pt x="938359" y="527129"/>
                  <a:pt x="947530" y="523461"/>
                </a:cubicBezTo>
                <a:cubicBezTo>
                  <a:pt x="1024329" y="492742"/>
                  <a:pt x="955219" y="523107"/>
                  <a:pt x="1013791" y="503583"/>
                </a:cubicBezTo>
                <a:cubicBezTo>
                  <a:pt x="1025075" y="499822"/>
                  <a:pt x="1035785" y="494507"/>
                  <a:pt x="1046922" y="490331"/>
                </a:cubicBezTo>
                <a:cubicBezTo>
                  <a:pt x="1053462" y="487879"/>
                  <a:pt x="1060380" y="486455"/>
                  <a:pt x="1066800" y="483704"/>
                </a:cubicBezTo>
                <a:cubicBezTo>
                  <a:pt x="1111479" y="464555"/>
                  <a:pt x="1076156" y="475713"/>
                  <a:pt x="1126435" y="450574"/>
                </a:cubicBezTo>
                <a:cubicBezTo>
                  <a:pt x="1132682" y="447451"/>
                  <a:pt x="1139687" y="446157"/>
                  <a:pt x="1146313" y="443948"/>
                </a:cubicBezTo>
                <a:cubicBezTo>
                  <a:pt x="1152939" y="437322"/>
                  <a:pt x="1158794" y="429823"/>
                  <a:pt x="1166191" y="424070"/>
                </a:cubicBezTo>
                <a:cubicBezTo>
                  <a:pt x="1221837" y="380790"/>
                  <a:pt x="1195203" y="414936"/>
                  <a:pt x="1252330" y="357809"/>
                </a:cubicBezTo>
                <a:cubicBezTo>
                  <a:pt x="1266729" y="343410"/>
                  <a:pt x="1278027" y="326156"/>
                  <a:pt x="1292087" y="311426"/>
                </a:cubicBezTo>
                <a:cubicBezTo>
                  <a:pt x="1324438" y="277534"/>
                  <a:pt x="1361809" y="248297"/>
                  <a:pt x="1391478" y="212035"/>
                </a:cubicBezTo>
                <a:cubicBezTo>
                  <a:pt x="1411356" y="187739"/>
                  <a:pt x="1432044" y="164084"/>
                  <a:pt x="1451113" y="139148"/>
                </a:cubicBezTo>
                <a:cubicBezTo>
                  <a:pt x="1460788" y="126496"/>
                  <a:pt x="1467667" y="111828"/>
                  <a:pt x="1477617" y="99391"/>
                </a:cubicBezTo>
                <a:cubicBezTo>
                  <a:pt x="1485422" y="89635"/>
                  <a:pt x="1495894" y="82290"/>
                  <a:pt x="1504122" y="72887"/>
                </a:cubicBezTo>
                <a:cubicBezTo>
                  <a:pt x="1511394" y="64576"/>
                  <a:pt x="1516813" y="54768"/>
                  <a:pt x="1524000" y="46383"/>
                </a:cubicBezTo>
                <a:cubicBezTo>
                  <a:pt x="1536953" y="31271"/>
                  <a:pt x="1550158" y="18308"/>
                  <a:pt x="1570382" y="13252"/>
                </a:cubicBezTo>
                <a:cubicBezTo>
                  <a:pt x="1577667" y="11431"/>
                  <a:pt x="1679340" y="410"/>
                  <a:pt x="1683026" y="0"/>
                </a:cubicBezTo>
                <a:cubicBezTo>
                  <a:pt x="1766956" y="2209"/>
                  <a:pt x="1851136" y="-205"/>
                  <a:pt x="1934817" y="6626"/>
                </a:cubicBezTo>
                <a:cubicBezTo>
                  <a:pt x="1959917" y="8675"/>
                  <a:pt x="1983988" y="18034"/>
                  <a:pt x="2007704" y="26504"/>
                </a:cubicBezTo>
                <a:cubicBezTo>
                  <a:pt x="2162405" y="81754"/>
                  <a:pt x="2080398" y="59540"/>
                  <a:pt x="2226365" y="132522"/>
                </a:cubicBezTo>
                <a:cubicBezTo>
                  <a:pt x="2244035" y="141357"/>
                  <a:pt x="2262156" y="149341"/>
                  <a:pt x="2279374" y="159026"/>
                </a:cubicBezTo>
                <a:cubicBezTo>
                  <a:pt x="2297535" y="169241"/>
                  <a:pt x="2313745" y="182839"/>
                  <a:pt x="2332382" y="192157"/>
                </a:cubicBezTo>
                <a:cubicBezTo>
                  <a:pt x="2362472" y="207202"/>
                  <a:pt x="2425148" y="231913"/>
                  <a:pt x="2425148" y="231913"/>
                </a:cubicBezTo>
                <a:cubicBezTo>
                  <a:pt x="2438400" y="247374"/>
                  <a:pt x="2449893" y="264536"/>
                  <a:pt x="2464904" y="278296"/>
                </a:cubicBezTo>
                <a:cubicBezTo>
                  <a:pt x="2476645" y="289058"/>
                  <a:pt x="2492037" y="295089"/>
                  <a:pt x="2504661" y="304800"/>
                </a:cubicBezTo>
                <a:cubicBezTo>
                  <a:pt x="2532631" y="326316"/>
                  <a:pt x="2574239" y="365024"/>
                  <a:pt x="2597426" y="390939"/>
                </a:cubicBezTo>
                <a:cubicBezTo>
                  <a:pt x="2623436" y="420009"/>
                  <a:pt x="2701283" y="522579"/>
                  <a:pt x="2736574" y="543339"/>
                </a:cubicBezTo>
                <a:cubicBezTo>
                  <a:pt x="2774122" y="565426"/>
                  <a:pt x="2809267" y="592231"/>
                  <a:pt x="2849217" y="609600"/>
                </a:cubicBezTo>
                <a:cubicBezTo>
                  <a:pt x="3062825" y="702473"/>
                  <a:pt x="2983970" y="652351"/>
                  <a:pt x="3154017" y="702365"/>
                </a:cubicBezTo>
                <a:cubicBezTo>
                  <a:pt x="3361149" y="763286"/>
                  <a:pt x="3183328" y="726971"/>
                  <a:pt x="3339548" y="755374"/>
                </a:cubicBezTo>
                <a:cubicBezTo>
                  <a:pt x="3357217" y="762000"/>
                  <a:pt x="3375941" y="766305"/>
                  <a:pt x="3392556" y="775252"/>
                </a:cubicBezTo>
                <a:cubicBezTo>
                  <a:pt x="3405008" y="781957"/>
                  <a:pt x="3415262" y="792200"/>
                  <a:pt x="3425687" y="801757"/>
                </a:cubicBezTo>
                <a:cubicBezTo>
                  <a:pt x="3476528" y="848361"/>
                  <a:pt x="3486260" y="862439"/>
                  <a:pt x="3525078" y="927652"/>
                </a:cubicBezTo>
                <a:cubicBezTo>
                  <a:pt x="3597527" y="1049366"/>
                  <a:pt x="3644410" y="1119406"/>
                  <a:pt x="3684104" y="1245704"/>
                </a:cubicBezTo>
                <a:cubicBezTo>
                  <a:pt x="3701690" y="1301660"/>
                  <a:pt x="3717634" y="1398983"/>
                  <a:pt x="3730487" y="1457739"/>
                </a:cubicBezTo>
                <a:cubicBezTo>
                  <a:pt x="3738730" y="1495421"/>
                  <a:pt x="3748156" y="1532835"/>
                  <a:pt x="3756991" y="1570383"/>
                </a:cubicBezTo>
                <a:cubicBezTo>
                  <a:pt x="3750365" y="1627809"/>
                  <a:pt x="3749802" y="1686264"/>
                  <a:pt x="3737113" y="1742661"/>
                </a:cubicBezTo>
                <a:cubicBezTo>
                  <a:pt x="3729728" y="1775482"/>
                  <a:pt x="3712401" y="1805336"/>
                  <a:pt x="3697356" y="1835426"/>
                </a:cubicBezTo>
                <a:cubicBezTo>
                  <a:pt x="3664850" y="1900438"/>
                  <a:pt x="3572802" y="2041968"/>
                  <a:pt x="3544956" y="2087217"/>
                </a:cubicBezTo>
                <a:cubicBezTo>
                  <a:pt x="3524707" y="2120122"/>
                  <a:pt x="3498889" y="2150433"/>
                  <a:pt x="3485322" y="2186609"/>
                </a:cubicBezTo>
                <a:cubicBezTo>
                  <a:pt x="3478696" y="2204278"/>
                  <a:pt x="3471411" y="2221714"/>
                  <a:pt x="3465443" y="2239617"/>
                </a:cubicBezTo>
                <a:cubicBezTo>
                  <a:pt x="3438349" y="2320898"/>
                  <a:pt x="3460057" y="2284138"/>
                  <a:pt x="3432313" y="2325757"/>
                </a:cubicBezTo>
                <a:cubicBezTo>
                  <a:pt x="3427896" y="2341218"/>
                  <a:pt x="3423241" y="2356613"/>
                  <a:pt x="3419061" y="2372139"/>
                </a:cubicBezTo>
                <a:cubicBezTo>
                  <a:pt x="3407780" y="2414041"/>
                  <a:pt x="3410001" y="2461929"/>
                  <a:pt x="3385930" y="2498035"/>
                </a:cubicBezTo>
                <a:lnTo>
                  <a:pt x="3359426" y="2537791"/>
                </a:lnTo>
                <a:cubicBezTo>
                  <a:pt x="3350591" y="2568713"/>
                  <a:pt x="3343092" y="2600048"/>
                  <a:pt x="3332922" y="2630557"/>
                </a:cubicBezTo>
                <a:cubicBezTo>
                  <a:pt x="3328504" y="2643809"/>
                  <a:pt x="3325523" y="2657630"/>
                  <a:pt x="3319669" y="2670313"/>
                </a:cubicBezTo>
                <a:cubicBezTo>
                  <a:pt x="3268840" y="2780441"/>
                  <a:pt x="3315274" y="2653911"/>
                  <a:pt x="3273287" y="2763078"/>
                </a:cubicBezTo>
                <a:cubicBezTo>
                  <a:pt x="3253743" y="2813893"/>
                  <a:pt x="3263805" y="2815524"/>
                  <a:pt x="3220278" y="2869096"/>
                </a:cubicBezTo>
                <a:cubicBezTo>
                  <a:pt x="3207437" y="2884900"/>
                  <a:pt x="3190036" y="2896436"/>
                  <a:pt x="3173896" y="2908852"/>
                </a:cubicBezTo>
                <a:cubicBezTo>
                  <a:pt x="3159484" y="2919938"/>
                  <a:pt x="3103067" y="2955737"/>
                  <a:pt x="3087756" y="2961861"/>
                </a:cubicBezTo>
                <a:cubicBezTo>
                  <a:pt x="3070846" y="2968625"/>
                  <a:pt x="3052896" y="2973579"/>
                  <a:pt x="3034748" y="2975113"/>
                </a:cubicBezTo>
                <a:cubicBezTo>
                  <a:pt x="2895815" y="2986854"/>
                  <a:pt x="2756720" y="2999782"/>
                  <a:pt x="2617304" y="3001617"/>
                </a:cubicBezTo>
                <a:lnTo>
                  <a:pt x="2113722" y="3008244"/>
                </a:lnTo>
                <a:cubicBezTo>
                  <a:pt x="2067339" y="3012661"/>
                  <a:pt x="2021092" y="3018863"/>
                  <a:pt x="1974574" y="3021496"/>
                </a:cubicBezTo>
                <a:cubicBezTo>
                  <a:pt x="1903974" y="3025492"/>
                  <a:pt x="1833211" y="3025726"/>
                  <a:pt x="1762539" y="3028122"/>
                </a:cubicBezTo>
                <a:lnTo>
                  <a:pt x="1583635" y="3034748"/>
                </a:lnTo>
                <a:cubicBezTo>
                  <a:pt x="1467804" y="3060488"/>
                  <a:pt x="1481107" y="3062653"/>
                  <a:pt x="1298713" y="3041374"/>
                </a:cubicBezTo>
                <a:cubicBezTo>
                  <a:pt x="1240175" y="3034544"/>
                  <a:pt x="1184568" y="3011306"/>
                  <a:pt x="1126435" y="3001617"/>
                </a:cubicBezTo>
                <a:cubicBezTo>
                  <a:pt x="1049581" y="2988808"/>
                  <a:pt x="1125012" y="3002918"/>
                  <a:pt x="1040296" y="2981739"/>
                </a:cubicBezTo>
                <a:cubicBezTo>
                  <a:pt x="1029370" y="2979008"/>
                  <a:pt x="1018031" y="2978076"/>
                  <a:pt x="1007165" y="2975113"/>
                </a:cubicBezTo>
                <a:cubicBezTo>
                  <a:pt x="993688" y="2971438"/>
                  <a:pt x="980789" y="2965875"/>
                  <a:pt x="967409" y="2961861"/>
                </a:cubicBezTo>
                <a:cubicBezTo>
                  <a:pt x="936606" y="2952620"/>
                  <a:pt x="905629" y="2943964"/>
                  <a:pt x="874643" y="2935357"/>
                </a:cubicBezTo>
                <a:cubicBezTo>
                  <a:pt x="865081" y="2932701"/>
                  <a:pt x="838587" y="2927267"/>
                  <a:pt x="828261" y="2922104"/>
                </a:cubicBezTo>
                <a:cubicBezTo>
                  <a:pt x="812334" y="2914140"/>
                  <a:pt x="798551" y="2901852"/>
                  <a:pt x="781878" y="2895600"/>
                </a:cubicBezTo>
                <a:cubicBezTo>
                  <a:pt x="745232" y="2881858"/>
                  <a:pt x="706364" y="2874847"/>
                  <a:pt x="669235" y="2862470"/>
                </a:cubicBezTo>
                <a:cubicBezTo>
                  <a:pt x="655983" y="2858052"/>
                  <a:pt x="642243" y="2854891"/>
                  <a:pt x="629478" y="2849217"/>
                </a:cubicBezTo>
                <a:cubicBezTo>
                  <a:pt x="552416" y="2814967"/>
                  <a:pt x="662211" y="2853502"/>
                  <a:pt x="589722" y="2829339"/>
                </a:cubicBezTo>
                <a:cubicBezTo>
                  <a:pt x="578678" y="2818296"/>
                  <a:pt x="565254" y="2809204"/>
                  <a:pt x="556591" y="2796209"/>
                </a:cubicBezTo>
                <a:cubicBezTo>
                  <a:pt x="546025" y="2780360"/>
                  <a:pt x="539692" y="2768046"/>
                  <a:pt x="523461" y="2756452"/>
                </a:cubicBezTo>
                <a:cubicBezTo>
                  <a:pt x="515423" y="2750711"/>
                  <a:pt x="505791" y="2747617"/>
                  <a:pt x="496956" y="2743200"/>
                </a:cubicBezTo>
                <a:cubicBezTo>
                  <a:pt x="462220" y="2696885"/>
                  <a:pt x="493535" y="2732513"/>
                  <a:pt x="457200" y="2703444"/>
                </a:cubicBezTo>
                <a:cubicBezTo>
                  <a:pt x="452322" y="2699541"/>
                  <a:pt x="450035" y="2691596"/>
                  <a:pt x="443948" y="2690191"/>
                </a:cubicBezTo>
                <a:cubicBezTo>
                  <a:pt x="420177" y="2684705"/>
                  <a:pt x="395357" y="2685774"/>
                  <a:pt x="371061" y="2683565"/>
                </a:cubicBezTo>
                <a:cubicBezTo>
                  <a:pt x="366644" y="2674730"/>
                  <a:pt x="361700" y="2666140"/>
                  <a:pt x="357809" y="2657061"/>
                </a:cubicBezTo>
                <a:cubicBezTo>
                  <a:pt x="333245" y="2599747"/>
                  <a:pt x="308113" y="2634974"/>
                  <a:pt x="298174" y="2630557"/>
                </a:cubicBezTo>
                <a:close/>
              </a:path>
            </a:pathLst>
          </a:cu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6948264" y="1844824"/>
            <a:ext cx="936104" cy="79208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P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971600" y="1988840"/>
            <a:ext cx="936104" cy="79208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P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611560" y="5589240"/>
            <a:ext cx="936104" cy="79208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P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283968" y="2852936"/>
            <a:ext cx="86409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2915816" y="5013176"/>
            <a:ext cx="1008112" cy="2831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2627784" y="3501008"/>
            <a:ext cx="864096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4741168" y="4869160"/>
            <a:ext cx="155902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/>
          <p:cNvCxnSpPr>
            <a:stCxn id="7" idx="2"/>
          </p:cNvCxnSpPr>
          <p:nvPr/>
        </p:nvCxnSpPr>
        <p:spPr>
          <a:xfrm flipH="1">
            <a:off x="5148064" y="2240868"/>
            <a:ext cx="1800200" cy="6120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V="1">
            <a:off x="5868144" y="2581661"/>
            <a:ext cx="1368152" cy="22874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H="1">
            <a:off x="1331640" y="4072210"/>
            <a:ext cx="1440160" cy="15793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8" idx="5"/>
          </p:cNvCxnSpPr>
          <p:nvPr/>
        </p:nvCxnSpPr>
        <p:spPr>
          <a:xfrm>
            <a:off x="1770615" y="2664929"/>
            <a:ext cx="1001185" cy="8360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6876256" y="2852936"/>
            <a:ext cx="1342999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In()/Rd()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5364088" y="2123564"/>
            <a:ext cx="10801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Out()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1187624" y="2915652"/>
            <a:ext cx="10801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err="1" smtClean="0"/>
              <a:t>Eval</a:t>
            </a:r>
            <a:r>
              <a:rPr lang="en-US" altLang="zh-TW" dirty="0" smtClean="0"/>
              <a:t>()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788024" y="6237312"/>
            <a:ext cx="2232248" cy="36933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Tuple Space</a:t>
            </a:r>
            <a:endParaRPr lang="zh-TW" altLang="en-US" dirty="0"/>
          </a:p>
        </p:txBody>
      </p:sp>
      <p:cxnSp>
        <p:nvCxnSpPr>
          <p:cNvPr id="28" name="直線單箭頭接點 27"/>
          <p:cNvCxnSpPr>
            <a:stCxn id="26" idx="0"/>
            <a:endCxn id="5" idx="103"/>
          </p:cNvCxnSpPr>
          <p:nvPr/>
        </p:nvCxnSpPr>
        <p:spPr>
          <a:xfrm flipH="1" flipV="1">
            <a:off x="5776831" y="5817212"/>
            <a:ext cx="127317" cy="42010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4139952" y="3933056"/>
            <a:ext cx="1224136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Tuples</a:t>
            </a:r>
            <a:endParaRPr lang="zh-TW" altLang="en-US" dirty="0"/>
          </a:p>
        </p:txBody>
      </p:sp>
      <p:cxnSp>
        <p:nvCxnSpPr>
          <p:cNvPr id="31" name="直線單箭頭接點 30"/>
          <p:cNvCxnSpPr>
            <a:stCxn id="29" idx="0"/>
            <a:endCxn id="10" idx="2"/>
          </p:cNvCxnSpPr>
          <p:nvPr/>
        </p:nvCxnSpPr>
        <p:spPr>
          <a:xfrm flipH="1" flipV="1">
            <a:off x="4716016" y="3212976"/>
            <a:ext cx="36004" cy="72008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endCxn id="12" idx="3"/>
          </p:cNvCxnSpPr>
          <p:nvPr/>
        </p:nvCxnSpPr>
        <p:spPr>
          <a:xfrm flipH="1" flipV="1">
            <a:off x="3491880" y="3789040"/>
            <a:ext cx="648072" cy="29641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flipH="1">
            <a:off x="3923928" y="4302388"/>
            <a:ext cx="360040" cy="71078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29" idx="2"/>
          </p:cNvCxnSpPr>
          <p:nvPr/>
        </p:nvCxnSpPr>
        <p:spPr>
          <a:xfrm>
            <a:off x="4752020" y="4302388"/>
            <a:ext cx="180020" cy="56677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6707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Tuple Operations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519808"/>
            <a:ext cx="8640960" cy="4501480"/>
          </a:xfrm>
        </p:spPr>
        <p:txBody>
          <a:bodyPr/>
          <a:lstStyle/>
          <a:p>
            <a:r>
              <a:rPr lang="en-US" altLang="zh-TW" dirty="0" smtClean="0"/>
              <a:t>A tuple is </a:t>
            </a:r>
            <a:r>
              <a:rPr lang="en-US" altLang="zh-TW" dirty="0"/>
              <a:t>a series of typed fields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Some </a:t>
            </a:r>
            <a:r>
              <a:rPr lang="en-US" altLang="zh-TW" dirty="0"/>
              <a:t>examples are </a:t>
            </a:r>
            <a:r>
              <a:rPr lang="en-US" altLang="zh-TW" dirty="0" smtClean="0"/>
              <a:t>(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a string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, </a:t>
            </a:r>
            <a:r>
              <a:rPr lang="en-US" altLang="zh-TW" dirty="0"/>
              <a:t>15.01, 17</a:t>
            </a:r>
            <a:r>
              <a:rPr lang="en-US" altLang="zh-TW" dirty="0" smtClean="0"/>
              <a:t>), (100), …</a:t>
            </a:r>
          </a:p>
          <a:p>
            <a:r>
              <a:rPr lang="en-US" altLang="zh-TW" dirty="0" smtClean="0"/>
              <a:t>Operations:</a:t>
            </a:r>
          </a:p>
          <a:p>
            <a:pPr lvl="1"/>
            <a:r>
              <a:rPr lang="en-US" altLang="zh-TW" dirty="0" smtClean="0"/>
              <a:t>out(t</a:t>
            </a:r>
            <a:r>
              <a:rPr lang="en-US" altLang="zh-TW" dirty="0"/>
              <a:t>): insert a tuple </a:t>
            </a:r>
            <a:r>
              <a:rPr lang="en-US" altLang="zh-TW" b="1" dirty="0"/>
              <a:t>t</a:t>
            </a:r>
            <a:r>
              <a:rPr lang="en-US" altLang="zh-TW" dirty="0"/>
              <a:t> into the </a:t>
            </a:r>
            <a:r>
              <a:rPr lang="en-US" altLang="zh-TW" dirty="0" smtClean="0"/>
              <a:t>tuple </a:t>
            </a:r>
            <a:r>
              <a:rPr lang="en-US" altLang="zh-TW" dirty="0"/>
              <a:t>space (non-blocking</a:t>
            </a:r>
            <a:r>
              <a:rPr lang="en-US" altLang="zh-TW" dirty="0" smtClean="0"/>
              <a:t>).</a:t>
            </a:r>
            <a:endParaRPr lang="en-US" altLang="zh-TW" dirty="0"/>
          </a:p>
          <a:p>
            <a:pPr lvl="1"/>
            <a:r>
              <a:rPr lang="en-US" altLang="zh-TW" dirty="0" smtClean="0"/>
              <a:t>in(t): </a:t>
            </a:r>
            <a:r>
              <a:rPr lang="en-US" altLang="zh-TW" dirty="0"/>
              <a:t>find and remove a matching tuple </a:t>
            </a:r>
            <a:r>
              <a:rPr lang="en-US" altLang="zh-TW" b="1" dirty="0" smtClean="0"/>
              <a:t>t</a:t>
            </a:r>
            <a:r>
              <a:rPr lang="en-US" altLang="zh-TW" dirty="0" smtClean="0"/>
              <a:t> from </a:t>
            </a:r>
            <a:r>
              <a:rPr lang="en-US" altLang="zh-TW" dirty="0"/>
              <a:t>the tuple space. </a:t>
            </a:r>
          </a:p>
          <a:p>
            <a:pPr lvl="2"/>
            <a:r>
              <a:rPr lang="en-US" altLang="zh-TW" dirty="0"/>
              <a:t>It blocks until a matching tuple is found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r</a:t>
            </a:r>
            <a:r>
              <a:rPr lang="en-US" altLang="zh-TW" dirty="0" smtClean="0"/>
              <a:t>d(t): like </a:t>
            </a:r>
            <a:r>
              <a:rPr lang="en-US" altLang="zh-TW" dirty="0"/>
              <a:t>in(t) except that the tuple is not </a:t>
            </a:r>
            <a:r>
              <a:rPr lang="en-US" altLang="zh-TW" dirty="0" smtClean="0"/>
              <a:t>removed </a:t>
            </a:r>
            <a:r>
              <a:rPr lang="en-US" altLang="zh-TW" dirty="0"/>
              <a:t>from the tuple space but </a:t>
            </a:r>
            <a:r>
              <a:rPr lang="en-US" altLang="zh-TW" dirty="0" smtClean="0"/>
              <a:t>duplicated.</a:t>
            </a:r>
          </a:p>
          <a:p>
            <a:pPr lvl="2"/>
            <a:r>
              <a:rPr lang="en-US" altLang="zh-TW" dirty="0" smtClean="0"/>
              <a:t>It also blocks until a matching tuple is found.</a:t>
            </a:r>
          </a:p>
          <a:p>
            <a:pPr lvl="1"/>
            <a:r>
              <a:rPr lang="en-US" altLang="zh-TW" dirty="0" err="1"/>
              <a:t>e</a:t>
            </a:r>
            <a:r>
              <a:rPr lang="en-US" altLang="zh-TW" dirty="0" err="1" smtClean="0"/>
              <a:t>val</a:t>
            </a:r>
            <a:r>
              <a:rPr lang="en-US" altLang="zh-TW" dirty="0" smtClean="0"/>
              <a:t>(t): evaluate the tuple t in parallel and generate a new tuple in the tuple space. 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41567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The Tuple Matching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519808"/>
            <a:ext cx="8568952" cy="4789512"/>
          </a:xfrm>
        </p:spPr>
        <p:txBody>
          <a:bodyPr/>
          <a:lstStyle/>
          <a:p>
            <a:r>
              <a:rPr lang="en-US" altLang="zh-TW" dirty="0"/>
              <a:t>Let t(</a:t>
            </a:r>
            <a:r>
              <a:rPr lang="en-US" altLang="zh-TW" dirty="0" err="1"/>
              <a:t>i</a:t>
            </a:r>
            <a:r>
              <a:rPr lang="en-US" altLang="zh-TW" dirty="0"/>
              <a:t>) denote the </a:t>
            </a:r>
            <a:r>
              <a:rPr lang="en-US" altLang="zh-TW" dirty="0" err="1" smtClean="0"/>
              <a:t>i-th</a:t>
            </a:r>
            <a:r>
              <a:rPr lang="en-US" altLang="zh-TW" dirty="0" smtClean="0"/>
              <a:t> </a:t>
            </a:r>
            <a:r>
              <a:rPr lang="en-US" altLang="zh-TW" dirty="0"/>
              <a:t>field in the tuple t.</a:t>
            </a:r>
          </a:p>
          <a:p>
            <a:r>
              <a:rPr lang="en-US" altLang="zh-TW" dirty="0"/>
              <a:t>A tuple t given in a </a:t>
            </a:r>
            <a:r>
              <a:rPr lang="en-US" altLang="zh-TW" dirty="0">
                <a:solidFill>
                  <a:srgbClr val="FF0000"/>
                </a:solidFill>
              </a:rPr>
              <a:t>in(t)</a:t>
            </a:r>
            <a:r>
              <a:rPr lang="en-US" altLang="zh-TW" dirty="0"/>
              <a:t> or </a:t>
            </a:r>
            <a:r>
              <a:rPr lang="en-US" altLang="zh-TW" dirty="0">
                <a:solidFill>
                  <a:srgbClr val="FF0000"/>
                </a:solidFill>
              </a:rPr>
              <a:t>rd(t)</a:t>
            </a:r>
            <a:r>
              <a:rPr lang="en-US" altLang="zh-TW" dirty="0"/>
              <a:t> operation </a:t>
            </a:r>
            <a:r>
              <a:rPr lang="en-US" altLang="zh-TW" dirty="0" smtClean="0"/>
              <a:t>matches a </a:t>
            </a:r>
            <a:r>
              <a:rPr lang="en-US" altLang="zh-TW" dirty="0"/>
              <a:t>tuple </a:t>
            </a:r>
            <a:r>
              <a:rPr lang="en-US" altLang="zh-TW" dirty="0" err="1"/>
              <a:t>t</a:t>
            </a:r>
            <a:r>
              <a:rPr lang="en-US" altLang="zh-TW" dirty="0" err="1" smtClean="0"/>
              <a:t>t</a:t>
            </a:r>
            <a:r>
              <a:rPr lang="en-US" altLang="zh-TW" dirty="0" smtClean="0"/>
              <a:t> </a:t>
            </a:r>
            <a:r>
              <a:rPr lang="en-US" altLang="zh-TW" dirty="0"/>
              <a:t>in the tuple space </a:t>
            </a:r>
            <a:r>
              <a:rPr lang="en-US" altLang="zh-TW" dirty="0" smtClean="0"/>
              <a:t>if and only if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 smtClean="0"/>
              <a:t>t </a:t>
            </a:r>
            <a:r>
              <a:rPr lang="en-US" altLang="zh-TW" dirty="0"/>
              <a:t>and </a:t>
            </a:r>
            <a:r>
              <a:rPr lang="en-US" altLang="zh-TW" dirty="0" err="1" smtClean="0"/>
              <a:t>tt</a:t>
            </a:r>
            <a:r>
              <a:rPr lang="en-US" altLang="zh-TW" dirty="0" smtClean="0"/>
              <a:t> </a:t>
            </a:r>
            <a:r>
              <a:rPr lang="en-US" altLang="zh-TW" dirty="0"/>
              <a:t>have the same number of </a:t>
            </a:r>
            <a:r>
              <a:rPr lang="en-US" altLang="zh-TW" dirty="0" smtClean="0"/>
              <a:t>fields and</a:t>
            </a:r>
          </a:p>
          <a:p>
            <a:pPr lvl="1"/>
            <a:r>
              <a:rPr lang="en-US" altLang="zh-TW" dirty="0" smtClean="0"/>
              <a:t>for </a:t>
            </a:r>
            <a:r>
              <a:rPr lang="en-US" altLang="zh-TW" dirty="0"/>
              <a:t>each </a:t>
            </a:r>
            <a:r>
              <a:rPr lang="en-US" altLang="zh-TW" dirty="0" smtClean="0"/>
              <a:t>field one of the following conditions is true</a:t>
            </a:r>
            <a:endParaRPr lang="en-US" altLang="zh-TW" dirty="0"/>
          </a:p>
          <a:p>
            <a:pPr lvl="2"/>
            <a:r>
              <a:rPr lang="en-US" altLang="zh-TW" dirty="0" smtClean="0"/>
              <a:t>t(</a:t>
            </a:r>
            <a:r>
              <a:rPr lang="en-US" altLang="zh-TW" dirty="0" err="1" smtClean="0"/>
              <a:t>i</a:t>
            </a:r>
            <a:r>
              <a:rPr lang="en-US" altLang="zh-TW" dirty="0"/>
              <a:t>) is a value </a:t>
            </a:r>
            <a:r>
              <a:rPr lang="en-US" altLang="zh-TW" dirty="0" smtClean="0"/>
              <a:t>and </a:t>
            </a:r>
            <a:r>
              <a:rPr lang="en-US" altLang="zh-TW" dirty="0"/>
              <a:t>t(</a:t>
            </a:r>
            <a:r>
              <a:rPr lang="en-US" altLang="zh-TW" dirty="0" err="1"/>
              <a:t>i</a:t>
            </a:r>
            <a:r>
              <a:rPr lang="en-US" altLang="zh-TW" dirty="0"/>
              <a:t>) = </a:t>
            </a:r>
            <a:r>
              <a:rPr lang="en-US" altLang="zh-TW" dirty="0" err="1" smtClean="0"/>
              <a:t>tt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) </a:t>
            </a:r>
          </a:p>
          <a:p>
            <a:pPr lvl="2"/>
            <a:r>
              <a:rPr lang="en-US" altLang="zh-TW" dirty="0" smtClean="0"/>
              <a:t>t(</a:t>
            </a:r>
            <a:r>
              <a:rPr lang="en-US" altLang="zh-TW" dirty="0" err="1" smtClean="0"/>
              <a:t>i</a:t>
            </a:r>
            <a:r>
              <a:rPr lang="en-US" altLang="zh-TW" dirty="0"/>
              <a:t>) is of the form </a:t>
            </a:r>
            <a:r>
              <a:rPr lang="en-US" altLang="zh-TW" dirty="0">
                <a:solidFill>
                  <a:srgbClr val="FF0000"/>
                </a:solidFill>
              </a:rPr>
              <a:t>?x</a:t>
            </a:r>
            <a:r>
              <a:rPr lang="en-US" altLang="zh-TW" dirty="0"/>
              <a:t> </a:t>
            </a:r>
            <a:r>
              <a:rPr lang="en-US" altLang="zh-TW" dirty="0" smtClean="0"/>
              <a:t>and </a:t>
            </a:r>
            <a:r>
              <a:rPr lang="en-US" altLang="zh-TW" dirty="0" err="1" smtClean="0"/>
              <a:t>tt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</a:t>
            </a:r>
            <a:r>
              <a:rPr lang="en-US" altLang="zh-TW" dirty="0"/>
              <a:t>) is a valid value for the </a:t>
            </a:r>
            <a:r>
              <a:rPr lang="en-US" altLang="zh-TW" dirty="0">
                <a:solidFill>
                  <a:srgbClr val="FF0000"/>
                </a:solidFill>
              </a:rPr>
              <a:t>type </a:t>
            </a:r>
            <a:r>
              <a:rPr lang="en-US" altLang="zh-TW" dirty="0" smtClean="0">
                <a:solidFill>
                  <a:srgbClr val="FF0000"/>
                </a:solidFill>
              </a:rPr>
              <a:t>of variable </a:t>
            </a:r>
            <a:r>
              <a:rPr lang="en-US" altLang="zh-TW" dirty="0">
                <a:solidFill>
                  <a:srgbClr val="FF0000"/>
                </a:solidFill>
              </a:rPr>
              <a:t>x</a:t>
            </a:r>
          </a:p>
          <a:p>
            <a:r>
              <a:rPr lang="en-US" altLang="zh-TW" dirty="0"/>
              <a:t>If more than one tuple in the tuple space matches, then one is selected </a:t>
            </a:r>
            <a:r>
              <a:rPr lang="en-US" altLang="zh-TW" dirty="0" smtClean="0">
                <a:solidFill>
                  <a:srgbClr val="FF0000"/>
                </a:solidFill>
              </a:rPr>
              <a:t>non-deterministically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r>
              <a:rPr lang="en-US" altLang="zh-TW" dirty="0"/>
              <a:t>As a result of tuple </a:t>
            </a:r>
            <a:r>
              <a:rPr lang="en-US" altLang="zh-TW" dirty="0" smtClean="0"/>
              <a:t>matching,</a:t>
            </a:r>
          </a:p>
          <a:p>
            <a:pPr lvl="1"/>
            <a:r>
              <a:rPr lang="en-US" altLang="zh-TW" dirty="0" smtClean="0"/>
              <a:t>if </a:t>
            </a:r>
            <a:r>
              <a:rPr lang="en-US" altLang="zh-TW" dirty="0"/>
              <a:t>t(</a:t>
            </a:r>
            <a:r>
              <a:rPr lang="en-US" altLang="zh-TW" dirty="0" err="1"/>
              <a:t>i</a:t>
            </a:r>
            <a:r>
              <a:rPr lang="en-US" altLang="zh-TW" dirty="0"/>
              <a:t>) is of the form ?x, then x </a:t>
            </a:r>
            <a:r>
              <a:rPr lang="en-US" altLang="zh-TW" dirty="0" smtClean="0"/>
              <a:t>is assigned to the value of </a:t>
            </a:r>
            <a:r>
              <a:rPr lang="en-US" altLang="zh-TW" dirty="0" err="1" smtClean="0"/>
              <a:t>tt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).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000147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A Tuple Matching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519808"/>
            <a:ext cx="8352928" cy="4501480"/>
          </a:xfrm>
        </p:spPr>
        <p:txBody>
          <a:bodyPr/>
          <a:lstStyle/>
          <a:p>
            <a:r>
              <a:rPr lang="en-US" altLang="zh-TW" dirty="0" smtClean="0"/>
              <a:t>An n-element </a:t>
            </a:r>
            <a:r>
              <a:rPr lang="en-US" altLang="zh-TW" dirty="0"/>
              <a:t>vector </a:t>
            </a:r>
            <a:r>
              <a:rPr lang="en-US" altLang="zh-TW" dirty="0" smtClean="0"/>
              <a:t>can be stored </a:t>
            </a:r>
            <a:r>
              <a:rPr lang="en-US" altLang="zh-TW" dirty="0"/>
              <a:t>as n tuples in the </a:t>
            </a:r>
            <a:r>
              <a:rPr lang="en-US" altLang="zh-TW" dirty="0" smtClean="0"/>
              <a:t>TS.</a:t>
            </a:r>
            <a:endParaRPr lang="en-US" altLang="zh-TW" dirty="0"/>
          </a:p>
          <a:p>
            <a:pPr lvl="1"/>
            <a:r>
              <a:rPr lang="en-US" altLang="zh-TW" dirty="0" smtClean="0"/>
              <a:t>(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V</a:t>
            </a:r>
            <a:r>
              <a:rPr lang="zh-TW" altLang="en-US" dirty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, </a:t>
            </a:r>
            <a:r>
              <a:rPr lang="en-US" altLang="zh-TW" dirty="0"/>
              <a:t>1, </a:t>
            </a:r>
            <a:r>
              <a:rPr lang="en-US" altLang="zh-TW" dirty="0" err="1"/>
              <a:t>FirstElt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(</a:t>
            </a:r>
            <a:r>
              <a:rPr lang="en-US" altLang="zh-TW" dirty="0">
                <a:latin typeface="Poor Richard" panose="02080502050505020702" pitchFamily="18" charset="0"/>
              </a:rPr>
              <a:t>"</a:t>
            </a:r>
            <a:r>
              <a:rPr lang="en-US" altLang="zh-TW" dirty="0"/>
              <a:t>V</a:t>
            </a:r>
            <a:r>
              <a:rPr lang="zh-TW" altLang="en-US" dirty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, </a:t>
            </a:r>
            <a:r>
              <a:rPr lang="en-US" altLang="zh-TW" dirty="0"/>
              <a:t>2, </a:t>
            </a:r>
            <a:r>
              <a:rPr lang="en-US" altLang="zh-TW" dirty="0" err="1"/>
              <a:t>SecondElt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…</a:t>
            </a:r>
          </a:p>
          <a:p>
            <a:pPr lvl="1"/>
            <a:r>
              <a:rPr lang="en-US" altLang="zh-TW" dirty="0"/>
              <a:t>(</a:t>
            </a:r>
            <a:r>
              <a:rPr lang="en-US" altLang="zh-TW" dirty="0">
                <a:latin typeface="Poor Richard" panose="02080502050505020702" pitchFamily="18" charset="0"/>
              </a:rPr>
              <a:t>"</a:t>
            </a:r>
            <a:r>
              <a:rPr lang="en-US" altLang="zh-TW" dirty="0"/>
              <a:t>V</a:t>
            </a:r>
            <a:r>
              <a:rPr lang="zh-TW" altLang="en-US" dirty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, </a:t>
            </a:r>
            <a:r>
              <a:rPr lang="en-US" altLang="zh-TW" dirty="0"/>
              <a:t>n, </a:t>
            </a:r>
            <a:r>
              <a:rPr lang="en-US" altLang="zh-TW" dirty="0" err="1"/>
              <a:t>NthElt</a:t>
            </a:r>
            <a:r>
              <a:rPr lang="en-US" altLang="zh-TW" dirty="0"/>
              <a:t>)</a:t>
            </a:r>
          </a:p>
          <a:p>
            <a:r>
              <a:rPr lang="en-US" altLang="zh-TW" dirty="0" smtClean="0"/>
              <a:t>To </a:t>
            </a:r>
            <a:r>
              <a:rPr lang="en-US" altLang="zh-TW" dirty="0"/>
              <a:t>read the </a:t>
            </a:r>
            <a:r>
              <a:rPr lang="en-US" altLang="zh-TW" dirty="0" smtClean="0"/>
              <a:t>j-</a:t>
            </a:r>
            <a:r>
              <a:rPr lang="en-US" altLang="zh-TW" dirty="0" err="1" smtClean="0"/>
              <a:t>th</a:t>
            </a:r>
            <a:r>
              <a:rPr lang="en-US" altLang="zh-TW" dirty="0" smtClean="0"/>
              <a:t> </a:t>
            </a:r>
            <a:r>
              <a:rPr lang="en-US" altLang="zh-TW" dirty="0"/>
              <a:t>element and assign it to </a:t>
            </a:r>
            <a:r>
              <a:rPr lang="en-US" altLang="zh-TW" dirty="0" smtClean="0"/>
              <a:t>x, </a:t>
            </a:r>
            <a:endParaRPr lang="en-US" altLang="zh-TW" dirty="0"/>
          </a:p>
          <a:p>
            <a:pPr lvl="1"/>
            <a:r>
              <a:rPr lang="en-US" altLang="zh-TW" dirty="0" err="1"/>
              <a:t>rd</a:t>
            </a:r>
            <a:r>
              <a:rPr lang="en-US" altLang="zh-TW" dirty="0"/>
              <a:t> (</a:t>
            </a:r>
            <a:r>
              <a:rPr lang="en-US" altLang="zh-TW" dirty="0">
                <a:latin typeface="Poor Richard" panose="02080502050505020702" pitchFamily="18" charset="0"/>
              </a:rPr>
              <a:t>"</a:t>
            </a:r>
            <a:r>
              <a:rPr lang="en-US" altLang="zh-TW" dirty="0"/>
              <a:t>V</a:t>
            </a:r>
            <a:r>
              <a:rPr lang="zh-TW" altLang="en-US" dirty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, </a:t>
            </a:r>
            <a:r>
              <a:rPr lang="en-US" altLang="zh-TW" dirty="0"/>
              <a:t>j, ?x )</a:t>
            </a:r>
          </a:p>
          <a:p>
            <a:r>
              <a:rPr lang="en-US" altLang="zh-TW" dirty="0" smtClean="0"/>
              <a:t>To </a:t>
            </a:r>
            <a:r>
              <a:rPr lang="en-US" altLang="zh-TW" dirty="0"/>
              <a:t>change the </a:t>
            </a:r>
            <a:r>
              <a:rPr lang="en-US" altLang="zh-TW" dirty="0" err="1" smtClean="0"/>
              <a:t>i-th</a:t>
            </a:r>
            <a:r>
              <a:rPr lang="en-US" altLang="zh-TW" dirty="0" smtClean="0"/>
              <a:t> </a:t>
            </a:r>
            <a:r>
              <a:rPr lang="en-US" altLang="zh-TW" dirty="0"/>
              <a:t>element, </a:t>
            </a:r>
          </a:p>
          <a:p>
            <a:pPr lvl="1"/>
            <a:r>
              <a:rPr lang="en-US" altLang="zh-TW" dirty="0"/>
              <a:t>in (</a:t>
            </a:r>
            <a:r>
              <a:rPr lang="en-US" altLang="zh-TW" dirty="0">
                <a:latin typeface="Poor Richard" panose="02080502050505020702" pitchFamily="18" charset="0"/>
              </a:rPr>
              <a:t>"</a:t>
            </a:r>
            <a:r>
              <a:rPr lang="en-US" altLang="zh-TW" dirty="0"/>
              <a:t>V</a:t>
            </a:r>
            <a:r>
              <a:rPr lang="zh-TW" altLang="en-US" dirty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, </a:t>
            </a:r>
            <a:r>
              <a:rPr lang="en-US" altLang="zh-TW" dirty="0" err="1"/>
              <a:t>i</a:t>
            </a:r>
            <a:r>
              <a:rPr lang="en-US" altLang="zh-TW" dirty="0"/>
              <a:t>, ?</a:t>
            </a:r>
            <a:r>
              <a:rPr lang="en-US" altLang="zh-TW" dirty="0" err="1"/>
              <a:t>OldVal</a:t>
            </a:r>
            <a:r>
              <a:rPr lang="en-US" altLang="zh-TW" dirty="0"/>
              <a:t>)  </a:t>
            </a:r>
            <a:r>
              <a:rPr lang="en-US" altLang="zh-TW" dirty="0" smtClean="0"/>
              <a:t>   //  a </a:t>
            </a:r>
            <a:r>
              <a:rPr lang="en-US" altLang="zh-TW" dirty="0"/>
              <a:t>tuple </a:t>
            </a:r>
            <a:r>
              <a:rPr lang="en-US" altLang="zh-TW" dirty="0" smtClean="0"/>
              <a:t>must be first deleted </a:t>
            </a:r>
          </a:p>
          <a:p>
            <a:pPr lvl="1"/>
            <a:r>
              <a:rPr lang="en-US" altLang="zh-TW" dirty="0"/>
              <a:t>out (</a:t>
            </a:r>
            <a:r>
              <a:rPr lang="en-US" altLang="zh-TW" dirty="0">
                <a:latin typeface="Poor Richard" panose="02080502050505020702" pitchFamily="18" charset="0"/>
              </a:rPr>
              <a:t>"</a:t>
            </a:r>
            <a:r>
              <a:rPr lang="en-US" altLang="zh-TW" dirty="0"/>
              <a:t>V</a:t>
            </a:r>
            <a:r>
              <a:rPr lang="zh-TW" altLang="en-US" dirty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, </a:t>
            </a:r>
            <a:r>
              <a:rPr lang="en-US" altLang="zh-TW" dirty="0" err="1"/>
              <a:t>NewVal</a:t>
            </a:r>
            <a:r>
              <a:rPr lang="en-US" altLang="zh-TW" dirty="0"/>
              <a:t>);   // </a:t>
            </a:r>
            <a:r>
              <a:rPr lang="en-US" altLang="zh-TW" dirty="0" smtClean="0"/>
              <a:t> then be added a new value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55025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A Message Passing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19" y="1519808"/>
            <a:ext cx="5616625" cy="5149552"/>
          </a:xfrm>
        </p:spPr>
        <p:txBody>
          <a:bodyPr/>
          <a:lstStyle/>
          <a:p>
            <a:r>
              <a:rPr lang="en-US" altLang="zh-TW" dirty="0" smtClean="0"/>
              <a:t>To send a message to process B, process A can generates a tuple and use out() to put it into the Tuple Space by</a:t>
            </a:r>
          </a:p>
          <a:p>
            <a:pPr lvl="1"/>
            <a:r>
              <a:rPr lang="en-US" altLang="zh-TW" dirty="0" smtClean="0"/>
              <a:t>out(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message to B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msg</a:t>
            </a:r>
            <a:r>
              <a:rPr lang="en-US" altLang="zh-TW" dirty="0" smtClean="0"/>
              <a:t>),</a:t>
            </a:r>
          </a:p>
          <a:p>
            <a:pPr lvl="1"/>
            <a:r>
              <a:rPr lang="en-US" altLang="zh-TW" dirty="0" smtClean="0"/>
              <a:t>out(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message from A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msg</a:t>
            </a:r>
            <a:r>
              <a:rPr lang="en-US" altLang="zh-TW" dirty="0" smtClean="0"/>
              <a:t>), or</a:t>
            </a:r>
          </a:p>
          <a:p>
            <a:pPr lvl="1"/>
            <a:r>
              <a:rPr lang="en-US" altLang="zh-TW" dirty="0" smtClean="0"/>
              <a:t>out(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A to B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msg</a:t>
            </a:r>
            <a:r>
              <a:rPr lang="en-US" altLang="zh-TW" dirty="0" smtClean="0"/>
              <a:t>)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To receive a message, process B can use in() to retrieve it from the Tuple Space by</a:t>
            </a:r>
          </a:p>
          <a:p>
            <a:pPr lvl="1"/>
            <a:r>
              <a:rPr lang="en-US" altLang="zh-TW" dirty="0" smtClean="0"/>
              <a:t>in(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message to B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, ?</a:t>
            </a:r>
            <a:r>
              <a:rPr lang="en-US" altLang="zh-TW" dirty="0" err="1" smtClean="0"/>
              <a:t>msg</a:t>
            </a:r>
            <a:r>
              <a:rPr lang="en-US" altLang="zh-TW" dirty="0" smtClean="0"/>
              <a:t>),</a:t>
            </a:r>
          </a:p>
          <a:p>
            <a:pPr lvl="1"/>
            <a:r>
              <a:rPr lang="en-US" altLang="zh-TW" dirty="0" smtClean="0"/>
              <a:t>in(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message from A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, ?</a:t>
            </a:r>
            <a:r>
              <a:rPr lang="en-US" altLang="zh-TW" dirty="0" err="1" smtClean="0"/>
              <a:t>msg</a:t>
            </a:r>
            <a:r>
              <a:rPr lang="en-US" altLang="zh-TW" dirty="0" smtClean="0"/>
              <a:t>), or</a:t>
            </a:r>
          </a:p>
          <a:p>
            <a:pPr lvl="1"/>
            <a:r>
              <a:rPr lang="en-US" altLang="zh-TW" dirty="0" smtClean="0"/>
              <a:t>in(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A to B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, ?</a:t>
            </a:r>
            <a:r>
              <a:rPr lang="en-US" altLang="zh-TW" dirty="0" err="1" smtClean="0"/>
              <a:t>msg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6660232" y="1916832"/>
            <a:ext cx="151216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</a:rPr>
              <a:t>Process A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660232" y="3645024"/>
            <a:ext cx="151216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</a:rPr>
              <a:t>tuple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660232" y="5301208"/>
            <a:ext cx="151216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chemeClr val="tx1"/>
                </a:solidFill>
              </a:rPr>
              <a:t>Process B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7020272" y="2348880"/>
            <a:ext cx="0" cy="12961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7020272" y="2555612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Out(“A to B”, </a:t>
            </a:r>
            <a:r>
              <a:rPr lang="en-US" altLang="zh-TW" dirty="0" err="1" smtClean="0"/>
              <a:t>msg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cxnSp>
        <p:nvCxnSpPr>
          <p:cNvPr id="14" name="直線單箭頭接點 13"/>
          <p:cNvCxnSpPr/>
          <p:nvPr/>
        </p:nvCxnSpPr>
        <p:spPr>
          <a:xfrm>
            <a:off x="7020272" y="4077072"/>
            <a:ext cx="0" cy="122413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7020272" y="4801177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In(“A to B”, ?</a:t>
            </a:r>
            <a:r>
              <a:rPr lang="en-US" altLang="zh-TW" dirty="0" err="1" smtClean="0"/>
              <a:t>msg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18" name="手繪多邊形 17"/>
          <p:cNvSpPr/>
          <p:nvPr/>
        </p:nvSpPr>
        <p:spPr>
          <a:xfrm>
            <a:off x="5645426" y="3187148"/>
            <a:ext cx="3077559" cy="1457096"/>
          </a:xfrm>
          <a:custGeom>
            <a:avLst/>
            <a:gdLst>
              <a:gd name="connsiteX0" fmla="*/ 59635 w 3077559"/>
              <a:gd name="connsiteY0" fmla="*/ 351182 h 1457096"/>
              <a:gd name="connsiteX1" fmla="*/ 59635 w 3077559"/>
              <a:gd name="connsiteY1" fmla="*/ 351182 h 1457096"/>
              <a:gd name="connsiteX2" fmla="*/ 99391 w 3077559"/>
              <a:gd name="connsiteY2" fmla="*/ 304800 h 1457096"/>
              <a:gd name="connsiteX3" fmla="*/ 139148 w 3077559"/>
              <a:gd name="connsiteY3" fmla="*/ 278295 h 1457096"/>
              <a:gd name="connsiteX4" fmla="*/ 165652 w 3077559"/>
              <a:gd name="connsiteY4" fmla="*/ 258417 h 1457096"/>
              <a:gd name="connsiteX5" fmla="*/ 185531 w 3077559"/>
              <a:gd name="connsiteY5" fmla="*/ 245165 h 1457096"/>
              <a:gd name="connsiteX6" fmla="*/ 231913 w 3077559"/>
              <a:gd name="connsiteY6" fmla="*/ 205409 h 1457096"/>
              <a:gd name="connsiteX7" fmla="*/ 298174 w 3077559"/>
              <a:gd name="connsiteY7" fmla="*/ 192156 h 1457096"/>
              <a:gd name="connsiteX8" fmla="*/ 397565 w 3077559"/>
              <a:gd name="connsiteY8" fmla="*/ 178904 h 1457096"/>
              <a:gd name="connsiteX9" fmla="*/ 477078 w 3077559"/>
              <a:gd name="connsiteY9" fmla="*/ 165652 h 1457096"/>
              <a:gd name="connsiteX10" fmla="*/ 510209 w 3077559"/>
              <a:gd name="connsiteY10" fmla="*/ 152400 h 1457096"/>
              <a:gd name="connsiteX11" fmla="*/ 589722 w 3077559"/>
              <a:gd name="connsiteY11" fmla="*/ 145774 h 1457096"/>
              <a:gd name="connsiteX12" fmla="*/ 1040296 w 3077559"/>
              <a:gd name="connsiteY12" fmla="*/ 139148 h 1457096"/>
              <a:gd name="connsiteX13" fmla="*/ 1086678 w 3077559"/>
              <a:gd name="connsiteY13" fmla="*/ 132522 h 1457096"/>
              <a:gd name="connsiteX14" fmla="*/ 1106557 w 3077559"/>
              <a:gd name="connsiteY14" fmla="*/ 125895 h 1457096"/>
              <a:gd name="connsiteX15" fmla="*/ 1172817 w 3077559"/>
              <a:gd name="connsiteY15" fmla="*/ 106017 h 1457096"/>
              <a:gd name="connsiteX16" fmla="*/ 1232452 w 3077559"/>
              <a:gd name="connsiteY16" fmla="*/ 86139 h 1457096"/>
              <a:gd name="connsiteX17" fmla="*/ 1318591 w 3077559"/>
              <a:gd name="connsiteY17" fmla="*/ 79513 h 1457096"/>
              <a:gd name="connsiteX18" fmla="*/ 1391478 w 3077559"/>
              <a:gd name="connsiteY18" fmla="*/ 72887 h 1457096"/>
              <a:gd name="connsiteX19" fmla="*/ 1444487 w 3077559"/>
              <a:gd name="connsiteY19" fmla="*/ 59635 h 1457096"/>
              <a:gd name="connsiteX20" fmla="*/ 1497496 w 3077559"/>
              <a:gd name="connsiteY20" fmla="*/ 39756 h 1457096"/>
              <a:gd name="connsiteX21" fmla="*/ 1517374 w 3077559"/>
              <a:gd name="connsiteY21" fmla="*/ 33130 h 1457096"/>
              <a:gd name="connsiteX22" fmla="*/ 1550504 w 3077559"/>
              <a:gd name="connsiteY22" fmla="*/ 19878 h 1457096"/>
              <a:gd name="connsiteX23" fmla="*/ 1570383 w 3077559"/>
              <a:gd name="connsiteY23" fmla="*/ 6626 h 1457096"/>
              <a:gd name="connsiteX24" fmla="*/ 1596887 w 3077559"/>
              <a:gd name="connsiteY24" fmla="*/ 0 h 1457096"/>
              <a:gd name="connsiteX25" fmla="*/ 1861931 w 3077559"/>
              <a:gd name="connsiteY25" fmla="*/ 6626 h 1457096"/>
              <a:gd name="connsiteX26" fmla="*/ 1967948 w 3077559"/>
              <a:gd name="connsiteY26" fmla="*/ 13252 h 1457096"/>
              <a:gd name="connsiteX27" fmla="*/ 2146852 w 3077559"/>
              <a:gd name="connsiteY27" fmla="*/ 19878 h 1457096"/>
              <a:gd name="connsiteX28" fmla="*/ 2199861 w 3077559"/>
              <a:gd name="connsiteY28" fmla="*/ 33130 h 1457096"/>
              <a:gd name="connsiteX29" fmla="*/ 2272748 w 3077559"/>
              <a:gd name="connsiteY29" fmla="*/ 46382 h 1457096"/>
              <a:gd name="connsiteX30" fmla="*/ 2319131 w 3077559"/>
              <a:gd name="connsiteY30" fmla="*/ 59635 h 1457096"/>
              <a:gd name="connsiteX31" fmla="*/ 2339009 w 3077559"/>
              <a:gd name="connsiteY31" fmla="*/ 79513 h 1457096"/>
              <a:gd name="connsiteX32" fmla="*/ 2378765 w 3077559"/>
              <a:gd name="connsiteY32" fmla="*/ 125895 h 1457096"/>
              <a:gd name="connsiteX33" fmla="*/ 2451652 w 3077559"/>
              <a:gd name="connsiteY33" fmla="*/ 185530 h 1457096"/>
              <a:gd name="connsiteX34" fmla="*/ 2517913 w 3077559"/>
              <a:gd name="connsiteY34" fmla="*/ 258417 h 1457096"/>
              <a:gd name="connsiteX35" fmla="*/ 2557670 w 3077559"/>
              <a:gd name="connsiteY35" fmla="*/ 284922 h 1457096"/>
              <a:gd name="connsiteX36" fmla="*/ 2577548 w 3077559"/>
              <a:gd name="connsiteY36" fmla="*/ 311426 h 1457096"/>
              <a:gd name="connsiteX37" fmla="*/ 2604052 w 3077559"/>
              <a:gd name="connsiteY37" fmla="*/ 331304 h 1457096"/>
              <a:gd name="connsiteX38" fmla="*/ 2637183 w 3077559"/>
              <a:gd name="connsiteY38" fmla="*/ 377687 h 1457096"/>
              <a:gd name="connsiteX39" fmla="*/ 2657061 w 3077559"/>
              <a:gd name="connsiteY39" fmla="*/ 397565 h 1457096"/>
              <a:gd name="connsiteX40" fmla="*/ 2670313 w 3077559"/>
              <a:gd name="connsiteY40" fmla="*/ 424069 h 1457096"/>
              <a:gd name="connsiteX41" fmla="*/ 2683565 w 3077559"/>
              <a:gd name="connsiteY41" fmla="*/ 443948 h 1457096"/>
              <a:gd name="connsiteX42" fmla="*/ 2703444 w 3077559"/>
              <a:gd name="connsiteY42" fmla="*/ 477078 h 1457096"/>
              <a:gd name="connsiteX43" fmla="*/ 2743200 w 3077559"/>
              <a:gd name="connsiteY43" fmla="*/ 516835 h 1457096"/>
              <a:gd name="connsiteX44" fmla="*/ 2776331 w 3077559"/>
              <a:gd name="connsiteY44" fmla="*/ 556591 h 1457096"/>
              <a:gd name="connsiteX45" fmla="*/ 2796209 w 3077559"/>
              <a:gd name="connsiteY45" fmla="*/ 569843 h 1457096"/>
              <a:gd name="connsiteX46" fmla="*/ 2869096 w 3077559"/>
              <a:gd name="connsiteY46" fmla="*/ 642730 h 1457096"/>
              <a:gd name="connsiteX47" fmla="*/ 2922104 w 3077559"/>
              <a:gd name="connsiteY47" fmla="*/ 682487 h 1457096"/>
              <a:gd name="connsiteX48" fmla="*/ 2975113 w 3077559"/>
              <a:gd name="connsiteY48" fmla="*/ 708991 h 1457096"/>
              <a:gd name="connsiteX49" fmla="*/ 3008244 w 3077559"/>
              <a:gd name="connsiteY49" fmla="*/ 742122 h 1457096"/>
              <a:gd name="connsiteX50" fmla="*/ 3034748 w 3077559"/>
              <a:gd name="connsiteY50" fmla="*/ 788504 h 1457096"/>
              <a:gd name="connsiteX51" fmla="*/ 3054626 w 3077559"/>
              <a:gd name="connsiteY51" fmla="*/ 801756 h 1457096"/>
              <a:gd name="connsiteX52" fmla="*/ 3067878 w 3077559"/>
              <a:gd name="connsiteY52" fmla="*/ 821635 h 1457096"/>
              <a:gd name="connsiteX53" fmla="*/ 3067878 w 3077559"/>
              <a:gd name="connsiteY53" fmla="*/ 954156 h 1457096"/>
              <a:gd name="connsiteX54" fmla="*/ 3041374 w 3077559"/>
              <a:gd name="connsiteY54" fmla="*/ 987287 h 1457096"/>
              <a:gd name="connsiteX55" fmla="*/ 3034748 w 3077559"/>
              <a:gd name="connsiteY55" fmla="*/ 1007165 h 1457096"/>
              <a:gd name="connsiteX56" fmla="*/ 3008244 w 3077559"/>
              <a:gd name="connsiteY56" fmla="*/ 1046922 h 1457096"/>
              <a:gd name="connsiteX57" fmla="*/ 2948609 w 3077559"/>
              <a:gd name="connsiteY57" fmla="*/ 1106556 h 1457096"/>
              <a:gd name="connsiteX58" fmla="*/ 2935357 w 3077559"/>
              <a:gd name="connsiteY58" fmla="*/ 1119809 h 1457096"/>
              <a:gd name="connsiteX59" fmla="*/ 2869096 w 3077559"/>
              <a:gd name="connsiteY59" fmla="*/ 1199322 h 1457096"/>
              <a:gd name="connsiteX60" fmla="*/ 2842591 w 3077559"/>
              <a:gd name="connsiteY60" fmla="*/ 1212574 h 1457096"/>
              <a:gd name="connsiteX61" fmla="*/ 2729948 w 3077559"/>
              <a:gd name="connsiteY61" fmla="*/ 1245704 h 1457096"/>
              <a:gd name="connsiteX62" fmla="*/ 1643270 w 3077559"/>
              <a:gd name="connsiteY62" fmla="*/ 1245704 h 1457096"/>
              <a:gd name="connsiteX63" fmla="*/ 1557131 w 3077559"/>
              <a:gd name="connsiteY63" fmla="*/ 1252330 h 1457096"/>
              <a:gd name="connsiteX64" fmla="*/ 1464365 w 3077559"/>
              <a:gd name="connsiteY64" fmla="*/ 1272209 h 1457096"/>
              <a:gd name="connsiteX65" fmla="*/ 1384852 w 3077559"/>
              <a:gd name="connsiteY65" fmla="*/ 1292087 h 1457096"/>
              <a:gd name="connsiteX66" fmla="*/ 1358348 w 3077559"/>
              <a:gd name="connsiteY66" fmla="*/ 1298713 h 1457096"/>
              <a:gd name="connsiteX67" fmla="*/ 1338470 w 3077559"/>
              <a:gd name="connsiteY67" fmla="*/ 1318591 h 1457096"/>
              <a:gd name="connsiteX68" fmla="*/ 1278835 w 3077559"/>
              <a:gd name="connsiteY68" fmla="*/ 1338469 h 1457096"/>
              <a:gd name="connsiteX69" fmla="*/ 1258957 w 3077559"/>
              <a:gd name="connsiteY69" fmla="*/ 1345095 h 1457096"/>
              <a:gd name="connsiteX70" fmla="*/ 1186070 w 3077559"/>
              <a:gd name="connsiteY70" fmla="*/ 1378226 h 1457096"/>
              <a:gd name="connsiteX71" fmla="*/ 1159565 w 3077559"/>
              <a:gd name="connsiteY71" fmla="*/ 1384852 h 1457096"/>
              <a:gd name="connsiteX72" fmla="*/ 1139687 w 3077559"/>
              <a:gd name="connsiteY72" fmla="*/ 1391478 h 1457096"/>
              <a:gd name="connsiteX73" fmla="*/ 1080052 w 3077559"/>
              <a:gd name="connsiteY73" fmla="*/ 1411356 h 1457096"/>
              <a:gd name="connsiteX74" fmla="*/ 1053548 w 3077559"/>
              <a:gd name="connsiteY74" fmla="*/ 1424609 h 1457096"/>
              <a:gd name="connsiteX75" fmla="*/ 947531 w 3077559"/>
              <a:gd name="connsiteY75" fmla="*/ 1437861 h 1457096"/>
              <a:gd name="connsiteX76" fmla="*/ 927652 w 3077559"/>
              <a:gd name="connsiteY76" fmla="*/ 1444487 h 1457096"/>
              <a:gd name="connsiteX77" fmla="*/ 662609 w 3077559"/>
              <a:gd name="connsiteY77" fmla="*/ 1444487 h 1457096"/>
              <a:gd name="connsiteX78" fmla="*/ 602974 w 3077559"/>
              <a:gd name="connsiteY78" fmla="*/ 1424609 h 1457096"/>
              <a:gd name="connsiteX79" fmla="*/ 583096 w 3077559"/>
              <a:gd name="connsiteY79" fmla="*/ 1417982 h 1457096"/>
              <a:gd name="connsiteX80" fmla="*/ 556591 w 3077559"/>
              <a:gd name="connsiteY80" fmla="*/ 1411356 h 1457096"/>
              <a:gd name="connsiteX81" fmla="*/ 516835 w 3077559"/>
              <a:gd name="connsiteY81" fmla="*/ 1384852 h 1457096"/>
              <a:gd name="connsiteX82" fmla="*/ 490331 w 3077559"/>
              <a:gd name="connsiteY82" fmla="*/ 1371600 h 1457096"/>
              <a:gd name="connsiteX83" fmla="*/ 437322 w 3077559"/>
              <a:gd name="connsiteY83" fmla="*/ 1331843 h 1457096"/>
              <a:gd name="connsiteX84" fmla="*/ 384313 w 3077559"/>
              <a:gd name="connsiteY84" fmla="*/ 1305339 h 1457096"/>
              <a:gd name="connsiteX85" fmla="*/ 364435 w 3077559"/>
              <a:gd name="connsiteY85" fmla="*/ 1292087 h 1457096"/>
              <a:gd name="connsiteX86" fmla="*/ 344557 w 3077559"/>
              <a:gd name="connsiteY86" fmla="*/ 1272209 h 1457096"/>
              <a:gd name="connsiteX87" fmla="*/ 318052 w 3077559"/>
              <a:gd name="connsiteY87" fmla="*/ 1252330 h 1457096"/>
              <a:gd name="connsiteX88" fmla="*/ 298174 w 3077559"/>
              <a:gd name="connsiteY88" fmla="*/ 1239078 h 1457096"/>
              <a:gd name="connsiteX89" fmla="*/ 251791 w 3077559"/>
              <a:gd name="connsiteY89" fmla="*/ 1205948 h 1457096"/>
              <a:gd name="connsiteX90" fmla="*/ 218661 w 3077559"/>
              <a:gd name="connsiteY90" fmla="*/ 1172817 h 1457096"/>
              <a:gd name="connsiteX91" fmla="*/ 178904 w 3077559"/>
              <a:gd name="connsiteY91" fmla="*/ 1099930 h 1457096"/>
              <a:gd name="connsiteX92" fmla="*/ 172278 w 3077559"/>
              <a:gd name="connsiteY92" fmla="*/ 1080052 h 1457096"/>
              <a:gd name="connsiteX93" fmla="*/ 185531 w 3077559"/>
              <a:gd name="connsiteY93" fmla="*/ 960782 h 1457096"/>
              <a:gd name="connsiteX94" fmla="*/ 192157 w 3077559"/>
              <a:gd name="connsiteY94" fmla="*/ 927652 h 1457096"/>
              <a:gd name="connsiteX95" fmla="*/ 212035 w 3077559"/>
              <a:gd name="connsiteY95" fmla="*/ 894522 h 1457096"/>
              <a:gd name="connsiteX96" fmla="*/ 212035 w 3077559"/>
              <a:gd name="connsiteY96" fmla="*/ 708991 h 1457096"/>
              <a:gd name="connsiteX97" fmla="*/ 198783 w 3077559"/>
              <a:gd name="connsiteY97" fmla="*/ 669235 h 1457096"/>
              <a:gd name="connsiteX98" fmla="*/ 159026 w 3077559"/>
              <a:gd name="connsiteY98" fmla="*/ 589722 h 1457096"/>
              <a:gd name="connsiteX99" fmla="*/ 125896 w 3077559"/>
              <a:gd name="connsiteY99" fmla="*/ 563217 h 1457096"/>
              <a:gd name="connsiteX100" fmla="*/ 86139 w 3077559"/>
              <a:gd name="connsiteY100" fmla="*/ 530087 h 1457096"/>
              <a:gd name="connsiteX101" fmla="*/ 59635 w 3077559"/>
              <a:gd name="connsiteY101" fmla="*/ 496956 h 1457096"/>
              <a:gd name="connsiteX102" fmla="*/ 39757 w 3077559"/>
              <a:gd name="connsiteY102" fmla="*/ 483704 h 1457096"/>
              <a:gd name="connsiteX103" fmla="*/ 26504 w 3077559"/>
              <a:gd name="connsiteY103" fmla="*/ 463826 h 1457096"/>
              <a:gd name="connsiteX104" fmla="*/ 6626 w 3077559"/>
              <a:gd name="connsiteY104" fmla="*/ 443948 h 1457096"/>
              <a:gd name="connsiteX105" fmla="*/ 0 w 3077559"/>
              <a:gd name="connsiteY105" fmla="*/ 424069 h 1457096"/>
              <a:gd name="connsiteX106" fmla="*/ 6626 w 3077559"/>
              <a:gd name="connsiteY106" fmla="*/ 404191 h 1457096"/>
              <a:gd name="connsiteX107" fmla="*/ 46383 w 3077559"/>
              <a:gd name="connsiteY107" fmla="*/ 384313 h 1457096"/>
              <a:gd name="connsiteX108" fmla="*/ 66261 w 3077559"/>
              <a:gd name="connsiteY108" fmla="*/ 371061 h 1457096"/>
              <a:gd name="connsiteX109" fmla="*/ 59635 w 3077559"/>
              <a:gd name="connsiteY109" fmla="*/ 351182 h 145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3077559" h="1457096">
                <a:moveTo>
                  <a:pt x="59635" y="351182"/>
                </a:moveTo>
                <a:lnTo>
                  <a:pt x="59635" y="351182"/>
                </a:lnTo>
                <a:cubicBezTo>
                  <a:pt x="72887" y="335721"/>
                  <a:pt x="84380" y="318560"/>
                  <a:pt x="99391" y="304800"/>
                </a:cubicBezTo>
                <a:cubicBezTo>
                  <a:pt x="111132" y="294037"/>
                  <a:pt x="126406" y="287851"/>
                  <a:pt x="139148" y="278295"/>
                </a:cubicBezTo>
                <a:cubicBezTo>
                  <a:pt x="147983" y="271669"/>
                  <a:pt x="156666" y="264836"/>
                  <a:pt x="165652" y="258417"/>
                </a:cubicBezTo>
                <a:cubicBezTo>
                  <a:pt x="172132" y="253788"/>
                  <a:pt x="179413" y="250263"/>
                  <a:pt x="185531" y="245165"/>
                </a:cubicBezTo>
                <a:cubicBezTo>
                  <a:pt x="205426" y="228586"/>
                  <a:pt x="207095" y="217818"/>
                  <a:pt x="231913" y="205409"/>
                </a:cubicBezTo>
                <a:cubicBezTo>
                  <a:pt x="242178" y="200276"/>
                  <a:pt x="292621" y="193267"/>
                  <a:pt x="298174" y="192156"/>
                </a:cubicBezTo>
                <a:cubicBezTo>
                  <a:pt x="383522" y="175087"/>
                  <a:pt x="221374" y="198480"/>
                  <a:pt x="397565" y="178904"/>
                </a:cubicBezTo>
                <a:cubicBezTo>
                  <a:pt x="409862" y="177538"/>
                  <a:pt x="461252" y="170400"/>
                  <a:pt x="477078" y="165652"/>
                </a:cubicBezTo>
                <a:cubicBezTo>
                  <a:pt x="488471" y="162234"/>
                  <a:pt x="498496" y="154467"/>
                  <a:pt x="510209" y="152400"/>
                </a:cubicBezTo>
                <a:cubicBezTo>
                  <a:pt x="536401" y="147778"/>
                  <a:pt x="563134" y="146439"/>
                  <a:pt x="589722" y="145774"/>
                </a:cubicBezTo>
                <a:cubicBezTo>
                  <a:pt x="739883" y="142020"/>
                  <a:pt x="890105" y="141357"/>
                  <a:pt x="1040296" y="139148"/>
                </a:cubicBezTo>
                <a:cubicBezTo>
                  <a:pt x="1055757" y="136939"/>
                  <a:pt x="1071364" y="135585"/>
                  <a:pt x="1086678" y="132522"/>
                </a:cubicBezTo>
                <a:cubicBezTo>
                  <a:pt x="1093527" y="131152"/>
                  <a:pt x="1099841" y="127814"/>
                  <a:pt x="1106557" y="125895"/>
                </a:cubicBezTo>
                <a:cubicBezTo>
                  <a:pt x="1140733" y="116130"/>
                  <a:pt x="1133440" y="121767"/>
                  <a:pt x="1172817" y="106017"/>
                </a:cubicBezTo>
                <a:cubicBezTo>
                  <a:pt x="1191110" y="98700"/>
                  <a:pt x="1212242" y="88517"/>
                  <a:pt x="1232452" y="86139"/>
                </a:cubicBezTo>
                <a:cubicBezTo>
                  <a:pt x="1261053" y="82774"/>
                  <a:pt x="1289893" y="81904"/>
                  <a:pt x="1318591" y="79513"/>
                </a:cubicBezTo>
                <a:lnTo>
                  <a:pt x="1391478" y="72887"/>
                </a:lnTo>
                <a:cubicBezTo>
                  <a:pt x="1436921" y="57740"/>
                  <a:pt x="1380516" y="75628"/>
                  <a:pt x="1444487" y="59635"/>
                </a:cubicBezTo>
                <a:cubicBezTo>
                  <a:pt x="1459530" y="55874"/>
                  <a:pt x="1485332" y="44318"/>
                  <a:pt x="1497496" y="39756"/>
                </a:cubicBezTo>
                <a:cubicBezTo>
                  <a:pt x="1504036" y="37304"/>
                  <a:pt x="1510834" y="35582"/>
                  <a:pt x="1517374" y="33130"/>
                </a:cubicBezTo>
                <a:cubicBezTo>
                  <a:pt x="1528511" y="28954"/>
                  <a:pt x="1539866" y="25197"/>
                  <a:pt x="1550504" y="19878"/>
                </a:cubicBezTo>
                <a:cubicBezTo>
                  <a:pt x="1557627" y="16317"/>
                  <a:pt x="1563063" y="9763"/>
                  <a:pt x="1570383" y="6626"/>
                </a:cubicBezTo>
                <a:cubicBezTo>
                  <a:pt x="1578753" y="3039"/>
                  <a:pt x="1588052" y="2209"/>
                  <a:pt x="1596887" y="0"/>
                </a:cubicBezTo>
                <a:lnTo>
                  <a:pt x="1861931" y="6626"/>
                </a:lnTo>
                <a:cubicBezTo>
                  <a:pt x="1897316" y="7890"/>
                  <a:pt x="1932578" y="11607"/>
                  <a:pt x="1967948" y="13252"/>
                </a:cubicBezTo>
                <a:lnTo>
                  <a:pt x="2146852" y="19878"/>
                </a:lnTo>
                <a:cubicBezTo>
                  <a:pt x="2164522" y="24295"/>
                  <a:pt x="2182038" y="29378"/>
                  <a:pt x="2199861" y="33130"/>
                </a:cubicBezTo>
                <a:cubicBezTo>
                  <a:pt x="2224025" y="38217"/>
                  <a:pt x="2248534" y="41539"/>
                  <a:pt x="2272748" y="46382"/>
                </a:cubicBezTo>
                <a:cubicBezTo>
                  <a:pt x="2293538" y="50540"/>
                  <a:pt x="2300192" y="53322"/>
                  <a:pt x="2319131" y="59635"/>
                </a:cubicBezTo>
                <a:cubicBezTo>
                  <a:pt x="2325757" y="66261"/>
                  <a:pt x="2332911" y="72398"/>
                  <a:pt x="2339009" y="79513"/>
                </a:cubicBezTo>
                <a:cubicBezTo>
                  <a:pt x="2363181" y="107713"/>
                  <a:pt x="2352205" y="103130"/>
                  <a:pt x="2378765" y="125895"/>
                </a:cubicBezTo>
                <a:cubicBezTo>
                  <a:pt x="2402599" y="146324"/>
                  <a:pt x="2431556" y="161414"/>
                  <a:pt x="2451652" y="185530"/>
                </a:cubicBezTo>
                <a:cubicBezTo>
                  <a:pt x="2470939" y="208674"/>
                  <a:pt x="2494170" y="238991"/>
                  <a:pt x="2517913" y="258417"/>
                </a:cubicBezTo>
                <a:cubicBezTo>
                  <a:pt x="2530240" y="268503"/>
                  <a:pt x="2545766" y="274340"/>
                  <a:pt x="2557670" y="284922"/>
                </a:cubicBezTo>
                <a:cubicBezTo>
                  <a:pt x="2565924" y="292259"/>
                  <a:pt x="2569739" y="303617"/>
                  <a:pt x="2577548" y="311426"/>
                </a:cubicBezTo>
                <a:cubicBezTo>
                  <a:pt x="2585357" y="319235"/>
                  <a:pt x="2596243" y="323495"/>
                  <a:pt x="2604052" y="331304"/>
                </a:cubicBezTo>
                <a:cubicBezTo>
                  <a:pt x="2627926" y="355178"/>
                  <a:pt x="2618369" y="355111"/>
                  <a:pt x="2637183" y="377687"/>
                </a:cubicBezTo>
                <a:cubicBezTo>
                  <a:pt x="2643182" y="384886"/>
                  <a:pt x="2651614" y="389940"/>
                  <a:pt x="2657061" y="397565"/>
                </a:cubicBezTo>
                <a:cubicBezTo>
                  <a:pt x="2662802" y="405603"/>
                  <a:pt x="2665412" y="415493"/>
                  <a:pt x="2670313" y="424069"/>
                </a:cubicBezTo>
                <a:cubicBezTo>
                  <a:pt x="2674264" y="430983"/>
                  <a:pt x="2679344" y="437195"/>
                  <a:pt x="2683565" y="443948"/>
                </a:cubicBezTo>
                <a:cubicBezTo>
                  <a:pt x="2690391" y="454869"/>
                  <a:pt x="2695289" y="467110"/>
                  <a:pt x="2703444" y="477078"/>
                </a:cubicBezTo>
                <a:cubicBezTo>
                  <a:pt x="2715312" y="491583"/>
                  <a:pt x="2731955" y="501842"/>
                  <a:pt x="2743200" y="516835"/>
                </a:cubicBezTo>
                <a:cubicBezTo>
                  <a:pt x="2752869" y="529727"/>
                  <a:pt x="2763165" y="546058"/>
                  <a:pt x="2776331" y="556591"/>
                </a:cubicBezTo>
                <a:cubicBezTo>
                  <a:pt x="2782549" y="561566"/>
                  <a:pt x="2790852" y="563950"/>
                  <a:pt x="2796209" y="569843"/>
                </a:cubicBezTo>
                <a:cubicBezTo>
                  <a:pt x="2864888" y="645391"/>
                  <a:pt x="2813699" y="615033"/>
                  <a:pt x="2869096" y="642730"/>
                </a:cubicBezTo>
                <a:cubicBezTo>
                  <a:pt x="2894087" y="667722"/>
                  <a:pt x="2886427" y="663277"/>
                  <a:pt x="2922104" y="682487"/>
                </a:cubicBezTo>
                <a:cubicBezTo>
                  <a:pt x="2939498" y="691853"/>
                  <a:pt x="2975113" y="708991"/>
                  <a:pt x="2975113" y="708991"/>
                </a:cubicBezTo>
                <a:cubicBezTo>
                  <a:pt x="3010451" y="761997"/>
                  <a:pt x="2964070" y="697948"/>
                  <a:pt x="3008244" y="742122"/>
                </a:cubicBezTo>
                <a:cubicBezTo>
                  <a:pt x="3034369" y="768247"/>
                  <a:pt x="3008764" y="757323"/>
                  <a:pt x="3034748" y="788504"/>
                </a:cubicBezTo>
                <a:cubicBezTo>
                  <a:pt x="3039846" y="794622"/>
                  <a:pt x="3048000" y="797339"/>
                  <a:pt x="3054626" y="801756"/>
                </a:cubicBezTo>
                <a:cubicBezTo>
                  <a:pt x="3059043" y="808382"/>
                  <a:pt x="3064317" y="814512"/>
                  <a:pt x="3067878" y="821635"/>
                </a:cubicBezTo>
                <a:cubicBezTo>
                  <a:pt x="3086719" y="859319"/>
                  <a:pt x="3073184" y="930810"/>
                  <a:pt x="3067878" y="954156"/>
                </a:cubicBezTo>
                <a:cubicBezTo>
                  <a:pt x="3064744" y="967947"/>
                  <a:pt x="3050209" y="976243"/>
                  <a:pt x="3041374" y="987287"/>
                </a:cubicBezTo>
                <a:cubicBezTo>
                  <a:pt x="3039165" y="993913"/>
                  <a:pt x="3038140" y="1001059"/>
                  <a:pt x="3034748" y="1007165"/>
                </a:cubicBezTo>
                <a:cubicBezTo>
                  <a:pt x="3027013" y="1021088"/>
                  <a:pt x="3019506" y="1035660"/>
                  <a:pt x="3008244" y="1046922"/>
                </a:cubicBezTo>
                <a:lnTo>
                  <a:pt x="2948609" y="1106556"/>
                </a:lnTo>
                <a:cubicBezTo>
                  <a:pt x="2944192" y="1110974"/>
                  <a:pt x="2938822" y="1114611"/>
                  <a:pt x="2935357" y="1119809"/>
                </a:cubicBezTo>
                <a:cubicBezTo>
                  <a:pt x="2920137" y="1142638"/>
                  <a:pt x="2894602" y="1186570"/>
                  <a:pt x="2869096" y="1199322"/>
                </a:cubicBezTo>
                <a:cubicBezTo>
                  <a:pt x="2860261" y="1203739"/>
                  <a:pt x="2851810" y="1209028"/>
                  <a:pt x="2842591" y="1212574"/>
                </a:cubicBezTo>
                <a:cubicBezTo>
                  <a:pt x="2794976" y="1230887"/>
                  <a:pt x="2777818" y="1233737"/>
                  <a:pt x="2729948" y="1245704"/>
                </a:cubicBezTo>
                <a:cubicBezTo>
                  <a:pt x="2222632" y="1235351"/>
                  <a:pt x="2346162" y="1234721"/>
                  <a:pt x="1643270" y="1245704"/>
                </a:cubicBezTo>
                <a:cubicBezTo>
                  <a:pt x="1614476" y="1246154"/>
                  <a:pt x="1585844" y="1250121"/>
                  <a:pt x="1557131" y="1252330"/>
                </a:cubicBezTo>
                <a:lnTo>
                  <a:pt x="1464365" y="1272209"/>
                </a:lnTo>
                <a:cubicBezTo>
                  <a:pt x="1437745" y="1278352"/>
                  <a:pt x="1411356" y="1285461"/>
                  <a:pt x="1384852" y="1292087"/>
                </a:cubicBezTo>
                <a:lnTo>
                  <a:pt x="1358348" y="1298713"/>
                </a:lnTo>
                <a:cubicBezTo>
                  <a:pt x="1351722" y="1305339"/>
                  <a:pt x="1346851" y="1314400"/>
                  <a:pt x="1338470" y="1318591"/>
                </a:cubicBezTo>
                <a:cubicBezTo>
                  <a:pt x="1319729" y="1327962"/>
                  <a:pt x="1298713" y="1331843"/>
                  <a:pt x="1278835" y="1338469"/>
                </a:cubicBezTo>
                <a:cubicBezTo>
                  <a:pt x="1272209" y="1340678"/>
                  <a:pt x="1265204" y="1341971"/>
                  <a:pt x="1258957" y="1345095"/>
                </a:cubicBezTo>
                <a:cubicBezTo>
                  <a:pt x="1232915" y="1358117"/>
                  <a:pt x="1215124" y="1367661"/>
                  <a:pt x="1186070" y="1378226"/>
                </a:cubicBezTo>
                <a:cubicBezTo>
                  <a:pt x="1177511" y="1381338"/>
                  <a:pt x="1168322" y="1382350"/>
                  <a:pt x="1159565" y="1384852"/>
                </a:cubicBezTo>
                <a:cubicBezTo>
                  <a:pt x="1152849" y="1386771"/>
                  <a:pt x="1146227" y="1389026"/>
                  <a:pt x="1139687" y="1391478"/>
                </a:cubicBezTo>
                <a:cubicBezTo>
                  <a:pt x="1089785" y="1410191"/>
                  <a:pt x="1124464" y="1400254"/>
                  <a:pt x="1080052" y="1411356"/>
                </a:cubicBezTo>
                <a:cubicBezTo>
                  <a:pt x="1071217" y="1415774"/>
                  <a:pt x="1063234" y="1422672"/>
                  <a:pt x="1053548" y="1424609"/>
                </a:cubicBezTo>
                <a:cubicBezTo>
                  <a:pt x="1018626" y="1431594"/>
                  <a:pt x="947531" y="1437861"/>
                  <a:pt x="947531" y="1437861"/>
                </a:cubicBezTo>
                <a:cubicBezTo>
                  <a:pt x="940905" y="1440070"/>
                  <a:pt x="934368" y="1442568"/>
                  <a:pt x="927652" y="1444487"/>
                </a:cubicBezTo>
                <a:cubicBezTo>
                  <a:pt x="835788" y="1470733"/>
                  <a:pt x="807102" y="1448501"/>
                  <a:pt x="662609" y="1444487"/>
                </a:cubicBezTo>
                <a:lnTo>
                  <a:pt x="602974" y="1424609"/>
                </a:lnTo>
                <a:cubicBezTo>
                  <a:pt x="596348" y="1422400"/>
                  <a:pt x="589872" y="1419676"/>
                  <a:pt x="583096" y="1417982"/>
                </a:cubicBezTo>
                <a:lnTo>
                  <a:pt x="556591" y="1411356"/>
                </a:lnTo>
                <a:cubicBezTo>
                  <a:pt x="543339" y="1402521"/>
                  <a:pt x="530492" y="1393046"/>
                  <a:pt x="516835" y="1384852"/>
                </a:cubicBezTo>
                <a:cubicBezTo>
                  <a:pt x="508365" y="1379770"/>
                  <a:pt x="498550" y="1377079"/>
                  <a:pt x="490331" y="1371600"/>
                </a:cubicBezTo>
                <a:cubicBezTo>
                  <a:pt x="458938" y="1350672"/>
                  <a:pt x="499810" y="1352672"/>
                  <a:pt x="437322" y="1331843"/>
                </a:cubicBezTo>
                <a:cubicBezTo>
                  <a:pt x="407045" y="1321751"/>
                  <a:pt x="420079" y="1327692"/>
                  <a:pt x="384313" y="1305339"/>
                </a:cubicBezTo>
                <a:cubicBezTo>
                  <a:pt x="377560" y="1301118"/>
                  <a:pt x="370553" y="1297185"/>
                  <a:pt x="364435" y="1292087"/>
                </a:cubicBezTo>
                <a:cubicBezTo>
                  <a:pt x="357236" y="1286088"/>
                  <a:pt x="351672" y="1278307"/>
                  <a:pt x="344557" y="1272209"/>
                </a:cubicBezTo>
                <a:cubicBezTo>
                  <a:pt x="336172" y="1265022"/>
                  <a:pt x="327039" y="1258749"/>
                  <a:pt x="318052" y="1252330"/>
                </a:cubicBezTo>
                <a:cubicBezTo>
                  <a:pt x="311572" y="1247701"/>
                  <a:pt x="304292" y="1244176"/>
                  <a:pt x="298174" y="1239078"/>
                </a:cubicBezTo>
                <a:cubicBezTo>
                  <a:pt x="257881" y="1205500"/>
                  <a:pt x="300835" y="1230469"/>
                  <a:pt x="251791" y="1205948"/>
                </a:cubicBezTo>
                <a:cubicBezTo>
                  <a:pt x="240748" y="1194904"/>
                  <a:pt x="227324" y="1185812"/>
                  <a:pt x="218661" y="1172817"/>
                </a:cubicBezTo>
                <a:cubicBezTo>
                  <a:pt x="202531" y="1148622"/>
                  <a:pt x="188925" y="1129994"/>
                  <a:pt x="178904" y="1099930"/>
                </a:cubicBezTo>
                <a:lnTo>
                  <a:pt x="172278" y="1080052"/>
                </a:lnTo>
                <a:cubicBezTo>
                  <a:pt x="182088" y="942708"/>
                  <a:pt x="170640" y="1027789"/>
                  <a:pt x="185531" y="960782"/>
                </a:cubicBezTo>
                <a:cubicBezTo>
                  <a:pt x="187974" y="949788"/>
                  <a:pt x="187974" y="938109"/>
                  <a:pt x="192157" y="927652"/>
                </a:cubicBezTo>
                <a:cubicBezTo>
                  <a:pt x="196940" y="915694"/>
                  <a:pt x="205409" y="905565"/>
                  <a:pt x="212035" y="894522"/>
                </a:cubicBezTo>
                <a:cubicBezTo>
                  <a:pt x="225006" y="816692"/>
                  <a:pt x="225249" y="832320"/>
                  <a:pt x="212035" y="708991"/>
                </a:cubicBezTo>
                <a:cubicBezTo>
                  <a:pt x="210547" y="695102"/>
                  <a:pt x="203557" y="682363"/>
                  <a:pt x="198783" y="669235"/>
                </a:cubicBezTo>
                <a:cubicBezTo>
                  <a:pt x="189117" y="642653"/>
                  <a:pt x="176947" y="612123"/>
                  <a:pt x="159026" y="589722"/>
                </a:cubicBezTo>
                <a:cubicBezTo>
                  <a:pt x="143603" y="570442"/>
                  <a:pt x="146562" y="580438"/>
                  <a:pt x="125896" y="563217"/>
                </a:cubicBezTo>
                <a:cubicBezTo>
                  <a:pt x="74877" y="520702"/>
                  <a:pt x="135492" y="562989"/>
                  <a:pt x="86139" y="530087"/>
                </a:cubicBezTo>
                <a:cubicBezTo>
                  <a:pt x="76301" y="515329"/>
                  <a:pt x="73121" y="507745"/>
                  <a:pt x="59635" y="496956"/>
                </a:cubicBezTo>
                <a:cubicBezTo>
                  <a:pt x="53417" y="491981"/>
                  <a:pt x="46383" y="488121"/>
                  <a:pt x="39757" y="483704"/>
                </a:cubicBezTo>
                <a:cubicBezTo>
                  <a:pt x="35339" y="477078"/>
                  <a:pt x="31602" y="469944"/>
                  <a:pt x="26504" y="463826"/>
                </a:cubicBezTo>
                <a:cubicBezTo>
                  <a:pt x="20505" y="456627"/>
                  <a:pt x="11824" y="451745"/>
                  <a:pt x="6626" y="443948"/>
                </a:cubicBezTo>
                <a:cubicBezTo>
                  <a:pt x="2752" y="438136"/>
                  <a:pt x="2209" y="430695"/>
                  <a:pt x="0" y="424069"/>
                </a:cubicBezTo>
                <a:cubicBezTo>
                  <a:pt x="2209" y="417443"/>
                  <a:pt x="2263" y="409645"/>
                  <a:pt x="6626" y="404191"/>
                </a:cubicBezTo>
                <a:cubicBezTo>
                  <a:pt x="15968" y="392514"/>
                  <a:pt x="33288" y="388678"/>
                  <a:pt x="46383" y="384313"/>
                </a:cubicBezTo>
                <a:cubicBezTo>
                  <a:pt x="53009" y="379896"/>
                  <a:pt x="60143" y="376159"/>
                  <a:pt x="66261" y="371061"/>
                </a:cubicBezTo>
                <a:cubicBezTo>
                  <a:pt x="101317" y="341847"/>
                  <a:pt x="60739" y="354495"/>
                  <a:pt x="59635" y="351182"/>
                </a:cubicBezTo>
                <a:close/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5076056" y="2996952"/>
            <a:ext cx="1512168" cy="369332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Tuple Space</a:t>
            </a:r>
            <a:endParaRPr lang="zh-TW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5792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Semaphore Examples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519808"/>
            <a:ext cx="8219256" cy="3781400"/>
          </a:xfrm>
        </p:spPr>
        <p:txBody>
          <a:bodyPr/>
          <a:lstStyle/>
          <a:p>
            <a:r>
              <a:rPr lang="en-US" altLang="zh-TW" dirty="0" smtClean="0"/>
              <a:t>For binary semaphore,</a:t>
            </a:r>
          </a:p>
          <a:p>
            <a:pPr lvl="1"/>
            <a:r>
              <a:rPr lang="en-US" altLang="zh-TW" dirty="0" smtClean="0"/>
              <a:t>Initialization:         out(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err="1" smtClean="0"/>
              <a:t>sem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/>
            <a:r>
              <a:rPr lang="en-US" altLang="zh-TW" dirty="0"/>
              <a:t> </a:t>
            </a:r>
            <a:r>
              <a:rPr lang="en-US" altLang="zh-TW" dirty="0" smtClean="0"/>
              <a:t>wait() </a:t>
            </a:r>
            <a:r>
              <a:rPr lang="en-US" altLang="zh-TW" dirty="0"/>
              <a:t>or </a:t>
            </a:r>
            <a:r>
              <a:rPr lang="en-US" altLang="zh-TW" dirty="0" smtClean="0"/>
              <a:t>P():         in(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err="1" smtClean="0"/>
              <a:t>sem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/>
            <a:r>
              <a:rPr lang="en-US" altLang="zh-TW" dirty="0"/>
              <a:t> </a:t>
            </a:r>
            <a:r>
              <a:rPr lang="en-US" altLang="zh-TW" dirty="0" smtClean="0"/>
              <a:t>signal() </a:t>
            </a:r>
            <a:r>
              <a:rPr lang="en-US" altLang="zh-TW" dirty="0"/>
              <a:t>or </a:t>
            </a:r>
            <a:r>
              <a:rPr lang="en-US" altLang="zh-TW" dirty="0" smtClean="0"/>
              <a:t>V():      out(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err="1" smtClean="0"/>
              <a:t>sem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For counting semaphore,</a:t>
            </a:r>
          </a:p>
          <a:p>
            <a:pPr lvl="1"/>
            <a:r>
              <a:rPr lang="en-US" altLang="zh-TW" dirty="0" smtClean="0"/>
              <a:t>Initialization: </a:t>
            </a:r>
          </a:p>
          <a:p>
            <a:pPr lvl="2"/>
            <a:r>
              <a:rPr lang="en-US" altLang="zh-TW" dirty="0"/>
              <a:t>execute out</a:t>
            </a:r>
            <a:r>
              <a:rPr lang="en-US" altLang="zh-TW" dirty="0" smtClean="0"/>
              <a:t>(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err="1" smtClean="0"/>
              <a:t>sem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)  N times</a:t>
            </a:r>
          </a:p>
          <a:p>
            <a:pPr lvl="1"/>
            <a:r>
              <a:rPr lang="en-US" altLang="zh-TW" dirty="0"/>
              <a:t>w</a:t>
            </a:r>
            <a:r>
              <a:rPr lang="en-US" altLang="zh-TW" dirty="0" smtClean="0"/>
              <a:t>ait() and </a:t>
            </a:r>
            <a:r>
              <a:rPr lang="en-US" altLang="zh-TW" dirty="0" err="1" smtClean="0"/>
              <a:t>singal</a:t>
            </a:r>
            <a:r>
              <a:rPr lang="en-US" altLang="zh-TW" dirty="0" smtClean="0"/>
              <a:t>() are same</a:t>
            </a:r>
            <a:r>
              <a:rPr lang="zh-TW" altLang="en-US" dirty="0" smtClean="0"/>
              <a:t> </a:t>
            </a:r>
            <a:r>
              <a:rPr lang="en-US" altLang="zh-TW" dirty="0" smtClean="0"/>
              <a:t>as the binary case.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754414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A Client Server Example</a:t>
            </a:r>
            <a:endParaRPr lang="zh-TW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23528" y="1628800"/>
            <a:ext cx="4343400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+mn-lt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+mn-lt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+mn-lt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5pPr>
            <a:lvl6pPr marL="18288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6pPr>
            <a:lvl7pPr marL="22860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7pPr>
            <a:lvl8pPr marL="27432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8pPr>
            <a:lvl9pPr marL="32004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server()</a:t>
            </a:r>
          </a:p>
          <a:p>
            <a:pPr>
              <a:buFontTx/>
              <a:buNone/>
            </a:pP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{</a:t>
            </a:r>
          </a:p>
          <a:p>
            <a:pPr>
              <a:buFontTx/>
              <a:buNone/>
            </a:pP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 </a:t>
            </a:r>
            <a:r>
              <a:rPr kumimoji="0" lang="en-US" altLang="zh-TW" sz="2000" b="1" kern="0" dirty="0" err="1" smtClean="0">
                <a:ea typeface="新細明體" panose="02020500000000000000" pitchFamily="18" charset="-120"/>
              </a:rPr>
              <a:t>int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index = 1;</a:t>
            </a:r>
          </a:p>
          <a:p>
            <a:pPr>
              <a:buFontTx/>
              <a:buNone/>
            </a:pP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while (1){</a:t>
            </a:r>
          </a:p>
          <a:p>
            <a:pPr>
              <a:buFontTx/>
              <a:buNone/>
            </a:pPr>
            <a:r>
              <a:rPr kumimoji="0" lang="en-US" altLang="zh-TW" sz="2000" b="1" kern="0" dirty="0">
                <a:ea typeface="新細明體" panose="02020500000000000000" pitchFamily="18" charset="-120"/>
              </a:rPr>
              <a:t> 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     //  send request permission</a:t>
            </a:r>
          </a:p>
          <a:p>
            <a:pPr>
              <a:buNone/>
            </a:pPr>
            <a:r>
              <a:rPr kumimoji="0" lang="en-US" altLang="zh-TW" sz="2000" b="1" kern="0" dirty="0">
                <a:ea typeface="新細明體" panose="02020500000000000000" pitchFamily="18" charset="-120"/>
              </a:rPr>
              <a:t> 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    out (</a:t>
            </a:r>
            <a:r>
              <a:rPr kumimoji="0" lang="en-US" altLang="zh-TW" sz="2000" b="1" kern="0" dirty="0" smtClean="0">
                <a:latin typeface="Poor Richard" panose="02080502050505020702" pitchFamily="18" charset="0"/>
                <a:ea typeface="新細明體" panose="02020500000000000000" pitchFamily="18" charset="-120"/>
              </a:rPr>
              <a:t>"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server index</a:t>
            </a:r>
            <a:r>
              <a:rPr kumimoji="0" lang="en-US" altLang="zh-TW" sz="2000" b="1" kern="0" dirty="0" smtClean="0">
                <a:latin typeface="Poor Richard" panose="02080502050505020702" pitchFamily="18" charset="0"/>
                <a:ea typeface="新細明體" panose="02020500000000000000" pitchFamily="18" charset="-120"/>
              </a:rPr>
              <a:t>"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, index);</a:t>
            </a:r>
          </a:p>
          <a:p>
            <a:pPr>
              <a:buNone/>
            </a:pPr>
            <a:r>
              <a:rPr kumimoji="0" lang="en-US" altLang="zh-TW" sz="2000" b="1" kern="0" dirty="0">
                <a:ea typeface="新細明體" panose="02020500000000000000" pitchFamily="18" charset="-120"/>
              </a:rPr>
              <a:t> 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     //  get request with index#</a:t>
            </a:r>
          </a:p>
          <a:p>
            <a:pPr>
              <a:buFontTx/>
              <a:buNone/>
            </a:pP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     in (</a:t>
            </a:r>
            <a:r>
              <a:rPr kumimoji="0" lang="en-US" altLang="zh-TW" sz="2000" b="1" kern="0" dirty="0" smtClean="0">
                <a:latin typeface="Poor Richard" panose="02080502050505020702" pitchFamily="18" charset="0"/>
                <a:ea typeface="新細明體" panose="02020500000000000000" pitchFamily="18" charset="-120"/>
              </a:rPr>
              <a:t>"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request</a:t>
            </a:r>
            <a:r>
              <a:rPr kumimoji="0" lang="en-US" altLang="zh-TW" sz="2000" b="1" kern="0" dirty="0" smtClean="0">
                <a:latin typeface="Poor Richard" panose="02080502050505020702" pitchFamily="18" charset="0"/>
                <a:ea typeface="新細明體" panose="02020500000000000000" pitchFamily="18" charset="-120"/>
              </a:rPr>
              <a:t>"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, index, ?</a:t>
            </a:r>
            <a:r>
              <a:rPr kumimoji="0" lang="en-US" altLang="zh-TW" sz="2000" b="1" kern="0" dirty="0" err="1" smtClean="0">
                <a:ea typeface="新細明體" panose="02020500000000000000" pitchFamily="18" charset="-120"/>
              </a:rPr>
              <a:t>req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);</a:t>
            </a:r>
          </a:p>
          <a:p>
            <a:pPr>
              <a:buFontTx/>
              <a:buNone/>
            </a:pP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     …  // generate response</a:t>
            </a:r>
          </a:p>
          <a:p>
            <a:pPr>
              <a:buFontTx/>
              <a:buNone/>
            </a:pP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     out (</a:t>
            </a:r>
            <a:r>
              <a:rPr kumimoji="0" lang="en-US" altLang="zh-TW" sz="2000" b="1" kern="0" dirty="0" smtClean="0">
                <a:latin typeface="Poor Richard" panose="02080502050505020702" pitchFamily="18" charset="0"/>
                <a:ea typeface="新細明體" panose="02020500000000000000" pitchFamily="18" charset="-120"/>
              </a:rPr>
              <a:t>"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response</a:t>
            </a:r>
            <a:r>
              <a:rPr kumimoji="0" lang="en-US" altLang="zh-TW" sz="2000" b="1" kern="0" dirty="0" smtClean="0">
                <a:latin typeface="Poor Richard" panose="02080502050505020702" pitchFamily="18" charset="0"/>
                <a:ea typeface="新細明體" panose="02020500000000000000" pitchFamily="18" charset="-120"/>
              </a:rPr>
              <a:t>"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, index, response);  </a:t>
            </a:r>
          </a:p>
          <a:p>
            <a:pPr>
              <a:buFontTx/>
              <a:buNone/>
            </a:pPr>
            <a:r>
              <a:rPr kumimoji="0" lang="en-US" altLang="zh-TW" sz="2000" b="1" kern="0" dirty="0">
                <a:ea typeface="新細明體" panose="02020500000000000000" pitchFamily="18" charset="-120"/>
              </a:rPr>
              <a:t> 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    index++;                              </a:t>
            </a:r>
          </a:p>
          <a:p>
            <a:pPr>
              <a:buFontTx/>
              <a:buNone/>
            </a:pP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 }</a:t>
            </a:r>
          </a:p>
          <a:p>
            <a:pPr>
              <a:buFontTx/>
              <a:buNone/>
            </a:pP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}</a:t>
            </a:r>
            <a:endParaRPr kumimoji="0" lang="en-US" altLang="zh-TW" sz="2000" b="1" kern="0" dirty="0">
              <a:ea typeface="新細明體" panose="02020500000000000000" pitchFamily="18" charset="-120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4283968" y="2057400"/>
            <a:ext cx="4680520" cy="4038600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+mn-lt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+mn-lt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+mn-lt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5pPr>
            <a:lvl6pPr marL="18288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6pPr>
            <a:lvl7pPr marL="22860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7pPr>
            <a:lvl8pPr marL="27432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8pPr>
            <a:lvl9pPr marL="32004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client()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</a:t>
            </a:r>
            <a:r>
              <a:rPr kumimoji="0" lang="en-US" altLang="zh-TW" sz="2000" b="1" kern="0" dirty="0" err="1" smtClean="0">
                <a:ea typeface="新細明體" panose="02020500000000000000" pitchFamily="18" charset="-120"/>
              </a:rPr>
              <a:t>int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index;</a:t>
            </a:r>
          </a:p>
          <a:p>
            <a:pPr>
              <a:lnSpc>
                <a:spcPct val="90000"/>
              </a:lnSpc>
              <a:buNone/>
            </a:pP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</a:t>
            </a:r>
            <a:r>
              <a:rPr kumimoji="0" lang="en-US" altLang="zh-TW" sz="2000" b="1" kern="0" dirty="0">
                <a:ea typeface="新細明體" panose="02020500000000000000" pitchFamily="18" charset="-120"/>
              </a:rPr>
              <a:t> 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… // </a:t>
            </a:r>
            <a:r>
              <a:rPr kumimoji="0" lang="en-US" altLang="zh-TW" sz="2000" b="1" kern="0" dirty="0">
                <a:ea typeface="新細明體" panose="02020500000000000000" pitchFamily="18" charset="-120"/>
              </a:rPr>
              <a:t>generates 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request</a:t>
            </a:r>
          </a:p>
          <a:p>
            <a:pPr>
              <a:lnSpc>
                <a:spcPct val="90000"/>
              </a:lnSpc>
              <a:buNone/>
            </a:pPr>
            <a:r>
              <a:rPr kumimoji="0" lang="en-US" altLang="zh-TW" sz="2000" b="1" kern="0" dirty="0">
                <a:ea typeface="新細明體" panose="02020500000000000000" pitchFamily="18" charset="-120"/>
              </a:rPr>
              <a:t> 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  // </a:t>
            </a:r>
            <a:r>
              <a:rPr kumimoji="0" lang="en-US" altLang="zh-TW" sz="2000" b="1" kern="0" dirty="0">
                <a:ea typeface="新細明體" panose="02020500000000000000" pitchFamily="18" charset="-120"/>
              </a:rPr>
              <a:t>get request 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permission from server</a:t>
            </a:r>
            <a:endParaRPr kumimoji="0" lang="en-US" altLang="zh-TW" sz="2000" b="1" kern="0" dirty="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  in 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(</a:t>
            </a:r>
            <a:r>
              <a:rPr kumimoji="0" lang="en-US" altLang="zh-TW" sz="2000" b="1" kern="0" dirty="0" smtClean="0">
                <a:latin typeface="Poor Richard" panose="02080502050505020702" pitchFamily="18" charset="0"/>
                <a:ea typeface="新細明體" panose="02020500000000000000" pitchFamily="18" charset="-120"/>
              </a:rPr>
              <a:t>“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server index</a:t>
            </a:r>
            <a:r>
              <a:rPr kumimoji="0" lang="en-US" altLang="zh-TW" sz="2000" b="1" kern="0" dirty="0" smtClean="0">
                <a:latin typeface="Poor Richard" panose="02080502050505020702" pitchFamily="18" charset="0"/>
                <a:ea typeface="新細明體" panose="02020500000000000000" pitchFamily="18" charset="-120"/>
              </a:rPr>
              <a:t>”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,</a:t>
            </a:r>
            <a:r>
              <a:rPr kumimoji="0" lang="zh-TW" altLang="en-US" sz="2000" b="1" kern="0" dirty="0" smtClean="0">
                <a:ea typeface="新細明體" panose="02020500000000000000" pitchFamily="18" charset="-120"/>
              </a:rPr>
              <a:t> 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?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index);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TW" sz="2000" b="1" kern="0" dirty="0">
                <a:ea typeface="新細明體" panose="02020500000000000000" pitchFamily="18" charset="-120"/>
              </a:rPr>
              <a:t> 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  //  send request with index#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TW" sz="2000" b="1" kern="0" dirty="0">
                <a:ea typeface="新細明體" panose="02020500000000000000" pitchFamily="18" charset="-120"/>
              </a:rPr>
              <a:t> 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 out (</a:t>
            </a:r>
            <a:r>
              <a:rPr kumimoji="0" lang="en-US" altLang="zh-TW" sz="2000" b="1" kern="0" dirty="0" smtClean="0">
                <a:latin typeface="Poor Richard" panose="02080502050505020702" pitchFamily="18" charset="0"/>
                <a:ea typeface="新細明體" panose="02020500000000000000" pitchFamily="18" charset="-120"/>
              </a:rPr>
              <a:t>"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request</a:t>
            </a:r>
            <a:r>
              <a:rPr kumimoji="0" lang="en-US" altLang="zh-TW" sz="2000" b="1" kern="0" dirty="0" smtClean="0">
                <a:latin typeface="Poor Richard" panose="02080502050505020702" pitchFamily="18" charset="0"/>
                <a:ea typeface="新細明體" panose="02020500000000000000" pitchFamily="18" charset="-120"/>
              </a:rPr>
              <a:t>"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, index, request);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TW" sz="2000" b="1" kern="0" dirty="0">
                <a:ea typeface="新細明體" panose="02020500000000000000" pitchFamily="18" charset="-120"/>
              </a:rPr>
              <a:t> 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  //   get response with index#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  in (</a:t>
            </a:r>
            <a:r>
              <a:rPr kumimoji="0" lang="en-US" altLang="zh-TW" sz="2000" b="1" kern="0" dirty="0" smtClean="0">
                <a:latin typeface="Poor Richard" panose="02080502050505020702" pitchFamily="18" charset="0"/>
                <a:ea typeface="新細明體" panose="02020500000000000000" pitchFamily="18" charset="-120"/>
              </a:rPr>
              <a:t>"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response</a:t>
            </a:r>
            <a:r>
              <a:rPr kumimoji="0" lang="en-US" altLang="zh-TW" sz="2000" b="1" kern="0" dirty="0" smtClean="0">
                <a:latin typeface="Poor Richard" panose="02080502050505020702" pitchFamily="18" charset="0"/>
                <a:ea typeface="新細明體" panose="02020500000000000000" pitchFamily="18" charset="-120"/>
              </a:rPr>
              <a:t>"</a:t>
            </a: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, index, ?response);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TW" sz="2000" b="1" kern="0" dirty="0" smtClean="0">
                <a:ea typeface="新細明體" panose="02020500000000000000" pitchFamily="18" charset="-120"/>
              </a:rPr>
              <a:t>  }</a:t>
            </a:r>
            <a:endParaRPr kumimoji="0" lang="en-US" altLang="zh-TW" sz="2000" b="1" kern="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36691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99802"/>
            <a:ext cx="8208912" cy="940966"/>
          </a:xfrm>
        </p:spPr>
        <p:txBody>
          <a:bodyPr/>
          <a:lstStyle/>
          <a:p>
            <a:pPr algn="ctr"/>
            <a:r>
              <a:rPr lang="en-US" altLang="zh-TW" dirty="0" smtClean="0"/>
              <a:t>Coordination/Communication </a:t>
            </a:r>
            <a:r>
              <a:rPr lang="en-US" altLang="zh-TW" dirty="0"/>
              <a:t>Models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84784"/>
            <a:ext cx="8928991" cy="2808312"/>
          </a:xfrm>
        </p:spPr>
        <p:txBody>
          <a:bodyPr/>
          <a:lstStyle/>
          <a:p>
            <a:r>
              <a:rPr lang="en-US" altLang="zh-TW" dirty="0" smtClean="0"/>
              <a:t>The coordination models can be classified according to their </a:t>
            </a:r>
            <a:r>
              <a:rPr lang="en-US" altLang="zh-TW" dirty="0" smtClean="0">
                <a:solidFill>
                  <a:srgbClr val="FF0000"/>
                </a:solidFill>
              </a:rPr>
              <a:t>temporal</a:t>
            </a:r>
            <a:r>
              <a:rPr lang="en-US" altLang="zh-TW" dirty="0" smtClean="0"/>
              <a:t> and </a:t>
            </a:r>
            <a:r>
              <a:rPr lang="en-US" altLang="zh-TW" dirty="0" smtClean="0">
                <a:solidFill>
                  <a:srgbClr val="FF0000"/>
                </a:solidFill>
              </a:rPr>
              <a:t>spatial</a:t>
            </a:r>
            <a:r>
              <a:rPr lang="en-US" altLang="zh-TW" dirty="0" smtClean="0"/>
              <a:t> dependencies.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Direct messaging </a:t>
            </a:r>
            <a:r>
              <a:rPr lang="en-US" altLang="zh-TW" dirty="0" smtClean="0"/>
              <a:t>requires that all parties be up in the same time and be known by each others.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Indirect messaging </a:t>
            </a:r>
            <a:r>
              <a:rPr lang="en-US" altLang="zh-TW" dirty="0" smtClean="0"/>
              <a:t>requires that all parties know the same mailbox.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Video conferencing </a:t>
            </a:r>
            <a:r>
              <a:rPr lang="en-US" altLang="zh-TW" dirty="0" smtClean="0"/>
              <a:t>requires that all parties appear in the same time.</a:t>
            </a:r>
          </a:p>
        </p:txBody>
      </p:sp>
      <p:graphicFrame>
        <p:nvGraphicFramePr>
          <p:cNvPr id="5" name="內容版面配置區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0802317"/>
              </p:ext>
            </p:extLst>
          </p:nvPr>
        </p:nvGraphicFramePr>
        <p:xfrm>
          <a:off x="323529" y="4467272"/>
          <a:ext cx="8568951" cy="198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491">
                  <a:extLst>
                    <a:ext uri="{9D8B030D-6E8A-4147-A177-3AD203B41FA5}">
                      <a16:colId xmlns:a16="http://schemas.microsoft.com/office/drawing/2014/main" val="2138324690"/>
                    </a:ext>
                  </a:extLst>
                </a:gridCol>
                <a:gridCol w="1705828">
                  <a:extLst>
                    <a:ext uri="{9D8B030D-6E8A-4147-A177-3AD203B41FA5}">
                      <a16:colId xmlns:a16="http://schemas.microsoft.com/office/drawing/2014/main" val="2858142942"/>
                    </a:ext>
                  </a:extLst>
                </a:gridCol>
                <a:gridCol w="2819271">
                  <a:extLst>
                    <a:ext uri="{9D8B030D-6E8A-4147-A177-3AD203B41FA5}">
                      <a16:colId xmlns:a16="http://schemas.microsoft.com/office/drawing/2014/main" val="2391254559"/>
                    </a:ext>
                  </a:extLst>
                </a:gridCol>
                <a:gridCol w="2869361">
                  <a:extLst>
                    <a:ext uri="{9D8B030D-6E8A-4147-A177-3AD203B41FA5}">
                      <a16:colId xmlns:a16="http://schemas.microsoft.com/office/drawing/2014/main" val="1294662204"/>
                    </a:ext>
                  </a:extLst>
                </a:gridCol>
              </a:tblGrid>
              <a:tr h="496516">
                <a:tc rowSpan="2" gridSpan="2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Temporal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57514"/>
                  </a:ext>
                </a:extLst>
              </a:tr>
              <a:tr h="496516">
                <a:tc gridSpan="2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Coupled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Uncoupled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55542"/>
                  </a:ext>
                </a:extLst>
              </a:tr>
              <a:tr h="496516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  <a:spcBef>
                          <a:spcPts val="1200"/>
                        </a:spcBef>
                      </a:pPr>
                      <a:r>
                        <a:rPr lang="en-US" altLang="zh-TW" sz="2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Spatial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b="1" dirty="0" smtClean="0"/>
                        <a:t>Coupled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Direct messaging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Indirect</a:t>
                      </a:r>
                      <a:r>
                        <a:rPr lang="en-US" altLang="zh-TW" sz="2400" baseline="0" dirty="0" smtClean="0"/>
                        <a:t> messaging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228143"/>
                  </a:ext>
                </a:extLst>
              </a:tr>
              <a:tr h="496516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b="1" dirty="0" smtClean="0"/>
                        <a:t>Uncoupled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Video conferencing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Linda-like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148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7729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8032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Pub/Sub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375792"/>
            <a:ext cx="8712968" cy="5293568"/>
          </a:xfrm>
        </p:spPr>
        <p:txBody>
          <a:bodyPr/>
          <a:lstStyle/>
          <a:p>
            <a:r>
              <a:rPr lang="en-US" altLang="zh-TW" dirty="0" smtClean="0"/>
              <a:t>Since the Linda uses a TS for coordination, it requires an efficient implementation of DSM.</a:t>
            </a:r>
          </a:p>
          <a:p>
            <a:pPr lvl="1"/>
            <a:r>
              <a:rPr lang="en-US" altLang="zh-TW" dirty="0" smtClean="0"/>
              <a:t>In general, it is quite difficult to implement an efficient and reliable DSM on a DS.</a:t>
            </a:r>
          </a:p>
          <a:p>
            <a:pPr lvl="1"/>
            <a:r>
              <a:rPr lang="en-US" altLang="zh-TW" dirty="0" smtClean="0"/>
              <a:t>The Linda model is therefore only good for MPs (or MCs).</a:t>
            </a:r>
          </a:p>
          <a:p>
            <a:r>
              <a:rPr lang="en-US" altLang="zh-TW" dirty="0" smtClean="0"/>
              <a:t>However, if the Linda concept is only used for communication, it is possible to implement a useful and efficient message middleware based on the Linda.</a:t>
            </a:r>
          </a:p>
          <a:p>
            <a:r>
              <a:rPr lang="en-US" altLang="zh-TW" dirty="0" smtClean="0"/>
              <a:t>The publish/subscribe model is inspired by the Linda.</a:t>
            </a:r>
          </a:p>
          <a:p>
            <a:pPr lvl="1"/>
            <a:r>
              <a:rPr lang="en-US" altLang="zh-TW" dirty="0" smtClean="0"/>
              <a:t>It is a message-based communication paradigm.</a:t>
            </a:r>
            <a:endParaRPr lang="en-US" altLang="zh-TW" dirty="0"/>
          </a:p>
          <a:p>
            <a:pPr lvl="2"/>
            <a:r>
              <a:rPr lang="en-US" altLang="zh-TW" dirty="0" smtClean="0"/>
              <a:t>All participants </a:t>
            </a:r>
            <a:r>
              <a:rPr lang="en-US" altLang="zh-TW" dirty="0"/>
              <a:t>are </a:t>
            </a:r>
            <a:r>
              <a:rPr lang="en-US" altLang="zh-TW" dirty="0" smtClean="0"/>
              <a:t>both spatial and time decoupled.</a:t>
            </a:r>
            <a:endParaRPr lang="en-US" altLang="zh-TW" dirty="0"/>
          </a:p>
          <a:p>
            <a:pPr lvl="3"/>
            <a:r>
              <a:rPr lang="en-US" altLang="zh-TW" dirty="0" smtClean="0"/>
              <a:t>They do not have to know </a:t>
            </a:r>
            <a:r>
              <a:rPr lang="en-US" altLang="zh-TW" dirty="0"/>
              <a:t>each </a:t>
            </a:r>
            <a:r>
              <a:rPr lang="en-US" altLang="zh-TW" dirty="0" smtClean="0"/>
              <a:t>other.</a:t>
            </a:r>
            <a:endParaRPr lang="en-US" altLang="zh-TW" dirty="0"/>
          </a:p>
          <a:p>
            <a:pPr lvl="3"/>
            <a:r>
              <a:rPr lang="en-US" altLang="zh-TW" dirty="0" smtClean="0"/>
              <a:t>They do not have to </a:t>
            </a:r>
            <a:r>
              <a:rPr lang="en-US" altLang="zh-TW" dirty="0"/>
              <a:t>be up at the same </a:t>
            </a:r>
            <a:r>
              <a:rPr lang="en-US" altLang="zh-TW" dirty="0" smtClean="0"/>
              <a:t>time.</a:t>
            </a:r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44564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Publish/Subscribe Middleware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640960" cy="2341240"/>
          </a:xfrm>
        </p:spPr>
        <p:txBody>
          <a:bodyPr/>
          <a:lstStyle/>
          <a:p>
            <a:r>
              <a:rPr lang="en-US" altLang="zh-TW" dirty="0" smtClean="0"/>
              <a:t>It is also called event-based or notification middleware.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Publishers</a:t>
            </a:r>
            <a:r>
              <a:rPr lang="en-US" altLang="zh-TW" dirty="0" smtClean="0"/>
              <a:t> </a:t>
            </a:r>
            <a:r>
              <a:rPr lang="en-US" altLang="zh-TW" dirty="0"/>
              <a:t>(advertise and) publish events </a:t>
            </a:r>
            <a:r>
              <a:rPr lang="en-US" altLang="zh-TW" dirty="0" smtClean="0"/>
              <a:t>(or messages).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Subscribers</a:t>
            </a:r>
            <a:r>
              <a:rPr lang="en-US" altLang="zh-TW" dirty="0"/>
              <a:t> express interest in events with </a:t>
            </a:r>
            <a:r>
              <a:rPr lang="en-US" altLang="zh-TW" dirty="0" smtClean="0"/>
              <a:t>subscriptions.</a:t>
            </a:r>
            <a:endParaRPr lang="en-US" altLang="zh-TW" dirty="0"/>
          </a:p>
          <a:p>
            <a:pPr lvl="1"/>
            <a:r>
              <a:rPr lang="en-US" altLang="zh-TW" dirty="0"/>
              <a:t>Event Service notifies interested subscribers of published </a:t>
            </a:r>
            <a:r>
              <a:rPr lang="en-US" altLang="zh-TW" dirty="0" smtClean="0"/>
              <a:t>events.</a:t>
            </a:r>
            <a:endParaRPr lang="en-US" altLang="zh-TW" dirty="0"/>
          </a:p>
          <a:p>
            <a:pPr lvl="1"/>
            <a:r>
              <a:rPr lang="en-US" altLang="zh-TW" dirty="0"/>
              <a:t>Events can have arbitrary content (typed) or name/value </a:t>
            </a:r>
            <a:r>
              <a:rPr lang="en-US" altLang="zh-TW" dirty="0" smtClean="0"/>
              <a:t>pairs.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627678"/>
            <a:ext cx="7344816" cy="308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497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標題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/>
          <a:lstStyle/>
          <a:p>
            <a:pPr algn="ctr"/>
            <a:r>
              <a:rPr lang="en-US" altLang="zh-TW" dirty="0" smtClean="0">
                <a:ea typeface="新細明體" panose="02020500000000000000" pitchFamily="18" charset="-120"/>
              </a:rPr>
              <a:t>Properties of Pub/Sub Middleware</a:t>
            </a:r>
            <a:endParaRPr lang="zh-TW" altLang="en-US" dirty="0" smtClean="0">
              <a:ea typeface="新細明體" panose="02020500000000000000" pitchFamily="18" charset="-120"/>
            </a:endParaRPr>
          </a:p>
        </p:txBody>
      </p:sp>
      <p:sp>
        <p:nvSpPr>
          <p:cNvPr id="21507" name="內容版面配置區 2"/>
          <p:cNvSpPr>
            <a:spLocks noGrp="1"/>
          </p:cNvSpPr>
          <p:nvPr>
            <p:ph idx="1"/>
          </p:nvPr>
        </p:nvSpPr>
        <p:spPr>
          <a:xfrm>
            <a:off x="500063" y="1544340"/>
            <a:ext cx="8186737" cy="4981004"/>
          </a:xfrm>
        </p:spPr>
        <p:txBody>
          <a:bodyPr/>
          <a:lstStyle/>
          <a:p>
            <a:pPr eaLnBrk="1" hangingPunct="1"/>
            <a:r>
              <a:rPr lang="de-DE" altLang="zh-TW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Asynchronous</a:t>
            </a:r>
            <a:r>
              <a:rPr lang="de-DE" altLang="zh-TW" dirty="0" smtClean="0">
                <a:ea typeface="新細明體" panose="02020500000000000000" pitchFamily="18" charset="-120"/>
              </a:rPr>
              <a:t> communication</a:t>
            </a:r>
          </a:p>
          <a:p>
            <a:pPr lvl="1" eaLnBrk="1" hangingPunct="1"/>
            <a:r>
              <a:rPr lang="de-DE" altLang="zh-TW" dirty="0" smtClean="0">
                <a:ea typeface="新細明體" panose="02020500000000000000" pitchFamily="18" charset="-120"/>
              </a:rPr>
              <a:t>Publishers and subscribers are </a:t>
            </a:r>
            <a:r>
              <a:rPr lang="de-DE" altLang="zh-TW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loosely coupled</a:t>
            </a:r>
          </a:p>
          <a:p>
            <a:pPr eaLnBrk="1" hangingPunct="1"/>
            <a:r>
              <a:rPr lang="de-DE" altLang="zh-TW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Many-to-many</a:t>
            </a:r>
            <a:r>
              <a:rPr lang="de-DE" altLang="zh-TW" dirty="0" smtClean="0">
                <a:ea typeface="新細明體" panose="02020500000000000000" pitchFamily="18" charset="-120"/>
              </a:rPr>
              <a:t> interaction between pubs. and subs.</a:t>
            </a:r>
          </a:p>
          <a:p>
            <a:pPr lvl="1" eaLnBrk="1" hangingPunct="1"/>
            <a:r>
              <a:rPr lang="de-DE" altLang="zh-TW" dirty="0" smtClean="0">
                <a:ea typeface="新細明體" panose="02020500000000000000" pitchFamily="18" charset="-120"/>
              </a:rPr>
              <a:t>Publishers do not need to know subscribers, and vice-versa</a:t>
            </a:r>
          </a:p>
          <a:p>
            <a:pPr lvl="1" eaLnBrk="1" hangingPunct="1"/>
            <a:r>
              <a:rPr lang="de-DE" altLang="zh-TW" dirty="0" smtClean="0">
                <a:ea typeface="新細明體" panose="02020500000000000000" pitchFamily="18" charset="-120"/>
              </a:rPr>
              <a:t>Dynamic join and leave of pubs and subs are allowed</a:t>
            </a:r>
          </a:p>
          <a:p>
            <a:pPr eaLnBrk="1" hangingPunct="1"/>
            <a:r>
              <a:rPr lang="de-DE" altLang="zh-TW" dirty="0" smtClean="0">
                <a:ea typeface="新細明體" panose="02020500000000000000" pitchFamily="18" charset="-120"/>
              </a:rPr>
              <a:t>Pub/sub can be classified into following models</a:t>
            </a:r>
          </a:p>
          <a:p>
            <a:pPr lvl="1" eaLnBrk="1" hangingPunct="1"/>
            <a:r>
              <a:rPr lang="de-DE" altLang="zh-TW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Channel-Based</a:t>
            </a:r>
            <a:r>
              <a:rPr lang="de-DE" altLang="zh-TW" dirty="0" smtClean="0">
                <a:ea typeface="新細明體" panose="02020500000000000000" pitchFamily="18" charset="-120"/>
              </a:rPr>
              <a:t>: predefined channels or boards</a:t>
            </a:r>
          </a:p>
          <a:p>
            <a:pPr lvl="2" eaLnBrk="1" hangingPunct="1"/>
            <a:r>
              <a:rPr lang="de-DE" altLang="zh-TW" dirty="0" smtClean="0">
                <a:ea typeface="新細明體" panose="02020500000000000000" pitchFamily="18" charset="-120"/>
              </a:rPr>
              <a:t>RSS/Atom</a:t>
            </a:r>
          </a:p>
          <a:p>
            <a:pPr lvl="1" eaLnBrk="1" hangingPunct="1"/>
            <a:r>
              <a:rPr lang="de-DE" altLang="zh-TW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Topic-Based</a:t>
            </a:r>
            <a:r>
              <a:rPr lang="de-DE" altLang="zh-TW" dirty="0" smtClean="0">
                <a:ea typeface="新細明體" panose="02020500000000000000" pitchFamily="18" charset="-120"/>
              </a:rPr>
              <a:t>: each event has a topic attribute</a:t>
            </a:r>
          </a:p>
          <a:p>
            <a:pPr lvl="2" eaLnBrk="1" hangingPunct="1"/>
            <a:r>
              <a:rPr lang="de-DE" altLang="zh-TW" dirty="0" smtClean="0">
                <a:ea typeface="新細明體" panose="02020500000000000000" pitchFamily="18" charset="-120"/>
              </a:rPr>
              <a:t>JMS, WS Notification</a:t>
            </a:r>
          </a:p>
          <a:p>
            <a:pPr lvl="1" eaLnBrk="1" hangingPunct="1"/>
            <a:r>
              <a:rPr lang="de-DE" altLang="zh-TW" sz="2200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Content-Based</a:t>
            </a:r>
            <a:r>
              <a:rPr lang="de-DE" altLang="zh-TW" sz="2200" dirty="0" smtClean="0">
                <a:ea typeface="新細明體" panose="02020500000000000000" pitchFamily="18" charset="-120"/>
              </a:rPr>
              <a:t>: predicates and/or name-value pairs</a:t>
            </a:r>
          </a:p>
        </p:txBody>
      </p:sp>
    </p:spTree>
    <p:extLst>
      <p:ext uri="{BB962C8B-B14F-4D97-AF65-F5344CB8AC3E}">
        <p14:creationId xmlns:p14="http://schemas.microsoft.com/office/powerpoint/2010/main" val="2452973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Java Message Service </a:t>
            </a:r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FF0000"/>
                </a:solidFill>
              </a:rPr>
              <a:t>JMS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521296"/>
            <a:ext cx="8219256" cy="4067944"/>
          </a:xfrm>
        </p:spPr>
        <p:txBody>
          <a:bodyPr/>
          <a:lstStyle/>
          <a:p>
            <a:r>
              <a:rPr lang="en-US" altLang="zh-TW" dirty="0" smtClean="0"/>
              <a:t>The </a:t>
            </a:r>
            <a:r>
              <a:rPr lang="en-US" altLang="zh-TW" dirty="0"/>
              <a:t>Java Message Service (</a:t>
            </a:r>
            <a:r>
              <a:rPr lang="en-US" altLang="zh-TW" dirty="0">
                <a:solidFill>
                  <a:srgbClr val="FF0000"/>
                </a:solidFill>
              </a:rPr>
              <a:t>JMS</a:t>
            </a:r>
            <a:r>
              <a:rPr lang="en-US" altLang="zh-TW" dirty="0"/>
              <a:t>) API is a Java Message Oriented Middleware (MOM) </a:t>
            </a:r>
            <a:r>
              <a:rPr lang="en-US" altLang="zh-TW" dirty="0" smtClean="0"/>
              <a:t>API </a:t>
            </a:r>
            <a:r>
              <a:rPr lang="en-US" altLang="zh-TW" dirty="0"/>
              <a:t>for sending messages between two or more </a:t>
            </a:r>
            <a:r>
              <a:rPr lang="en-US" altLang="zh-TW" dirty="0" smtClean="0"/>
              <a:t>participants.</a:t>
            </a:r>
          </a:p>
          <a:p>
            <a:pPr lvl="1"/>
            <a:r>
              <a:rPr lang="en-US" altLang="zh-TW" dirty="0"/>
              <a:t>The JMS API supports two models</a:t>
            </a:r>
            <a:r>
              <a:rPr lang="en-US" altLang="zh-TW" dirty="0" smtClean="0"/>
              <a:t>:</a:t>
            </a:r>
            <a:endParaRPr lang="en-US" altLang="zh-TW" dirty="0"/>
          </a:p>
          <a:p>
            <a:pPr lvl="2"/>
            <a:r>
              <a:rPr lang="en-US" altLang="zh-TW" dirty="0"/>
              <a:t>Point-to-point</a:t>
            </a:r>
          </a:p>
          <a:p>
            <a:pPr lvl="2"/>
            <a:r>
              <a:rPr lang="en-US" altLang="zh-TW" dirty="0"/>
              <a:t>Publish and </a:t>
            </a:r>
            <a:r>
              <a:rPr lang="en-US" altLang="zh-TW" dirty="0" smtClean="0"/>
              <a:t>subscribe</a:t>
            </a:r>
          </a:p>
          <a:p>
            <a:r>
              <a:rPr lang="en-US" altLang="zh-TW" dirty="0" smtClean="0"/>
              <a:t>Some open source implementations:</a:t>
            </a:r>
          </a:p>
          <a:p>
            <a:pPr lvl="1"/>
            <a:r>
              <a:rPr lang="en-US" altLang="zh-TW" dirty="0" err="1" smtClean="0"/>
              <a:t>OpenJMS</a:t>
            </a:r>
            <a:r>
              <a:rPr lang="en-US" altLang="zh-TW" dirty="0"/>
              <a:t>: </a:t>
            </a:r>
            <a:r>
              <a:rPr lang="en-US" altLang="zh-TW" dirty="0">
                <a:hlinkClick r:id="rId2"/>
              </a:rPr>
              <a:t>http://openjms.sourceforge.net</a:t>
            </a:r>
            <a:r>
              <a:rPr lang="en-US" altLang="zh-TW" dirty="0" smtClean="0">
                <a:hlinkClick r:id="rId2"/>
              </a:rPr>
              <a:t>/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ActiveMQ</a:t>
            </a:r>
            <a:r>
              <a:rPr lang="en-US" altLang="zh-TW" dirty="0"/>
              <a:t>: </a:t>
            </a:r>
            <a:r>
              <a:rPr lang="en-US" altLang="zh-TW" dirty="0">
                <a:hlinkClick r:id="rId3"/>
              </a:rPr>
              <a:t>http://activemq.apache.org</a:t>
            </a:r>
            <a:r>
              <a:rPr lang="en-US" altLang="zh-TW" dirty="0" smtClean="0">
                <a:hlinkClick r:id="rId3"/>
              </a:rPr>
              <a:t>/</a:t>
            </a:r>
            <a:endParaRPr lang="en-US" altLang="zh-TW" dirty="0" smtClean="0"/>
          </a:p>
          <a:p>
            <a:pPr marL="319088" lvl="1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4164915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935038"/>
          </a:xfrm>
        </p:spPr>
        <p:txBody>
          <a:bodyPr/>
          <a:lstStyle/>
          <a:p>
            <a:pPr algn="ctr"/>
            <a:r>
              <a:rPr lang="en-US" altLang="zh-TW" dirty="0" smtClean="0">
                <a:ea typeface="新細明體" panose="02020500000000000000" pitchFamily="18" charset="-120"/>
              </a:rPr>
              <a:t>Topic-Based Pub/Sub Application</a:t>
            </a:r>
            <a:endParaRPr lang="zh-TW" altLang="en-US" dirty="0" smtClean="0">
              <a:ea typeface="新細明體" panose="02020500000000000000" pitchFamily="18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556792"/>
            <a:ext cx="7513321" cy="5112568"/>
          </a:xfrm>
          <a:prstGeom prst="rect">
            <a:avLst/>
          </a:prstGeom>
        </p:spPr>
      </p:pic>
      <p:sp>
        <p:nvSpPr>
          <p:cNvPr id="2" name="文字方塊 1"/>
          <p:cNvSpPr txBox="1"/>
          <p:nvPr/>
        </p:nvSpPr>
        <p:spPr>
          <a:xfrm>
            <a:off x="971600" y="4581128"/>
            <a:ext cx="151216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Subscribe(“SUN”)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220072" y="4808185"/>
            <a:ext cx="136815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Subscribe(“SUN”)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220072" y="4509120"/>
            <a:ext cx="144016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Subscribe(“APPL”)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995784" y="4581128"/>
            <a:ext cx="134512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Subscribe(“APPL”)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46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60040" y="352233"/>
            <a:ext cx="7772400" cy="916527"/>
          </a:xfrm>
        </p:spPr>
        <p:txBody>
          <a:bodyPr/>
          <a:lstStyle/>
          <a:p>
            <a:pPr algn="ctr"/>
            <a:r>
              <a:rPr lang="en-US" altLang="zh-TW" dirty="0" smtClean="0">
                <a:ea typeface="新細明體" panose="02020500000000000000" pitchFamily="18" charset="-120"/>
              </a:rPr>
              <a:t>Topic-Based Pub/Sub Broker</a:t>
            </a:r>
            <a:endParaRPr lang="zh-TW" altLang="en-US" dirty="0" smtClean="0">
              <a:ea typeface="新細明體" panose="02020500000000000000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179512" y="1412776"/>
            <a:ext cx="3571875" cy="981075"/>
          </a:xfrm>
        </p:spPr>
        <p:txBody>
          <a:bodyPr/>
          <a:lstStyle/>
          <a:p>
            <a:r>
              <a:rPr lang="en-US" altLang="zh-TW" dirty="0" smtClean="0">
                <a:ea typeface="新細明體" panose="02020500000000000000" pitchFamily="18" charset="-120"/>
              </a:rPr>
              <a:t>Listen for publishers </a:t>
            </a:r>
          </a:p>
          <a:p>
            <a:r>
              <a:rPr lang="en-US" altLang="zh-TW" dirty="0" smtClean="0">
                <a:ea typeface="新細明體" panose="02020500000000000000" pitchFamily="18" charset="-120"/>
              </a:rPr>
              <a:t>Listen for subscribers</a:t>
            </a:r>
          </a:p>
        </p:txBody>
      </p:sp>
      <p:sp>
        <p:nvSpPr>
          <p:cNvPr id="41" name="內容版面配置區 2"/>
          <p:cNvSpPr txBox="1">
            <a:spLocks/>
          </p:cNvSpPr>
          <p:nvPr/>
        </p:nvSpPr>
        <p:spPr bwMode="auto">
          <a:xfrm>
            <a:off x="3491880" y="1412776"/>
            <a:ext cx="5509245" cy="1481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  <a:defRPr/>
            </a:pPr>
            <a:r>
              <a:rPr kumimoji="0" lang="en-US" altLang="zh-TW" sz="2600" kern="0" dirty="0">
                <a:latin typeface="+mn-lt"/>
                <a:ea typeface="新細明體" charset="-120"/>
              </a:rPr>
              <a:t>Maintain list of topics and subscribers</a:t>
            </a:r>
          </a:p>
          <a:p>
            <a:pPr marL="273050" indent="-27305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  <a:defRPr/>
            </a:pPr>
            <a:r>
              <a:rPr kumimoji="0" lang="en-US" altLang="zh-TW" sz="2600" kern="0" dirty="0">
                <a:latin typeface="+mn-lt"/>
                <a:ea typeface="新細明體" charset="-120"/>
              </a:rPr>
              <a:t>Maintain links with other brokers</a:t>
            </a:r>
          </a:p>
          <a:p>
            <a:pPr marL="273050" indent="-27305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  <a:defRPr/>
            </a:pPr>
            <a:r>
              <a:rPr kumimoji="0" lang="en-US" altLang="zh-TW" sz="2600" kern="0" dirty="0">
                <a:latin typeface="+mn-lt"/>
                <a:ea typeface="新細明體" charset="-120"/>
              </a:rPr>
              <a:t>Maintain links with queue manager</a:t>
            </a:r>
            <a:endParaRPr kumimoji="0" lang="zh-TW" altLang="en-US" sz="2600" kern="0" dirty="0">
              <a:latin typeface="+mn-lt"/>
              <a:ea typeface="+mn-ea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830845"/>
            <a:ext cx="6912768" cy="391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5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標題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>
                <a:ea typeface="新細明體" panose="02020500000000000000" pitchFamily="18" charset="-120"/>
              </a:rPr>
              <a:t>Content-Based Pub/Sub</a:t>
            </a:r>
            <a:endParaRPr lang="zh-TW" altLang="en-US" dirty="0" smtClean="0">
              <a:ea typeface="新細明體" panose="02020500000000000000" pitchFamily="18" charset="-120"/>
            </a:endParaRPr>
          </a:p>
        </p:txBody>
      </p:sp>
      <p:sp>
        <p:nvSpPr>
          <p:cNvPr id="24579" name="內容版面配置區 2"/>
          <p:cNvSpPr>
            <a:spLocks noGrp="1"/>
          </p:cNvSpPr>
          <p:nvPr>
            <p:ph idx="1"/>
          </p:nvPr>
        </p:nvSpPr>
        <p:spPr>
          <a:xfrm>
            <a:off x="683568" y="1447800"/>
            <a:ext cx="7772400" cy="2557264"/>
          </a:xfrm>
        </p:spPr>
        <p:txBody>
          <a:bodyPr/>
          <a:lstStyle/>
          <a:p>
            <a:r>
              <a:rPr lang="en-US" altLang="zh-TW" dirty="0" smtClean="0">
                <a:ea typeface="新細明體" panose="02020500000000000000" pitchFamily="18" charset="-120"/>
              </a:rPr>
              <a:t>Matching Semantic</a:t>
            </a: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</a:rPr>
              <a:t>Subscriptions are conjunctions of predicates</a:t>
            </a: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</a:rPr>
              <a:t>Publications are sets of name-value pairs</a:t>
            </a: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</a:rPr>
              <a:t>A subscription matches if all its predicates match</a:t>
            </a: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</a:rPr>
              <a:t>Approximate semantic (e.g., close to, cheap)</a:t>
            </a: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</a:rPr>
              <a:t>Semantic and similarity-based matching</a:t>
            </a:r>
            <a:endParaRPr lang="en-CA" altLang="zh-TW" dirty="0" smtClean="0">
              <a:ea typeface="新細明體" panose="02020500000000000000" pitchFamily="18" charset="-120"/>
            </a:endParaRPr>
          </a:p>
          <a:p>
            <a:pPr lvl="1"/>
            <a:endParaRPr lang="zh-TW" altLang="en-US" dirty="0" smtClean="0">
              <a:ea typeface="新細明體" panose="02020500000000000000" pitchFamily="18" charset="-120"/>
            </a:endParaRPr>
          </a:p>
        </p:txBody>
      </p:sp>
      <p:graphicFrame>
        <p:nvGraphicFramePr>
          <p:cNvPr id="4" name="Group 52"/>
          <p:cNvGraphicFramePr>
            <a:graphicFrameLocks noGrp="1"/>
          </p:cNvGraphicFramePr>
          <p:nvPr/>
        </p:nvGraphicFramePr>
        <p:xfrm>
          <a:off x="457200" y="4398963"/>
          <a:ext cx="8305800" cy="1887537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16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Example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Tree-structured data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Graph-structured data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Un-structured data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Regular languages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Relational model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9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Subscription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XPath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RDF Query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Keywords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Regular expressions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SQL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9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Publication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XML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RSS feeds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Text, documents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Sentences over some alphabet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DBs, i.e., tables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19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標題 1"/>
          <p:cNvSpPr>
            <a:spLocks noGrp="1"/>
          </p:cNvSpPr>
          <p:nvPr>
            <p:ph type="title"/>
          </p:nvPr>
        </p:nvSpPr>
        <p:spPr>
          <a:xfrm>
            <a:off x="760040" y="404664"/>
            <a:ext cx="7772400" cy="903288"/>
          </a:xfrm>
        </p:spPr>
        <p:txBody>
          <a:bodyPr/>
          <a:lstStyle/>
          <a:p>
            <a:pPr algn="ctr"/>
            <a:r>
              <a:rPr lang="en-US" altLang="zh-TW" dirty="0" smtClean="0">
                <a:ea typeface="新細明體" panose="02020500000000000000" pitchFamily="18" charset="-120"/>
              </a:rPr>
              <a:t>Content-Based Message Routing</a:t>
            </a:r>
            <a:endParaRPr lang="zh-TW" altLang="en-US" dirty="0" smtClean="0">
              <a:ea typeface="新細明體" panose="02020500000000000000" pitchFamily="18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793925"/>
            <a:ext cx="8460432" cy="4587403"/>
          </a:xfrm>
          <a:prstGeom prst="rect">
            <a:avLst/>
          </a:prstGeom>
        </p:spPr>
      </p:pic>
      <p:cxnSp>
        <p:nvCxnSpPr>
          <p:cNvPr id="4" name="直線單箭頭接點 3"/>
          <p:cNvCxnSpPr/>
          <p:nvPr/>
        </p:nvCxnSpPr>
        <p:spPr>
          <a:xfrm>
            <a:off x="2411760" y="3573016"/>
            <a:ext cx="936104" cy="360040"/>
          </a:xfrm>
          <a:prstGeom prst="straightConnector1">
            <a:avLst/>
          </a:prstGeom>
          <a:ln w="38100">
            <a:solidFill>
              <a:srgbClr val="74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6444208" y="5013176"/>
            <a:ext cx="1368152" cy="504056"/>
          </a:xfrm>
          <a:prstGeom prst="straightConnector1">
            <a:avLst/>
          </a:prstGeom>
          <a:ln w="38100">
            <a:solidFill>
              <a:srgbClr val="74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130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標題 1"/>
          <p:cNvSpPr>
            <a:spLocks noGrp="1"/>
          </p:cNvSpPr>
          <p:nvPr>
            <p:ph type="title"/>
          </p:nvPr>
        </p:nvSpPr>
        <p:spPr>
          <a:xfrm>
            <a:off x="755576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>
                <a:ea typeface="新細明體" panose="02020500000000000000" pitchFamily="18" charset="-120"/>
              </a:rPr>
              <a:t>Pub/Sub Operational Models</a:t>
            </a:r>
            <a:endParaRPr lang="zh-TW" altLang="en-US" dirty="0" smtClean="0">
              <a:ea typeface="新細明體" panose="02020500000000000000" pitchFamily="18" charset="-120"/>
            </a:endParaRPr>
          </a:p>
        </p:txBody>
      </p:sp>
      <p:sp>
        <p:nvSpPr>
          <p:cNvPr id="26627" name="內容版面配置區 2"/>
          <p:cNvSpPr>
            <a:spLocks noGrp="1"/>
          </p:cNvSpPr>
          <p:nvPr>
            <p:ph idx="1"/>
          </p:nvPr>
        </p:nvSpPr>
        <p:spPr>
          <a:xfrm>
            <a:off x="395536" y="1519808"/>
            <a:ext cx="8352928" cy="4141440"/>
          </a:xfrm>
        </p:spPr>
        <p:txBody>
          <a:bodyPr/>
          <a:lstStyle/>
          <a:p>
            <a:r>
              <a:rPr lang="en-US" altLang="zh-TW" dirty="0" smtClean="0">
                <a:ea typeface="新細明體" panose="02020500000000000000" pitchFamily="18" charset="-120"/>
              </a:rPr>
              <a:t>There are four operational models in Pub/Sub paradigm</a:t>
            </a: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</a:rPr>
              <a:t>Push publishers with Push consumers</a:t>
            </a:r>
          </a:p>
          <a:p>
            <a:pPr lvl="2"/>
            <a:r>
              <a:rPr lang="en-US" altLang="zh-TW" dirty="0" smtClean="0">
                <a:ea typeface="新細明體" panose="02020500000000000000" pitchFamily="18" charset="-120"/>
              </a:rPr>
              <a:t>The Middleware acts as a </a:t>
            </a:r>
            <a:r>
              <a:rPr lang="en-US" altLang="zh-TW" dirty="0" err="1" smtClean="0">
                <a:solidFill>
                  <a:srgbClr val="FF0000"/>
                </a:solidFill>
                <a:ea typeface="新細明體" panose="02020500000000000000" pitchFamily="18" charset="-120"/>
              </a:rPr>
              <a:t>notifier</a:t>
            </a:r>
            <a:endParaRPr lang="en-US" altLang="zh-TW" dirty="0" smtClean="0">
              <a:solidFill>
                <a:srgbClr val="FF0000"/>
              </a:solidFill>
              <a:ea typeface="新細明體" panose="02020500000000000000" pitchFamily="18" charset="-120"/>
            </a:endParaRP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</a:rPr>
              <a:t>Pull publishers with Pull consumers</a:t>
            </a:r>
          </a:p>
          <a:p>
            <a:pPr lvl="2"/>
            <a:r>
              <a:rPr lang="en-US" altLang="zh-TW" dirty="0" smtClean="0">
                <a:ea typeface="新細明體" panose="02020500000000000000" pitchFamily="18" charset="-120"/>
              </a:rPr>
              <a:t>The Middleware acts as a </a:t>
            </a:r>
            <a:r>
              <a:rPr lang="en-US" altLang="zh-TW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clawer</a:t>
            </a:r>
            <a:r>
              <a:rPr lang="en-US" altLang="zh-TW" dirty="0" smtClean="0">
                <a:ea typeface="新細明體" panose="02020500000000000000" pitchFamily="18" charset="-120"/>
              </a:rPr>
              <a:t> plus </a:t>
            </a:r>
            <a:r>
              <a:rPr lang="en-US" altLang="zh-TW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repository</a:t>
            </a: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</a:rPr>
              <a:t>Push publishers with Pull consumers</a:t>
            </a:r>
          </a:p>
          <a:p>
            <a:pPr lvl="2"/>
            <a:r>
              <a:rPr lang="en-US" altLang="zh-TW" dirty="0" smtClean="0">
                <a:ea typeface="新細明體" panose="02020500000000000000" pitchFamily="18" charset="-120"/>
              </a:rPr>
              <a:t>The Middleware acts as a </a:t>
            </a:r>
            <a:r>
              <a:rPr lang="en-US" altLang="zh-TW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queue</a:t>
            </a: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</a:rPr>
              <a:t>Pull publishers with Push consumers</a:t>
            </a:r>
          </a:p>
          <a:p>
            <a:pPr lvl="2"/>
            <a:r>
              <a:rPr lang="en-US" altLang="zh-TW" dirty="0" smtClean="0">
                <a:ea typeface="新細明體" panose="02020500000000000000" pitchFamily="18" charset="-120"/>
              </a:rPr>
              <a:t>The Middleware acts as an </a:t>
            </a:r>
            <a:r>
              <a:rPr lang="en-US" altLang="zh-TW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agent</a:t>
            </a:r>
            <a:endParaRPr lang="zh-TW" altLang="en-US" dirty="0" smtClean="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9232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標題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>
                <a:ea typeface="新細明體" panose="02020500000000000000" pitchFamily="18" charset="-120"/>
              </a:rPr>
              <a:t>The Canonical Push Model</a:t>
            </a:r>
            <a:endParaRPr lang="zh-TW" altLang="en-US" dirty="0" smtClean="0">
              <a:ea typeface="新細明體" panose="02020500000000000000" pitchFamily="18" charset="-120"/>
            </a:endParaRPr>
          </a:p>
        </p:txBody>
      </p:sp>
      <p:grpSp>
        <p:nvGrpSpPr>
          <p:cNvPr id="37" name="群組 36"/>
          <p:cNvGrpSpPr/>
          <p:nvPr/>
        </p:nvGrpSpPr>
        <p:grpSpPr>
          <a:xfrm>
            <a:off x="899592" y="1700808"/>
            <a:ext cx="7386669" cy="4752528"/>
            <a:chOff x="1475656" y="1700808"/>
            <a:chExt cx="7386669" cy="4752528"/>
          </a:xfrm>
        </p:grpSpPr>
        <p:sp>
          <p:nvSpPr>
            <p:cNvPr id="5" name="雲朵形圖說文字 4"/>
            <p:cNvSpPr/>
            <p:nvPr/>
          </p:nvSpPr>
          <p:spPr>
            <a:xfrm>
              <a:off x="4212506" y="3284984"/>
              <a:ext cx="1871662" cy="1584325"/>
            </a:xfrm>
            <a:prstGeom prst="cloud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2400" dirty="0"/>
                <a:t>Event Channel</a:t>
              </a:r>
            </a:p>
            <a:p>
              <a:pPr algn="ctr" eaLnBrk="1" hangingPunct="1">
                <a:defRPr/>
              </a:pPr>
              <a:r>
                <a:rPr lang="en-US" altLang="zh-TW" sz="2400" dirty="0"/>
                <a:t>(</a:t>
              </a:r>
              <a:r>
                <a:rPr lang="en-US" altLang="zh-TW" sz="2400" dirty="0" err="1"/>
                <a:t>Notifier</a:t>
              </a:r>
              <a:r>
                <a:rPr lang="en-US" altLang="zh-TW" sz="2400" dirty="0"/>
                <a:t>)</a:t>
              </a:r>
              <a:endParaRPr lang="zh-TW" altLang="en-US" sz="2400" dirty="0"/>
            </a:p>
          </p:txBody>
        </p:sp>
        <p:sp>
          <p:nvSpPr>
            <p:cNvPr id="4" name="手繪多邊形 3"/>
            <p:cNvSpPr/>
            <p:nvPr/>
          </p:nvSpPr>
          <p:spPr>
            <a:xfrm>
              <a:off x="6300192" y="5227510"/>
              <a:ext cx="1842053" cy="1225826"/>
            </a:xfrm>
            <a:custGeom>
              <a:avLst/>
              <a:gdLst>
                <a:gd name="connsiteX0" fmla="*/ 172279 w 1842053"/>
                <a:gd name="connsiteY0" fmla="*/ 569844 h 1225826"/>
                <a:gd name="connsiteX1" fmla="*/ 172279 w 1842053"/>
                <a:gd name="connsiteY1" fmla="*/ 569844 h 1225826"/>
                <a:gd name="connsiteX2" fmla="*/ 212035 w 1842053"/>
                <a:gd name="connsiteY2" fmla="*/ 490330 h 1225826"/>
                <a:gd name="connsiteX3" fmla="*/ 231914 w 1842053"/>
                <a:gd name="connsiteY3" fmla="*/ 450574 h 1225826"/>
                <a:gd name="connsiteX4" fmla="*/ 245166 w 1842053"/>
                <a:gd name="connsiteY4" fmla="*/ 404191 h 1225826"/>
                <a:gd name="connsiteX5" fmla="*/ 258418 w 1842053"/>
                <a:gd name="connsiteY5" fmla="*/ 377687 h 1225826"/>
                <a:gd name="connsiteX6" fmla="*/ 271670 w 1842053"/>
                <a:gd name="connsiteY6" fmla="*/ 331304 h 1225826"/>
                <a:gd name="connsiteX7" fmla="*/ 331305 w 1842053"/>
                <a:gd name="connsiteY7" fmla="*/ 258417 h 1225826"/>
                <a:gd name="connsiteX8" fmla="*/ 357809 w 1842053"/>
                <a:gd name="connsiteY8" fmla="*/ 238539 h 1225826"/>
                <a:gd name="connsiteX9" fmla="*/ 377687 w 1842053"/>
                <a:gd name="connsiteY9" fmla="*/ 231913 h 1225826"/>
                <a:gd name="connsiteX10" fmla="*/ 404192 w 1842053"/>
                <a:gd name="connsiteY10" fmla="*/ 218661 h 1225826"/>
                <a:gd name="connsiteX11" fmla="*/ 457200 w 1842053"/>
                <a:gd name="connsiteY11" fmla="*/ 178904 h 1225826"/>
                <a:gd name="connsiteX12" fmla="*/ 490331 w 1842053"/>
                <a:gd name="connsiteY12" fmla="*/ 172278 h 1225826"/>
                <a:gd name="connsiteX13" fmla="*/ 543340 w 1842053"/>
                <a:gd name="connsiteY13" fmla="*/ 159026 h 1225826"/>
                <a:gd name="connsiteX14" fmla="*/ 563218 w 1842053"/>
                <a:gd name="connsiteY14" fmla="*/ 152400 h 1225826"/>
                <a:gd name="connsiteX15" fmla="*/ 602974 w 1842053"/>
                <a:gd name="connsiteY15" fmla="*/ 125896 h 1225826"/>
                <a:gd name="connsiteX16" fmla="*/ 669235 w 1842053"/>
                <a:gd name="connsiteY16" fmla="*/ 112644 h 1225826"/>
                <a:gd name="connsiteX17" fmla="*/ 795131 w 1842053"/>
                <a:gd name="connsiteY17" fmla="*/ 99391 h 1225826"/>
                <a:gd name="connsiteX18" fmla="*/ 834887 w 1842053"/>
                <a:gd name="connsiteY18" fmla="*/ 86139 h 1225826"/>
                <a:gd name="connsiteX19" fmla="*/ 881270 w 1842053"/>
                <a:gd name="connsiteY19" fmla="*/ 72887 h 1225826"/>
                <a:gd name="connsiteX20" fmla="*/ 934279 w 1842053"/>
                <a:gd name="connsiteY20" fmla="*/ 39757 h 1225826"/>
                <a:gd name="connsiteX21" fmla="*/ 980661 w 1842053"/>
                <a:gd name="connsiteY21" fmla="*/ 26504 h 1225826"/>
                <a:gd name="connsiteX22" fmla="*/ 1000540 w 1842053"/>
                <a:gd name="connsiteY22" fmla="*/ 19878 h 1225826"/>
                <a:gd name="connsiteX23" fmla="*/ 1040296 w 1842053"/>
                <a:gd name="connsiteY23" fmla="*/ 13252 h 1225826"/>
                <a:gd name="connsiteX24" fmla="*/ 1086679 w 1842053"/>
                <a:gd name="connsiteY24" fmla="*/ 0 h 1225826"/>
                <a:gd name="connsiteX25" fmla="*/ 1245705 w 1842053"/>
                <a:gd name="connsiteY25" fmla="*/ 6626 h 1225826"/>
                <a:gd name="connsiteX26" fmla="*/ 1298714 w 1842053"/>
                <a:gd name="connsiteY26" fmla="*/ 19878 h 1225826"/>
                <a:gd name="connsiteX27" fmla="*/ 1331844 w 1842053"/>
                <a:gd name="connsiteY27" fmla="*/ 39757 h 1225826"/>
                <a:gd name="connsiteX28" fmla="*/ 1358348 w 1842053"/>
                <a:gd name="connsiteY28" fmla="*/ 46383 h 1225826"/>
                <a:gd name="connsiteX29" fmla="*/ 1398105 w 1842053"/>
                <a:gd name="connsiteY29" fmla="*/ 72887 h 1225826"/>
                <a:gd name="connsiteX30" fmla="*/ 1417983 w 1842053"/>
                <a:gd name="connsiteY30" fmla="*/ 79513 h 1225826"/>
                <a:gd name="connsiteX31" fmla="*/ 1464366 w 1842053"/>
                <a:gd name="connsiteY31" fmla="*/ 119270 h 1225826"/>
                <a:gd name="connsiteX32" fmla="*/ 1484244 w 1842053"/>
                <a:gd name="connsiteY32" fmla="*/ 145774 h 1225826"/>
                <a:gd name="connsiteX33" fmla="*/ 1497496 w 1842053"/>
                <a:gd name="connsiteY33" fmla="*/ 172278 h 1225826"/>
                <a:gd name="connsiteX34" fmla="*/ 1537253 w 1842053"/>
                <a:gd name="connsiteY34" fmla="*/ 265044 h 1225826"/>
                <a:gd name="connsiteX35" fmla="*/ 1656522 w 1842053"/>
                <a:gd name="connsiteY35" fmla="*/ 430696 h 1225826"/>
                <a:gd name="connsiteX36" fmla="*/ 1696279 w 1842053"/>
                <a:gd name="connsiteY36" fmla="*/ 483704 h 1225826"/>
                <a:gd name="connsiteX37" fmla="*/ 1722783 w 1842053"/>
                <a:gd name="connsiteY37" fmla="*/ 516835 h 1225826"/>
                <a:gd name="connsiteX38" fmla="*/ 1749287 w 1842053"/>
                <a:gd name="connsiteY38" fmla="*/ 549965 h 1225826"/>
                <a:gd name="connsiteX39" fmla="*/ 1775792 w 1842053"/>
                <a:gd name="connsiteY39" fmla="*/ 583096 h 1225826"/>
                <a:gd name="connsiteX40" fmla="*/ 1815548 w 1842053"/>
                <a:gd name="connsiteY40" fmla="*/ 649357 h 1225826"/>
                <a:gd name="connsiteX41" fmla="*/ 1842053 w 1842053"/>
                <a:gd name="connsiteY41" fmla="*/ 695739 h 1225826"/>
                <a:gd name="connsiteX42" fmla="*/ 1835427 w 1842053"/>
                <a:gd name="connsiteY42" fmla="*/ 795130 h 1225826"/>
                <a:gd name="connsiteX43" fmla="*/ 1828800 w 1842053"/>
                <a:gd name="connsiteY43" fmla="*/ 815009 h 1225826"/>
                <a:gd name="connsiteX44" fmla="*/ 1822174 w 1842053"/>
                <a:gd name="connsiteY44" fmla="*/ 881270 h 1225826"/>
                <a:gd name="connsiteX45" fmla="*/ 1815548 w 1842053"/>
                <a:gd name="connsiteY45" fmla="*/ 1093304 h 1225826"/>
                <a:gd name="connsiteX46" fmla="*/ 1802296 w 1842053"/>
                <a:gd name="connsiteY46" fmla="*/ 1106557 h 1225826"/>
                <a:gd name="connsiteX47" fmla="*/ 1795670 w 1842053"/>
                <a:gd name="connsiteY47" fmla="*/ 1126435 h 1225826"/>
                <a:gd name="connsiteX48" fmla="*/ 1722783 w 1842053"/>
                <a:gd name="connsiteY48" fmla="*/ 1172817 h 1225826"/>
                <a:gd name="connsiteX49" fmla="*/ 1689653 w 1842053"/>
                <a:gd name="connsiteY49" fmla="*/ 1192696 h 1225826"/>
                <a:gd name="connsiteX50" fmla="*/ 1656522 w 1842053"/>
                <a:gd name="connsiteY50" fmla="*/ 1199322 h 1225826"/>
                <a:gd name="connsiteX51" fmla="*/ 1583635 w 1842053"/>
                <a:gd name="connsiteY51" fmla="*/ 1212574 h 1225826"/>
                <a:gd name="connsiteX52" fmla="*/ 1557131 w 1842053"/>
                <a:gd name="connsiteY52" fmla="*/ 1219200 h 1225826"/>
                <a:gd name="connsiteX53" fmla="*/ 1133061 w 1842053"/>
                <a:gd name="connsiteY53" fmla="*/ 1225826 h 1225826"/>
                <a:gd name="connsiteX54" fmla="*/ 927653 w 1842053"/>
                <a:gd name="connsiteY54" fmla="*/ 1219200 h 1225826"/>
                <a:gd name="connsiteX55" fmla="*/ 861392 w 1842053"/>
                <a:gd name="connsiteY55" fmla="*/ 1212574 h 1225826"/>
                <a:gd name="connsiteX56" fmla="*/ 642731 w 1842053"/>
                <a:gd name="connsiteY56" fmla="*/ 1199322 h 1225826"/>
                <a:gd name="connsiteX57" fmla="*/ 609600 w 1842053"/>
                <a:gd name="connsiteY57" fmla="*/ 1192696 h 1225826"/>
                <a:gd name="connsiteX58" fmla="*/ 589722 w 1842053"/>
                <a:gd name="connsiteY58" fmla="*/ 1186070 h 1225826"/>
                <a:gd name="connsiteX59" fmla="*/ 563218 w 1842053"/>
                <a:gd name="connsiteY59" fmla="*/ 1179444 h 1225826"/>
                <a:gd name="connsiteX60" fmla="*/ 543340 w 1842053"/>
                <a:gd name="connsiteY60" fmla="*/ 1166191 h 1225826"/>
                <a:gd name="connsiteX61" fmla="*/ 490331 w 1842053"/>
                <a:gd name="connsiteY61" fmla="*/ 1152939 h 1225826"/>
                <a:gd name="connsiteX62" fmla="*/ 404192 w 1842053"/>
                <a:gd name="connsiteY62" fmla="*/ 1119809 h 1225826"/>
                <a:gd name="connsiteX63" fmla="*/ 371061 w 1842053"/>
                <a:gd name="connsiteY63" fmla="*/ 1099930 h 1225826"/>
                <a:gd name="connsiteX64" fmla="*/ 344557 w 1842053"/>
                <a:gd name="connsiteY64" fmla="*/ 1086678 h 1225826"/>
                <a:gd name="connsiteX65" fmla="*/ 291548 w 1842053"/>
                <a:gd name="connsiteY65" fmla="*/ 1073426 h 1225826"/>
                <a:gd name="connsiteX66" fmla="*/ 165653 w 1842053"/>
                <a:gd name="connsiteY66" fmla="*/ 1000539 h 1225826"/>
                <a:gd name="connsiteX67" fmla="*/ 119270 w 1842053"/>
                <a:gd name="connsiteY67" fmla="*/ 974035 h 1225826"/>
                <a:gd name="connsiteX68" fmla="*/ 86140 w 1842053"/>
                <a:gd name="connsiteY68" fmla="*/ 954157 h 1225826"/>
                <a:gd name="connsiteX69" fmla="*/ 33131 w 1842053"/>
                <a:gd name="connsiteY69" fmla="*/ 927652 h 1225826"/>
                <a:gd name="connsiteX70" fmla="*/ 0 w 1842053"/>
                <a:gd name="connsiteY70" fmla="*/ 868017 h 1225826"/>
                <a:gd name="connsiteX71" fmla="*/ 13253 w 1842053"/>
                <a:gd name="connsiteY71" fmla="*/ 801757 h 1225826"/>
                <a:gd name="connsiteX72" fmla="*/ 26505 w 1842053"/>
                <a:gd name="connsiteY72" fmla="*/ 788504 h 1225826"/>
                <a:gd name="connsiteX73" fmla="*/ 46383 w 1842053"/>
                <a:gd name="connsiteY73" fmla="*/ 762000 h 1225826"/>
                <a:gd name="connsiteX74" fmla="*/ 59635 w 1842053"/>
                <a:gd name="connsiteY74" fmla="*/ 742122 h 1225826"/>
                <a:gd name="connsiteX75" fmla="*/ 92766 w 1842053"/>
                <a:gd name="connsiteY75" fmla="*/ 708991 h 1225826"/>
                <a:gd name="connsiteX76" fmla="*/ 112644 w 1842053"/>
                <a:gd name="connsiteY76" fmla="*/ 689113 h 1225826"/>
                <a:gd name="connsiteX77" fmla="*/ 125896 w 1842053"/>
                <a:gd name="connsiteY77" fmla="*/ 669235 h 1225826"/>
                <a:gd name="connsiteX78" fmla="*/ 145774 w 1842053"/>
                <a:gd name="connsiteY78" fmla="*/ 642730 h 1225826"/>
                <a:gd name="connsiteX79" fmla="*/ 185531 w 1842053"/>
                <a:gd name="connsiteY79" fmla="*/ 589722 h 1225826"/>
                <a:gd name="connsiteX80" fmla="*/ 172279 w 1842053"/>
                <a:gd name="connsiteY80" fmla="*/ 569844 h 122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842053" h="1225826">
                  <a:moveTo>
                    <a:pt x="172279" y="569844"/>
                  </a:moveTo>
                  <a:lnTo>
                    <a:pt x="172279" y="569844"/>
                  </a:lnTo>
                  <a:cubicBezTo>
                    <a:pt x="185531" y="543339"/>
                    <a:pt x="202664" y="518442"/>
                    <a:pt x="212035" y="490330"/>
                  </a:cubicBezTo>
                  <a:cubicBezTo>
                    <a:pt x="221179" y="462897"/>
                    <a:pt x="214787" y="476263"/>
                    <a:pt x="231914" y="450574"/>
                  </a:cubicBezTo>
                  <a:cubicBezTo>
                    <a:pt x="235276" y="437127"/>
                    <a:pt x="239463" y="417498"/>
                    <a:pt x="245166" y="404191"/>
                  </a:cubicBezTo>
                  <a:cubicBezTo>
                    <a:pt x="249057" y="395112"/>
                    <a:pt x="254950" y="386936"/>
                    <a:pt x="258418" y="377687"/>
                  </a:cubicBezTo>
                  <a:cubicBezTo>
                    <a:pt x="262376" y="367131"/>
                    <a:pt x="265510" y="342393"/>
                    <a:pt x="271670" y="331304"/>
                  </a:cubicBezTo>
                  <a:cubicBezTo>
                    <a:pt x="286010" y="305491"/>
                    <a:pt x="307335" y="276394"/>
                    <a:pt x="331305" y="258417"/>
                  </a:cubicBezTo>
                  <a:cubicBezTo>
                    <a:pt x="340140" y="251791"/>
                    <a:pt x="348221" y="244018"/>
                    <a:pt x="357809" y="238539"/>
                  </a:cubicBezTo>
                  <a:cubicBezTo>
                    <a:pt x="363873" y="235074"/>
                    <a:pt x="371267" y="234664"/>
                    <a:pt x="377687" y="231913"/>
                  </a:cubicBezTo>
                  <a:cubicBezTo>
                    <a:pt x="386766" y="228022"/>
                    <a:pt x="395357" y="223078"/>
                    <a:pt x="404192" y="218661"/>
                  </a:cubicBezTo>
                  <a:cubicBezTo>
                    <a:pt x="423192" y="199661"/>
                    <a:pt x="429758" y="189881"/>
                    <a:pt x="457200" y="178904"/>
                  </a:cubicBezTo>
                  <a:cubicBezTo>
                    <a:pt x="467657" y="174721"/>
                    <a:pt x="479357" y="174810"/>
                    <a:pt x="490331" y="172278"/>
                  </a:cubicBezTo>
                  <a:cubicBezTo>
                    <a:pt x="508078" y="168183"/>
                    <a:pt x="526061" y="164786"/>
                    <a:pt x="543340" y="159026"/>
                  </a:cubicBezTo>
                  <a:cubicBezTo>
                    <a:pt x="549966" y="156817"/>
                    <a:pt x="557113" y="155792"/>
                    <a:pt x="563218" y="152400"/>
                  </a:cubicBezTo>
                  <a:cubicBezTo>
                    <a:pt x="577141" y="144665"/>
                    <a:pt x="587356" y="129019"/>
                    <a:pt x="602974" y="125896"/>
                  </a:cubicBezTo>
                  <a:cubicBezTo>
                    <a:pt x="625061" y="121479"/>
                    <a:pt x="646803" y="114684"/>
                    <a:pt x="669235" y="112644"/>
                  </a:cubicBezTo>
                  <a:cubicBezTo>
                    <a:pt x="759856" y="104405"/>
                    <a:pt x="717914" y="109043"/>
                    <a:pt x="795131" y="99391"/>
                  </a:cubicBezTo>
                  <a:cubicBezTo>
                    <a:pt x="808383" y="94974"/>
                    <a:pt x="821456" y="89976"/>
                    <a:pt x="834887" y="86139"/>
                  </a:cubicBezTo>
                  <a:cubicBezTo>
                    <a:pt x="850348" y="81722"/>
                    <a:pt x="866158" y="78382"/>
                    <a:pt x="881270" y="72887"/>
                  </a:cubicBezTo>
                  <a:cubicBezTo>
                    <a:pt x="920216" y="58725"/>
                    <a:pt x="897005" y="61057"/>
                    <a:pt x="934279" y="39757"/>
                  </a:cubicBezTo>
                  <a:cubicBezTo>
                    <a:pt x="942227" y="35215"/>
                    <a:pt x="974199" y="28350"/>
                    <a:pt x="980661" y="26504"/>
                  </a:cubicBezTo>
                  <a:cubicBezTo>
                    <a:pt x="987377" y="24585"/>
                    <a:pt x="993722" y="21393"/>
                    <a:pt x="1000540" y="19878"/>
                  </a:cubicBezTo>
                  <a:cubicBezTo>
                    <a:pt x="1013655" y="16964"/>
                    <a:pt x="1027122" y="15887"/>
                    <a:pt x="1040296" y="13252"/>
                  </a:cubicBezTo>
                  <a:cubicBezTo>
                    <a:pt x="1061095" y="9092"/>
                    <a:pt x="1067734" y="6315"/>
                    <a:pt x="1086679" y="0"/>
                  </a:cubicBezTo>
                  <a:cubicBezTo>
                    <a:pt x="1139688" y="2209"/>
                    <a:pt x="1192776" y="2976"/>
                    <a:pt x="1245705" y="6626"/>
                  </a:cubicBezTo>
                  <a:cubicBezTo>
                    <a:pt x="1254473" y="7231"/>
                    <a:pt x="1287508" y="14275"/>
                    <a:pt x="1298714" y="19878"/>
                  </a:cubicBezTo>
                  <a:cubicBezTo>
                    <a:pt x="1310233" y="25638"/>
                    <a:pt x="1320075" y="34526"/>
                    <a:pt x="1331844" y="39757"/>
                  </a:cubicBezTo>
                  <a:cubicBezTo>
                    <a:pt x="1340166" y="43456"/>
                    <a:pt x="1349513" y="44174"/>
                    <a:pt x="1358348" y="46383"/>
                  </a:cubicBezTo>
                  <a:cubicBezTo>
                    <a:pt x="1371600" y="55218"/>
                    <a:pt x="1384182" y="65152"/>
                    <a:pt x="1398105" y="72887"/>
                  </a:cubicBezTo>
                  <a:cubicBezTo>
                    <a:pt x="1404211" y="76279"/>
                    <a:pt x="1411736" y="76389"/>
                    <a:pt x="1417983" y="79513"/>
                  </a:cubicBezTo>
                  <a:cubicBezTo>
                    <a:pt x="1434009" y="87526"/>
                    <a:pt x="1454584" y="106228"/>
                    <a:pt x="1464366" y="119270"/>
                  </a:cubicBezTo>
                  <a:cubicBezTo>
                    <a:pt x="1470992" y="128105"/>
                    <a:pt x="1478391" y="136409"/>
                    <a:pt x="1484244" y="145774"/>
                  </a:cubicBezTo>
                  <a:cubicBezTo>
                    <a:pt x="1489479" y="154150"/>
                    <a:pt x="1493605" y="163199"/>
                    <a:pt x="1497496" y="172278"/>
                  </a:cubicBezTo>
                  <a:cubicBezTo>
                    <a:pt x="1511638" y="205277"/>
                    <a:pt x="1520018" y="234882"/>
                    <a:pt x="1537253" y="265044"/>
                  </a:cubicBezTo>
                  <a:cubicBezTo>
                    <a:pt x="1591384" y="359773"/>
                    <a:pt x="1573197" y="324225"/>
                    <a:pt x="1656522" y="430696"/>
                  </a:cubicBezTo>
                  <a:cubicBezTo>
                    <a:pt x="1670134" y="448089"/>
                    <a:pt x="1682812" y="466197"/>
                    <a:pt x="1696279" y="483704"/>
                  </a:cubicBezTo>
                  <a:cubicBezTo>
                    <a:pt x="1704902" y="494914"/>
                    <a:pt x="1713948" y="505791"/>
                    <a:pt x="1722783" y="516835"/>
                  </a:cubicBezTo>
                  <a:lnTo>
                    <a:pt x="1749287" y="549965"/>
                  </a:lnTo>
                  <a:lnTo>
                    <a:pt x="1775792" y="583096"/>
                  </a:lnTo>
                  <a:cubicBezTo>
                    <a:pt x="1808566" y="665030"/>
                    <a:pt x="1764647" y="564521"/>
                    <a:pt x="1815548" y="649357"/>
                  </a:cubicBezTo>
                  <a:cubicBezTo>
                    <a:pt x="1850582" y="707748"/>
                    <a:pt x="1810167" y="663856"/>
                    <a:pt x="1842053" y="695739"/>
                  </a:cubicBezTo>
                  <a:cubicBezTo>
                    <a:pt x="1839844" y="728869"/>
                    <a:pt x="1839094" y="762129"/>
                    <a:pt x="1835427" y="795130"/>
                  </a:cubicBezTo>
                  <a:cubicBezTo>
                    <a:pt x="1834656" y="802072"/>
                    <a:pt x="1829862" y="808105"/>
                    <a:pt x="1828800" y="815009"/>
                  </a:cubicBezTo>
                  <a:cubicBezTo>
                    <a:pt x="1825425" y="836948"/>
                    <a:pt x="1824383" y="859183"/>
                    <a:pt x="1822174" y="881270"/>
                  </a:cubicBezTo>
                  <a:cubicBezTo>
                    <a:pt x="1819965" y="951948"/>
                    <a:pt x="1821763" y="1022865"/>
                    <a:pt x="1815548" y="1093304"/>
                  </a:cubicBezTo>
                  <a:cubicBezTo>
                    <a:pt x="1814999" y="1099527"/>
                    <a:pt x="1805510" y="1101200"/>
                    <a:pt x="1802296" y="1106557"/>
                  </a:cubicBezTo>
                  <a:cubicBezTo>
                    <a:pt x="1798703" y="1112546"/>
                    <a:pt x="1800609" y="1121496"/>
                    <a:pt x="1795670" y="1126435"/>
                  </a:cubicBezTo>
                  <a:cubicBezTo>
                    <a:pt x="1723325" y="1198779"/>
                    <a:pt x="1767962" y="1150227"/>
                    <a:pt x="1722783" y="1172817"/>
                  </a:cubicBezTo>
                  <a:cubicBezTo>
                    <a:pt x="1711264" y="1178577"/>
                    <a:pt x="1701611" y="1187913"/>
                    <a:pt x="1689653" y="1192696"/>
                  </a:cubicBezTo>
                  <a:cubicBezTo>
                    <a:pt x="1679196" y="1196879"/>
                    <a:pt x="1667603" y="1197307"/>
                    <a:pt x="1656522" y="1199322"/>
                  </a:cubicBezTo>
                  <a:cubicBezTo>
                    <a:pt x="1616969" y="1206513"/>
                    <a:pt x="1620457" y="1204392"/>
                    <a:pt x="1583635" y="1212574"/>
                  </a:cubicBezTo>
                  <a:cubicBezTo>
                    <a:pt x="1574745" y="1214549"/>
                    <a:pt x="1566234" y="1218932"/>
                    <a:pt x="1557131" y="1219200"/>
                  </a:cubicBezTo>
                  <a:cubicBezTo>
                    <a:pt x="1415818" y="1223356"/>
                    <a:pt x="1274418" y="1223617"/>
                    <a:pt x="1133061" y="1225826"/>
                  </a:cubicBezTo>
                  <a:lnTo>
                    <a:pt x="927653" y="1219200"/>
                  </a:lnTo>
                  <a:cubicBezTo>
                    <a:pt x="905482" y="1218119"/>
                    <a:pt x="883512" y="1214417"/>
                    <a:pt x="861392" y="1212574"/>
                  </a:cubicBezTo>
                  <a:cubicBezTo>
                    <a:pt x="778933" y="1205703"/>
                    <a:pt x="728793" y="1203852"/>
                    <a:pt x="642731" y="1199322"/>
                  </a:cubicBezTo>
                  <a:cubicBezTo>
                    <a:pt x="631687" y="1197113"/>
                    <a:pt x="620526" y="1195427"/>
                    <a:pt x="609600" y="1192696"/>
                  </a:cubicBezTo>
                  <a:cubicBezTo>
                    <a:pt x="602824" y="1191002"/>
                    <a:pt x="596438" y="1187989"/>
                    <a:pt x="589722" y="1186070"/>
                  </a:cubicBezTo>
                  <a:cubicBezTo>
                    <a:pt x="580966" y="1183568"/>
                    <a:pt x="572053" y="1181653"/>
                    <a:pt x="563218" y="1179444"/>
                  </a:cubicBezTo>
                  <a:cubicBezTo>
                    <a:pt x="556592" y="1175026"/>
                    <a:pt x="550463" y="1169753"/>
                    <a:pt x="543340" y="1166191"/>
                  </a:cubicBezTo>
                  <a:cubicBezTo>
                    <a:pt x="526634" y="1157838"/>
                    <a:pt x="507968" y="1157978"/>
                    <a:pt x="490331" y="1152939"/>
                  </a:cubicBezTo>
                  <a:cubicBezTo>
                    <a:pt x="453265" y="1142349"/>
                    <a:pt x="434381" y="1136581"/>
                    <a:pt x="404192" y="1119809"/>
                  </a:cubicBezTo>
                  <a:cubicBezTo>
                    <a:pt x="392934" y="1113554"/>
                    <a:pt x="382319" y="1106185"/>
                    <a:pt x="371061" y="1099930"/>
                  </a:cubicBezTo>
                  <a:cubicBezTo>
                    <a:pt x="362427" y="1095133"/>
                    <a:pt x="353928" y="1089801"/>
                    <a:pt x="344557" y="1086678"/>
                  </a:cubicBezTo>
                  <a:cubicBezTo>
                    <a:pt x="327278" y="1080918"/>
                    <a:pt x="291548" y="1073426"/>
                    <a:pt x="291548" y="1073426"/>
                  </a:cubicBezTo>
                  <a:cubicBezTo>
                    <a:pt x="196833" y="1018176"/>
                    <a:pt x="238572" y="1042207"/>
                    <a:pt x="165653" y="1000539"/>
                  </a:cubicBezTo>
                  <a:lnTo>
                    <a:pt x="119270" y="974035"/>
                  </a:lnTo>
                  <a:cubicBezTo>
                    <a:pt x="108146" y="967546"/>
                    <a:pt x="98097" y="958940"/>
                    <a:pt x="86140" y="954157"/>
                  </a:cubicBezTo>
                  <a:cubicBezTo>
                    <a:pt x="45615" y="937946"/>
                    <a:pt x="62906" y="947502"/>
                    <a:pt x="33131" y="927652"/>
                  </a:cubicBezTo>
                  <a:cubicBezTo>
                    <a:pt x="2753" y="882084"/>
                    <a:pt x="11664" y="903005"/>
                    <a:pt x="0" y="868017"/>
                  </a:cubicBezTo>
                  <a:cubicBezTo>
                    <a:pt x="1149" y="859976"/>
                    <a:pt x="4580" y="816213"/>
                    <a:pt x="13253" y="801757"/>
                  </a:cubicBezTo>
                  <a:cubicBezTo>
                    <a:pt x="16467" y="796400"/>
                    <a:pt x="22506" y="793303"/>
                    <a:pt x="26505" y="788504"/>
                  </a:cubicBezTo>
                  <a:cubicBezTo>
                    <a:pt x="33575" y="780020"/>
                    <a:pt x="39964" y="770986"/>
                    <a:pt x="46383" y="762000"/>
                  </a:cubicBezTo>
                  <a:cubicBezTo>
                    <a:pt x="51012" y="755520"/>
                    <a:pt x="54391" y="748115"/>
                    <a:pt x="59635" y="742122"/>
                  </a:cubicBezTo>
                  <a:cubicBezTo>
                    <a:pt x="69920" y="730368"/>
                    <a:pt x="81722" y="720035"/>
                    <a:pt x="92766" y="708991"/>
                  </a:cubicBezTo>
                  <a:cubicBezTo>
                    <a:pt x="99392" y="702365"/>
                    <a:pt x="107446" y="696910"/>
                    <a:pt x="112644" y="689113"/>
                  </a:cubicBezTo>
                  <a:cubicBezTo>
                    <a:pt x="117061" y="682487"/>
                    <a:pt x="121267" y="675715"/>
                    <a:pt x="125896" y="669235"/>
                  </a:cubicBezTo>
                  <a:cubicBezTo>
                    <a:pt x="132315" y="660248"/>
                    <a:pt x="138704" y="651214"/>
                    <a:pt x="145774" y="642730"/>
                  </a:cubicBezTo>
                  <a:cubicBezTo>
                    <a:pt x="158534" y="627418"/>
                    <a:pt x="185531" y="611217"/>
                    <a:pt x="185531" y="589722"/>
                  </a:cubicBezTo>
                  <a:lnTo>
                    <a:pt x="172279" y="569844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 smtClean="0">
                  <a:solidFill>
                    <a:schemeClr val="tx1"/>
                  </a:solidFill>
                </a:rPr>
                <a:t>Consumer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手繪多邊形 7"/>
            <p:cNvSpPr/>
            <p:nvPr/>
          </p:nvSpPr>
          <p:spPr>
            <a:xfrm>
              <a:off x="6444208" y="1700808"/>
              <a:ext cx="1842053" cy="1225826"/>
            </a:xfrm>
            <a:custGeom>
              <a:avLst/>
              <a:gdLst>
                <a:gd name="connsiteX0" fmla="*/ 172279 w 1842053"/>
                <a:gd name="connsiteY0" fmla="*/ 569844 h 1225826"/>
                <a:gd name="connsiteX1" fmla="*/ 172279 w 1842053"/>
                <a:gd name="connsiteY1" fmla="*/ 569844 h 1225826"/>
                <a:gd name="connsiteX2" fmla="*/ 212035 w 1842053"/>
                <a:gd name="connsiteY2" fmla="*/ 490330 h 1225826"/>
                <a:gd name="connsiteX3" fmla="*/ 231914 w 1842053"/>
                <a:gd name="connsiteY3" fmla="*/ 450574 h 1225826"/>
                <a:gd name="connsiteX4" fmla="*/ 245166 w 1842053"/>
                <a:gd name="connsiteY4" fmla="*/ 404191 h 1225826"/>
                <a:gd name="connsiteX5" fmla="*/ 258418 w 1842053"/>
                <a:gd name="connsiteY5" fmla="*/ 377687 h 1225826"/>
                <a:gd name="connsiteX6" fmla="*/ 271670 w 1842053"/>
                <a:gd name="connsiteY6" fmla="*/ 331304 h 1225826"/>
                <a:gd name="connsiteX7" fmla="*/ 331305 w 1842053"/>
                <a:gd name="connsiteY7" fmla="*/ 258417 h 1225826"/>
                <a:gd name="connsiteX8" fmla="*/ 357809 w 1842053"/>
                <a:gd name="connsiteY8" fmla="*/ 238539 h 1225826"/>
                <a:gd name="connsiteX9" fmla="*/ 377687 w 1842053"/>
                <a:gd name="connsiteY9" fmla="*/ 231913 h 1225826"/>
                <a:gd name="connsiteX10" fmla="*/ 404192 w 1842053"/>
                <a:gd name="connsiteY10" fmla="*/ 218661 h 1225826"/>
                <a:gd name="connsiteX11" fmla="*/ 457200 w 1842053"/>
                <a:gd name="connsiteY11" fmla="*/ 178904 h 1225826"/>
                <a:gd name="connsiteX12" fmla="*/ 490331 w 1842053"/>
                <a:gd name="connsiteY12" fmla="*/ 172278 h 1225826"/>
                <a:gd name="connsiteX13" fmla="*/ 543340 w 1842053"/>
                <a:gd name="connsiteY13" fmla="*/ 159026 h 1225826"/>
                <a:gd name="connsiteX14" fmla="*/ 563218 w 1842053"/>
                <a:gd name="connsiteY14" fmla="*/ 152400 h 1225826"/>
                <a:gd name="connsiteX15" fmla="*/ 602974 w 1842053"/>
                <a:gd name="connsiteY15" fmla="*/ 125896 h 1225826"/>
                <a:gd name="connsiteX16" fmla="*/ 669235 w 1842053"/>
                <a:gd name="connsiteY16" fmla="*/ 112644 h 1225826"/>
                <a:gd name="connsiteX17" fmla="*/ 795131 w 1842053"/>
                <a:gd name="connsiteY17" fmla="*/ 99391 h 1225826"/>
                <a:gd name="connsiteX18" fmla="*/ 834887 w 1842053"/>
                <a:gd name="connsiteY18" fmla="*/ 86139 h 1225826"/>
                <a:gd name="connsiteX19" fmla="*/ 881270 w 1842053"/>
                <a:gd name="connsiteY19" fmla="*/ 72887 h 1225826"/>
                <a:gd name="connsiteX20" fmla="*/ 934279 w 1842053"/>
                <a:gd name="connsiteY20" fmla="*/ 39757 h 1225826"/>
                <a:gd name="connsiteX21" fmla="*/ 980661 w 1842053"/>
                <a:gd name="connsiteY21" fmla="*/ 26504 h 1225826"/>
                <a:gd name="connsiteX22" fmla="*/ 1000540 w 1842053"/>
                <a:gd name="connsiteY22" fmla="*/ 19878 h 1225826"/>
                <a:gd name="connsiteX23" fmla="*/ 1040296 w 1842053"/>
                <a:gd name="connsiteY23" fmla="*/ 13252 h 1225826"/>
                <a:gd name="connsiteX24" fmla="*/ 1086679 w 1842053"/>
                <a:gd name="connsiteY24" fmla="*/ 0 h 1225826"/>
                <a:gd name="connsiteX25" fmla="*/ 1245705 w 1842053"/>
                <a:gd name="connsiteY25" fmla="*/ 6626 h 1225826"/>
                <a:gd name="connsiteX26" fmla="*/ 1298714 w 1842053"/>
                <a:gd name="connsiteY26" fmla="*/ 19878 h 1225826"/>
                <a:gd name="connsiteX27" fmla="*/ 1331844 w 1842053"/>
                <a:gd name="connsiteY27" fmla="*/ 39757 h 1225826"/>
                <a:gd name="connsiteX28" fmla="*/ 1358348 w 1842053"/>
                <a:gd name="connsiteY28" fmla="*/ 46383 h 1225826"/>
                <a:gd name="connsiteX29" fmla="*/ 1398105 w 1842053"/>
                <a:gd name="connsiteY29" fmla="*/ 72887 h 1225826"/>
                <a:gd name="connsiteX30" fmla="*/ 1417983 w 1842053"/>
                <a:gd name="connsiteY30" fmla="*/ 79513 h 1225826"/>
                <a:gd name="connsiteX31" fmla="*/ 1464366 w 1842053"/>
                <a:gd name="connsiteY31" fmla="*/ 119270 h 1225826"/>
                <a:gd name="connsiteX32" fmla="*/ 1484244 w 1842053"/>
                <a:gd name="connsiteY32" fmla="*/ 145774 h 1225826"/>
                <a:gd name="connsiteX33" fmla="*/ 1497496 w 1842053"/>
                <a:gd name="connsiteY33" fmla="*/ 172278 h 1225826"/>
                <a:gd name="connsiteX34" fmla="*/ 1537253 w 1842053"/>
                <a:gd name="connsiteY34" fmla="*/ 265044 h 1225826"/>
                <a:gd name="connsiteX35" fmla="*/ 1656522 w 1842053"/>
                <a:gd name="connsiteY35" fmla="*/ 430696 h 1225826"/>
                <a:gd name="connsiteX36" fmla="*/ 1696279 w 1842053"/>
                <a:gd name="connsiteY36" fmla="*/ 483704 h 1225826"/>
                <a:gd name="connsiteX37" fmla="*/ 1722783 w 1842053"/>
                <a:gd name="connsiteY37" fmla="*/ 516835 h 1225826"/>
                <a:gd name="connsiteX38" fmla="*/ 1749287 w 1842053"/>
                <a:gd name="connsiteY38" fmla="*/ 549965 h 1225826"/>
                <a:gd name="connsiteX39" fmla="*/ 1775792 w 1842053"/>
                <a:gd name="connsiteY39" fmla="*/ 583096 h 1225826"/>
                <a:gd name="connsiteX40" fmla="*/ 1815548 w 1842053"/>
                <a:gd name="connsiteY40" fmla="*/ 649357 h 1225826"/>
                <a:gd name="connsiteX41" fmla="*/ 1842053 w 1842053"/>
                <a:gd name="connsiteY41" fmla="*/ 695739 h 1225826"/>
                <a:gd name="connsiteX42" fmla="*/ 1835427 w 1842053"/>
                <a:gd name="connsiteY42" fmla="*/ 795130 h 1225826"/>
                <a:gd name="connsiteX43" fmla="*/ 1828800 w 1842053"/>
                <a:gd name="connsiteY43" fmla="*/ 815009 h 1225826"/>
                <a:gd name="connsiteX44" fmla="*/ 1822174 w 1842053"/>
                <a:gd name="connsiteY44" fmla="*/ 881270 h 1225826"/>
                <a:gd name="connsiteX45" fmla="*/ 1815548 w 1842053"/>
                <a:gd name="connsiteY45" fmla="*/ 1093304 h 1225826"/>
                <a:gd name="connsiteX46" fmla="*/ 1802296 w 1842053"/>
                <a:gd name="connsiteY46" fmla="*/ 1106557 h 1225826"/>
                <a:gd name="connsiteX47" fmla="*/ 1795670 w 1842053"/>
                <a:gd name="connsiteY47" fmla="*/ 1126435 h 1225826"/>
                <a:gd name="connsiteX48" fmla="*/ 1722783 w 1842053"/>
                <a:gd name="connsiteY48" fmla="*/ 1172817 h 1225826"/>
                <a:gd name="connsiteX49" fmla="*/ 1689653 w 1842053"/>
                <a:gd name="connsiteY49" fmla="*/ 1192696 h 1225826"/>
                <a:gd name="connsiteX50" fmla="*/ 1656522 w 1842053"/>
                <a:gd name="connsiteY50" fmla="*/ 1199322 h 1225826"/>
                <a:gd name="connsiteX51" fmla="*/ 1583635 w 1842053"/>
                <a:gd name="connsiteY51" fmla="*/ 1212574 h 1225826"/>
                <a:gd name="connsiteX52" fmla="*/ 1557131 w 1842053"/>
                <a:gd name="connsiteY52" fmla="*/ 1219200 h 1225826"/>
                <a:gd name="connsiteX53" fmla="*/ 1133061 w 1842053"/>
                <a:gd name="connsiteY53" fmla="*/ 1225826 h 1225826"/>
                <a:gd name="connsiteX54" fmla="*/ 927653 w 1842053"/>
                <a:gd name="connsiteY54" fmla="*/ 1219200 h 1225826"/>
                <a:gd name="connsiteX55" fmla="*/ 861392 w 1842053"/>
                <a:gd name="connsiteY55" fmla="*/ 1212574 h 1225826"/>
                <a:gd name="connsiteX56" fmla="*/ 642731 w 1842053"/>
                <a:gd name="connsiteY56" fmla="*/ 1199322 h 1225826"/>
                <a:gd name="connsiteX57" fmla="*/ 609600 w 1842053"/>
                <a:gd name="connsiteY57" fmla="*/ 1192696 h 1225826"/>
                <a:gd name="connsiteX58" fmla="*/ 589722 w 1842053"/>
                <a:gd name="connsiteY58" fmla="*/ 1186070 h 1225826"/>
                <a:gd name="connsiteX59" fmla="*/ 563218 w 1842053"/>
                <a:gd name="connsiteY59" fmla="*/ 1179444 h 1225826"/>
                <a:gd name="connsiteX60" fmla="*/ 543340 w 1842053"/>
                <a:gd name="connsiteY60" fmla="*/ 1166191 h 1225826"/>
                <a:gd name="connsiteX61" fmla="*/ 490331 w 1842053"/>
                <a:gd name="connsiteY61" fmla="*/ 1152939 h 1225826"/>
                <a:gd name="connsiteX62" fmla="*/ 404192 w 1842053"/>
                <a:gd name="connsiteY62" fmla="*/ 1119809 h 1225826"/>
                <a:gd name="connsiteX63" fmla="*/ 371061 w 1842053"/>
                <a:gd name="connsiteY63" fmla="*/ 1099930 h 1225826"/>
                <a:gd name="connsiteX64" fmla="*/ 344557 w 1842053"/>
                <a:gd name="connsiteY64" fmla="*/ 1086678 h 1225826"/>
                <a:gd name="connsiteX65" fmla="*/ 291548 w 1842053"/>
                <a:gd name="connsiteY65" fmla="*/ 1073426 h 1225826"/>
                <a:gd name="connsiteX66" fmla="*/ 165653 w 1842053"/>
                <a:gd name="connsiteY66" fmla="*/ 1000539 h 1225826"/>
                <a:gd name="connsiteX67" fmla="*/ 119270 w 1842053"/>
                <a:gd name="connsiteY67" fmla="*/ 974035 h 1225826"/>
                <a:gd name="connsiteX68" fmla="*/ 86140 w 1842053"/>
                <a:gd name="connsiteY68" fmla="*/ 954157 h 1225826"/>
                <a:gd name="connsiteX69" fmla="*/ 33131 w 1842053"/>
                <a:gd name="connsiteY69" fmla="*/ 927652 h 1225826"/>
                <a:gd name="connsiteX70" fmla="*/ 0 w 1842053"/>
                <a:gd name="connsiteY70" fmla="*/ 868017 h 1225826"/>
                <a:gd name="connsiteX71" fmla="*/ 13253 w 1842053"/>
                <a:gd name="connsiteY71" fmla="*/ 801757 h 1225826"/>
                <a:gd name="connsiteX72" fmla="*/ 26505 w 1842053"/>
                <a:gd name="connsiteY72" fmla="*/ 788504 h 1225826"/>
                <a:gd name="connsiteX73" fmla="*/ 46383 w 1842053"/>
                <a:gd name="connsiteY73" fmla="*/ 762000 h 1225826"/>
                <a:gd name="connsiteX74" fmla="*/ 59635 w 1842053"/>
                <a:gd name="connsiteY74" fmla="*/ 742122 h 1225826"/>
                <a:gd name="connsiteX75" fmla="*/ 92766 w 1842053"/>
                <a:gd name="connsiteY75" fmla="*/ 708991 h 1225826"/>
                <a:gd name="connsiteX76" fmla="*/ 112644 w 1842053"/>
                <a:gd name="connsiteY76" fmla="*/ 689113 h 1225826"/>
                <a:gd name="connsiteX77" fmla="*/ 125896 w 1842053"/>
                <a:gd name="connsiteY77" fmla="*/ 669235 h 1225826"/>
                <a:gd name="connsiteX78" fmla="*/ 145774 w 1842053"/>
                <a:gd name="connsiteY78" fmla="*/ 642730 h 1225826"/>
                <a:gd name="connsiteX79" fmla="*/ 185531 w 1842053"/>
                <a:gd name="connsiteY79" fmla="*/ 589722 h 1225826"/>
                <a:gd name="connsiteX80" fmla="*/ 172279 w 1842053"/>
                <a:gd name="connsiteY80" fmla="*/ 569844 h 122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842053" h="1225826">
                  <a:moveTo>
                    <a:pt x="172279" y="569844"/>
                  </a:moveTo>
                  <a:lnTo>
                    <a:pt x="172279" y="569844"/>
                  </a:lnTo>
                  <a:cubicBezTo>
                    <a:pt x="185531" y="543339"/>
                    <a:pt x="202664" y="518442"/>
                    <a:pt x="212035" y="490330"/>
                  </a:cubicBezTo>
                  <a:cubicBezTo>
                    <a:pt x="221179" y="462897"/>
                    <a:pt x="214787" y="476263"/>
                    <a:pt x="231914" y="450574"/>
                  </a:cubicBezTo>
                  <a:cubicBezTo>
                    <a:pt x="235276" y="437127"/>
                    <a:pt x="239463" y="417498"/>
                    <a:pt x="245166" y="404191"/>
                  </a:cubicBezTo>
                  <a:cubicBezTo>
                    <a:pt x="249057" y="395112"/>
                    <a:pt x="254950" y="386936"/>
                    <a:pt x="258418" y="377687"/>
                  </a:cubicBezTo>
                  <a:cubicBezTo>
                    <a:pt x="262376" y="367131"/>
                    <a:pt x="265510" y="342393"/>
                    <a:pt x="271670" y="331304"/>
                  </a:cubicBezTo>
                  <a:cubicBezTo>
                    <a:pt x="286010" y="305491"/>
                    <a:pt x="307335" y="276394"/>
                    <a:pt x="331305" y="258417"/>
                  </a:cubicBezTo>
                  <a:cubicBezTo>
                    <a:pt x="340140" y="251791"/>
                    <a:pt x="348221" y="244018"/>
                    <a:pt x="357809" y="238539"/>
                  </a:cubicBezTo>
                  <a:cubicBezTo>
                    <a:pt x="363873" y="235074"/>
                    <a:pt x="371267" y="234664"/>
                    <a:pt x="377687" y="231913"/>
                  </a:cubicBezTo>
                  <a:cubicBezTo>
                    <a:pt x="386766" y="228022"/>
                    <a:pt x="395357" y="223078"/>
                    <a:pt x="404192" y="218661"/>
                  </a:cubicBezTo>
                  <a:cubicBezTo>
                    <a:pt x="423192" y="199661"/>
                    <a:pt x="429758" y="189881"/>
                    <a:pt x="457200" y="178904"/>
                  </a:cubicBezTo>
                  <a:cubicBezTo>
                    <a:pt x="467657" y="174721"/>
                    <a:pt x="479357" y="174810"/>
                    <a:pt x="490331" y="172278"/>
                  </a:cubicBezTo>
                  <a:cubicBezTo>
                    <a:pt x="508078" y="168183"/>
                    <a:pt x="526061" y="164786"/>
                    <a:pt x="543340" y="159026"/>
                  </a:cubicBezTo>
                  <a:cubicBezTo>
                    <a:pt x="549966" y="156817"/>
                    <a:pt x="557113" y="155792"/>
                    <a:pt x="563218" y="152400"/>
                  </a:cubicBezTo>
                  <a:cubicBezTo>
                    <a:pt x="577141" y="144665"/>
                    <a:pt x="587356" y="129019"/>
                    <a:pt x="602974" y="125896"/>
                  </a:cubicBezTo>
                  <a:cubicBezTo>
                    <a:pt x="625061" y="121479"/>
                    <a:pt x="646803" y="114684"/>
                    <a:pt x="669235" y="112644"/>
                  </a:cubicBezTo>
                  <a:cubicBezTo>
                    <a:pt x="759856" y="104405"/>
                    <a:pt x="717914" y="109043"/>
                    <a:pt x="795131" y="99391"/>
                  </a:cubicBezTo>
                  <a:cubicBezTo>
                    <a:pt x="808383" y="94974"/>
                    <a:pt x="821456" y="89976"/>
                    <a:pt x="834887" y="86139"/>
                  </a:cubicBezTo>
                  <a:cubicBezTo>
                    <a:pt x="850348" y="81722"/>
                    <a:pt x="866158" y="78382"/>
                    <a:pt x="881270" y="72887"/>
                  </a:cubicBezTo>
                  <a:cubicBezTo>
                    <a:pt x="920216" y="58725"/>
                    <a:pt x="897005" y="61057"/>
                    <a:pt x="934279" y="39757"/>
                  </a:cubicBezTo>
                  <a:cubicBezTo>
                    <a:pt x="942227" y="35215"/>
                    <a:pt x="974199" y="28350"/>
                    <a:pt x="980661" y="26504"/>
                  </a:cubicBezTo>
                  <a:cubicBezTo>
                    <a:pt x="987377" y="24585"/>
                    <a:pt x="993722" y="21393"/>
                    <a:pt x="1000540" y="19878"/>
                  </a:cubicBezTo>
                  <a:cubicBezTo>
                    <a:pt x="1013655" y="16964"/>
                    <a:pt x="1027122" y="15887"/>
                    <a:pt x="1040296" y="13252"/>
                  </a:cubicBezTo>
                  <a:cubicBezTo>
                    <a:pt x="1061095" y="9092"/>
                    <a:pt x="1067734" y="6315"/>
                    <a:pt x="1086679" y="0"/>
                  </a:cubicBezTo>
                  <a:cubicBezTo>
                    <a:pt x="1139688" y="2209"/>
                    <a:pt x="1192776" y="2976"/>
                    <a:pt x="1245705" y="6626"/>
                  </a:cubicBezTo>
                  <a:cubicBezTo>
                    <a:pt x="1254473" y="7231"/>
                    <a:pt x="1287508" y="14275"/>
                    <a:pt x="1298714" y="19878"/>
                  </a:cubicBezTo>
                  <a:cubicBezTo>
                    <a:pt x="1310233" y="25638"/>
                    <a:pt x="1320075" y="34526"/>
                    <a:pt x="1331844" y="39757"/>
                  </a:cubicBezTo>
                  <a:cubicBezTo>
                    <a:pt x="1340166" y="43456"/>
                    <a:pt x="1349513" y="44174"/>
                    <a:pt x="1358348" y="46383"/>
                  </a:cubicBezTo>
                  <a:cubicBezTo>
                    <a:pt x="1371600" y="55218"/>
                    <a:pt x="1384182" y="65152"/>
                    <a:pt x="1398105" y="72887"/>
                  </a:cubicBezTo>
                  <a:cubicBezTo>
                    <a:pt x="1404211" y="76279"/>
                    <a:pt x="1411736" y="76389"/>
                    <a:pt x="1417983" y="79513"/>
                  </a:cubicBezTo>
                  <a:cubicBezTo>
                    <a:pt x="1434009" y="87526"/>
                    <a:pt x="1454584" y="106228"/>
                    <a:pt x="1464366" y="119270"/>
                  </a:cubicBezTo>
                  <a:cubicBezTo>
                    <a:pt x="1470992" y="128105"/>
                    <a:pt x="1478391" y="136409"/>
                    <a:pt x="1484244" y="145774"/>
                  </a:cubicBezTo>
                  <a:cubicBezTo>
                    <a:pt x="1489479" y="154150"/>
                    <a:pt x="1493605" y="163199"/>
                    <a:pt x="1497496" y="172278"/>
                  </a:cubicBezTo>
                  <a:cubicBezTo>
                    <a:pt x="1511638" y="205277"/>
                    <a:pt x="1520018" y="234882"/>
                    <a:pt x="1537253" y="265044"/>
                  </a:cubicBezTo>
                  <a:cubicBezTo>
                    <a:pt x="1591384" y="359773"/>
                    <a:pt x="1573197" y="324225"/>
                    <a:pt x="1656522" y="430696"/>
                  </a:cubicBezTo>
                  <a:cubicBezTo>
                    <a:pt x="1670134" y="448089"/>
                    <a:pt x="1682812" y="466197"/>
                    <a:pt x="1696279" y="483704"/>
                  </a:cubicBezTo>
                  <a:cubicBezTo>
                    <a:pt x="1704902" y="494914"/>
                    <a:pt x="1713948" y="505791"/>
                    <a:pt x="1722783" y="516835"/>
                  </a:cubicBezTo>
                  <a:lnTo>
                    <a:pt x="1749287" y="549965"/>
                  </a:lnTo>
                  <a:lnTo>
                    <a:pt x="1775792" y="583096"/>
                  </a:lnTo>
                  <a:cubicBezTo>
                    <a:pt x="1808566" y="665030"/>
                    <a:pt x="1764647" y="564521"/>
                    <a:pt x="1815548" y="649357"/>
                  </a:cubicBezTo>
                  <a:cubicBezTo>
                    <a:pt x="1850582" y="707748"/>
                    <a:pt x="1810167" y="663856"/>
                    <a:pt x="1842053" y="695739"/>
                  </a:cubicBezTo>
                  <a:cubicBezTo>
                    <a:pt x="1839844" y="728869"/>
                    <a:pt x="1839094" y="762129"/>
                    <a:pt x="1835427" y="795130"/>
                  </a:cubicBezTo>
                  <a:cubicBezTo>
                    <a:pt x="1834656" y="802072"/>
                    <a:pt x="1829862" y="808105"/>
                    <a:pt x="1828800" y="815009"/>
                  </a:cubicBezTo>
                  <a:cubicBezTo>
                    <a:pt x="1825425" y="836948"/>
                    <a:pt x="1824383" y="859183"/>
                    <a:pt x="1822174" y="881270"/>
                  </a:cubicBezTo>
                  <a:cubicBezTo>
                    <a:pt x="1819965" y="951948"/>
                    <a:pt x="1821763" y="1022865"/>
                    <a:pt x="1815548" y="1093304"/>
                  </a:cubicBezTo>
                  <a:cubicBezTo>
                    <a:pt x="1814999" y="1099527"/>
                    <a:pt x="1805510" y="1101200"/>
                    <a:pt x="1802296" y="1106557"/>
                  </a:cubicBezTo>
                  <a:cubicBezTo>
                    <a:pt x="1798703" y="1112546"/>
                    <a:pt x="1800609" y="1121496"/>
                    <a:pt x="1795670" y="1126435"/>
                  </a:cubicBezTo>
                  <a:cubicBezTo>
                    <a:pt x="1723325" y="1198779"/>
                    <a:pt x="1767962" y="1150227"/>
                    <a:pt x="1722783" y="1172817"/>
                  </a:cubicBezTo>
                  <a:cubicBezTo>
                    <a:pt x="1711264" y="1178577"/>
                    <a:pt x="1701611" y="1187913"/>
                    <a:pt x="1689653" y="1192696"/>
                  </a:cubicBezTo>
                  <a:cubicBezTo>
                    <a:pt x="1679196" y="1196879"/>
                    <a:pt x="1667603" y="1197307"/>
                    <a:pt x="1656522" y="1199322"/>
                  </a:cubicBezTo>
                  <a:cubicBezTo>
                    <a:pt x="1616969" y="1206513"/>
                    <a:pt x="1620457" y="1204392"/>
                    <a:pt x="1583635" y="1212574"/>
                  </a:cubicBezTo>
                  <a:cubicBezTo>
                    <a:pt x="1574745" y="1214549"/>
                    <a:pt x="1566234" y="1218932"/>
                    <a:pt x="1557131" y="1219200"/>
                  </a:cubicBezTo>
                  <a:cubicBezTo>
                    <a:pt x="1415818" y="1223356"/>
                    <a:pt x="1274418" y="1223617"/>
                    <a:pt x="1133061" y="1225826"/>
                  </a:cubicBezTo>
                  <a:lnTo>
                    <a:pt x="927653" y="1219200"/>
                  </a:lnTo>
                  <a:cubicBezTo>
                    <a:pt x="905482" y="1218119"/>
                    <a:pt x="883512" y="1214417"/>
                    <a:pt x="861392" y="1212574"/>
                  </a:cubicBezTo>
                  <a:cubicBezTo>
                    <a:pt x="778933" y="1205703"/>
                    <a:pt x="728793" y="1203852"/>
                    <a:pt x="642731" y="1199322"/>
                  </a:cubicBezTo>
                  <a:cubicBezTo>
                    <a:pt x="631687" y="1197113"/>
                    <a:pt x="620526" y="1195427"/>
                    <a:pt x="609600" y="1192696"/>
                  </a:cubicBezTo>
                  <a:cubicBezTo>
                    <a:pt x="602824" y="1191002"/>
                    <a:pt x="596438" y="1187989"/>
                    <a:pt x="589722" y="1186070"/>
                  </a:cubicBezTo>
                  <a:cubicBezTo>
                    <a:pt x="580966" y="1183568"/>
                    <a:pt x="572053" y="1181653"/>
                    <a:pt x="563218" y="1179444"/>
                  </a:cubicBezTo>
                  <a:cubicBezTo>
                    <a:pt x="556592" y="1175026"/>
                    <a:pt x="550463" y="1169753"/>
                    <a:pt x="543340" y="1166191"/>
                  </a:cubicBezTo>
                  <a:cubicBezTo>
                    <a:pt x="526634" y="1157838"/>
                    <a:pt x="507968" y="1157978"/>
                    <a:pt x="490331" y="1152939"/>
                  </a:cubicBezTo>
                  <a:cubicBezTo>
                    <a:pt x="453265" y="1142349"/>
                    <a:pt x="434381" y="1136581"/>
                    <a:pt x="404192" y="1119809"/>
                  </a:cubicBezTo>
                  <a:cubicBezTo>
                    <a:pt x="392934" y="1113554"/>
                    <a:pt x="382319" y="1106185"/>
                    <a:pt x="371061" y="1099930"/>
                  </a:cubicBezTo>
                  <a:cubicBezTo>
                    <a:pt x="362427" y="1095133"/>
                    <a:pt x="353928" y="1089801"/>
                    <a:pt x="344557" y="1086678"/>
                  </a:cubicBezTo>
                  <a:cubicBezTo>
                    <a:pt x="327278" y="1080918"/>
                    <a:pt x="291548" y="1073426"/>
                    <a:pt x="291548" y="1073426"/>
                  </a:cubicBezTo>
                  <a:cubicBezTo>
                    <a:pt x="196833" y="1018176"/>
                    <a:pt x="238572" y="1042207"/>
                    <a:pt x="165653" y="1000539"/>
                  </a:cubicBezTo>
                  <a:lnTo>
                    <a:pt x="119270" y="974035"/>
                  </a:lnTo>
                  <a:cubicBezTo>
                    <a:pt x="108146" y="967546"/>
                    <a:pt x="98097" y="958940"/>
                    <a:pt x="86140" y="954157"/>
                  </a:cubicBezTo>
                  <a:cubicBezTo>
                    <a:pt x="45615" y="937946"/>
                    <a:pt x="62906" y="947502"/>
                    <a:pt x="33131" y="927652"/>
                  </a:cubicBezTo>
                  <a:cubicBezTo>
                    <a:pt x="2753" y="882084"/>
                    <a:pt x="11664" y="903005"/>
                    <a:pt x="0" y="868017"/>
                  </a:cubicBezTo>
                  <a:cubicBezTo>
                    <a:pt x="1149" y="859976"/>
                    <a:pt x="4580" y="816213"/>
                    <a:pt x="13253" y="801757"/>
                  </a:cubicBezTo>
                  <a:cubicBezTo>
                    <a:pt x="16467" y="796400"/>
                    <a:pt x="22506" y="793303"/>
                    <a:pt x="26505" y="788504"/>
                  </a:cubicBezTo>
                  <a:cubicBezTo>
                    <a:pt x="33575" y="780020"/>
                    <a:pt x="39964" y="770986"/>
                    <a:pt x="46383" y="762000"/>
                  </a:cubicBezTo>
                  <a:cubicBezTo>
                    <a:pt x="51012" y="755520"/>
                    <a:pt x="54391" y="748115"/>
                    <a:pt x="59635" y="742122"/>
                  </a:cubicBezTo>
                  <a:cubicBezTo>
                    <a:pt x="69920" y="730368"/>
                    <a:pt x="81722" y="720035"/>
                    <a:pt x="92766" y="708991"/>
                  </a:cubicBezTo>
                  <a:cubicBezTo>
                    <a:pt x="99392" y="702365"/>
                    <a:pt x="107446" y="696910"/>
                    <a:pt x="112644" y="689113"/>
                  </a:cubicBezTo>
                  <a:cubicBezTo>
                    <a:pt x="117061" y="682487"/>
                    <a:pt x="121267" y="675715"/>
                    <a:pt x="125896" y="669235"/>
                  </a:cubicBezTo>
                  <a:cubicBezTo>
                    <a:pt x="132315" y="660248"/>
                    <a:pt x="138704" y="651214"/>
                    <a:pt x="145774" y="642730"/>
                  </a:cubicBezTo>
                  <a:cubicBezTo>
                    <a:pt x="158534" y="627418"/>
                    <a:pt x="185531" y="611217"/>
                    <a:pt x="185531" y="589722"/>
                  </a:cubicBezTo>
                  <a:lnTo>
                    <a:pt x="172279" y="569844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 smtClean="0">
                  <a:solidFill>
                    <a:schemeClr val="tx1"/>
                  </a:solidFill>
                </a:rPr>
                <a:t>Consumer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手繪多邊形 8"/>
            <p:cNvSpPr/>
            <p:nvPr/>
          </p:nvSpPr>
          <p:spPr>
            <a:xfrm>
              <a:off x="7020272" y="3427310"/>
              <a:ext cx="1842053" cy="1225826"/>
            </a:xfrm>
            <a:custGeom>
              <a:avLst/>
              <a:gdLst>
                <a:gd name="connsiteX0" fmla="*/ 172279 w 1842053"/>
                <a:gd name="connsiteY0" fmla="*/ 569844 h 1225826"/>
                <a:gd name="connsiteX1" fmla="*/ 172279 w 1842053"/>
                <a:gd name="connsiteY1" fmla="*/ 569844 h 1225826"/>
                <a:gd name="connsiteX2" fmla="*/ 212035 w 1842053"/>
                <a:gd name="connsiteY2" fmla="*/ 490330 h 1225826"/>
                <a:gd name="connsiteX3" fmla="*/ 231914 w 1842053"/>
                <a:gd name="connsiteY3" fmla="*/ 450574 h 1225826"/>
                <a:gd name="connsiteX4" fmla="*/ 245166 w 1842053"/>
                <a:gd name="connsiteY4" fmla="*/ 404191 h 1225826"/>
                <a:gd name="connsiteX5" fmla="*/ 258418 w 1842053"/>
                <a:gd name="connsiteY5" fmla="*/ 377687 h 1225826"/>
                <a:gd name="connsiteX6" fmla="*/ 271670 w 1842053"/>
                <a:gd name="connsiteY6" fmla="*/ 331304 h 1225826"/>
                <a:gd name="connsiteX7" fmla="*/ 331305 w 1842053"/>
                <a:gd name="connsiteY7" fmla="*/ 258417 h 1225826"/>
                <a:gd name="connsiteX8" fmla="*/ 357809 w 1842053"/>
                <a:gd name="connsiteY8" fmla="*/ 238539 h 1225826"/>
                <a:gd name="connsiteX9" fmla="*/ 377687 w 1842053"/>
                <a:gd name="connsiteY9" fmla="*/ 231913 h 1225826"/>
                <a:gd name="connsiteX10" fmla="*/ 404192 w 1842053"/>
                <a:gd name="connsiteY10" fmla="*/ 218661 h 1225826"/>
                <a:gd name="connsiteX11" fmla="*/ 457200 w 1842053"/>
                <a:gd name="connsiteY11" fmla="*/ 178904 h 1225826"/>
                <a:gd name="connsiteX12" fmla="*/ 490331 w 1842053"/>
                <a:gd name="connsiteY12" fmla="*/ 172278 h 1225826"/>
                <a:gd name="connsiteX13" fmla="*/ 543340 w 1842053"/>
                <a:gd name="connsiteY13" fmla="*/ 159026 h 1225826"/>
                <a:gd name="connsiteX14" fmla="*/ 563218 w 1842053"/>
                <a:gd name="connsiteY14" fmla="*/ 152400 h 1225826"/>
                <a:gd name="connsiteX15" fmla="*/ 602974 w 1842053"/>
                <a:gd name="connsiteY15" fmla="*/ 125896 h 1225826"/>
                <a:gd name="connsiteX16" fmla="*/ 669235 w 1842053"/>
                <a:gd name="connsiteY16" fmla="*/ 112644 h 1225826"/>
                <a:gd name="connsiteX17" fmla="*/ 795131 w 1842053"/>
                <a:gd name="connsiteY17" fmla="*/ 99391 h 1225826"/>
                <a:gd name="connsiteX18" fmla="*/ 834887 w 1842053"/>
                <a:gd name="connsiteY18" fmla="*/ 86139 h 1225826"/>
                <a:gd name="connsiteX19" fmla="*/ 881270 w 1842053"/>
                <a:gd name="connsiteY19" fmla="*/ 72887 h 1225826"/>
                <a:gd name="connsiteX20" fmla="*/ 934279 w 1842053"/>
                <a:gd name="connsiteY20" fmla="*/ 39757 h 1225826"/>
                <a:gd name="connsiteX21" fmla="*/ 980661 w 1842053"/>
                <a:gd name="connsiteY21" fmla="*/ 26504 h 1225826"/>
                <a:gd name="connsiteX22" fmla="*/ 1000540 w 1842053"/>
                <a:gd name="connsiteY22" fmla="*/ 19878 h 1225826"/>
                <a:gd name="connsiteX23" fmla="*/ 1040296 w 1842053"/>
                <a:gd name="connsiteY23" fmla="*/ 13252 h 1225826"/>
                <a:gd name="connsiteX24" fmla="*/ 1086679 w 1842053"/>
                <a:gd name="connsiteY24" fmla="*/ 0 h 1225826"/>
                <a:gd name="connsiteX25" fmla="*/ 1245705 w 1842053"/>
                <a:gd name="connsiteY25" fmla="*/ 6626 h 1225826"/>
                <a:gd name="connsiteX26" fmla="*/ 1298714 w 1842053"/>
                <a:gd name="connsiteY26" fmla="*/ 19878 h 1225826"/>
                <a:gd name="connsiteX27" fmla="*/ 1331844 w 1842053"/>
                <a:gd name="connsiteY27" fmla="*/ 39757 h 1225826"/>
                <a:gd name="connsiteX28" fmla="*/ 1358348 w 1842053"/>
                <a:gd name="connsiteY28" fmla="*/ 46383 h 1225826"/>
                <a:gd name="connsiteX29" fmla="*/ 1398105 w 1842053"/>
                <a:gd name="connsiteY29" fmla="*/ 72887 h 1225826"/>
                <a:gd name="connsiteX30" fmla="*/ 1417983 w 1842053"/>
                <a:gd name="connsiteY30" fmla="*/ 79513 h 1225826"/>
                <a:gd name="connsiteX31" fmla="*/ 1464366 w 1842053"/>
                <a:gd name="connsiteY31" fmla="*/ 119270 h 1225826"/>
                <a:gd name="connsiteX32" fmla="*/ 1484244 w 1842053"/>
                <a:gd name="connsiteY32" fmla="*/ 145774 h 1225826"/>
                <a:gd name="connsiteX33" fmla="*/ 1497496 w 1842053"/>
                <a:gd name="connsiteY33" fmla="*/ 172278 h 1225826"/>
                <a:gd name="connsiteX34" fmla="*/ 1537253 w 1842053"/>
                <a:gd name="connsiteY34" fmla="*/ 265044 h 1225826"/>
                <a:gd name="connsiteX35" fmla="*/ 1656522 w 1842053"/>
                <a:gd name="connsiteY35" fmla="*/ 430696 h 1225826"/>
                <a:gd name="connsiteX36" fmla="*/ 1696279 w 1842053"/>
                <a:gd name="connsiteY36" fmla="*/ 483704 h 1225826"/>
                <a:gd name="connsiteX37" fmla="*/ 1722783 w 1842053"/>
                <a:gd name="connsiteY37" fmla="*/ 516835 h 1225826"/>
                <a:gd name="connsiteX38" fmla="*/ 1749287 w 1842053"/>
                <a:gd name="connsiteY38" fmla="*/ 549965 h 1225826"/>
                <a:gd name="connsiteX39" fmla="*/ 1775792 w 1842053"/>
                <a:gd name="connsiteY39" fmla="*/ 583096 h 1225826"/>
                <a:gd name="connsiteX40" fmla="*/ 1815548 w 1842053"/>
                <a:gd name="connsiteY40" fmla="*/ 649357 h 1225826"/>
                <a:gd name="connsiteX41" fmla="*/ 1842053 w 1842053"/>
                <a:gd name="connsiteY41" fmla="*/ 695739 h 1225826"/>
                <a:gd name="connsiteX42" fmla="*/ 1835427 w 1842053"/>
                <a:gd name="connsiteY42" fmla="*/ 795130 h 1225826"/>
                <a:gd name="connsiteX43" fmla="*/ 1828800 w 1842053"/>
                <a:gd name="connsiteY43" fmla="*/ 815009 h 1225826"/>
                <a:gd name="connsiteX44" fmla="*/ 1822174 w 1842053"/>
                <a:gd name="connsiteY44" fmla="*/ 881270 h 1225826"/>
                <a:gd name="connsiteX45" fmla="*/ 1815548 w 1842053"/>
                <a:gd name="connsiteY45" fmla="*/ 1093304 h 1225826"/>
                <a:gd name="connsiteX46" fmla="*/ 1802296 w 1842053"/>
                <a:gd name="connsiteY46" fmla="*/ 1106557 h 1225826"/>
                <a:gd name="connsiteX47" fmla="*/ 1795670 w 1842053"/>
                <a:gd name="connsiteY47" fmla="*/ 1126435 h 1225826"/>
                <a:gd name="connsiteX48" fmla="*/ 1722783 w 1842053"/>
                <a:gd name="connsiteY48" fmla="*/ 1172817 h 1225826"/>
                <a:gd name="connsiteX49" fmla="*/ 1689653 w 1842053"/>
                <a:gd name="connsiteY49" fmla="*/ 1192696 h 1225826"/>
                <a:gd name="connsiteX50" fmla="*/ 1656522 w 1842053"/>
                <a:gd name="connsiteY50" fmla="*/ 1199322 h 1225826"/>
                <a:gd name="connsiteX51" fmla="*/ 1583635 w 1842053"/>
                <a:gd name="connsiteY51" fmla="*/ 1212574 h 1225826"/>
                <a:gd name="connsiteX52" fmla="*/ 1557131 w 1842053"/>
                <a:gd name="connsiteY52" fmla="*/ 1219200 h 1225826"/>
                <a:gd name="connsiteX53" fmla="*/ 1133061 w 1842053"/>
                <a:gd name="connsiteY53" fmla="*/ 1225826 h 1225826"/>
                <a:gd name="connsiteX54" fmla="*/ 927653 w 1842053"/>
                <a:gd name="connsiteY54" fmla="*/ 1219200 h 1225826"/>
                <a:gd name="connsiteX55" fmla="*/ 861392 w 1842053"/>
                <a:gd name="connsiteY55" fmla="*/ 1212574 h 1225826"/>
                <a:gd name="connsiteX56" fmla="*/ 642731 w 1842053"/>
                <a:gd name="connsiteY56" fmla="*/ 1199322 h 1225826"/>
                <a:gd name="connsiteX57" fmla="*/ 609600 w 1842053"/>
                <a:gd name="connsiteY57" fmla="*/ 1192696 h 1225826"/>
                <a:gd name="connsiteX58" fmla="*/ 589722 w 1842053"/>
                <a:gd name="connsiteY58" fmla="*/ 1186070 h 1225826"/>
                <a:gd name="connsiteX59" fmla="*/ 563218 w 1842053"/>
                <a:gd name="connsiteY59" fmla="*/ 1179444 h 1225826"/>
                <a:gd name="connsiteX60" fmla="*/ 543340 w 1842053"/>
                <a:gd name="connsiteY60" fmla="*/ 1166191 h 1225826"/>
                <a:gd name="connsiteX61" fmla="*/ 490331 w 1842053"/>
                <a:gd name="connsiteY61" fmla="*/ 1152939 h 1225826"/>
                <a:gd name="connsiteX62" fmla="*/ 404192 w 1842053"/>
                <a:gd name="connsiteY62" fmla="*/ 1119809 h 1225826"/>
                <a:gd name="connsiteX63" fmla="*/ 371061 w 1842053"/>
                <a:gd name="connsiteY63" fmla="*/ 1099930 h 1225826"/>
                <a:gd name="connsiteX64" fmla="*/ 344557 w 1842053"/>
                <a:gd name="connsiteY64" fmla="*/ 1086678 h 1225826"/>
                <a:gd name="connsiteX65" fmla="*/ 291548 w 1842053"/>
                <a:gd name="connsiteY65" fmla="*/ 1073426 h 1225826"/>
                <a:gd name="connsiteX66" fmla="*/ 165653 w 1842053"/>
                <a:gd name="connsiteY66" fmla="*/ 1000539 h 1225826"/>
                <a:gd name="connsiteX67" fmla="*/ 119270 w 1842053"/>
                <a:gd name="connsiteY67" fmla="*/ 974035 h 1225826"/>
                <a:gd name="connsiteX68" fmla="*/ 86140 w 1842053"/>
                <a:gd name="connsiteY68" fmla="*/ 954157 h 1225826"/>
                <a:gd name="connsiteX69" fmla="*/ 33131 w 1842053"/>
                <a:gd name="connsiteY69" fmla="*/ 927652 h 1225826"/>
                <a:gd name="connsiteX70" fmla="*/ 0 w 1842053"/>
                <a:gd name="connsiteY70" fmla="*/ 868017 h 1225826"/>
                <a:gd name="connsiteX71" fmla="*/ 13253 w 1842053"/>
                <a:gd name="connsiteY71" fmla="*/ 801757 h 1225826"/>
                <a:gd name="connsiteX72" fmla="*/ 26505 w 1842053"/>
                <a:gd name="connsiteY72" fmla="*/ 788504 h 1225826"/>
                <a:gd name="connsiteX73" fmla="*/ 46383 w 1842053"/>
                <a:gd name="connsiteY73" fmla="*/ 762000 h 1225826"/>
                <a:gd name="connsiteX74" fmla="*/ 59635 w 1842053"/>
                <a:gd name="connsiteY74" fmla="*/ 742122 h 1225826"/>
                <a:gd name="connsiteX75" fmla="*/ 92766 w 1842053"/>
                <a:gd name="connsiteY75" fmla="*/ 708991 h 1225826"/>
                <a:gd name="connsiteX76" fmla="*/ 112644 w 1842053"/>
                <a:gd name="connsiteY76" fmla="*/ 689113 h 1225826"/>
                <a:gd name="connsiteX77" fmla="*/ 125896 w 1842053"/>
                <a:gd name="connsiteY77" fmla="*/ 669235 h 1225826"/>
                <a:gd name="connsiteX78" fmla="*/ 145774 w 1842053"/>
                <a:gd name="connsiteY78" fmla="*/ 642730 h 1225826"/>
                <a:gd name="connsiteX79" fmla="*/ 185531 w 1842053"/>
                <a:gd name="connsiteY79" fmla="*/ 589722 h 1225826"/>
                <a:gd name="connsiteX80" fmla="*/ 172279 w 1842053"/>
                <a:gd name="connsiteY80" fmla="*/ 569844 h 122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842053" h="1225826">
                  <a:moveTo>
                    <a:pt x="172279" y="569844"/>
                  </a:moveTo>
                  <a:lnTo>
                    <a:pt x="172279" y="569844"/>
                  </a:lnTo>
                  <a:cubicBezTo>
                    <a:pt x="185531" y="543339"/>
                    <a:pt x="202664" y="518442"/>
                    <a:pt x="212035" y="490330"/>
                  </a:cubicBezTo>
                  <a:cubicBezTo>
                    <a:pt x="221179" y="462897"/>
                    <a:pt x="214787" y="476263"/>
                    <a:pt x="231914" y="450574"/>
                  </a:cubicBezTo>
                  <a:cubicBezTo>
                    <a:pt x="235276" y="437127"/>
                    <a:pt x="239463" y="417498"/>
                    <a:pt x="245166" y="404191"/>
                  </a:cubicBezTo>
                  <a:cubicBezTo>
                    <a:pt x="249057" y="395112"/>
                    <a:pt x="254950" y="386936"/>
                    <a:pt x="258418" y="377687"/>
                  </a:cubicBezTo>
                  <a:cubicBezTo>
                    <a:pt x="262376" y="367131"/>
                    <a:pt x="265510" y="342393"/>
                    <a:pt x="271670" y="331304"/>
                  </a:cubicBezTo>
                  <a:cubicBezTo>
                    <a:pt x="286010" y="305491"/>
                    <a:pt x="307335" y="276394"/>
                    <a:pt x="331305" y="258417"/>
                  </a:cubicBezTo>
                  <a:cubicBezTo>
                    <a:pt x="340140" y="251791"/>
                    <a:pt x="348221" y="244018"/>
                    <a:pt x="357809" y="238539"/>
                  </a:cubicBezTo>
                  <a:cubicBezTo>
                    <a:pt x="363873" y="235074"/>
                    <a:pt x="371267" y="234664"/>
                    <a:pt x="377687" y="231913"/>
                  </a:cubicBezTo>
                  <a:cubicBezTo>
                    <a:pt x="386766" y="228022"/>
                    <a:pt x="395357" y="223078"/>
                    <a:pt x="404192" y="218661"/>
                  </a:cubicBezTo>
                  <a:cubicBezTo>
                    <a:pt x="423192" y="199661"/>
                    <a:pt x="429758" y="189881"/>
                    <a:pt x="457200" y="178904"/>
                  </a:cubicBezTo>
                  <a:cubicBezTo>
                    <a:pt x="467657" y="174721"/>
                    <a:pt x="479357" y="174810"/>
                    <a:pt x="490331" y="172278"/>
                  </a:cubicBezTo>
                  <a:cubicBezTo>
                    <a:pt x="508078" y="168183"/>
                    <a:pt x="526061" y="164786"/>
                    <a:pt x="543340" y="159026"/>
                  </a:cubicBezTo>
                  <a:cubicBezTo>
                    <a:pt x="549966" y="156817"/>
                    <a:pt x="557113" y="155792"/>
                    <a:pt x="563218" y="152400"/>
                  </a:cubicBezTo>
                  <a:cubicBezTo>
                    <a:pt x="577141" y="144665"/>
                    <a:pt x="587356" y="129019"/>
                    <a:pt x="602974" y="125896"/>
                  </a:cubicBezTo>
                  <a:cubicBezTo>
                    <a:pt x="625061" y="121479"/>
                    <a:pt x="646803" y="114684"/>
                    <a:pt x="669235" y="112644"/>
                  </a:cubicBezTo>
                  <a:cubicBezTo>
                    <a:pt x="759856" y="104405"/>
                    <a:pt x="717914" y="109043"/>
                    <a:pt x="795131" y="99391"/>
                  </a:cubicBezTo>
                  <a:cubicBezTo>
                    <a:pt x="808383" y="94974"/>
                    <a:pt x="821456" y="89976"/>
                    <a:pt x="834887" y="86139"/>
                  </a:cubicBezTo>
                  <a:cubicBezTo>
                    <a:pt x="850348" y="81722"/>
                    <a:pt x="866158" y="78382"/>
                    <a:pt x="881270" y="72887"/>
                  </a:cubicBezTo>
                  <a:cubicBezTo>
                    <a:pt x="920216" y="58725"/>
                    <a:pt x="897005" y="61057"/>
                    <a:pt x="934279" y="39757"/>
                  </a:cubicBezTo>
                  <a:cubicBezTo>
                    <a:pt x="942227" y="35215"/>
                    <a:pt x="974199" y="28350"/>
                    <a:pt x="980661" y="26504"/>
                  </a:cubicBezTo>
                  <a:cubicBezTo>
                    <a:pt x="987377" y="24585"/>
                    <a:pt x="993722" y="21393"/>
                    <a:pt x="1000540" y="19878"/>
                  </a:cubicBezTo>
                  <a:cubicBezTo>
                    <a:pt x="1013655" y="16964"/>
                    <a:pt x="1027122" y="15887"/>
                    <a:pt x="1040296" y="13252"/>
                  </a:cubicBezTo>
                  <a:cubicBezTo>
                    <a:pt x="1061095" y="9092"/>
                    <a:pt x="1067734" y="6315"/>
                    <a:pt x="1086679" y="0"/>
                  </a:cubicBezTo>
                  <a:cubicBezTo>
                    <a:pt x="1139688" y="2209"/>
                    <a:pt x="1192776" y="2976"/>
                    <a:pt x="1245705" y="6626"/>
                  </a:cubicBezTo>
                  <a:cubicBezTo>
                    <a:pt x="1254473" y="7231"/>
                    <a:pt x="1287508" y="14275"/>
                    <a:pt x="1298714" y="19878"/>
                  </a:cubicBezTo>
                  <a:cubicBezTo>
                    <a:pt x="1310233" y="25638"/>
                    <a:pt x="1320075" y="34526"/>
                    <a:pt x="1331844" y="39757"/>
                  </a:cubicBezTo>
                  <a:cubicBezTo>
                    <a:pt x="1340166" y="43456"/>
                    <a:pt x="1349513" y="44174"/>
                    <a:pt x="1358348" y="46383"/>
                  </a:cubicBezTo>
                  <a:cubicBezTo>
                    <a:pt x="1371600" y="55218"/>
                    <a:pt x="1384182" y="65152"/>
                    <a:pt x="1398105" y="72887"/>
                  </a:cubicBezTo>
                  <a:cubicBezTo>
                    <a:pt x="1404211" y="76279"/>
                    <a:pt x="1411736" y="76389"/>
                    <a:pt x="1417983" y="79513"/>
                  </a:cubicBezTo>
                  <a:cubicBezTo>
                    <a:pt x="1434009" y="87526"/>
                    <a:pt x="1454584" y="106228"/>
                    <a:pt x="1464366" y="119270"/>
                  </a:cubicBezTo>
                  <a:cubicBezTo>
                    <a:pt x="1470992" y="128105"/>
                    <a:pt x="1478391" y="136409"/>
                    <a:pt x="1484244" y="145774"/>
                  </a:cubicBezTo>
                  <a:cubicBezTo>
                    <a:pt x="1489479" y="154150"/>
                    <a:pt x="1493605" y="163199"/>
                    <a:pt x="1497496" y="172278"/>
                  </a:cubicBezTo>
                  <a:cubicBezTo>
                    <a:pt x="1511638" y="205277"/>
                    <a:pt x="1520018" y="234882"/>
                    <a:pt x="1537253" y="265044"/>
                  </a:cubicBezTo>
                  <a:cubicBezTo>
                    <a:pt x="1591384" y="359773"/>
                    <a:pt x="1573197" y="324225"/>
                    <a:pt x="1656522" y="430696"/>
                  </a:cubicBezTo>
                  <a:cubicBezTo>
                    <a:pt x="1670134" y="448089"/>
                    <a:pt x="1682812" y="466197"/>
                    <a:pt x="1696279" y="483704"/>
                  </a:cubicBezTo>
                  <a:cubicBezTo>
                    <a:pt x="1704902" y="494914"/>
                    <a:pt x="1713948" y="505791"/>
                    <a:pt x="1722783" y="516835"/>
                  </a:cubicBezTo>
                  <a:lnTo>
                    <a:pt x="1749287" y="549965"/>
                  </a:lnTo>
                  <a:lnTo>
                    <a:pt x="1775792" y="583096"/>
                  </a:lnTo>
                  <a:cubicBezTo>
                    <a:pt x="1808566" y="665030"/>
                    <a:pt x="1764647" y="564521"/>
                    <a:pt x="1815548" y="649357"/>
                  </a:cubicBezTo>
                  <a:cubicBezTo>
                    <a:pt x="1850582" y="707748"/>
                    <a:pt x="1810167" y="663856"/>
                    <a:pt x="1842053" y="695739"/>
                  </a:cubicBezTo>
                  <a:cubicBezTo>
                    <a:pt x="1839844" y="728869"/>
                    <a:pt x="1839094" y="762129"/>
                    <a:pt x="1835427" y="795130"/>
                  </a:cubicBezTo>
                  <a:cubicBezTo>
                    <a:pt x="1834656" y="802072"/>
                    <a:pt x="1829862" y="808105"/>
                    <a:pt x="1828800" y="815009"/>
                  </a:cubicBezTo>
                  <a:cubicBezTo>
                    <a:pt x="1825425" y="836948"/>
                    <a:pt x="1824383" y="859183"/>
                    <a:pt x="1822174" y="881270"/>
                  </a:cubicBezTo>
                  <a:cubicBezTo>
                    <a:pt x="1819965" y="951948"/>
                    <a:pt x="1821763" y="1022865"/>
                    <a:pt x="1815548" y="1093304"/>
                  </a:cubicBezTo>
                  <a:cubicBezTo>
                    <a:pt x="1814999" y="1099527"/>
                    <a:pt x="1805510" y="1101200"/>
                    <a:pt x="1802296" y="1106557"/>
                  </a:cubicBezTo>
                  <a:cubicBezTo>
                    <a:pt x="1798703" y="1112546"/>
                    <a:pt x="1800609" y="1121496"/>
                    <a:pt x="1795670" y="1126435"/>
                  </a:cubicBezTo>
                  <a:cubicBezTo>
                    <a:pt x="1723325" y="1198779"/>
                    <a:pt x="1767962" y="1150227"/>
                    <a:pt x="1722783" y="1172817"/>
                  </a:cubicBezTo>
                  <a:cubicBezTo>
                    <a:pt x="1711264" y="1178577"/>
                    <a:pt x="1701611" y="1187913"/>
                    <a:pt x="1689653" y="1192696"/>
                  </a:cubicBezTo>
                  <a:cubicBezTo>
                    <a:pt x="1679196" y="1196879"/>
                    <a:pt x="1667603" y="1197307"/>
                    <a:pt x="1656522" y="1199322"/>
                  </a:cubicBezTo>
                  <a:cubicBezTo>
                    <a:pt x="1616969" y="1206513"/>
                    <a:pt x="1620457" y="1204392"/>
                    <a:pt x="1583635" y="1212574"/>
                  </a:cubicBezTo>
                  <a:cubicBezTo>
                    <a:pt x="1574745" y="1214549"/>
                    <a:pt x="1566234" y="1218932"/>
                    <a:pt x="1557131" y="1219200"/>
                  </a:cubicBezTo>
                  <a:cubicBezTo>
                    <a:pt x="1415818" y="1223356"/>
                    <a:pt x="1274418" y="1223617"/>
                    <a:pt x="1133061" y="1225826"/>
                  </a:cubicBezTo>
                  <a:lnTo>
                    <a:pt x="927653" y="1219200"/>
                  </a:lnTo>
                  <a:cubicBezTo>
                    <a:pt x="905482" y="1218119"/>
                    <a:pt x="883512" y="1214417"/>
                    <a:pt x="861392" y="1212574"/>
                  </a:cubicBezTo>
                  <a:cubicBezTo>
                    <a:pt x="778933" y="1205703"/>
                    <a:pt x="728793" y="1203852"/>
                    <a:pt x="642731" y="1199322"/>
                  </a:cubicBezTo>
                  <a:cubicBezTo>
                    <a:pt x="631687" y="1197113"/>
                    <a:pt x="620526" y="1195427"/>
                    <a:pt x="609600" y="1192696"/>
                  </a:cubicBezTo>
                  <a:cubicBezTo>
                    <a:pt x="602824" y="1191002"/>
                    <a:pt x="596438" y="1187989"/>
                    <a:pt x="589722" y="1186070"/>
                  </a:cubicBezTo>
                  <a:cubicBezTo>
                    <a:pt x="580966" y="1183568"/>
                    <a:pt x="572053" y="1181653"/>
                    <a:pt x="563218" y="1179444"/>
                  </a:cubicBezTo>
                  <a:cubicBezTo>
                    <a:pt x="556592" y="1175026"/>
                    <a:pt x="550463" y="1169753"/>
                    <a:pt x="543340" y="1166191"/>
                  </a:cubicBezTo>
                  <a:cubicBezTo>
                    <a:pt x="526634" y="1157838"/>
                    <a:pt x="507968" y="1157978"/>
                    <a:pt x="490331" y="1152939"/>
                  </a:cubicBezTo>
                  <a:cubicBezTo>
                    <a:pt x="453265" y="1142349"/>
                    <a:pt x="434381" y="1136581"/>
                    <a:pt x="404192" y="1119809"/>
                  </a:cubicBezTo>
                  <a:cubicBezTo>
                    <a:pt x="392934" y="1113554"/>
                    <a:pt x="382319" y="1106185"/>
                    <a:pt x="371061" y="1099930"/>
                  </a:cubicBezTo>
                  <a:cubicBezTo>
                    <a:pt x="362427" y="1095133"/>
                    <a:pt x="353928" y="1089801"/>
                    <a:pt x="344557" y="1086678"/>
                  </a:cubicBezTo>
                  <a:cubicBezTo>
                    <a:pt x="327278" y="1080918"/>
                    <a:pt x="291548" y="1073426"/>
                    <a:pt x="291548" y="1073426"/>
                  </a:cubicBezTo>
                  <a:cubicBezTo>
                    <a:pt x="196833" y="1018176"/>
                    <a:pt x="238572" y="1042207"/>
                    <a:pt x="165653" y="1000539"/>
                  </a:cubicBezTo>
                  <a:lnTo>
                    <a:pt x="119270" y="974035"/>
                  </a:lnTo>
                  <a:cubicBezTo>
                    <a:pt x="108146" y="967546"/>
                    <a:pt x="98097" y="958940"/>
                    <a:pt x="86140" y="954157"/>
                  </a:cubicBezTo>
                  <a:cubicBezTo>
                    <a:pt x="45615" y="937946"/>
                    <a:pt x="62906" y="947502"/>
                    <a:pt x="33131" y="927652"/>
                  </a:cubicBezTo>
                  <a:cubicBezTo>
                    <a:pt x="2753" y="882084"/>
                    <a:pt x="11664" y="903005"/>
                    <a:pt x="0" y="868017"/>
                  </a:cubicBezTo>
                  <a:cubicBezTo>
                    <a:pt x="1149" y="859976"/>
                    <a:pt x="4580" y="816213"/>
                    <a:pt x="13253" y="801757"/>
                  </a:cubicBezTo>
                  <a:cubicBezTo>
                    <a:pt x="16467" y="796400"/>
                    <a:pt x="22506" y="793303"/>
                    <a:pt x="26505" y="788504"/>
                  </a:cubicBezTo>
                  <a:cubicBezTo>
                    <a:pt x="33575" y="780020"/>
                    <a:pt x="39964" y="770986"/>
                    <a:pt x="46383" y="762000"/>
                  </a:cubicBezTo>
                  <a:cubicBezTo>
                    <a:pt x="51012" y="755520"/>
                    <a:pt x="54391" y="748115"/>
                    <a:pt x="59635" y="742122"/>
                  </a:cubicBezTo>
                  <a:cubicBezTo>
                    <a:pt x="69920" y="730368"/>
                    <a:pt x="81722" y="720035"/>
                    <a:pt x="92766" y="708991"/>
                  </a:cubicBezTo>
                  <a:cubicBezTo>
                    <a:pt x="99392" y="702365"/>
                    <a:pt x="107446" y="696910"/>
                    <a:pt x="112644" y="689113"/>
                  </a:cubicBezTo>
                  <a:cubicBezTo>
                    <a:pt x="117061" y="682487"/>
                    <a:pt x="121267" y="675715"/>
                    <a:pt x="125896" y="669235"/>
                  </a:cubicBezTo>
                  <a:cubicBezTo>
                    <a:pt x="132315" y="660248"/>
                    <a:pt x="138704" y="651214"/>
                    <a:pt x="145774" y="642730"/>
                  </a:cubicBezTo>
                  <a:cubicBezTo>
                    <a:pt x="158534" y="627418"/>
                    <a:pt x="185531" y="611217"/>
                    <a:pt x="185531" y="589722"/>
                  </a:cubicBezTo>
                  <a:lnTo>
                    <a:pt x="172279" y="569844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 smtClean="0">
                  <a:solidFill>
                    <a:schemeClr val="tx1"/>
                  </a:solidFill>
                </a:rPr>
                <a:t>Consumer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手繪多邊形 9"/>
            <p:cNvSpPr/>
            <p:nvPr/>
          </p:nvSpPr>
          <p:spPr>
            <a:xfrm>
              <a:off x="1475656" y="1853208"/>
              <a:ext cx="1842053" cy="1225826"/>
            </a:xfrm>
            <a:custGeom>
              <a:avLst/>
              <a:gdLst>
                <a:gd name="connsiteX0" fmla="*/ 172279 w 1842053"/>
                <a:gd name="connsiteY0" fmla="*/ 569844 h 1225826"/>
                <a:gd name="connsiteX1" fmla="*/ 172279 w 1842053"/>
                <a:gd name="connsiteY1" fmla="*/ 569844 h 1225826"/>
                <a:gd name="connsiteX2" fmla="*/ 212035 w 1842053"/>
                <a:gd name="connsiteY2" fmla="*/ 490330 h 1225826"/>
                <a:gd name="connsiteX3" fmla="*/ 231914 w 1842053"/>
                <a:gd name="connsiteY3" fmla="*/ 450574 h 1225826"/>
                <a:gd name="connsiteX4" fmla="*/ 245166 w 1842053"/>
                <a:gd name="connsiteY4" fmla="*/ 404191 h 1225826"/>
                <a:gd name="connsiteX5" fmla="*/ 258418 w 1842053"/>
                <a:gd name="connsiteY5" fmla="*/ 377687 h 1225826"/>
                <a:gd name="connsiteX6" fmla="*/ 271670 w 1842053"/>
                <a:gd name="connsiteY6" fmla="*/ 331304 h 1225826"/>
                <a:gd name="connsiteX7" fmla="*/ 331305 w 1842053"/>
                <a:gd name="connsiteY7" fmla="*/ 258417 h 1225826"/>
                <a:gd name="connsiteX8" fmla="*/ 357809 w 1842053"/>
                <a:gd name="connsiteY8" fmla="*/ 238539 h 1225826"/>
                <a:gd name="connsiteX9" fmla="*/ 377687 w 1842053"/>
                <a:gd name="connsiteY9" fmla="*/ 231913 h 1225826"/>
                <a:gd name="connsiteX10" fmla="*/ 404192 w 1842053"/>
                <a:gd name="connsiteY10" fmla="*/ 218661 h 1225826"/>
                <a:gd name="connsiteX11" fmla="*/ 457200 w 1842053"/>
                <a:gd name="connsiteY11" fmla="*/ 178904 h 1225826"/>
                <a:gd name="connsiteX12" fmla="*/ 490331 w 1842053"/>
                <a:gd name="connsiteY12" fmla="*/ 172278 h 1225826"/>
                <a:gd name="connsiteX13" fmla="*/ 543340 w 1842053"/>
                <a:gd name="connsiteY13" fmla="*/ 159026 h 1225826"/>
                <a:gd name="connsiteX14" fmla="*/ 563218 w 1842053"/>
                <a:gd name="connsiteY14" fmla="*/ 152400 h 1225826"/>
                <a:gd name="connsiteX15" fmla="*/ 602974 w 1842053"/>
                <a:gd name="connsiteY15" fmla="*/ 125896 h 1225826"/>
                <a:gd name="connsiteX16" fmla="*/ 669235 w 1842053"/>
                <a:gd name="connsiteY16" fmla="*/ 112644 h 1225826"/>
                <a:gd name="connsiteX17" fmla="*/ 795131 w 1842053"/>
                <a:gd name="connsiteY17" fmla="*/ 99391 h 1225826"/>
                <a:gd name="connsiteX18" fmla="*/ 834887 w 1842053"/>
                <a:gd name="connsiteY18" fmla="*/ 86139 h 1225826"/>
                <a:gd name="connsiteX19" fmla="*/ 881270 w 1842053"/>
                <a:gd name="connsiteY19" fmla="*/ 72887 h 1225826"/>
                <a:gd name="connsiteX20" fmla="*/ 934279 w 1842053"/>
                <a:gd name="connsiteY20" fmla="*/ 39757 h 1225826"/>
                <a:gd name="connsiteX21" fmla="*/ 980661 w 1842053"/>
                <a:gd name="connsiteY21" fmla="*/ 26504 h 1225826"/>
                <a:gd name="connsiteX22" fmla="*/ 1000540 w 1842053"/>
                <a:gd name="connsiteY22" fmla="*/ 19878 h 1225826"/>
                <a:gd name="connsiteX23" fmla="*/ 1040296 w 1842053"/>
                <a:gd name="connsiteY23" fmla="*/ 13252 h 1225826"/>
                <a:gd name="connsiteX24" fmla="*/ 1086679 w 1842053"/>
                <a:gd name="connsiteY24" fmla="*/ 0 h 1225826"/>
                <a:gd name="connsiteX25" fmla="*/ 1245705 w 1842053"/>
                <a:gd name="connsiteY25" fmla="*/ 6626 h 1225826"/>
                <a:gd name="connsiteX26" fmla="*/ 1298714 w 1842053"/>
                <a:gd name="connsiteY26" fmla="*/ 19878 h 1225826"/>
                <a:gd name="connsiteX27" fmla="*/ 1331844 w 1842053"/>
                <a:gd name="connsiteY27" fmla="*/ 39757 h 1225826"/>
                <a:gd name="connsiteX28" fmla="*/ 1358348 w 1842053"/>
                <a:gd name="connsiteY28" fmla="*/ 46383 h 1225826"/>
                <a:gd name="connsiteX29" fmla="*/ 1398105 w 1842053"/>
                <a:gd name="connsiteY29" fmla="*/ 72887 h 1225826"/>
                <a:gd name="connsiteX30" fmla="*/ 1417983 w 1842053"/>
                <a:gd name="connsiteY30" fmla="*/ 79513 h 1225826"/>
                <a:gd name="connsiteX31" fmla="*/ 1464366 w 1842053"/>
                <a:gd name="connsiteY31" fmla="*/ 119270 h 1225826"/>
                <a:gd name="connsiteX32" fmla="*/ 1484244 w 1842053"/>
                <a:gd name="connsiteY32" fmla="*/ 145774 h 1225826"/>
                <a:gd name="connsiteX33" fmla="*/ 1497496 w 1842053"/>
                <a:gd name="connsiteY33" fmla="*/ 172278 h 1225826"/>
                <a:gd name="connsiteX34" fmla="*/ 1537253 w 1842053"/>
                <a:gd name="connsiteY34" fmla="*/ 265044 h 1225826"/>
                <a:gd name="connsiteX35" fmla="*/ 1656522 w 1842053"/>
                <a:gd name="connsiteY35" fmla="*/ 430696 h 1225826"/>
                <a:gd name="connsiteX36" fmla="*/ 1696279 w 1842053"/>
                <a:gd name="connsiteY36" fmla="*/ 483704 h 1225826"/>
                <a:gd name="connsiteX37" fmla="*/ 1722783 w 1842053"/>
                <a:gd name="connsiteY37" fmla="*/ 516835 h 1225826"/>
                <a:gd name="connsiteX38" fmla="*/ 1749287 w 1842053"/>
                <a:gd name="connsiteY38" fmla="*/ 549965 h 1225826"/>
                <a:gd name="connsiteX39" fmla="*/ 1775792 w 1842053"/>
                <a:gd name="connsiteY39" fmla="*/ 583096 h 1225826"/>
                <a:gd name="connsiteX40" fmla="*/ 1815548 w 1842053"/>
                <a:gd name="connsiteY40" fmla="*/ 649357 h 1225826"/>
                <a:gd name="connsiteX41" fmla="*/ 1842053 w 1842053"/>
                <a:gd name="connsiteY41" fmla="*/ 695739 h 1225826"/>
                <a:gd name="connsiteX42" fmla="*/ 1835427 w 1842053"/>
                <a:gd name="connsiteY42" fmla="*/ 795130 h 1225826"/>
                <a:gd name="connsiteX43" fmla="*/ 1828800 w 1842053"/>
                <a:gd name="connsiteY43" fmla="*/ 815009 h 1225826"/>
                <a:gd name="connsiteX44" fmla="*/ 1822174 w 1842053"/>
                <a:gd name="connsiteY44" fmla="*/ 881270 h 1225826"/>
                <a:gd name="connsiteX45" fmla="*/ 1815548 w 1842053"/>
                <a:gd name="connsiteY45" fmla="*/ 1093304 h 1225826"/>
                <a:gd name="connsiteX46" fmla="*/ 1802296 w 1842053"/>
                <a:gd name="connsiteY46" fmla="*/ 1106557 h 1225826"/>
                <a:gd name="connsiteX47" fmla="*/ 1795670 w 1842053"/>
                <a:gd name="connsiteY47" fmla="*/ 1126435 h 1225826"/>
                <a:gd name="connsiteX48" fmla="*/ 1722783 w 1842053"/>
                <a:gd name="connsiteY48" fmla="*/ 1172817 h 1225826"/>
                <a:gd name="connsiteX49" fmla="*/ 1689653 w 1842053"/>
                <a:gd name="connsiteY49" fmla="*/ 1192696 h 1225826"/>
                <a:gd name="connsiteX50" fmla="*/ 1656522 w 1842053"/>
                <a:gd name="connsiteY50" fmla="*/ 1199322 h 1225826"/>
                <a:gd name="connsiteX51" fmla="*/ 1583635 w 1842053"/>
                <a:gd name="connsiteY51" fmla="*/ 1212574 h 1225826"/>
                <a:gd name="connsiteX52" fmla="*/ 1557131 w 1842053"/>
                <a:gd name="connsiteY52" fmla="*/ 1219200 h 1225826"/>
                <a:gd name="connsiteX53" fmla="*/ 1133061 w 1842053"/>
                <a:gd name="connsiteY53" fmla="*/ 1225826 h 1225826"/>
                <a:gd name="connsiteX54" fmla="*/ 927653 w 1842053"/>
                <a:gd name="connsiteY54" fmla="*/ 1219200 h 1225826"/>
                <a:gd name="connsiteX55" fmla="*/ 861392 w 1842053"/>
                <a:gd name="connsiteY55" fmla="*/ 1212574 h 1225826"/>
                <a:gd name="connsiteX56" fmla="*/ 642731 w 1842053"/>
                <a:gd name="connsiteY56" fmla="*/ 1199322 h 1225826"/>
                <a:gd name="connsiteX57" fmla="*/ 609600 w 1842053"/>
                <a:gd name="connsiteY57" fmla="*/ 1192696 h 1225826"/>
                <a:gd name="connsiteX58" fmla="*/ 589722 w 1842053"/>
                <a:gd name="connsiteY58" fmla="*/ 1186070 h 1225826"/>
                <a:gd name="connsiteX59" fmla="*/ 563218 w 1842053"/>
                <a:gd name="connsiteY59" fmla="*/ 1179444 h 1225826"/>
                <a:gd name="connsiteX60" fmla="*/ 543340 w 1842053"/>
                <a:gd name="connsiteY60" fmla="*/ 1166191 h 1225826"/>
                <a:gd name="connsiteX61" fmla="*/ 490331 w 1842053"/>
                <a:gd name="connsiteY61" fmla="*/ 1152939 h 1225826"/>
                <a:gd name="connsiteX62" fmla="*/ 404192 w 1842053"/>
                <a:gd name="connsiteY62" fmla="*/ 1119809 h 1225826"/>
                <a:gd name="connsiteX63" fmla="*/ 371061 w 1842053"/>
                <a:gd name="connsiteY63" fmla="*/ 1099930 h 1225826"/>
                <a:gd name="connsiteX64" fmla="*/ 344557 w 1842053"/>
                <a:gd name="connsiteY64" fmla="*/ 1086678 h 1225826"/>
                <a:gd name="connsiteX65" fmla="*/ 291548 w 1842053"/>
                <a:gd name="connsiteY65" fmla="*/ 1073426 h 1225826"/>
                <a:gd name="connsiteX66" fmla="*/ 165653 w 1842053"/>
                <a:gd name="connsiteY66" fmla="*/ 1000539 h 1225826"/>
                <a:gd name="connsiteX67" fmla="*/ 119270 w 1842053"/>
                <a:gd name="connsiteY67" fmla="*/ 974035 h 1225826"/>
                <a:gd name="connsiteX68" fmla="*/ 86140 w 1842053"/>
                <a:gd name="connsiteY68" fmla="*/ 954157 h 1225826"/>
                <a:gd name="connsiteX69" fmla="*/ 33131 w 1842053"/>
                <a:gd name="connsiteY69" fmla="*/ 927652 h 1225826"/>
                <a:gd name="connsiteX70" fmla="*/ 0 w 1842053"/>
                <a:gd name="connsiteY70" fmla="*/ 868017 h 1225826"/>
                <a:gd name="connsiteX71" fmla="*/ 13253 w 1842053"/>
                <a:gd name="connsiteY71" fmla="*/ 801757 h 1225826"/>
                <a:gd name="connsiteX72" fmla="*/ 26505 w 1842053"/>
                <a:gd name="connsiteY72" fmla="*/ 788504 h 1225826"/>
                <a:gd name="connsiteX73" fmla="*/ 46383 w 1842053"/>
                <a:gd name="connsiteY73" fmla="*/ 762000 h 1225826"/>
                <a:gd name="connsiteX74" fmla="*/ 59635 w 1842053"/>
                <a:gd name="connsiteY74" fmla="*/ 742122 h 1225826"/>
                <a:gd name="connsiteX75" fmla="*/ 92766 w 1842053"/>
                <a:gd name="connsiteY75" fmla="*/ 708991 h 1225826"/>
                <a:gd name="connsiteX76" fmla="*/ 112644 w 1842053"/>
                <a:gd name="connsiteY76" fmla="*/ 689113 h 1225826"/>
                <a:gd name="connsiteX77" fmla="*/ 125896 w 1842053"/>
                <a:gd name="connsiteY77" fmla="*/ 669235 h 1225826"/>
                <a:gd name="connsiteX78" fmla="*/ 145774 w 1842053"/>
                <a:gd name="connsiteY78" fmla="*/ 642730 h 1225826"/>
                <a:gd name="connsiteX79" fmla="*/ 185531 w 1842053"/>
                <a:gd name="connsiteY79" fmla="*/ 589722 h 1225826"/>
                <a:gd name="connsiteX80" fmla="*/ 172279 w 1842053"/>
                <a:gd name="connsiteY80" fmla="*/ 569844 h 122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842053" h="1225826">
                  <a:moveTo>
                    <a:pt x="172279" y="569844"/>
                  </a:moveTo>
                  <a:lnTo>
                    <a:pt x="172279" y="569844"/>
                  </a:lnTo>
                  <a:cubicBezTo>
                    <a:pt x="185531" y="543339"/>
                    <a:pt x="202664" y="518442"/>
                    <a:pt x="212035" y="490330"/>
                  </a:cubicBezTo>
                  <a:cubicBezTo>
                    <a:pt x="221179" y="462897"/>
                    <a:pt x="214787" y="476263"/>
                    <a:pt x="231914" y="450574"/>
                  </a:cubicBezTo>
                  <a:cubicBezTo>
                    <a:pt x="235276" y="437127"/>
                    <a:pt x="239463" y="417498"/>
                    <a:pt x="245166" y="404191"/>
                  </a:cubicBezTo>
                  <a:cubicBezTo>
                    <a:pt x="249057" y="395112"/>
                    <a:pt x="254950" y="386936"/>
                    <a:pt x="258418" y="377687"/>
                  </a:cubicBezTo>
                  <a:cubicBezTo>
                    <a:pt x="262376" y="367131"/>
                    <a:pt x="265510" y="342393"/>
                    <a:pt x="271670" y="331304"/>
                  </a:cubicBezTo>
                  <a:cubicBezTo>
                    <a:pt x="286010" y="305491"/>
                    <a:pt x="307335" y="276394"/>
                    <a:pt x="331305" y="258417"/>
                  </a:cubicBezTo>
                  <a:cubicBezTo>
                    <a:pt x="340140" y="251791"/>
                    <a:pt x="348221" y="244018"/>
                    <a:pt x="357809" y="238539"/>
                  </a:cubicBezTo>
                  <a:cubicBezTo>
                    <a:pt x="363873" y="235074"/>
                    <a:pt x="371267" y="234664"/>
                    <a:pt x="377687" y="231913"/>
                  </a:cubicBezTo>
                  <a:cubicBezTo>
                    <a:pt x="386766" y="228022"/>
                    <a:pt x="395357" y="223078"/>
                    <a:pt x="404192" y="218661"/>
                  </a:cubicBezTo>
                  <a:cubicBezTo>
                    <a:pt x="423192" y="199661"/>
                    <a:pt x="429758" y="189881"/>
                    <a:pt x="457200" y="178904"/>
                  </a:cubicBezTo>
                  <a:cubicBezTo>
                    <a:pt x="467657" y="174721"/>
                    <a:pt x="479357" y="174810"/>
                    <a:pt x="490331" y="172278"/>
                  </a:cubicBezTo>
                  <a:cubicBezTo>
                    <a:pt x="508078" y="168183"/>
                    <a:pt x="526061" y="164786"/>
                    <a:pt x="543340" y="159026"/>
                  </a:cubicBezTo>
                  <a:cubicBezTo>
                    <a:pt x="549966" y="156817"/>
                    <a:pt x="557113" y="155792"/>
                    <a:pt x="563218" y="152400"/>
                  </a:cubicBezTo>
                  <a:cubicBezTo>
                    <a:pt x="577141" y="144665"/>
                    <a:pt x="587356" y="129019"/>
                    <a:pt x="602974" y="125896"/>
                  </a:cubicBezTo>
                  <a:cubicBezTo>
                    <a:pt x="625061" y="121479"/>
                    <a:pt x="646803" y="114684"/>
                    <a:pt x="669235" y="112644"/>
                  </a:cubicBezTo>
                  <a:cubicBezTo>
                    <a:pt x="759856" y="104405"/>
                    <a:pt x="717914" y="109043"/>
                    <a:pt x="795131" y="99391"/>
                  </a:cubicBezTo>
                  <a:cubicBezTo>
                    <a:pt x="808383" y="94974"/>
                    <a:pt x="821456" y="89976"/>
                    <a:pt x="834887" y="86139"/>
                  </a:cubicBezTo>
                  <a:cubicBezTo>
                    <a:pt x="850348" y="81722"/>
                    <a:pt x="866158" y="78382"/>
                    <a:pt x="881270" y="72887"/>
                  </a:cubicBezTo>
                  <a:cubicBezTo>
                    <a:pt x="920216" y="58725"/>
                    <a:pt x="897005" y="61057"/>
                    <a:pt x="934279" y="39757"/>
                  </a:cubicBezTo>
                  <a:cubicBezTo>
                    <a:pt x="942227" y="35215"/>
                    <a:pt x="974199" y="28350"/>
                    <a:pt x="980661" y="26504"/>
                  </a:cubicBezTo>
                  <a:cubicBezTo>
                    <a:pt x="987377" y="24585"/>
                    <a:pt x="993722" y="21393"/>
                    <a:pt x="1000540" y="19878"/>
                  </a:cubicBezTo>
                  <a:cubicBezTo>
                    <a:pt x="1013655" y="16964"/>
                    <a:pt x="1027122" y="15887"/>
                    <a:pt x="1040296" y="13252"/>
                  </a:cubicBezTo>
                  <a:cubicBezTo>
                    <a:pt x="1061095" y="9092"/>
                    <a:pt x="1067734" y="6315"/>
                    <a:pt x="1086679" y="0"/>
                  </a:cubicBezTo>
                  <a:cubicBezTo>
                    <a:pt x="1139688" y="2209"/>
                    <a:pt x="1192776" y="2976"/>
                    <a:pt x="1245705" y="6626"/>
                  </a:cubicBezTo>
                  <a:cubicBezTo>
                    <a:pt x="1254473" y="7231"/>
                    <a:pt x="1287508" y="14275"/>
                    <a:pt x="1298714" y="19878"/>
                  </a:cubicBezTo>
                  <a:cubicBezTo>
                    <a:pt x="1310233" y="25638"/>
                    <a:pt x="1320075" y="34526"/>
                    <a:pt x="1331844" y="39757"/>
                  </a:cubicBezTo>
                  <a:cubicBezTo>
                    <a:pt x="1340166" y="43456"/>
                    <a:pt x="1349513" y="44174"/>
                    <a:pt x="1358348" y="46383"/>
                  </a:cubicBezTo>
                  <a:cubicBezTo>
                    <a:pt x="1371600" y="55218"/>
                    <a:pt x="1384182" y="65152"/>
                    <a:pt x="1398105" y="72887"/>
                  </a:cubicBezTo>
                  <a:cubicBezTo>
                    <a:pt x="1404211" y="76279"/>
                    <a:pt x="1411736" y="76389"/>
                    <a:pt x="1417983" y="79513"/>
                  </a:cubicBezTo>
                  <a:cubicBezTo>
                    <a:pt x="1434009" y="87526"/>
                    <a:pt x="1454584" y="106228"/>
                    <a:pt x="1464366" y="119270"/>
                  </a:cubicBezTo>
                  <a:cubicBezTo>
                    <a:pt x="1470992" y="128105"/>
                    <a:pt x="1478391" y="136409"/>
                    <a:pt x="1484244" y="145774"/>
                  </a:cubicBezTo>
                  <a:cubicBezTo>
                    <a:pt x="1489479" y="154150"/>
                    <a:pt x="1493605" y="163199"/>
                    <a:pt x="1497496" y="172278"/>
                  </a:cubicBezTo>
                  <a:cubicBezTo>
                    <a:pt x="1511638" y="205277"/>
                    <a:pt x="1520018" y="234882"/>
                    <a:pt x="1537253" y="265044"/>
                  </a:cubicBezTo>
                  <a:cubicBezTo>
                    <a:pt x="1591384" y="359773"/>
                    <a:pt x="1573197" y="324225"/>
                    <a:pt x="1656522" y="430696"/>
                  </a:cubicBezTo>
                  <a:cubicBezTo>
                    <a:pt x="1670134" y="448089"/>
                    <a:pt x="1682812" y="466197"/>
                    <a:pt x="1696279" y="483704"/>
                  </a:cubicBezTo>
                  <a:cubicBezTo>
                    <a:pt x="1704902" y="494914"/>
                    <a:pt x="1713948" y="505791"/>
                    <a:pt x="1722783" y="516835"/>
                  </a:cubicBezTo>
                  <a:lnTo>
                    <a:pt x="1749287" y="549965"/>
                  </a:lnTo>
                  <a:lnTo>
                    <a:pt x="1775792" y="583096"/>
                  </a:lnTo>
                  <a:cubicBezTo>
                    <a:pt x="1808566" y="665030"/>
                    <a:pt x="1764647" y="564521"/>
                    <a:pt x="1815548" y="649357"/>
                  </a:cubicBezTo>
                  <a:cubicBezTo>
                    <a:pt x="1850582" y="707748"/>
                    <a:pt x="1810167" y="663856"/>
                    <a:pt x="1842053" y="695739"/>
                  </a:cubicBezTo>
                  <a:cubicBezTo>
                    <a:pt x="1839844" y="728869"/>
                    <a:pt x="1839094" y="762129"/>
                    <a:pt x="1835427" y="795130"/>
                  </a:cubicBezTo>
                  <a:cubicBezTo>
                    <a:pt x="1834656" y="802072"/>
                    <a:pt x="1829862" y="808105"/>
                    <a:pt x="1828800" y="815009"/>
                  </a:cubicBezTo>
                  <a:cubicBezTo>
                    <a:pt x="1825425" y="836948"/>
                    <a:pt x="1824383" y="859183"/>
                    <a:pt x="1822174" y="881270"/>
                  </a:cubicBezTo>
                  <a:cubicBezTo>
                    <a:pt x="1819965" y="951948"/>
                    <a:pt x="1821763" y="1022865"/>
                    <a:pt x="1815548" y="1093304"/>
                  </a:cubicBezTo>
                  <a:cubicBezTo>
                    <a:pt x="1814999" y="1099527"/>
                    <a:pt x="1805510" y="1101200"/>
                    <a:pt x="1802296" y="1106557"/>
                  </a:cubicBezTo>
                  <a:cubicBezTo>
                    <a:pt x="1798703" y="1112546"/>
                    <a:pt x="1800609" y="1121496"/>
                    <a:pt x="1795670" y="1126435"/>
                  </a:cubicBezTo>
                  <a:cubicBezTo>
                    <a:pt x="1723325" y="1198779"/>
                    <a:pt x="1767962" y="1150227"/>
                    <a:pt x="1722783" y="1172817"/>
                  </a:cubicBezTo>
                  <a:cubicBezTo>
                    <a:pt x="1711264" y="1178577"/>
                    <a:pt x="1701611" y="1187913"/>
                    <a:pt x="1689653" y="1192696"/>
                  </a:cubicBezTo>
                  <a:cubicBezTo>
                    <a:pt x="1679196" y="1196879"/>
                    <a:pt x="1667603" y="1197307"/>
                    <a:pt x="1656522" y="1199322"/>
                  </a:cubicBezTo>
                  <a:cubicBezTo>
                    <a:pt x="1616969" y="1206513"/>
                    <a:pt x="1620457" y="1204392"/>
                    <a:pt x="1583635" y="1212574"/>
                  </a:cubicBezTo>
                  <a:cubicBezTo>
                    <a:pt x="1574745" y="1214549"/>
                    <a:pt x="1566234" y="1218932"/>
                    <a:pt x="1557131" y="1219200"/>
                  </a:cubicBezTo>
                  <a:cubicBezTo>
                    <a:pt x="1415818" y="1223356"/>
                    <a:pt x="1274418" y="1223617"/>
                    <a:pt x="1133061" y="1225826"/>
                  </a:cubicBezTo>
                  <a:lnTo>
                    <a:pt x="927653" y="1219200"/>
                  </a:lnTo>
                  <a:cubicBezTo>
                    <a:pt x="905482" y="1218119"/>
                    <a:pt x="883512" y="1214417"/>
                    <a:pt x="861392" y="1212574"/>
                  </a:cubicBezTo>
                  <a:cubicBezTo>
                    <a:pt x="778933" y="1205703"/>
                    <a:pt x="728793" y="1203852"/>
                    <a:pt x="642731" y="1199322"/>
                  </a:cubicBezTo>
                  <a:cubicBezTo>
                    <a:pt x="631687" y="1197113"/>
                    <a:pt x="620526" y="1195427"/>
                    <a:pt x="609600" y="1192696"/>
                  </a:cubicBezTo>
                  <a:cubicBezTo>
                    <a:pt x="602824" y="1191002"/>
                    <a:pt x="596438" y="1187989"/>
                    <a:pt x="589722" y="1186070"/>
                  </a:cubicBezTo>
                  <a:cubicBezTo>
                    <a:pt x="580966" y="1183568"/>
                    <a:pt x="572053" y="1181653"/>
                    <a:pt x="563218" y="1179444"/>
                  </a:cubicBezTo>
                  <a:cubicBezTo>
                    <a:pt x="556592" y="1175026"/>
                    <a:pt x="550463" y="1169753"/>
                    <a:pt x="543340" y="1166191"/>
                  </a:cubicBezTo>
                  <a:cubicBezTo>
                    <a:pt x="526634" y="1157838"/>
                    <a:pt x="507968" y="1157978"/>
                    <a:pt x="490331" y="1152939"/>
                  </a:cubicBezTo>
                  <a:cubicBezTo>
                    <a:pt x="453265" y="1142349"/>
                    <a:pt x="434381" y="1136581"/>
                    <a:pt x="404192" y="1119809"/>
                  </a:cubicBezTo>
                  <a:cubicBezTo>
                    <a:pt x="392934" y="1113554"/>
                    <a:pt x="382319" y="1106185"/>
                    <a:pt x="371061" y="1099930"/>
                  </a:cubicBezTo>
                  <a:cubicBezTo>
                    <a:pt x="362427" y="1095133"/>
                    <a:pt x="353928" y="1089801"/>
                    <a:pt x="344557" y="1086678"/>
                  </a:cubicBezTo>
                  <a:cubicBezTo>
                    <a:pt x="327278" y="1080918"/>
                    <a:pt x="291548" y="1073426"/>
                    <a:pt x="291548" y="1073426"/>
                  </a:cubicBezTo>
                  <a:cubicBezTo>
                    <a:pt x="196833" y="1018176"/>
                    <a:pt x="238572" y="1042207"/>
                    <a:pt x="165653" y="1000539"/>
                  </a:cubicBezTo>
                  <a:lnTo>
                    <a:pt x="119270" y="974035"/>
                  </a:lnTo>
                  <a:cubicBezTo>
                    <a:pt x="108146" y="967546"/>
                    <a:pt x="98097" y="958940"/>
                    <a:pt x="86140" y="954157"/>
                  </a:cubicBezTo>
                  <a:cubicBezTo>
                    <a:pt x="45615" y="937946"/>
                    <a:pt x="62906" y="947502"/>
                    <a:pt x="33131" y="927652"/>
                  </a:cubicBezTo>
                  <a:cubicBezTo>
                    <a:pt x="2753" y="882084"/>
                    <a:pt x="11664" y="903005"/>
                    <a:pt x="0" y="868017"/>
                  </a:cubicBezTo>
                  <a:cubicBezTo>
                    <a:pt x="1149" y="859976"/>
                    <a:pt x="4580" y="816213"/>
                    <a:pt x="13253" y="801757"/>
                  </a:cubicBezTo>
                  <a:cubicBezTo>
                    <a:pt x="16467" y="796400"/>
                    <a:pt x="22506" y="793303"/>
                    <a:pt x="26505" y="788504"/>
                  </a:cubicBezTo>
                  <a:cubicBezTo>
                    <a:pt x="33575" y="780020"/>
                    <a:pt x="39964" y="770986"/>
                    <a:pt x="46383" y="762000"/>
                  </a:cubicBezTo>
                  <a:cubicBezTo>
                    <a:pt x="51012" y="755520"/>
                    <a:pt x="54391" y="748115"/>
                    <a:pt x="59635" y="742122"/>
                  </a:cubicBezTo>
                  <a:cubicBezTo>
                    <a:pt x="69920" y="730368"/>
                    <a:pt x="81722" y="720035"/>
                    <a:pt x="92766" y="708991"/>
                  </a:cubicBezTo>
                  <a:cubicBezTo>
                    <a:pt x="99392" y="702365"/>
                    <a:pt x="107446" y="696910"/>
                    <a:pt x="112644" y="689113"/>
                  </a:cubicBezTo>
                  <a:cubicBezTo>
                    <a:pt x="117061" y="682487"/>
                    <a:pt x="121267" y="675715"/>
                    <a:pt x="125896" y="669235"/>
                  </a:cubicBezTo>
                  <a:cubicBezTo>
                    <a:pt x="132315" y="660248"/>
                    <a:pt x="138704" y="651214"/>
                    <a:pt x="145774" y="642730"/>
                  </a:cubicBezTo>
                  <a:cubicBezTo>
                    <a:pt x="158534" y="627418"/>
                    <a:pt x="185531" y="611217"/>
                    <a:pt x="185531" y="589722"/>
                  </a:cubicBezTo>
                  <a:lnTo>
                    <a:pt x="172279" y="569844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 smtClean="0">
                  <a:solidFill>
                    <a:schemeClr val="tx1"/>
                  </a:solidFill>
                </a:rPr>
                <a:t>Supplier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手繪多邊形 10"/>
            <p:cNvSpPr/>
            <p:nvPr/>
          </p:nvSpPr>
          <p:spPr>
            <a:xfrm>
              <a:off x="1475656" y="4867470"/>
              <a:ext cx="1842053" cy="1225826"/>
            </a:xfrm>
            <a:custGeom>
              <a:avLst/>
              <a:gdLst>
                <a:gd name="connsiteX0" fmla="*/ 172279 w 1842053"/>
                <a:gd name="connsiteY0" fmla="*/ 569844 h 1225826"/>
                <a:gd name="connsiteX1" fmla="*/ 172279 w 1842053"/>
                <a:gd name="connsiteY1" fmla="*/ 569844 h 1225826"/>
                <a:gd name="connsiteX2" fmla="*/ 212035 w 1842053"/>
                <a:gd name="connsiteY2" fmla="*/ 490330 h 1225826"/>
                <a:gd name="connsiteX3" fmla="*/ 231914 w 1842053"/>
                <a:gd name="connsiteY3" fmla="*/ 450574 h 1225826"/>
                <a:gd name="connsiteX4" fmla="*/ 245166 w 1842053"/>
                <a:gd name="connsiteY4" fmla="*/ 404191 h 1225826"/>
                <a:gd name="connsiteX5" fmla="*/ 258418 w 1842053"/>
                <a:gd name="connsiteY5" fmla="*/ 377687 h 1225826"/>
                <a:gd name="connsiteX6" fmla="*/ 271670 w 1842053"/>
                <a:gd name="connsiteY6" fmla="*/ 331304 h 1225826"/>
                <a:gd name="connsiteX7" fmla="*/ 331305 w 1842053"/>
                <a:gd name="connsiteY7" fmla="*/ 258417 h 1225826"/>
                <a:gd name="connsiteX8" fmla="*/ 357809 w 1842053"/>
                <a:gd name="connsiteY8" fmla="*/ 238539 h 1225826"/>
                <a:gd name="connsiteX9" fmla="*/ 377687 w 1842053"/>
                <a:gd name="connsiteY9" fmla="*/ 231913 h 1225826"/>
                <a:gd name="connsiteX10" fmla="*/ 404192 w 1842053"/>
                <a:gd name="connsiteY10" fmla="*/ 218661 h 1225826"/>
                <a:gd name="connsiteX11" fmla="*/ 457200 w 1842053"/>
                <a:gd name="connsiteY11" fmla="*/ 178904 h 1225826"/>
                <a:gd name="connsiteX12" fmla="*/ 490331 w 1842053"/>
                <a:gd name="connsiteY12" fmla="*/ 172278 h 1225826"/>
                <a:gd name="connsiteX13" fmla="*/ 543340 w 1842053"/>
                <a:gd name="connsiteY13" fmla="*/ 159026 h 1225826"/>
                <a:gd name="connsiteX14" fmla="*/ 563218 w 1842053"/>
                <a:gd name="connsiteY14" fmla="*/ 152400 h 1225826"/>
                <a:gd name="connsiteX15" fmla="*/ 602974 w 1842053"/>
                <a:gd name="connsiteY15" fmla="*/ 125896 h 1225826"/>
                <a:gd name="connsiteX16" fmla="*/ 669235 w 1842053"/>
                <a:gd name="connsiteY16" fmla="*/ 112644 h 1225826"/>
                <a:gd name="connsiteX17" fmla="*/ 795131 w 1842053"/>
                <a:gd name="connsiteY17" fmla="*/ 99391 h 1225826"/>
                <a:gd name="connsiteX18" fmla="*/ 834887 w 1842053"/>
                <a:gd name="connsiteY18" fmla="*/ 86139 h 1225826"/>
                <a:gd name="connsiteX19" fmla="*/ 881270 w 1842053"/>
                <a:gd name="connsiteY19" fmla="*/ 72887 h 1225826"/>
                <a:gd name="connsiteX20" fmla="*/ 934279 w 1842053"/>
                <a:gd name="connsiteY20" fmla="*/ 39757 h 1225826"/>
                <a:gd name="connsiteX21" fmla="*/ 980661 w 1842053"/>
                <a:gd name="connsiteY21" fmla="*/ 26504 h 1225826"/>
                <a:gd name="connsiteX22" fmla="*/ 1000540 w 1842053"/>
                <a:gd name="connsiteY22" fmla="*/ 19878 h 1225826"/>
                <a:gd name="connsiteX23" fmla="*/ 1040296 w 1842053"/>
                <a:gd name="connsiteY23" fmla="*/ 13252 h 1225826"/>
                <a:gd name="connsiteX24" fmla="*/ 1086679 w 1842053"/>
                <a:gd name="connsiteY24" fmla="*/ 0 h 1225826"/>
                <a:gd name="connsiteX25" fmla="*/ 1245705 w 1842053"/>
                <a:gd name="connsiteY25" fmla="*/ 6626 h 1225826"/>
                <a:gd name="connsiteX26" fmla="*/ 1298714 w 1842053"/>
                <a:gd name="connsiteY26" fmla="*/ 19878 h 1225826"/>
                <a:gd name="connsiteX27" fmla="*/ 1331844 w 1842053"/>
                <a:gd name="connsiteY27" fmla="*/ 39757 h 1225826"/>
                <a:gd name="connsiteX28" fmla="*/ 1358348 w 1842053"/>
                <a:gd name="connsiteY28" fmla="*/ 46383 h 1225826"/>
                <a:gd name="connsiteX29" fmla="*/ 1398105 w 1842053"/>
                <a:gd name="connsiteY29" fmla="*/ 72887 h 1225826"/>
                <a:gd name="connsiteX30" fmla="*/ 1417983 w 1842053"/>
                <a:gd name="connsiteY30" fmla="*/ 79513 h 1225826"/>
                <a:gd name="connsiteX31" fmla="*/ 1464366 w 1842053"/>
                <a:gd name="connsiteY31" fmla="*/ 119270 h 1225826"/>
                <a:gd name="connsiteX32" fmla="*/ 1484244 w 1842053"/>
                <a:gd name="connsiteY32" fmla="*/ 145774 h 1225826"/>
                <a:gd name="connsiteX33" fmla="*/ 1497496 w 1842053"/>
                <a:gd name="connsiteY33" fmla="*/ 172278 h 1225826"/>
                <a:gd name="connsiteX34" fmla="*/ 1537253 w 1842053"/>
                <a:gd name="connsiteY34" fmla="*/ 265044 h 1225826"/>
                <a:gd name="connsiteX35" fmla="*/ 1656522 w 1842053"/>
                <a:gd name="connsiteY35" fmla="*/ 430696 h 1225826"/>
                <a:gd name="connsiteX36" fmla="*/ 1696279 w 1842053"/>
                <a:gd name="connsiteY36" fmla="*/ 483704 h 1225826"/>
                <a:gd name="connsiteX37" fmla="*/ 1722783 w 1842053"/>
                <a:gd name="connsiteY37" fmla="*/ 516835 h 1225826"/>
                <a:gd name="connsiteX38" fmla="*/ 1749287 w 1842053"/>
                <a:gd name="connsiteY38" fmla="*/ 549965 h 1225826"/>
                <a:gd name="connsiteX39" fmla="*/ 1775792 w 1842053"/>
                <a:gd name="connsiteY39" fmla="*/ 583096 h 1225826"/>
                <a:gd name="connsiteX40" fmla="*/ 1815548 w 1842053"/>
                <a:gd name="connsiteY40" fmla="*/ 649357 h 1225826"/>
                <a:gd name="connsiteX41" fmla="*/ 1842053 w 1842053"/>
                <a:gd name="connsiteY41" fmla="*/ 695739 h 1225826"/>
                <a:gd name="connsiteX42" fmla="*/ 1835427 w 1842053"/>
                <a:gd name="connsiteY42" fmla="*/ 795130 h 1225826"/>
                <a:gd name="connsiteX43" fmla="*/ 1828800 w 1842053"/>
                <a:gd name="connsiteY43" fmla="*/ 815009 h 1225826"/>
                <a:gd name="connsiteX44" fmla="*/ 1822174 w 1842053"/>
                <a:gd name="connsiteY44" fmla="*/ 881270 h 1225826"/>
                <a:gd name="connsiteX45" fmla="*/ 1815548 w 1842053"/>
                <a:gd name="connsiteY45" fmla="*/ 1093304 h 1225826"/>
                <a:gd name="connsiteX46" fmla="*/ 1802296 w 1842053"/>
                <a:gd name="connsiteY46" fmla="*/ 1106557 h 1225826"/>
                <a:gd name="connsiteX47" fmla="*/ 1795670 w 1842053"/>
                <a:gd name="connsiteY47" fmla="*/ 1126435 h 1225826"/>
                <a:gd name="connsiteX48" fmla="*/ 1722783 w 1842053"/>
                <a:gd name="connsiteY48" fmla="*/ 1172817 h 1225826"/>
                <a:gd name="connsiteX49" fmla="*/ 1689653 w 1842053"/>
                <a:gd name="connsiteY49" fmla="*/ 1192696 h 1225826"/>
                <a:gd name="connsiteX50" fmla="*/ 1656522 w 1842053"/>
                <a:gd name="connsiteY50" fmla="*/ 1199322 h 1225826"/>
                <a:gd name="connsiteX51" fmla="*/ 1583635 w 1842053"/>
                <a:gd name="connsiteY51" fmla="*/ 1212574 h 1225826"/>
                <a:gd name="connsiteX52" fmla="*/ 1557131 w 1842053"/>
                <a:gd name="connsiteY52" fmla="*/ 1219200 h 1225826"/>
                <a:gd name="connsiteX53" fmla="*/ 1133061 w 1842053"/>
                <a:gd name="connsiteY53" fmla="*/ 1225826 h 1225826"/>
                <a:gd name="connsiteX54" fmla="*/ 927653 w 1842053"/>
                <a:gd name="connsiteY54" fmla="*/ 1219200 h 1225826"/>
                <a:gd name="connsiteX55" fmla="*/ 861392 w 1842053"/>
                <a:gd name="connsiteY55" fmla="*/ 1212574 h 1225826"/>
                <a:gd name="connsiteX56" fmla="*/ 642731 w 1842053"/>
                <a:gd name="connsiteY56" fmla="*/ 1199322 h 1225826"/>
                <a:gd name="connsiteX57" fmla="*/ 609600 w 1842053"/>
                <a:gd name="connsiteY57" fmla="*/ 1192696 h 1225826"/>
                <a:gd name="connsiteX58" fmla="*/ 589722 w 1842053"/>
                <a:gd name="connsiteY58" fmla="*/ 1186070 h 1225826"/>
                <a:gd name="connsiteX59" fmla="*/ 563218 w 1842053"/>
                <a:gd name="connsiteY59" fmla="*/ 1179444 h 1225826"/>
                <a:gd name="connsiteX60" fmla="*/ 543340 w 1842053"/>
                <a:gd name="connsiteY60" fmla="*/ 1166191 h 1225826"/>
                <a:gd name="connsiteX61" fmla="*/ 490331 w 1842053"/>
                <a:gd name="connsiteY61" fmla="*/ 1152939 h 1225826"/>
                <a:gd name="connsiteX62" fmla="*/ 404192 w 1842053"/>
                <a:gd name="connsiteY62" fmla="*/ 1119809 h 1225826"/>
                <a:gd name="connsiteX63" fmla="*/ 371061 w 1842053"/>
                <a:gd name="connsiteY63" fmla="*/ 1099930 h 1225826"/>
                <a:gd name="connsiteX64" fmla="*/ 344557 w 1842053"/>
                <a:gd name="connsiteY64" fmla="*/ 1086678 h 1225826"/>
                <a:gd name="connsiteX65" fmla="*/ 291548 w 1842053"/>
                <a:gd name="connsiteY65" fmla="*/ 1073426 h 1225826"/>
                <a:gd name="connsiteX66" fmla="*/ 165653 w 1842053"/>
                <a:gd name="connsiteY66" fmla="*/ 1000539 h 1225826"/>
                <a:gd name="connsiteX67" fmla="*/ 119270 w 1842053"/>
                <a:gd name="connsiteY67" fmla="*/ 974035 h 1225826"/>
                <a:gd name="connsiteX68" fmla="*/ 86140 w 1842053"/>
                <a:gd name="connsiteY68" fmla="*/ 954157 h 1225826"/>
                <a:gd name="connsiteX69" fmla="*/ 33131 w 1842053"/>
                <a:gd name="connsiteY69" fmla="*/ 927652 h 1225826"/>
                <a:gd name="connsiteX70" fmla="*/ 0 w 1842053"/>
                <a:gd name="connsiteY70" fmla="*/ 868017 h 1225826"/>
                <a:gd name="connsiteX71" fmla="*/ 13253 w 1842053"/>
                <a:gd name="connsiteY71" fmla="*/ 801757 h 1225826"/>
                <a:gd name="connsiteX72" fmla="*/ 26505 w 1842053"/>
                <a:gd name="connsiteY72" fmla="*/ 788504 h 1225826"/>
                <a:gd name="connsiteX73" fmla="*/ 46383 w 1842053"/>
                <a:gd name="connsiteY73" fmla="*/ 762000 h 1225826"/>
                <a:gd name="connsiteX74" fmla="*/ 59635 w 1842053"/>
                <a:gd name="connsiteY74" fmla="*/ 742122 h 1225826"/>
                <a:gd name="connsiteX75" fmla="*/ 92766 w 1842053"/>
                <a:gd name="connsiteY75" fmla="*/ 708991 h 1225826"/>
                <a:gd name="connsiteX76" fmla="*/ 112644 w 1842053"/>
                <a:gd name="connsiteY76" fmla="*/ 689113 h 1225826"/>
                <a:gd name="connsiteX77" fmla="*/ 125896 w 1842053"/>
                <a:gd name="connsiteY77" fmla="*/ 669235 h 1225826"/>
                <a:gd name="connsiteX78" fmla="*/ 145774 w 1842053"/>
                <a:gd name="connsiteY78" fmla="*/ 642730 h 1225826"/>
                <a:gd name="connsiteX79" fmla="*/ 185531 w 1842053"/>
                <a:gd name="connsiteY79" fmla="*/ 589722 h 1225826"/>
                <a:gd name="connsiteX80" fmla="*/ 172279 w 1842053"/>
                <a:gd name="connsiteY80" fmla="*/ 569844 h 122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842053" h="1225826">
                  <a:moveTo>
                    <a:pt x="172279" y="569844"/>
                  </a:moveTo>
                  <a:lnTo>
                    <a:pt x="172279" y="569844"/>
                  </a:lnTo>
                  <a:cubicBezTo>
                    <a:pt x="185531" y="543339"/>
                    <a:pt x="202664" y="518442"/>
                    <a:pt x="212035" y="490330"/>
                  </a:cubicBezTo>
                  <a:cubicBezTo>
                    <a:pt x="221179" y="462897"/>
                    <a:pt x="214787" y="476263"/>
                    <a:pt x="231914" y="450574"/>
                  </a:cubicBezTo>
                  <a:cubicBezTo>
                    <a:pt x="235276" y="437127"/>
                    <a:pt x="239463" y="417498"/>
                    <a:pt x="245166" y="404191"/>
                  </a:cubicBezTo>
                  <a:cubicBezTo>
                    <a:pt x="249057" y="395112"/>
                    <a:pt x="254950" y="386936"/>
                    <a:pt x="258418" y="377687"/>
                  </a:cubicBezTo>
                  <a:cubicBezTo>
                    <a:pt x="262376" y="367131"/>
                    <a:pt x="265510" y="342393"/>
                    <a:pt x="271670" y="331304"/>
                  </a:cubicBezTo>
                  <a:cubicBezTo>
                    <a:pt x="286010" y="305491"/>
                    <a:pt x="307335" y="276394"/>
                    <a:pt x="331305" y="258417"/>
                  </a:cubicBezTo>
                  <a:cubicBezTo>
                    <a:pt x="340140" y="251791"/>
                    <a:pt x="348221" y="244018"/>
                    <a:pt x="357809" y="238539"/>
                  </a:cubicBezTo>
                  <a:cubicBezTo>
                    <a:pt x="363873" y="235074"/>
                    <a:pt x="371267" y="234664"/>
                    <a:pt x="377687" y="231913"/>
                  </a:cubicBezTo>
                  <a:cubicBezTo>
                    <a:pt x="386766" y="228022"/>
                    <a:pt x="395357" y="223078"/>
                    <a:pt x="404192" y="218661"/>
                  </a:cubicBezTo>
                  <a:cubicBezTo>
                    <a:pt x="423192" y="199661"/>
                    <a:pt x="429758" y="189881"/>
                    <a:pt x="457200" y="178904"/>
                  </a:cubicBezTo>
                  <a:cubicBezTo>
                    <a:pt x="467657" y="174721"/>
                    <a:pt x="479357" y="174810"/>
                    <a:pt x="490331" y="172278"/>
                  </a:cubicBezTo>
                  <a:cubicBezTo>
                    <a:pt x="508078" y="168183"/>
                    <a:pt x="526061" y="164786"/>
                    <a:pt x="543340" y="159026"/>
                  </a:cubicBezTo>
                  <a:cubicBezTo>
                    <a:pt x="549966" y="156817"/>
                    <a:pt x="557113" y="155792"/>
                    <a:pt x="563218" y="152400"/>
                  </a:cubicBezTo>
                  <a:cubicBezTo>
                    <a:pt x="577141" y="144665"/>
                    <a:pt x="587356" y="129019"/>
                    <a:pt x="602974" y="125896"/>
                  </a:cubicBezTo>
                  <a:cubicBezTo>
                    <a:pt x="625061" y="121479"/>
                    <a:pt x="646803" y="114684"/>
                    <a:pt x="669235" y="112644"/>
                  </a:cubicBezTo>
                  <a:cubicBezTo>
                    <a:pt x="759856" y="104405"/>
                    <a:pt x="717914" y="109043"/>
                    <a:pt x="795131" y="99391"/>
                  </a:cubicBezTo>
                  <a:cubicBezTo>
                    <a:pt x="808383" y="94974"/>
                    <a:pt x="821456" y="89976"/>
                    <a:pt x="834887" y="86139"/>
                  </a:cubicBezTo>
                  <a:cubicBezTo>
                    <a:pt x="850348" y="81722"/>
                    <a:pt x="866158" y="78382"/>
                    <a:pt x="881270" y="72887"/>
                  </a:cubicBezTo>
                  <a:cubicBezTo>
                    <a:pt x="920216" y="58725"/>
                    <a:pt x="897005" y="61057"/>
                    <a:pt x="934279" y="39757"/>
                  </a:cubicBezTo>
                  <a:cubicBezTo>
                    <a:pt x="942227" y="35215"/>
                    <a:pt x="974199" y="28350"/>
                    <a:pt x="980661" y="26504"/>
                  </a:cubicBezTo>
                  <a:cubicBezTo>
                    <a:pt x="987377" y="24585"/>
                    <a:pt x="993722" y="21393"/>
                    <a:pt x="1000540" y="19878"/>
                  </a:cubicBezTo>
                  <a:cubicBezTo>
                    <a:pt x="1013655" y="16964"/>
                    <a:pt x="1027122" y="15887"/>
                    <a:pt x="1040296" y="13252"/>
                  </a:cubicBezTo>
                  <a:cubicBezTo>
                    <a:pt x="1061095" y="9092"/>
                    <a:pt x="1067734" y="6315"/>
                    <a:pt x="1086679" y="0"/>
                  </a:cubicBezTo>
                  <a:cubicBezTo>
                    <a:pt x="1139688" y="2209"/>
                    <a:pt x="1192776" y="2976"/>
                    <a:pt x="1245705" y="6626"/>
                  </a:cubicBezTo>
                  <a:cubicBezTo>
                    <a:pt x="1254473" y="7231"/>
                    <a:pt x="1287508" y="14275"/>
                    <a:pt x="1298714" y="19878"/>
                  </a:cubicBezTo>
                  <a:cubicBezTo>
                    <a:pt x="1310233" y="25638"/>
                    <a:pt x="1320075" y="34526"/>
                    <a:pt x="1331844" y="39757"/>
                  </a:cubicBezTo>
                  <a:cubicBezTo>
                    <a:pt x="1340166" y="43456"/>
                    <a:pt x="1349513" y="44174"/>
                    <a:pt x="1358348" y="46383"/>
                  </a:cubicBezTo>
                  <a:cubicBezTo>
                    <a:pt x="1371600" y="55218"/>
                    <a:pt x="1384182" y="65152"/>
                    <a:pt x="1398105" y="72887"/>
                  </a:cubicBezTo>
                  <a:cubicBezTo>
                    <a:pt x="1404211" y="76279"/>
                    <a:pt x="1411736" y="76389"/>
                    <a:pt x="1417983" y="79513"/>
                  </a:cubicBezTo>
                  <a:cubicBezTo>
                    <a:pt x="1434009" y="87526"/>
                    <a:pt x="1454584" y="106228"/>
                    <a:pt x="1464366" y="119270"/>
                  </a:cubicBezTo>
                  <a:cubicBezTo>
                    <a:pt x="1470992" y="128105"/>
                    <a:pt x="1478391" y="136409"/>
                    <a:pt x="1484244" y="145774"/>
                  </a:cubicBezTo>
                  <a:cubicBezTo>
                    <a:pt x="1489479" y="154150"/>
                    <a:pt x="1493605" y="163199"/>
                    <a:pt x="1497496" y="172278"/>
                  </a:cubicBezTo>
                  <a:cubicBezTo>
                    <a:pt x="1511638" y="205277"/>
                    <a:pt x="1520018" y="234882"/>
                    <a:pt x="1537253" y="265044"/>
                  </a:cubicBezTo>
                  <a:cubicBezTo>
                    <a:pt x="1591384" y="359773"/>
                    <a:pt x="1573197" y="324225"/>
                    <a:pt x="1656522" y="430696"/>
                  </a:cubicBezTo>
                  <a:cubicBezTo>
                    <a:pt x="1670134" y="448089"/>
                    <a:pt x="1682812" y="466197"/>
                    <a:pt x="1696279" y="483704"/>
                  </a:cubicBezTo>
                  <a:cubicBezTo>
                    <a:pt x="1704902" y="494914"/>
                    <a:pt x="1713948" y="505791"/>
                    <a:pt x="1722783" y="516835"/>
                  </a:cubicBezTo>
                  <a:lnTo>
                    <a:pt x="1749287" y="549965"/>
                  </a:lnTo>
                  <a:lnTo>
                    <a:pt x="1775792" y="583096"/>
                  </a:lnTo>
                  <a:cubicBezTo>
                    <a:pt x="1808566" y="665030"/>
                    <a:pt x="1764647" y="564521"/>
                    <a:pt x="1815548" y="649357"/>
                  </a:cubicBezTo>
                  <a:cubicBezTo>
                    <a:pt x="1850582" y="707748"/>
                    <a:pt x="1810167" y="663856"/>
                    <a:pt x="1842053" y="695739"/>
                  </a:cubicBezTo>
                  <a:cubicBezTo>
                    <a:pt x="1839844" y="728869"/>
                    <a:pt x="1839094" y="762129"/>
                    <a:pt x="1835427" y="795130"/>
                  </a:cubicBezTo>
                  <a:cubicBezTo>
                    <a:pt x="1834656" y="802072"/>
                    <a:pt x="1829862" y="808105"/>
                    <a:pt x="1828800" y="815009"/>
                  </a:cubicBezTo>
                  <a:cubicBezTo>
                    <a:pt x="1825425" y="836948"/>
                    <a:pt x="1824383" y="859183"/>
                    <a:pt x="1822174" y="881270"/>
                  </a:cubicBezTo>
                  <a:cubicBezTo>
                    <a:pt x="1819965" y="951948"/>
                    <a:pt x="1821763" y="1022865"/>
                    <a:pt x="1815548" y="1093304"/>
                  </a:cubicBezTo>
                  <a:cubicBezTo>
                    <a:pt x="1814999" y="1099527"/>
                    <a:pt x="1805510" y="1101200"/>
                    <a:pt x="1802296" y="1106557"/>
                  </a:cubicBezTo>
                  <a:cubicBezTo>
                    <a:pt x="1798703" y="1112546"/>
                    <a:pt x="1800609" y="1121496"/>
                    <a:pt x="1795670" y="1126435"/>
                  </a:cubicBezTo>
                  <a:cubicBezTo>
                    <a:pt x="1723325" y="1198779"/>
                    <a:pt x="1767962" y="1150227"/>
                    <a:pt x="1722783" y="1172817"/>
                  </a:cubicBezTo>
                  <a:cubicBezTo>
                    <a:pt x="1711264" y="1178577"/>
                    <a:pt x="1701611" y="1187913"/>
                    <a:pt x="1689653" y="1192696"/>
                  </a:cubicBezTo>
                  <a:cubicBezTo>
                    <a:pt x="1679196" y="1196879"/>
                    <a:pt x="1667603" y="1197307"/>
                    <a:pt x="1656522" y="1199322"/>
                  </a:cubicBezTo>
                  <a:cubicBezTo>
                    <a:pt x="1616969" y="1206513"/>
                    <a:pt x="1620457" y="1204392"/>
                    <a:pt x="1583635" y="1212574"/>
                  </a:cubicBezTo>
                  <a:cubicBezTo>
                    <a:pt x="1574745" y="1214549"/>
                    <a:pt x="1566234" y="1218932"/>
                    <a:pt x="1557131" y="1219200"/>
                  </a:cubicBezTo>
                  <a:cubicBezTo>
                    <a:pt x="1415818" y="1223356"/>
                    <a:pt x="1274418" y="1223617"/>
                    <a:pt x="1133061" y="1225826"/>
                  </a:cubicBezTo>
                  <a:lnTo>
                    <a:pt x="927653" y="1219200"/>
                  </a:lnTo>
                  <a:cubicBezTo>
                    <a:pt x="905482" y="1218119"/>
                    <a:pt x="883512" y="1214417"/>
                    <a:pt x="861392" y="1212574"/>
                  </a:cubicBezTo>
                  <a:cubicBezTo>
                    <a:pt x="778933" y="1205703"/>
                    <a:pt x="728793" y="1203852"/>
                    <a:pt x="642731" y="1199322"/>
                  </a:cubicBezTo>
                  <a:cubicBezTo>
                    <a:pt x="631687" y="1197113"/>
                    <a:pt x="620526" y="1195427"/>
                    <a:pt x="609600" y="1192696"/>
                  </a:cubicBezTo>
                  <a:cubicBezTo>
                    <a:pt x="602824" y="1191002"/>
                    <a:pt x="596438" y="1187989"/>
                    <a:pt x="589722" y="1186070"/>
                  </a:cubicBezTo>
                  <a:cubicBezTo>
                    <a:pt x="580966" y="1183568"/>
                    <a:pt x="572053" y="1181653"/>
                    <a:pt x="563218" y="1179444"/>
                  </a:cubicBezTo>
                  <a:cubicBezTo>
                    <a:pt x="556592" y="1175026"/>
                    <a:pt x="550463" y="1169753"/>
                    <a:pt x="543340" y="1166191"/>
                  </a:cubicBezTo>
                  <a:cubicBezTo>
                    <a:pt x="526634" y="1157838"/>
                    <a:pt x="507968" y="1157978"/>
                    <a:pt x="490331" y="1152939"/>
                  </a:cubicBezTo>
                  <a:cubicBezTo>
                    <a:pt x="453265" y="1142349"/>
                    <a:pt x="434381" y="1136581"/>
                    <a:pt x="404192" y="1119809"/>
                  </a:cubicBezTo>
                  <a:cubicBezTo>
                    <a:pt x="392934" y="1113554"/>
                    <a:pt x="382319" y="1106185"/>
                    <a:pt x="371061" y="1099930"/>
                  </a:cubicBezTo>
                  <a:cubicBezTo>
                    <a:pt x="362427" y="1095133"/>
                    <a:pt x="353928" y="1089801"/>
                    <a:pt x="344557" y="1086678"/>
                  </a:cubicBezTo>
                  <a:cubicBezTo>
                    <a:pt x="327278" y="1080918"/>
                    <a:pt x="291548" y="1073426"/>
                    <a:pt x="291548" y="1073426"/>
                  </a:cubicBezTo>
                  <a:cubicBezTo>
                    <a:pt x="196833" y="1018176"/>
                    <a:pt x="238572" y="1042207"/>
                    <a:pt x="165653" y="1000539"/>
                  </a:cubicBezTo>
                  <a:lnTo>
                    <a:pt x="119270" y="974035"/>
                  </a:lnTo>
                  <a:cubicBezTo>
                    <a:pt x="108146" y="967546"/>
                    <a:pt x="98097" y="958940"/>
                    <a:pt x="86140" y="954157"/>
                  </a:cubicBezTo>
                  <a:cubicBezTo>
                    <a:pt x="45615" y="937946"/>
                    <a:pt x="62906" y="947502"/>
                    <a:pt x="33131" y="927652"/>
                  </a:cubicBezTo>
                  <a:cubicBezTo>
                    <a:pt x="2753" y="882084"/>
                    <a:pt x="11664" y="903005"/>
                    <a:pt x="0" y="868017"/>
                  </a:cubicBezTo>
                  <a:cubicBezTo>
                    <a:pt x="1149" y="859976"/>
                    <a:pt x="4580" y="816213"/>
                    <a:pt x="13253" y="801757"/>
                  </a:cubicBezTo>
                  <a:cubicBezTo>
                    <a:pt x="16467" y="796400"/>
                    <a:pt x="22506" y="793303"/>
                    <a:pt x="26505" y="788504"/>
                  </a:cubicBezTo>
                  <a:cubicBezTo>
                    <a:pt x="33575" y="780020"/>
                    <a:pt x="39964" y="770986"/>
                    <a:pt x="46383" y="762000"/>
                  </a:cubicBezTo>
                  <a:cubicBezTo>
                    <a:pt x="51012" y="755520"/>
                    <a:pt x="54391" y="748115"/>
                    <a:pt x="59635" y="742122"/>
                  </a:cubicBezTo>
                  <a:cubicBezTo>
                    <a:pt x="69920" y="730368"/>
                    <a:pt x="81722" y="720035"/>
                    <a:pt x="92766" y="708991"/>
                  </a:cubicBezTo>
                  <a:cubicBezTo>
                    <a:pt x="99392" y="702365"/>
                    <a:pt x="107446" y="696910"/>
                    <a:pt x="112644" y="689113"/>
                  </a:cubicBezTo>
                  <a:cubicBezTo>
                    <a:pt x="117061" y="682487"/>
                    <a:pt x="121267" y="675715"/>
                    <a:pt x="125896" y="669235"/>
                  </a:cubicBezTo>
                  <a:cubicBezTo>
                    <a:pt x="132315" y="660248"/>
                    <a:pt x="138704" y="651214"/>
                    <a:pt x="145774" y="642730"/>
                  </a:cubicBezTo>
                  <a:cubicBezTo>
                    <a:pt x="158534" y="627418"/>
                    <a:pt x="185531" y="611217"/>
                    <a:pt x="185531" y="589722"/>
                  </a:cubicBezTo>
                  <a:lnTo>
                    <a:pt x="172279" y="569844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 smtClean="0">
                  <a:solidFill>
                    <a:schemeClr val="tx1"/>
                  </a:solidFill>
                </a:rPr>
                <a:t>Supplier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線接點 6"/>
            <p:cNvCxnSpPr/>
            <p:nvPr/>
          </p:nvCxnSpPr>
          <p:spPr>
            <a:xfrm>
              <a:off x="3276402" y="2926634"/>
              <a:ext cx="1110068" cy="65807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>
              <a:stCxn id="11" idx="37"/>
            </p:cNvCxnSpPr>
            <p:nvPr/>
          </p:nvCxnSpPr>
          <p:spPr>
            <a:xfrm flipV="1">
              <a:off x="3198439" y="4551410"/>
              <a:ext cx="1188031" cy="83289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5801212" y="2708922"/>
              <a:ext cx="787012" cy="64489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>
              <a:endCxn id="4" idx="11"/>
            </p:cNvCxnSpPr>
            <p:nvPr/>
          </p:nvCxnSpPr>
          <p:spPr>
            <a:xfrm>
              <a:off x="5657196" y="4653136"/>
              <a:ext cx="1100196" cy="75327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>
              <a:endCxn id="9" idx="75"/>
            </p:cNvCxnSpPr>
            <p:nvPr/>
          </p:nvCxnSpPr>
          <p:spPr>
            <a:xfrm flipV="1">
              <a:off x="6064092" y="4136301"/>
              <a:ext cx="1048946" cy="8478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/>
            <p:nvPr/>
          </p:nvCxnSpPr>
          <p:spPr>
            <a:xfrm flipV="1">
              <a:off x="5801212" y="2708922"/>
              <a:ext cx="570988" cy="4320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單箭頭接點 27"/>
            <p:cNvCxnSpPr/>
            <p:nvPr/>
          </p:nvCxnSpPr>
          <p:spPr>
            <a:xfrm flipV="1">
              <a:off x="6194718" y="4062811"/>
              <a:ext cx="753546" cy="734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/>
            <p:cNvCxnSpPr/>
            <p:nvPr/>
          </p:nvCxnSpPr>
          <p:spPr>
            <a:xfrm>
              <a:off x="5717706" y="4867470"/>
              <a:ext cx="654494" cy="4337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/>
            <p:cNvCxnSpPr/>
            <p:nvPr/>
          </p:nvCxnSpPr>
          <p:spPr>
            <a:xfrm>
              <a:off x="3327074" y="3161866"/>
              <a:ext cx="724516" cy="4228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33"/>
            <p:cNvCxnSpPr/>
            <p:nvPr/>
          </p:nvCxnSpPr>
          <p:spPr>
            <a:xfrm flipV="1">
              <a:off x="3317709" y="4551410"/>
              <a:ext cx="761778" cy="5329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5201961" y="2627620"/>
              <a:ext cx="1026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 smtClean="0"/>
                <a:t>Push()</a:t>
              </a:r>
              <a:endParaRPr lang="zh-TW" altLang="en-US" dirty="0"/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6066057" y="3707740"/>
              <a:ext cx="1026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 smtClean="0"/>
                <a:t>Push()</a:t>
              </a:r>
              <a:endParaRPr lang="zh-TW" altLang="en-US" dirty="0"/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5292080" y="5075892"/>
              <a:ext cx="1026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 smtClean="0"/>
                <a:t>Push()</a:t>
              </a:r>
              <a:endParaRPr lang="zh-TW" altLang="en-US" dirty="0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2699792" y="4581128"/>
              <a:ext cx="1026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 smtClean="0"/>
                <a:t>Push()</a:t>
              </a:r>
              <a:endParaRPr lang="zh-TW" altLang="en-US" dirty="0"/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2969713" y="3356992"/>
              <a:ext cx="1026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 smtClean="0"/>
                <a:t>Push()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1810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>
                <a:ea typeface="新細明體" panose="02020500000000000000" pitchFamily="18" charset="-120"/>
              </a:rPr>
              <a:t>The Canonical Pull Model</a:t>
            </a:r>
            <a:endParaRPr lang="zh-TW" altLang="en-US" dirty="0" smtClean="0">
              <a:ea typeface="新細明體" panose="02020500000000000000" pitchFamily="18" charset="-12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899592" y="1700808"/>
            <a:ext cx="7386669" cy="4752528"/>
            <a:chOff x="899592" y="1700808"/>
            <a:chExt cx="7386669" cy="4752528"/>
          </a:xfrm>
        </p:grpSpPr>
        <p:sp>
          <p:nvSpPr>
            <p:cNvPr id="5" name="雲朵形圖說文字 4"/>
            <p:cNvSpPr/>
            <p:nvPr/>
          </p:nvSpPr>
          <p:spPr>
            <a:xfrm>
              <a:off x="3492693" y="3310162"/>
              <a:ext cx="2160240" cy="1872208"/>
            </a:xfrm>
            <a:prstGeom prst="cloud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2000" dirty="0"/>
                <a:t>Event Channel</a:t>
              </a:r>
            </a:p>
            <a:p>
              <a:pPr algn="ctr" eaLnBrk="1" hangingPunct="1">
                <a:defRPr/>
              </a:pPr>
              <a:r>
                <a:rPr lang="en-US" altLang="zh-TW" sz="2000" dirty="0"/>
                <a:t>(Clawer,</a:t>
              </a:r>
            </a:p>
            <a:p>
              <a:pPr algn="ctr" eaLnBrk="1" hangingPunct="1">
                <a:defRPr/>
              </a:pPr>
              <a:r>
                <a:rPr lang="en-US" altLang="zh-TW" sz="2000" dirty="0"/>
                <a:t>Repository)</a:t>
              </a:r>
              <a:endParaRPr lang="zh-TW" altLang="en-US" sz="2000" dirty="0"/>
            </a:p>
          </p:txBody>
        </p:sp>
        <p:sp>
          <p:nvSpPr>
            <p:cNvPr id="8" name="手繪多邊形 7"/>
            <p:cNvSpPr/>
            <p:nvPr/>
          </p:nvSpPr>
          <p:spPr>
            <a:xfrm>
              <a:off x="5724128" y="5227510"/>
              <a:ext cx="1842053" cy="1225826"/>
            </a:xfrm>
            <a:custGeom>
              <a:avLst/>
              <a:gdLst>
                <a:gd name="connsiteX0" fmla="*/ 172279 w 1842053"/>
                <a:gd name="connsiteY0" fmla="*/ 569844 h 1225826"/>
                <a:gd name="connsiteX1" fmla="*/ 172279 w 1842053"/>
                <a:gd name="connsiteY1" fmla="*/ 569844 h 1225826"/>
                <a:gd name="connsiteX2" fmla="*/ 212035 w 1842053"/>
                <a:gd name="connsiteY2" fmla="*/ 490330 h 1225826"/>
                <a:gd name="connsiteX3" fmla="*/ 231914 w 1842053"/>
                <a:gd name="connsiteY3" fmla="*/ 450574 h 1225826"/>
                <a:gd name="connsiteX4" fmla="*/ 245166 w 1842053"/>
                <a:gd name="connsiteY4" fmla="*/ 404191 h 1225826"/>
                <a:gd name="connsiteX5" fmla="*/ 258418 w 1842053"/>
                <a:gd name="connsiteY5" fmla="*/ 377687 h 1225826"/>
                <a:gd name="connsiteX6" fmla="*/ 271670 w 1842053"/>
                <a:gd name="connsiteY6" fmla="*/ 331304 h 1225826"/>
                <a:gd name="connsiteX7" fmla="*/ 331305 w 1842053"/>
                <a:gd name="connsiteY7" fmla="*/ 258417 h 1225826"/>
                <a:gd name="connsiteX8" fmla="*/ 357809 w 1842053"/>
                <a:gd name="connsiteY8" fmla="*/ 238539 h 1225826"/>
                <a:gd name="connsiteX9" fmla="*/ 377687 w 1842053"/>
                <a:gd name="connsiteY9" fmla="*/ 231913 h 1225826"/>
                <a:gd name="connsiteX10" fmla="*/ 404192 w 1842053"/>
                <a:gd name="connsiteY10" fmla="*/ 218661 h 1225826"/>
                <a:gd name="connsiteX11" fmla="*/ 457200 w 1842053"/>
                <a:gd name="connsiteY11" fmla="*/ 178904 h 1225826"/>
                <a:gd name="connsiteX12" fmla="*/ 490331 w 1842053"/>
                <a:gd name="connsiteY12" fmla="*/ 172278 h 1225826"/>
                <a:gd name="connsiteX13" fmla="*/ 543340 w 1842053"/>
                <a:gd name="connsiteY13" fmla="*/ 159026 h 1225826"/>
                <a:gd name="connsiteX14" fmla="*/ 563218 w 1842053"/>
                <a:gd name="connsiteY14" fmla="*/ 152400 h 1225826"/>
                <a:gd name="connsiteX15" fmla="*/ 602974 w 1842053"/>
                <a:gd name="connsiteY15" fmla="*/ 125896 h 1225826"/>
                <a:gd name="connsiteX16" fmla="*/ 669235 w 1842053"/>
                <a:gd name="connsiteY16" fmla="*/ 112644 h 1225826"/>
                <a:gd name="connsiteX17" fmla="*/ 795131 w 1842053"/>
                <a:gd name="connsiteY17" fmla="*/ 99391 h 1225826"/>
                <a:gd name="connsiteX18" fmla="*/ 834887 w 1842053"/>
                <a:gd name="connsiteY18" fmla="*/ 86139 h 1225826"/>
                <a:gd name="connsiteX19" fmla="*/ 881270 w 1842053"/>
                <a:gd name="connsiteY19" fmla="*/ 72887 h 1225826"/>
                <a:gd name="connsiteX20" fmla="*/ 934279 w 1842053"/>
                <a:gd name="connsiteY20" fmla="*/ 39757 h 1225826"/>
                <a:gd name="connsiteX21" fmla="*/ 980661 w 1842053"/>
                <a:gd name="connsiteY21" fmla="*/ 26504 h 1225826"/>
                <a:gd name="connsiteX22" fmla="*/ 1000540 w 1842053"/>
                <a:gd name="connsiteY22" fmla="*/ 19878 h 1225826"/>
                <a:gd name="connsiteX23" fmla="*/ 1040296 w 1842053"/>
                <a:gd name="connsiteY23" fmla="*/ 13252 h 1225826"/>
                <a:gd name="connsiteX24" fmla="*/ 1086679 w 1842053"/>
                <a:gd name="connsiteY24" fmla="*/ 0 h 1225826"/>
                <a:gd name="connsiteX25" fmla="*/ 1245705 w 1842053"/>
                <a:gd name="connsiteY25" fmla="*/ 6626 h 1225826"/>
                <a:gd name="connsiteX26" fmla="*/ 1298714 w 1842053"/>
                <a:gd name="connsiteY26" fmla="*/ 19878 h 1225826"/>
                <a:gd name="connsiteX27" fmla="*/ 1331844 w 1842053"/>
                <a:gd name="connsiteY27" fmla="*/ 39757 h 1225826"/>
                <a:gd name="connsiteX28" fmla="*/ 1358348 w 1842053"/>
                <a:gd name="connsiteY28" fmla="*/ 46383 h 1225826"/>
                <a:gd name="connsiteX29" fmla="*/ 1398105 w 1842053"/>
                <a:gd name="connsiteY29" fmla="*/ 72887 h 1225826"/>
                <a:gd name="connsiteX30" fmla="*/ 1417983 w 1842053"/>
                <a:gd name="connsiteY30" fmla="*/ 79513 h 1225826"/>
                <a:gd name="connsiteX31" fmla="*/ 1464366 w 1842053"/>
                <a:gd name="connsiteY31" fmla="*/ 119270 h 1225826"/>
                <a:gd name="connsiteX32" fmla="*/ 1484244 w 1842053"/>
                <a:gd name="connsiteY32" fmla="*/ 145774 h 1225826"/>
                <a:gd name="connsiteX33" fmla="*/ 1497496 w 1842053"/>
                <a:gd name="connsiteY33" fmla="*/ 172278 h 1225826"/>
                <a:gd name="connsiteX34" fmla="*/ 1537253 w 1842053"/>
                <a:gd name="connsiteY34" fmla="*/ 265044 h 1225826"/>
                <a:gd name="connsiteX35" fmla="*/ 1656522 w 1842053"/>
                <a:gd name="connsiteY35" fmla="*/ 430696 h 1225826"/>
                <a:gd name="connsiteX36" fmla="*/ 1696279 w 1842053"/>
                <a:gd name="connsiteY36" fmla="*/ 483704 h 1225826"/>
                <a:gd name="connsiteX37" fmla="*/ 1722783 w 1842053"/>
                <a:gd name="connsiteY37" fmla="*/ 516835 h 1225826"/>
                <a:gd name="connsiteX38" fmla="*/ 1749287 w 1842053"/>
                <a:gd name="connsiteY38" fmla="*/ 549965 h 1225826"/>
                <a:gd name="connsiteX39" fmla="*/ 1775792 w 1842053"/>
                <a:gd name="connsiteY39" fmla="*/ 583096 h 1225826"/>
                <a:gd name="connsiteX40" fmla="*/ 1815548 w 1842053"/>
                <a:gd name="connsiteY40" fmla="*/ 649357 h 1225826"/>
                <a:gd name="connsiteX41" fmla="*/ 1842053 w 1842053"/>
                <a:gd name="connsiteY41" fmla="*/ 695739 h 1225826"/>
                <a:gd name="connsiteX42" fmla="*/ 1835427 w 1842053"/>
                <a:gd name="connsiteY42" fmla="*/ 795130 h 1225826"/>
                <a:gd name="connsiteX43" fmla="*/ 1828800 w 1842053"/>
                <a:gd name="connsiteY43" fmla="*/ 815009 h 1225826"/>
                <a:gd name="connsiteX44" fmla="*/ 1822174 w 1842053"/>
                <a:gd name="connsiteY44" fmla="*/ 881270 h 1225826"/>
                <a:gd name="connsiteX45" fmla="*/ 1815548 w 1842053"/>
                <a:gd name="connsiteY45" fmla="*/ 1093304 h 1225826"/>
                <a:gd name="connsiteX46" fmla="*/ 1802296 w 1842053"/>
                <a:gd name="connsiteY46" fmla="*/ 1106557 h 1225826"/>
                <a:gd name="connsiteX47" fmla="*/ 1795670 w 1842053"/>
                <a:gd name="connsiteY47" fmla="*/ 1126435 h 1225826"/>
                <a:gd name="connsiteX48" fmla="*/ 1722783 w 1842053"/>
                <a:gd name="connsiteY48" fmla="*/ 1172817 h 1225826"/>
                <a:gd name="connsiteX49" fmla="*/ 1689653 w 1842053"/>
                <a:gd name="connsiteY49" fmla="*/ 1192696 h 1225826"/>
                <a:gd name="connsiteX50" fmla="*/ 1656522 w 1842053"/>
                <a:gd name="connsiteY50" fmla="*/ 1199322 h 1225826"/>
                <a:gd name="connsiteX51" fmla="*/ 1583635 w 1842053"/>
                <a:gd name="connsiteY51" fmla="*/ 1212574 h 1225826"/>
                <a:gd name="connsiteX52" fmla="*/ 1557131 w 1842053"/>
                <a:gd name="connsiteY52" fmla="*/ 1219200 h 1225826"/>
                <a:gd name="connsiteX53" fmla="*/ 1133061 w 1842053"/>
                <a:gd name="connsiteY53" fmla="*/ 1225826 h 1225826"/>
                <a:gd name="connsiteX54" fmla="*/ 927653 w 1842053"/>
                <a:gd name="connsiteY54" fmla="*/ 1219200 h 1225826"/>
                <a:gd name="connsiteX55" fmla="*/ 861392 w 1842053"/>
                <a:gd name="connsiteY55" fmla="*/ 1212574 h 1225826"/>
                <a:gd name="connsiteX56" fmla="*/ 642731 w 1842053"/>
                <a:gd name="connsiteY56" fmla="*/ 1199322 h 1225826"/>
                <a:gd name="connsiteX57" fmla="*/ 609600 w 1842053"/>
                <a:gd name="connsiteY57" fmla="*/ 1192696 h 1225826"/>
                <a:gd name="connsiteX58" fmla="*/ 589722 w 1842053"/>
                <a:gd name="connsiteY58" fmla="*/ 1186070 h 1225826"/>
                <a:gd name="connsiteX59" fmla="*/ 563218 w 1842053"/>
                <a:gd name="connsiteY59" fmla="*/ 1179444 h 1225826"/>
                <a:gd name="connsiteX60" fmla="*/ 543340 w 1842053"/>
                <a:gd name="connsiteY60" fmla="*/ 1166191 h 1225826"/>
                <a:gd name="connsiteX61" fmla="*/ 490331 w 1842053"/>
                <a:gd name="connsiteY61" fmla="*/ 1152939 h 1225826"/>
                <a:gd name="connsiteX62" fmla="*/ 404192 w 1842053"/>
                <a:gd name="connsiteY62" fmla="*/ 1119809 h 1225826"/>
                <a:gd name="connsiteX63" fmla="*/ 371061 w 1842053"/>
                <a:gd name="connsiteY63" fmla="*/ 1099930 h 1225826"/>
                <a:gd name="connsiteX64" fmla="*/ 344557 w 1842053"/>
                <a:gd name="connsiteY64" fmla="*/ 1086678 h 1225826"/>
                <a:gd name="connsiteX65" fmla="*/ 291548 w 1842053"/>
                <a:gd name="connsiteY65" fmla="*/ 1073426 h 1225826"/>
                <a:gd name="connsiteX66" fmla="*/ 165653 w 1842053"/>
                <a:gd name="connsiteY66" fmla="*/ 1000539 h 1225826"/>
                <a:gd name="connsiteX67" fmla="*/ 119270 w 1842053"/>
                <a:gd name="connsiteY67" fmla="*/ 974035 h 1225826"/>
                <a:gd name="connsiteX68" fmla="*/ 86140 w 1842053"/>
                <a:gd name="connsiteY68" fmla="*/ 954157 h 1225826"/>
                <a:gd name="connsiteX69" fmla="*/ 33131 w 1842053"/>
                <a:gd name="connsiteY69" fmla="*/ 927652 h 1225826"/>
                <a:gd name="connsiteX70" fmla="*/ 0 w 1842053"/>
                <a:gd name="connsiteY70" fmla="*/ 868017 h 1225826"/>
                <a:gd name="connsiteX71" fmla="*/ 13253 w 1842053"/>
                <a:gd name="connsiteY71" fmla="*/ 801757 h 1225826"/>
                <a:gd name="connsiteX72" fmla="*/ 26505 w 1842053"/>
                <a:gd name="connsiteY72" fmla="*/ 788504 h 1225826"/>
                <a:gd name="connsiteX73" fmla="*/ 46383 w 1842053"/>
                <a:gd name="connsiteY73" fmla="*/ 762000 h 1225826"/>
                <a:gd name="connsiteX74" fmla="*/ 59635 w 1842053"/>
                <a:gd name="connsiteY74" fmla="*/ 742122 h 1225826"/>
                <a:gd name="connsiteX75" fmla="*/ 92766 w 1842053"/>
                <a:gd name="connsiteY75" fmla="*/ 708991 h 1225826"/>
                <a:gd name="connsiteX76" fmla="*/ 112644 w 1842053"/>
                <a:gd name="connsiteY76" fmla="*/ 689113 h 1225826"/>
                <a:gd name="connsiteX77" fmla="*/ 125896 w 1842053"/>
                <a:gd name="connsiteY77" fmla="*/ 669235 h 1225826"/>
                <a:gd name="connsiteX78" fmla="*/ 145774 w 1842053"/>
                <a:gd name="connsiteY78" fmla="*/ 642730 h 1225826"/>
                <a:gd name="connsiteX79" fmla="*/ 185531 w 1842053"/>
                <a:gd name="connsiteY79" fmla="*/ 589722 h 1225826"/>
                <a:gd name="connsiteX80" fmla="*/ 172279 w 1842053"/>
                <a:gd name="connsiteY80" fmla="*/ 569844 h 122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842053" h="1225826">
                  <a:moveTo>
                    <a:pt x="172279" y="569844"/>
                  </a:moveTo>
                  <a:lnTo>
                    <a:pt x="172279" y="569844"/>
                  </a:lnTo>
                  <a:cubicBezTo>
                    <a:pt x="185531" y="543339"/>
                    <a:pt x="202664" y="518442"/>
                    <a:pt x="212035" y="490330"/>
                  </a:cubicBezTo>
                  <a:cubicBezTo>
                    <a:pt x="221179" y="462897"/>
                    <a:pt x="214787" y="476263"/>
                    <a:pt x="231914" y="450574"/>
                  </a:cubicBezTo>
                  <a:cubicBezTo>
                    <a:pt x="235276" y="437127"/>
                    <a:pt x="239463" y="417498"/>
                    <a:pt x="245166" y="404191"/>
                  </a:cubicBezTo>
                  <a:cubicBezTo>
                    <a:pt x="249057" y="395112"/>
                    <a:pt x="254950" y="386936"/>
                    <a:pt x="258418" y="377687"/>
                  </a:cubicBezTo>
                  <a:cubicBezTo>
                    <a:pt x="262376" y="367131"/>
                    <a:pt x="265510" y="342393"/>
                    <a:pt x="271670" y="331304"/>
                  </a:cubicBezTo>
                  <a:cubicBezTo>
                    <a:pt x="286010" y="305491"/>
                    <a:pt x="307335" y="276394"/>
                    <a:pt x="331305" y="258417"/>
                  </a:cubicBezTo>
                  <a:cubicBezTo>
                    <a:pt x="340140" y="251791"/>
                    <a:pt x="348221" y="244018"/>
                    <a:pt x="357809" y="238539"/>
                  </a:cubicBezTo>
                  <a:cubicBezTo>
                    <a:pt x="363873" y="235074"/>
                    <a:pt x="371267" y="234664"/>
                    <a:pt x="377687" y="231913"/>
                  </a:cubicBezTo>
                  <a:cubicBezTo>
                    <a:pt x="386766" y="228022"/>
                    <a:pt x="395357" y="223078"/>
                    <a:pt x="404192" y="218661"/>
                  </a:cubicBezTo>
                  <a:cubicBezTo>
                    <a:pt x="423192" y="199661"/>
                    <a:pt x="429758" y="189881"/>
                    <a:pt x="457200" y="178904"/>
                  </a:cubicBezTo>
                  <a:cubicBezTo>
                    <a:pt x="467657" y="174721"/>
                    <a:pt x="479357" y="174810"/>
                    <a:pt x="490331" y="172278"/>
                  </a:cubicBezTo>
                  <a:cubicBezTo>
                    <a:pt x="508078" y="168183"/>
                    <a:pt x="526061" y="164786"/>
                    <a:pt x="543340" y="159026"/>
                  </a:cubicBezTo>
                  <a:cubicBezTo>
                    <a:pt x="549966" y="156817"/>
                    <a:pt x="557113" y="155792"/>
                    <a:pt x="563218" y="152400"/>
                  </a:cubicBezTo>
                  <a:cubicBezTo>
                    <a:pt x="577141" y="144665"/>
                    <a:pt x="587356" y="129019"/>
                    <a:pt x="602974" y="125896"/>
                  </a:cubicBezTo>
                  <a:cubicBezTo>
                    <a:pt x="625061" y="121479"/>
                    <a:pt x="646803" y="114684"/>
                    <a:pt x="669235" y="112644"/>
                  </a:cubicBezTo>
                  <a:cubicBezTo>
                    <a:pt x="759856" y="104405"/>
                    <a:pt x="717914" y="109043"/>
                    <a:pt x="795131" y="99391"/>
                  </a:cubicBezTo>
                  <a:cubicBezTo>
                    <a:pt x="808383" y="94974"/>
                    <a:pt x="821456" y="89976"/>
                    <a:pt x="834887" y="86139"/>
                  </a:cubicBezTo>
                  <a:cubicBezTo>
                    <a:pt x="850348" y="81722"/>
                    <a:pt x="866158" y="78382"/>
                    <a:pt x="881270" y="72887"/>
                  </a:cubicBezTo>
                  <a:cubicBezTo>
                    <a:pt x="920216" y="58725"/>
                    <a:pt x="897005" y="61057"/>
                    <a:pt x="934279" y="39757"/>
                  </a:cubicBezTo>
                  <a:cubicBezTo>
                    <a:pt x="942227" y="35215"/>
                    <a:pt x="974199" y="28350"/>
                    <a:pt x="980661" y="26504"/>
                  </a:cubicBezTo>
                  <a:cubicBezTo>
                    <a:pt x="987377" y="24585"/>
                    <a:pt x="993722" y="21393"/>
                    <a:pt x="1000540" y="19878"/>
                  </a:cubicBezTo>
                  <a:cubicBezTo>
                    <a:pt x="1013655" y="16964"/>
                    <a:pt x="1027122" y="15887"/>
                    <a:pt x="1040296" y="13252"/>
                  </a:cubicBezTo>
                  <a:cubicBezTo>
                    <a:pt x="1061095" y="9092"/>
                    <a:pt x="1067734" y="6315"/>
                    <a:pt x="1086679" y="0"/>
                  </a:cubicBezTo>
                  <a:cubicBezTo>
                    <a:pt x="1139688" y="2209"/>
                    <a:pt x="1192776" y="2976"/>
                    <a:pt x="1245705" y="6626"/>
                  </a:cubicBezTo>
                  <a:cubicBezTo>
                    <a:pt x="1254473" y="7231"/>
                    <a:pt x="1287508" y="14275"/>
                    <a:pt x="1298714" y="19878"/>
                  </a:cubicBezTo>
                  <a:cubicBezTo>
                    <a:pt x="1310233" y="25638"/>
                    <a:pt x="1320075" y="34526"/>
                    <a:pt x="1331844" y="39757"/>
                  </a:cubicBezTo>
                  <a:cubicBezTo>
                    <a:pt x="1340166" y="43456"/>
                    <a:pt x="1349513" y="44174"/>
                    <a:pt x="1358348" y="46383"/>
                  </a:cubicBezTo>
                  <a:cubicBezTo>
                    <a:pt x="1371600" y="55218"/>
                    <a:pt x="1384182" y="65152"/>
                    <a:pt x="1398105" y="72887"/>
                  </a:cubicBezTo>
                  <a:cubicBezTo>
                    <a:pt x="1404211" y="76279"/>
                    <a:pt x="1411736" y="76389"/>
                    <a:pt x="1417983" y="79513"/>
                  </a:cubicBezTo>
                  <a:cubicBezTo>
                    <a:pt x="1434009" y="87526"/>
                    <a:pt x="1454584" y="106228"/>
                    <a:pt x="1464366" y="119270"/>
                  </a:cubicBezTo>
                  <a:cubicBezTo>
                    <a:pt x="1470992" y="128105"/>
                    <a:pt x="1478391" y="136409"/>
                    <a:pt x="1484244" y="145774"/>
                  </a:cubicBezTo>
                  <a:cubicBezTo>
                    <a:pt x="1489479" y="154150"/>
                    <a:pt x="1493605" y="163199"/>
                    <a:pt x="1497496" y="172278"/>
                  </a:cubicBezTo>
                  <a:cubicBezTo>
                    <a:pt x="1511638" y="205277"/>
                    <a:pt x="1520018" y="234882"/>
                    <a:pt x="1537253" y="265044"/>
                  </a:cubicBezTo>
                  <a:cubicBezTo>
                    <a:pt x="1591384" y="359773"/>
                    <a:pt x="1573197" y="324225"/>
                    <a:pt x="1656522" y="430696"/>
                  </a:cubicBezTo>
                  <a:cubicBezTo>
                    <a:pt x="1670134" y="448089"/>
                    <a:pt x="1682812" y="466197"/>
                    <a:pt x="1696279" y="483704"/>
                  </a:cubicBezTo>
                  <a:cubicBezTo>
                    <a:pt x="1704902" y="494914"/>
                    <a:pt x="1713948" y="505791"/>
                    <a:pt x="1722783" y="516835"/>
                  </a:cubicBezTo>
                  <a:lnTo>
                    <a:pt x="1749287" y="549965"/>
                  </a:lnTo>
                  <a:lnTo>
                    <a:pt x="1775792" y="583096"/>
                  </a:lnTo>
                  <a:cubicBezTo>
                    <a:pt x="1808566" y="665030"/>
                    <a:pt x="1764647" y="564521"/>
                    <a:pt x="1815548" y="649357"/>
                  </a:cubicBezTo>
                  <a:cubicBezTo>
                    <a:pt x="1850582" y="707748"/>
                    <a:pt x="1810167" y="663856"/>
                    <a:pt x="1842053" y="695739"/>
                  </a:cubicBezTo>
                  <a:cubicBezTo>
                    <a:pt x="1839844" y="728869"/>
                    <a:pt x="1839094" y="762129"/>
                    <a:pt x="1835427" y="795130"/>
                  </a:cubicBezTo>
                  <a:cubicBezTo>
                    <a:pt x="1834656" y="802072"/>
                    <a:pt x="1829862" y="808105"/>
                    <a:pt x="1828800" y="815009"/>
                  </a:cubicBezTo>
                  <a:cubicBezTo>
                    <a:pt x="1825425" y="836948"/>
                    <a:pt x="1824383" y="859183"/>
                    <a:pt x="1822174" y="881270"/>
                  </a:cubicBezTo>
                  <a:cubicBezTo>
                    <a:pt x="1819965" y="951948"/>
                    <a:pt x="1821763" y="1022865"/>
                    <a:pt x="1815548" y="1093304"/>
                  </a:cubicBezTo>
                  <a:cubicBezTo>
                    <a:pt x="1814999" y="1099527"/>
                    <a:pt x="1805510" y="1101200"/>
                    <a:pt x="1802296" y="1106557"/>
                  </a:cubicBezTo>
                  <a:cubicBezTo>
                    <a:pt x="1798703" y="1112546"/>
                    <a:pt x="1800609" y="1121496"/>
                    <a:pt x="1795670" y="1126435"/>
                  </a:cubicBezTo>
                  <a:cubicBezTo>
                    <a:pt x="1723325" y="1198779"/>
                    <a:pt x="1767962" y="1150227"/>
                    <a:pt x="1722783" y="1172817"/>
                  </a:cubicBezTo>
                  <a:cubicBezTo>
                    <a:pt x="1711264" y="1178577"/>
                    <a:pt x="1701611" y="1187913"/>
                    <a:pt x="1689653" y="1192696"/>
                  </a:cubicBezTo>
                  <a:cubicBezTo>
                    <a:pt x="1679196" y="1196879"/>
                    <a:pt x="1667603" y="1197307"/>
                    <a:pt x="1656522" y="1199322"/>
                  </a:cubicBezTo>
                  <a:cubicBezTo>
                    <a:pt x="1616969" y="1206513"/>
                    <a:pt x="1620457" y="1204392"/>
                    <a:pt x="1583635" y="1212574"/>
                  </a:cubicBezTo>
                  <a:cubicBezTo>
                    <a:pt x="1574745" y="1214549"/>
                    <a:pt x="1566234" y="1218932"/>
                    <a:pt x="1557131" y="1219200"/>
                  </a:cubicBezTo>
                  <a:cubicBezTo>
                    <a:pt x="1415818" y="1223356"/>
                    <a:pt x="1274418" y="1223617"/>
                    <a:pt x="1133061" y="1225826"/>
                  </a:cubicBezTo>
                  <a:lnTo>
                    <a:pt x="927653" y="1219200"/>
                  </a:lnTo>
                  <a:cubicBezTo>
                    <a:pt x="905482" y="1218119"/>
                    <a:pt x="883512" y="1214417"/>
                    <a:pt x="861392" y="1212574"/>
                  </a:cubicBezTo>
                  <a:cubicBezTo>
                    <a:pt x="778933" y="1205703"/>
                    <a:pt x="728793" y="1203852"/>
                    <a:pt x="642731" y="1199322"/>
                  </a:cubicBezTo>
                  <a:cubicBezTo>
                    <a:pt x="631687" y="1197113"/>
                    <a:pt x="620526" y="1195427"/>
                    <a:pt x="609600" y="1192696"/>
                  </a:cubicBezTo>
                  <a:cubicBezTo>
                    <a:pt x="602824" y="1191002"/>
                    <a:pt x="596438" y="1187989"/>
                    <a:pt x="589722" y="1186070"/>
                  </a:cubicBezTo>
                  <a:cubicBezTo>
                    <a:pt x="580966" y="1183568"/>
                    <a:pt x="572053" y="1181653"/>
                    <a:pt x="563218" y="1179444"/>
                  </a:cubicBezTo>
                  <a:cubicBezTo>
                    <a:pt x="556592" y="1175026"/>
                    <a:pt x="550463" y="1169753"/>
                    <a:pt x="543340" y="1166191"/>
                  </a:cubicBezTo>
                  <a:cubicBezTo>
                    <a:pt x="526634" y="1157838"/>
                    <a:pt x="507968" y="1157978"/>
                    <a:pt x="490331" y="1152939"/>
                  </a:cubicBezTo>
                  <a:cubicBezTo>
                    <a:pt x="453265" y="1142349"/>
                    <a:pt x="434381" y="1136581"/>
                    <a:pt x="404192" y="1119809"/>
                  </a:cubicBezTo>
                  <a:cubicBezTo>
                    <a:pt x="392934" y="1113554"/>
                    <a:pt x="382319" y="1106185"/>
                    <a:pt x="371061" y="1099930"/>
                  </a:cubicBezTo>
                  <a:cubicBezTo>
                    <a:pt x="362427" y="1095133"/>
                    <a:pt x="353928" y="1089801"/>
                    <a:pt x="344557" y="1086678"/>
                  </a:cubicBezTo>
                  <a:cubicBezTo>
                    <a:pt x="327278" y="1080918"/>
                    <a:pt x="291548" y="1073426"/>
                    <a:pt x="291548" y="1073426"/>
                  </a:cubicBezTo>
                  <a:cubicBezTo>
                    <a:pt x="196833" y="1018176"/>
                    <a:pt x="238572" y="1042207"/>
                    <a:pt x="165653" y="1000539"/>
                  </a:cubicBezTo>
                  <a:lnTo>
                    <a:pt x="119270" y="974035"/>
                  </a:lnTo>
                  <a:cubicBezTo>
                    <a:pt x="108146" y="967546"/>
                    <a:pt x="98097" y="958940"/>
                    <a:pt x="86140" y="954157"/>
                  </a:cubicBezTo>
                  <a:cubicBezTo>
                    <a:pt x="45615" y="937946"/>
                    <a:pt x="62906" y="947502"/>
                    <a:pt x="33131" y="927652"/>
                  </a:cubicBezTo>
                  <a:cubicBezTo>
                    <a:pt x="2753" y="882084"/>
                    <a:pt x="11664" y="903005"/>
                    <a:pt x="0" y="868017"/>
                  </a:cubicBezTo>
                  <a:cubicBezTo>
                    <a:pt x="1149" y="859976"/>
                    <a:pt x="4580" y="816213"/>
                    <a:pt x="13253" y="801757"/>
                  </a:cubicBezTo>
                  <a:cubicBezTo>
                    <a:pt x="16467" y="796400"/>
                    <a:pt x="22506" y="793303"/>
                    <a:pt x="26505" y="788504"/>
                  </a:cubicBezTo>
                  <a:cubicBezTo>
                    <a:pt x="33575" y="780020"/>
                    <a:pt x="39964" y="770986"/>
                    <a:pt x="46383" y="762000"/>
                  </a:cubicBezTo>
                  <a:cubicBezTo>
                    <a:pt x="51012" y="755520"/>
                    <a:pt x="54391" y="748115"/>
                    <a:pt x="59635" y="742122"/>
                  </a:cubicBezTo>
                  <a:cubicBezTo>
                    <a:pt x="69920" y="730368"/>
                    <a:pt x="81722" y="720035"/>
                    <a:pt x="92766" y="708991"/>
                  </a:cubicBezTo>
                  <a:cubicBezTo>
                    <a:pt x="99392" y="702365"/>
                    <a:pt x="107446" y="696910"/>
                    <a:pt x="112644" y="689113"/>
                  </a:cubicBezTo>
                  <a:cubicBezTo>
                    <a:pt x="117061" y="682487"/>
                    <a:pt x="121267" y="675715"/>
                    <a:pt x="125896" y="669235"/>
                  </a:cubicBezTo>
                  <a:cubicBezTo>
                    <a:pt x="132315" y="660248"/>
                    <a:pt x="138704" y="651214"/>
                    <a:pt x="145774" y="642730"/>
                  </a:cubicBezTo>
                  <a:cubicBezTo>
                    <a:pt x="158534" y="627418"/>
                    <a:pt x="185531" y="611217"/>
                    <a:pt x="185531" y="589722"/>
                  </a:cubicBezTo>
                  <a:lnTo>
                    <a:pt x="172279" y="569844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 smtClean="0">
                  <a:solidFill>
                    <a:schemeClr val="tx1"/>
                  </a:solidFill>
                </a:rPr>
                <a:t>Consumer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手繪多邊形 8"/>
            <p:cNvSpPr/>
            <p:nvPr/>
          </p:nvSpPr>
          <p:spPr>
            <a:xfrm>
              <a:off x="5868144" y="1700808"/>
              <a:ext cx="1842053" cy="1225826"/>
            </a:xfrm>
            <a:custGeom>
              <a:avLst/>
              <a:gdLst>
                <a:gd name="connsiteX0" fmla="*/ 172279 w 1842053"/>
                <a:gd name="connsiteY0" fmla="*/ 569844 h 1225826"/>
                <a:gd name="connsiteX1" fmla="*/ 172279 w 1842053"/>
                <a:gd name="connsiteY1" fmla="*/ 569844 h 1225826"/>
                <a:gd name="connsiteX2" fmla="*/ 212035 w 1842053"/>
                <a:gd name="connsiteY2" fmla="*/ 490330 h 1225826"/>
                <a:gd name="connsiteX3" fmla="*/ 231914 w 1842053"/>
                <a:gd name="connsiteY3" fmla="*/ 450574 h 1225826"/>
                <a:gd name="connsiteX4" fmla="*/ 245166 w 1842053"/>
                <a:gd name="connsiteY4" fmla="*/ 404191 h 1225826"/>
                <a:gd name="connsiteX5" fmla="*/ 258418 w 1842053"/>
                <a:gd name="connsiteY5" fmla="*/ 377687 h 1225826"/>
                <a:gd name="connsiteX6" fmla="*/ 271670 w 1842053"/>
                <a:gd name="connsiteY6" fmla="*/ 331304 h 1225826"/>
                <a:gd name="connsiteX7" fmla="*/ 331305 w 1842053"/>
                <a:gd name="connsiteY7" fmla="*/ 258417 h 1225826"/>
                <a:gd name="connsiteX8" fmla="*/ 357809 w 1842053"/>
                <a:gd name="connsiteY8" fmla="*/ 238539 h 1225826"/>
                <a:gd name="connsiteX9" fmla="*/ 377687 w 1842053"/>
                <a:gd name="connsiteY9" fmla="*/ 231913 h 1225826"/>
                <a:gd name="connsiteX10" fmla="*/ 404192 w 1842053"/>
                <a:gd name="connsiteY10" fmla="*/ 218661 h 1225826"/>
                <a:gd name="connsiteX11" fmla="*/ 457200 w 1842053"/>
                <a:gd name="connsiteY11" fmla="*/ 178904 h 1225826"/>
                <a:gd name="connsiteX12" fmla="*/ 490331 w 1842053"/>
                <a:gd name="connsiteY12" fmla="*/ 172278 h 1225826"/>
                <a:gd name="connsiteX13" fmla="*/ 543340 w 1842053"/>
                <a:gd name="connsiteY13" fmla="*/ 159026 h 1225826"/>
                <a:gd name="connsiteX14" fmla="*/ 563218 w 1842053"/>
                <a:gd name="connsiteY14" fmla="*/ 152400 h 1225826"/>
                <a:gd name="connsiteX15" fmla="*/ 602974 w 1842053"/>
                <a:gd name="connsiteY15" fmla="*/ 125896 h 1225826"/>
                <a:gd name="connsiteX16" fmla="*/ 669235 w 1842053"/>
                <a:gd name="connsiteY16" fmla="*/ 112644 h 1225826"/>
                <a:gd name="connsiteX17" fmla="*/ 795131 w 1842053"/>
                <a:gd name="connsiteY17" fmla="*/ 99391 h 1225826"/>
                <a:gd name="connsiteX18" fmla="*/ 834887 w 1842053"/>
                <a:gd name="connsiteY18" fmla="*/ 86139 h 1225826"/>
                <a:gd name="connsiteX19" fmla="*/ 881270 w 1842053"/>
                <a:gd name="connsiteY19" fmla="*/ 72887 h 1225826"/>
                <a:gd name="connsiteX20" fmla="*/ 934279 w 1842053"/>
                <a:gd name="connsiteY20" fmla="*/ 39757 h 1225826"/>
                <a:gd name="connsiteX21" fmla="*/ 980661 w 1842053"/>
                <a:gd name="connsiteY21" fmla="*/ 26504 h 1225826"/>
                <a:gd name="connsiteX22" fmla="*/ 1000540 w 1842053"/>
                <a:gd name="connsiteY22" fmla="*/ 19878 h 1225826"/>
                <a:gd name="connsiteX23" fmla="*/ 1040296 w 1842053"/>
                <a:gd name="connsiteY23" fmla="*/ 13252 h 1225826"/>
                <a:gd name="connsiteX24" fmla="*/ 1086679 w 1842053"/>
                <a:gd name="connsiteY24" fmla="*/ 0 h 1225826"/>
                <a:gd name="connsiteX25" fmla="*/ 1245705 w 1842053"/>
                <a:gd name="connsiteY25" fmla="*/ 6626 h 1225826"/>
                <a:gd name="connsiteX26" fmla="*/ 1298714 w 1842053"/>
                <a:gd name="connsiteY26" fmla="*/ 19878 h 1225826"/>
                <a:gd name="connsiteX27" fmla="*/ 1331844 w 1842053"/>
                <a:gd name="connsiteY27" fmla="*/ 39757 h 1225826"/>
                <a:gd name="connsiteX28" fmla="*/ 1358348 w 1842053"/>
                <a:gd name="connsiteY28" fmla="*/ 46383 h 1225826"/>
                <a:gd name="connsiteX29" fmla="*/ 1398105 w 1842053"/>
                <a:gd name="connsiteY29" fmla="*/ 72887 h 1225826"/>
                <a:gd name="connsiteX30" fmla="*/ 1417983 w 1842053"/>
                <a:gd name="connsiteY30" fmla="*/ 79513 h 1225826"/>
                <a:gd name="connsiteX31" fmla="*/ 1464366 w 1842053"/>
                <a:gd name="connsiteY31" fmla="*/ 119270 h 1225826"/>
                <a:gd name="connsiteX32" fmla="*/ 1484244 w 1842053"/>
                <a:gd name="connsiteY32" fmla="*/ 145774 h 1225826"/>
                <a:gd name="connsiteX33" fmla="*/ 1497496 w 1842053"/>
                <a:gd name="connsiteY33" fmla="*/ 172278 h 1225826"/>
                <a:gd name="connsiteX34" fmla="*/ 1537253 w 1842053"/>
                <a:gd name="connsiteY34" fmla="*/ 265044 h 1225826"/>
                <a:gd name="connsiteX35" fmla="*/ 1656522 w 1842053"/>
                <a:gd name="connsiteY35" fmla="*/ 430696 h 1225826"/>
                <a:gd name="connsiteX36" fmla="*/ 1696279 w 1842053"/>
                <a:gd name="connsiteY36" fmla="*/ 483704 h 1225826"/>
                <a:gd name="connsiteX37" fmla="*/ 1722783 w 1842053"/>
                <a:gd name="connsiteY37" fmla="*/ 516835 h 1225826"/>
                <a:gd name="connsiteX38" fmla="*/ 1749287 w 1842053"/>
                <a:gd name="connsiteY38" fmla="*/ 549965 h 1225826"/>
                <a:gd name="connsiteX39" fmla="*/ 1775792 w 1842053"/>
                <a:gd name="connsiteY39" fmla="*/ 583096 h 1225826"/>
                <a:gd name="connsiteX40" fmla="*/ 1815548 w 1842053"/>
                <a:gd name="connsiteY40" fmla="*/ 649357 h 1225826"/>
                <a:gd name="connsiteX41" fmla="*/ 1842053 w 1842053"/>
                <a:gd name="connsiteY41" fmla="*/ 695739 h 1225826"/>
                <a:gd name="connsiteX42" fmla="*/ 1835427 w 1842053"/>
                <a:gd name="connsiteY42" fmla="*/ 795130 h 1225826"/>
                <a:gd name="connsiteX43" fmla="*/ 1828800 w 1842053"/>
                <a:gd name="connsiteY43" fmla="*/ 815009 h 1225826"/>
                <a:gd name="connsiteX44" fmla="*/ 1822174 w 1842053"/>
                <a:gd name="connsiteY44" fmla="*/ 881270 h 1225826"/>
                <a:gd name="connsiteX45" fmla="*/ 1815548 w 1842053"/>
                <a:gd name="connsiteY45" fmla="*/ 1093304 h 1225826"/>
                <a:gd name="connsiteX46" fmla="*/ 1802296 w 1842053"/>
                <a:gd name="connsiteY46" fmla="*/ 1106557 h 1225826"/>
                <a:gd name="connsiteX47" fmla="*/ 1795670 w 1842053"/>
                <a:gd name="connsiteY47" fmla="*/ 1126435 h 1225826"/>
                <a:gd name="connsiteX48" fmla="*/ 1722783 w 1842053"/>
                <a:gd name="connsiteY48" fmla="*/ 1172817 h 1225826"/>
                <a:gd name="connsiteX49" fmla="*/ 1689653 w 1842053"/>
                <a:gd name="connsiteY49" fmla="*/ 1192696 h 1225826"/>
                <a:gd name="connsiteX50" fmla="*/ 1656522 w 1842053"/>
                <a:gd name="connsiteY50" fmla="*/ 1199322 h 1225826"/>
                <a:gd name="connsiteX51" fmla="*/ 1583635 w 1842053"/>
                <a:gd name="connsiteY51" fmla="*/ 1212574 h 1225826"/>
                <a:gd name="connsiteX52" fmla="*/ 1557131 w 1842053"/>
                <a:gd name="connsiteY52" fmla="*/ 1219200 h 1225826"/>
                <a:gd name="connsiteX53" fmla="*/ 1133061 w 1842053"/>
                <a:gd name="connsiteY53" fmla="*/ 1225826 h 1225826"/>
                <a:gd name="connsiteX54" fmla="*/ 927653 w 1842053"/>
                <a:gd name="connsiteY54" fmla="*/ 1219200 h 1225826"/>
                <a:gd name="connsiteX55" fmla="*/ 861392 w 1842053"/>
                <a:gd name="connsiteY55" fmla="*/ 1212574 h 1225826"/>
                <a:gd name="connsiteX56" fmla="*/ 642731 w 1842053"/>
                <a:gd name="connsiteY56" fmla="*/ 1199322 h 1225826"/>
                <a:gd name="connsiteX57" fmla="*/ 609600 w 1842053"/>
                <a:gd name="connsiteY57" fmla="*/ 1192696 h 1225826"/>
                <a:gd name="connsiteX58" fmla="*/ 589722 w 1842053"/>
                <a:gd name="connsiteY58" fmla="*/ 1186070 h 1225826"/>
                <a:gd name="connsiteX59" fmla="*/ 563218 w 1842053"/>
                <a:gd name="connsiteY59" fmla="*/ 1179444 h 1225826"/>
                <a:gd name="connsiteX60" fmla="*/ 543340 w 1842053"/>
                <a:gd name="connsiteY60" fmla="*/ 1166191 h 1225826"/>
                <a:gd name="connsiteX61" fmla="*/ 490331 w 1842053"/>
                <a:gd name="connsiteY61" fmla="*/ 1152939 h 1225826"/>
                <a:gd name="connsiteX62" fmla="*/ 404192 w 1842053"/>
                <a:gd name="connsiteY62" fmla="*/ 1119809 h 1225826"/>
                <a:gd name="connsiteX63" fmla="*/ 371061 w 1842053"/>
                <a:gd name="connsiteY63" fmla="*/ 1099930 h 1225826"/>
                <a:gd name="connsiteX64" fmla="*/ 344557 w 1842053"/>
                <a:gd name="connsiteY64" fmla="*/ 1086678 h 1225826"/>
                <a:gd name="connsiteX65" fmla="*/ 291548 w 1842053"/>
                <a:gd name="connsiteY65" fmla="*/ 1073426 h 1225826"/>
                <a:gd name="connsiteX66" fmla="*/ 165653 w 1842053"/>
                <a:gd name="connsiteY66" fmla="*/ 1000539 h 1225826"/>
                <a:gd name="connsiteX67" fmla="*/ 119270 w 1842053"/>
                <a:gd name="connsiteY67" fmla="*/ 974035 h 1225826"/>
                <a:gd name="connsiteX68" fmla="*/ 86140 w 1842053"/>
                <a:gd name="connsiteY68" fmla="*/ 954157 h 1225826"/>
                <a:gd name="connsiteX69" fmla="*/ 33131 w 1842053"/>
                <a:gd name="connsiteY69" fmla="*/ 927652 h 1225826"/>
                <a:gd name="connsiteX70" fmla="*/ 0 w 1842053"/>
                <a:gd name="connsiteY70" fmla="*/ 868017 h 1225826"/>
                <a:gd name="connsiteX71" fmla="*/ 13253 w 1842053"/>
                <a:gd name="connsiteY71" fmla="*/ 801757 h 1225826"/>
                <a:gd name="connsiteX72" fmla="*/ 26505 w 1842053"/>
                <a:gd name="connsiteY72" fmla="*/ 788504 h 1225826"/>
                <a:gd name="connsiteX73" fmla="*/ 46383 w 1842053"/>
                <a:gd name="connsiteY73" fmla="*/ 762000 h 1225826"/>
                <a:gd name="connsiteX74" fmla="*/ 59635 w 1842053"/>
                <a:gd name="connsiteY74" fmla="*/ 742122 h 1225826"/>
                <a:gd name="connsiteX75" fmla="*/ 92766 w 1842053"/>
                <a:gd name="connsiteY75" fmla="*/ 708991 h 1225826"/>
                <a:gd name="connsiteX76" fmla="*/ 112644 w 1842053"/>
                <a:gd name="connsiteY76" fmla="*/ 689113 h 1225826"/>
                <a:gd name="connsiteX77" fmla="*/ 125896 w 1842053"/>
                <a:gd name="connsiteY77" fmla="*/ 669235 h 1225826"/>
                <a:gd name="connsiteX78" fmla="*/ 145774 w 1842053"/>
                <a:gd name="connsiteY78" fmla="*/ 642730 h 1225826"/>
                <a:gd name="connsiteX79" fmla="*/ 185531 w 1842053"/>
                <a:gd name="connsiteY79" fmla="*/ 589722 h 1225826"/>
                <a:gd name="connsiteX80" fmla="*/ 172279 w 1842053"/>
                <a:gd name="connsiteY80" fmla="*/ 569844 h 122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842053" h="1225826">
                  <a:moveTo>
                    <a:pt x="172279" y="569844"/>
                  </a:moveTo>
                  <a:lnTo>
                    <a:pt x="172279" y="569844"/>
                  </a:lnTo>
                  <a:cubicBezTo>
                    <a:pt x="185531" y="543339"/>
                    <a:pt x="202664" y="518442"/>
                    <a:pt x="212035" y="490330"/>
                  </a:cubicBezTo>
                  <a:cubicBezTo>
                    <a:pt x="221179" y="462897"/>
                    <a:pt x="214787" y="476263"/>
                    <a:pt x="231914" y="450574"/>
                  </a:cubicBezTo>
                  <a:cubicBezTo>
                    <a:pt x="235276" y="437127"/>
                    <a:pt x="239463" y="417498"/>
                    <a:pt x="245166" y="404191"/>
                  </a:cubicBezTo>
                  <a:cubicBezTo>
                    <a:pt x="249057" y="395112"/>
                    <a:pt x="254950" y="386936"/>
                    <a:pt x="258418" y="377687"/>
                  </a:cubicBezTo>
                  <a:cubicBezTo>
                    <a:pt x="262376" y="367131"/>
                    <a:pt x="265510" y="342393"/>
                    <a:pt x="271670" y="331304"/>
                  </a:cubicBezTo>
                  <a:cubicBezTo>
                    <a:pt x="286010" y="305491"/>
                    <a:pt x="307335" y="276394"/>
                    <a:pt x="331305" y="258417"/>
                  </a:cubicBezTo>
                  <a:cubicBezTo>
                    <a:pt x="340140" y="251791"/>
                    <a:pt x="348221" y="244018"/>
                    <a:pt x="357809" y="238539"/>
                  </a:cubicBezTo>
                  <a:cubicBezTo>
                    <a:pt x="363873" y="235074"/>
                    <a:pt x="371267" y="234664"/>
                    <a:pt x="377687" y="231913"/>
                  </a:cubicBezTo>
                  <a:cubicBezTo>
                    <a:pt x="386766" y="228022"/>
                    <a:pt x="395357" y="223078"/>
                    <a:pt x="404192" y="218661"/>
                  </a:cubicBezTo>
                  <a:cubicBezTo>
                    <a:pt x="423192" y="199661"/>
                    <a:pt x="429758" y="189881"/>
                    <a:pt x="457200" y="178904"/>
                  </a:cubicBezTo>
                  <a:cubicBezTo>
                    <a:pt x="467657" y="174721"/>
                    <a:pt x="479357" y="174810"/>
                    <a:pt x="490331" y="172278"/>
                  </a:cubicBezTo>
                  <a:cubicBezTo>
                    <a:pt x="508078" y="168183"/>
                    <a:pt x="526061" y="164786"/>
                    <a:pt x="543340" y="159026"/>
                  </a:cubicBezTo>
                  <a:cubicBezTo>
                    <a:pt x="549966" y="156817"/>
                    <a:pt x="557113" y="155792"/>
                    <a:pt x="563218" y="152400"/>
                  </a:cubicBezTo>
                  <a:cubicBezTo>
                    <a:pt x="577141" y="144665"/>
                    <a:pt x="587356" y="129019"/>
                    <a:pt x="602974" y="125896"/>
                  </a:cubicBezTo>
                  <a:cubicBezTo>
                    <a:pt x="625061" y="121479"/>
                    <a:pt x="646803" y="114684"/>
                    <a:pt x="669235" y="112644"/>
                  </a:cubicBezTo>
                  <a:cubicBezTo>
                    <a:pt x="759856" y="104405"/>
                    <a:pt x="717914" y="109043"/>
                    <a:pt x="795131" y="99391"/>
                  </a:cubicBezTo>
                  <a:cubicBezTo>
                    <a:pt x="808383" y="94974"/>
                    <a:pt x="821456" y="89976"/>
                    <a:pt x="834887" y="86139"/>
                  </a:cubicBezTo>
                  <a:cubicBezTo>
                    <a:pt x="850348" y="81722"/>
                    <a:pt x="866158" y="78382"/>
                    <a:pt x="881270" y="72887"/>
                  </a:cubicBezTo>
                  <a:cubicBezTo>
                    <a:pt x="920216" y="58725"/>
                    <a:pt x="897005" y="61057"/>
                    <a:pt x="934279" y="39757"/>
                  </a:cubicBezTo>
                  <a:cubicBezTo>
                    <a:pt x="942227" y="35215"/>
                    <a:pt x="974199" y="28350"/>
                    <a:pt x="980661" y="26504"/>
                  </a:cubicBezTo>
                  <a:cubicBezTo>
                    <a:pt x="987377" y="24585"/>
                    <a:pt x="993722" y="21393"/>
                    <a:pt x="1000540" y="19878"/>
                  </a:cubicBezTo>
                  <a:cubicBezTo>
                    <a:pt x="1013655" y="16964"/>
                    <a:pt x="1027122" y="15887"/>
                    <a:pt x="1040296" y="13252"/>
                  </a:cubicBezTo>
                  <a:cubicBezTo>
                    <a:pt x="1061095" y="9092"/>
                    <a:pt x="1067734" y="6315"/>
                    <a:pt x="1086679" y="0"/>
                  </a:cubicBezTo>
                  <a:cubicBezTo>
                    <a:pt x="1139688" y="2209"/>
                    <a:pt x="1192776" y="2976"/>
                    <a:pt x="1245705" y="6626"/>
                  </a:cubicBezTo>
                  <a:cubicBezTo>
                    <a:pt x="1254473" y="7231"/>
                    <a:pt x="1287508" y="14275"/>
                    <a:pt x="1298714" y="19878"/>
                  </a:cubicBezTo>
                  <a:cubicBezTo>
                    <a:pt x="1310233" y="25638"/>
                    <a:pt x="1320075" y="34526"/>
                    <a:pt x="1331844" y="39757"/>
                  </a:cubicBezTo>
                  <a:cubicBezTo>
                    <a:pt x="1340166" y="43456"/>
                    <a:pt x="1349513" y="44174"/>
                    <a:pt x="1358348" y="46383"/>
                  </a:cubicBezTo>
                  <a:cubicBezTo>
                    <a:pt x="1371600" y="55218"/>
                    <a:pt x="1384182" y="65152"/>
                    <a:pt x="1398105" y="72887"/>
                  </a:cubicBezTo>
                  <a:cubicBezTo>
                    <a:pt x="1404211" y="76279"/>
                    <a:pt x="1411736" y="76389"/>
                    <a:pt x="1417983" y="79513"/>
                  </a:cubicBezTo>
                  <a:cubicBezTo>
                    <a:pt x="1434009" y="87526"/>
                    <a:pt x="1454584" y="106228"/>
                    <a:pt x="1464366" y="119270"/>
                  </a:cubicBezTo>
                  <a:cubicBezTo>
                    <a:pt x="1470992" y="128105"/>
                    <a:pt x="1478391" y="136409"/>
                    <a:pt x="1484244" y="145774"/>
                  </a:cubicBezTo>
                  <a:cubicBezTo>
                    <a:pt x="1489479" y="154150"/>
                    <a:pt x="1493605" y="163199"/>
                    <a:pt x="1497496" y="172278"/>
                  </a:cubicBezTo>
                  <a:cubicBezTo>
                    <a:pt x="1511638" y="205277"/>
                    <a:pt x="1520018" y="234882"/>
                    <a:pt x="1537253" y="265044"/>
                  </a:cubicBezTo>
                  <a:cubicBezTo>
                    <a:pt x="1591384" y="359773"/>
                    <a:pt x="1573197" y="324225"/>
                    <a:pt x="1656522" y="430696"/>
                  </a:cubicBezTo>
                  <a:cubicBezTo>
                    <a:pt x="1670134" y="448089"/>
                    <a:pt x="1682812" y="466197"/>
                    <a:pt x="1696279" y="483704"/>
                  </a:cubicBezTo>
                  <a:cubicBezTo>
                    <a:pt x="1704902" y="494914"/>
                    <a:pt x="1713948" y="505791"/>
                    <a:pt x="1722783" y="516835"/>
                  </a:cubicBezTo>
                  <a:lnTo>
                    <a:pt x="1749287" y="549965"/>
                  </a:lnTo>
                  <a:lnTo>
                    <a:pt x="1775792" y="583096"/>
                  </a:lnTo>
                  <a:cubicBezTo>
                    <a:pt x="1808566" y="665030"/>
                    <a:pt x="1764647" y="564521"/>
                    <a:pt x="1815548" y="649357"/>
                  </a:cubicBezTo>
                  <a:cubicBezTo>
                    <a:pt x="1850582" y="707748"/>
                    <a:pt x="1810167" y="663856"/>
                    <a:pt x="1842053" y="695739"/>
                  </a:cubicBezTo>
                  <a:cubicBezTo>
                    <a:pt x="1839844" y="728869"/>
                    <a:pt x="1839094" y="762129"/>
                    <a:pt x="1835427" y="795130"/>
                  </a:cubicBezTo>
                  <a:cubicBezTo>
                    <a:pt x="1834656" y="802072"/>
                    <a:pt x="1829862" y="808105"/>
                    <a:pt x="1828800" y="815009"/>
                  </a:cubicBezTo>
                  <a:cubicBezTo>
                    <a:pt x="1825425" y="836948"/>
                    <a:pt x="1824383" y="859183"/>
                    <a:pt x="1822174" y="881270"/>
                  </a:cubicBezTo>
                  <a:cubicBezTo>
                    <a:pt x="1819965" y="951948"/>
                    <a:pt x="1821763" y="1022865"/>
                    <a:pt x="1815548" y="1093304"/>
                  </a:cubicBezTo>
                  <a:cubicBezTo>
                    <a:pt x="1814999" y="1099527"/>
                    <a:pt x="1805510" y="1101200"/>
                    <a:pt x="1802296" y="1106557"/>
                  </a:cubicBezTo>
                  <a:cubicBezTo>
                    <a:pt x="1798703" y="1112546"/>
                    <a:pt x="1800609" y="1121496"/>
                    <a:pt x="1795670" y="1126435"/>
                  </a:cubicBezTo>
                  <a:cubicBezTo>
                    <a:pt x="1723325" y="1198779"/>
                    <a:pt x="1767962" y="1150227"/>
                    <a:pt x="1722783" y="1172817"/>
                  </a:cubicBezTo>
                  <a:cubicBezTo>
                    <a:pt x="1711264" y="1178577"/>
                    <a:pt x="1701611" y="1187913"/>
                    <a:pt x="1689653" y="1192696"/>
                  </a:cubicBezTo>
                  <a:cubicBezTo>
                    <a:pt x="1679196" y="1196879"/>
                    <a:pt x="1667603" y="1197307"/>
                    <a:pt x="1656522" y="1199322"/>
                  </a:cubicBezTo>
                  <a:cubicBezTo>
                    <a:pt x="1616969" y="1206513"/>
                    <a:pt x="1620457" y="1204392"/>
                    <a:pt x="1583635" y="1212574"/>
                  </a:cubicBezTo>
                  <a:cubicBezTo>
                    <a:pt x="1574745" y="1214549"/>
                    <a:pt x="1566234" y="1218932"/>
                    <a:pt x="1557131" y="1219200"/>
                  </a:cubicBezTo>
                  <a:cubicBezTo>
                    <a:pt x="1415818" y="1223356"/>
                    <a:pt x="1274418" y="1223617"/>
                    <a:pt x="1133061" y="1225826"/>
                  </a:cubicBezTo>
                  <a:lnTo>
                    <a:pt x="927653" y="1219200"/>
                  </a:lnTo>
                  <a:cubicBezTo>
                    <a:pt x="905482" y="1218119"/>
                    <a:pt x="883512" y="1214417"/>
                    <a:pt x="861392" y="1212574"/>
                  </a:cubicBezTo>
                  <a:cubicBezTo>
                    <a:pt x="778933" y="1205703"/>
                    <a:pt x="728793" y="1203852"/>
                    <a:pt x="642731" y="1199322"/>
                  </a:cubicBezTo>
                  <a:cubicBezTo>
                    <a:pt x="631687" y="1197113"/>
                    <a:pt x="620526" y="1195427"/>
                    <a:pt x="609600" y="1192696"/>
                  </a:cubicBezTo>
                  <a:cubicBezTo>
                    <a:pt x="602824" y="1191002"/>
                    <a:pt x="596438" y="1187989"/>
                    <a:pt x="589722" y="1186070"/>
                  </a:cubicBezTo>
                  <a:cubicBezTo>
                    <a:pt x="580966" y="1183568"/>
                    <a:pt x="572053" y="1181653"/>
                    <a:pt x="563218" y="1179444"/>
                  </a:cubicBezTo>
                  <a:cubicBezTo>
                    <a:pt x="556592" y="1175026"/>
                    <a:pt x="550463" y="1169753"/>
                    <a:pt x="543340" y="1166191"/>
                  </a:cubicBezTo>
                  <a:cubicBezTo>
                    <a:pt x="526634" y="1157838"/>
                    <a:pt x="507968" y="1157978"/>
                    <a:pt x="490331" y="1152939"/>
                  </a:cubicBezTo>
                  <a:cubicBezTo>
                    <a:pt x="453265" y="1142349"/>
                    <a:pt x="434381" y="1136581"/>
                    <a:pt x="404192" y="1119809"/>
                  </a:cubicBezTo>
                  <a:cubicBezTo>
                    <a:pt x="392934" y="1113554"/>
                    <a:pt x="382319" y="1106185"/>
                    <a:pt x="371061" y="1099930"/>
                  </a:cubicBezTo>
                  <a:cubicBezTo>
                    <a:pt x="362427" y="1095133"/>
                    <a:pt x="353928" y="1089801"/>
                    <a:pt x="344557" y="1086678"/>
                  </a:cubicBezTo>
                  <a:cubicBezTo>
                    <a:pt x="327278" y="1080918"/>
                    <a:pt x="291548" y="1073426"/>
                    <a:pt x="291548" y="1073426"/>
                  </a:cubicBezTo>
                  <a:cubicBezTo>
                    <a:pt x="196833" y="1018176"/>
                    <a:pt x="238572" y="1042207"/>
                    <a:pt x="165653" y="1000539"/>
                  </a:cubicBezTo>
                  <a:lnTo>
                    <a:pt x="119270" y="974035"/>
                  </a:lnTo>
                  <a:cubicBezTo>
                    <a:pt x="108146" y="967546"/>
                    <a:pt x="98097" y="958940"/>
                    <a:pt x="86140" y="954157"/>
                  </a:cubicBezTo>
                  <a:cubicBezTo>
                    <a:pt x="45615" y="937946"/>
                    <a:pt x="62906" y="947502"/>
                    <a:pt x="33131" y="927652"/>
                  </a:cubicBezTo>
                  <a:cubicBezTo>
                    <a:pt x="2753" y="882084"/>
                    <a:pt x="11664" y="903005"/>
                    <a:pt x="0" y="868017"/>
                  </a:cubicBezTo>
                  <a:cubicBezTo>
                    <a:pt x="1149" y="859976"/>
                    <a:pt x="4580" y="816213"/>
                    <a:pt x="13253" y="801757"/>
                  </a:cubicBezTo>
                  <a:cubicBezTo>
                    <a:pt x="16467" y="796400"/>
                    <a:pt x="22506" y="793303"/>
                    <a:pt x="26505" y="788504"/>
                  </a:cubicBezTo>
                  <a:cubicBezTo>
                    <a:pt x="33575" y="780020"/>
                    <a:pt x="39964" y="770986"/>
                    <a:pt x="46383" y="762000"/>
                  </a:cubicBezTo>
                  <a:cubicBezTo>
                    <a:pt x="51012" y="755520"/>
                    <a:pt x="54391" y="748115"/>
                    <a:pt x="59635" y="742122"/>
                  </a:cubicBezTo>
                  <a:cubicBezTo>
                    <a:pt x="69920" y="730368"/>
                    <a:pt x="81722" y="720035"/>
                    <a:pt x="92766" y="708991"/>
                  </a:cubicBezTo>
                  <a:cubicBezTo>
                    <a:pt x="99392" y="702365"/>
                    <a:pt x="107446" y="696910"/>
                    <a:pt x="112644" y="689113"/>
                  </a:cubicBezTo>
                  <a:cubicBezTo>
                    <a:pt x="117061" y="682487"/>
                    <a:pt x="121267" y="675715"/>
                    <a:pt x="125896" y="669235"/>
                  </a:cubicBezTo>
                  <a:cubicBezTo>
                    <a:pt x="132315" y="660248"/>
                    <a:pt x="138704" y="651214"/>
                    <a:pt x="145774" y="642730"/>
                  </a:cubicBezTo>
                  <a:cubicBezTo>
                    <a:pt x="158534" y="627418"/>
                    <a:pt x="185531" y="611217"/>
                    <a:pt x="185531" y="589722"/>
                  </a:cubicBezTo>
                  <a:lnTo>
                    <a:pt x="172279" y="569844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 smtClean="0">
                  <a:solidFill>
                    <a:schemeClr val="tx1"/>
                  </a:solidFill>
                </a:rPr>
                <a:t>Consumer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手繪多邊形 9"/>
            <p:cNvSpPr/>
            <p:nvPr/>
          </p:nvSpPr>
          <p:spPr>
            <a:xfrm>
              <a:off x="6444208" y="3427310"/>
              <a:ext cx="1842053" cy="1225826"/>
            </a:xfrm>
            <a:custGeom>
              <a:avLst/>
              <a:gdLst>
                <a:gd name="connsiteX0" fmla="*/ 172279 w 1842053"/>
                <a:gd name="connsiteY0" fmla="*/ 569844 h 1225826"/>
                <a:gd name="connsiteX1" fmla="*/ 172279 w 1842053"/>
                <a:gd name="connsiteY1" fmla="*/ 569844 h 1225826"/>
                <a:gd name="connsiteX2" fmla="*/ 212035 w 1842053"/>
                <a:gd name="connsiteY2" fmla="*/ 490330 h 1225826"/>
                <a:gd name="connsiteX3" fmla="*/ 231914 w 1842053"/>
                <a:gd name="connsiteY3" fmla="*/ 450574 h 1225826"/>
                <a:gd name="connsiteX4" fmla="*/ 245166 w 1842053"/>
                <a:gd name="connsiteY4" fmla="*/ 404191 h 1225826"/>
                <a:gd name="connsiteX5" fmla="*/ 258418 w 1842053"/>
                <a:gd name="connsiteY5" fmla="*/ 377687 h 1225826"/>
                <a:gd name="connsiteX6" fmla="*/ 271670 w 1842053"/>
                <a:gd name="connsiteY6" fmla="*/ 331304 h 1225826"/>
                <a:gd name="connsiteX7" fmla="*/ 331305 w 1842053"/>
                <a:gd name="connsiteY7" fmla="*/ 258417 h 1225826"/>
                <a:gd name="connsiteX8" fmla="*/ 357809 w 1842053"/>
                <a:gd name="connsiteY8" fmla="*/ 238539 h 1225826"/>
                <a:gd name="connsiteX9" fmla="*/ 377687 w 1842053"/>
                <a:gd name="connsiteY9" fmla="*/ 231913 h 1225826"/>
                <a:gd name="connsiteX10" fmla="*/ 404192 w 1842053"/>
                <a:gd name="connsiteY10" fmla="*/ 218661 h 1225826"/>
                <a:gd name="connsiteX11" fmla="*/ 457200 w 1842053"/>
                <a:gd name="connsiteY11" fmla="*/ 178904 h 1225826"/>
                <a:gd name="connsiteX12" fmla="*/ 490331 w 1842053"/>
                <a:gd name="connsiteY12" fmla="*/ 172278 h 1225826"/>
                <a:gd name="connsiteX13" fmla="*/ 543340 w 1842053"/>
                <a:gd name="connsiteY13" fmla="*/ 159026 h 1225826"/>
                <a:gd name="connsiteX14" fmla="*/ 563218 w 1842053"/>
                <a:gd name="connsiteY14" fmla="*/ 152400 h 1225826"/>
                <a:gd name="connsiteX15" fmla="*/ 602974 w 1842053"/>
                <a:gd name="connsiteY15" fmla="*/ 125896 h 1225826"/>
                <a:gd name="connsiteX16" fmla="*/ 669235 w 1842053"/>
                <a:gd name="connsiteY16" fmla="*/ 112644 h 1225826"/>
                <a:gd name="connsiteX17" fmla="*/ 795131 w 1842053"/>
                <a:gd name="connsiteY17" fmla="*/ 99391 h 1225826"/>
                <a:gd name="connsiteX18" fmla="*/ 834887 w 1842053"/>
                <a:gd name="connsiteY18" fmla="*/ 86139 h 1225826"/>
                <a:gd name="connsiteX19" fmla="*/ 881270 w 1842053"/>
                <a:gd name="connsiteY19" fmla="*/ 72887 h 1225826"/>
                <a:gd name="connsiteX20" fmla="*/ 934279 w 1842053"/>
                <a:gd name="connsiteY20" fmla="*/ 39757 h 1225826"/>
                <a:gd name="connsiteX21" fmla="*/ 980661 w 1842053"/>
                <a:gd name="connsiteY21" fmla="*/ 26504 h 1225826"/>
                <a:gd name="connsiteX22" fmla="*/ 1000540 w 1842053"/>
                <a:gd name="connsiteY22" fmla="*/ 19878 h 1225826"/>
                <a:gd name="connsiteX23" fmla="*/ 1040296 w 1842053"/>
                <a:gd name="connsiteY23" fmla="*/ 13252 h 1225826"/>
                <a:gd name="connsiteX24" fmla="*/ 1086679 w 1842053"/>
                <a:gd name="connsiteY24" fmla="*/ 0 h 1225826"/>
                <a:gd name="connsiteX25" fmla="*/ 1245705 w 1842053"/>
                <a:gd name="connsiteY25" fmla="*/ 6626 h 1225826"/>
                <a:gd name="connsiteX26" fmla="*/ 1298714 w 1842053"/>
                <a:gd name="connsiteY26" fmla="*/ 19878 h 1225826"/>
                <a:gd name="connsiteX27" fmla="*/ 1331844 w 1842053"/>
                <a:gd name="connsiteY27" fmla="*/ 39757 h 1225826"/>
                <a:gd name="connsiteX28" fmla="*/ 1358348 w 1842053"/>
                <a:gd name="connsiteY28" fmla="*/ 46383 h 1225826"/>
                <a:gd name="connsiteX29" fmla="*/ 1398105 w 1842053"/>
                <a:gd name="connsiteY29" fmla="*/ 72887 h 1225826"/>
                <a:gd name="connsiteX30" fmla="*/ 1417983 w 1842053"/>
                <a:gd name="connsiteY30" fmla="*/ 79513 h 1225826"/>
                <a:gd name="connsiteX31" fmla="*/ 1464366 w 1842053"/>
                <a:gd name="connsiteY31" fmla="*/ 119270 h 1225826"/>
                <a:gd name="connsiteX32" fmla="*/ 1484244 w 1842053"/>
                <a:gd name="connsiteY32" fmla="*/ 145774 h 1225826"/>
                <a:gd name="connsiteX33" fmla="*/ 1497496 w 1842053"/>
                <a:gd name="connsiteY33" fmla="*/ 172278 h 1225826"/>
                <a:gd name="connsiteX34" fmla="*/ 1537253 w 1842053"/>
                <a:gd name="connsiteY34" fmla="*/ 265044 h 1225826"/>
                <a:gd name="connsiteX35" fmla="*/ 1656522 w 1842053"/>
                <a:gd name="connsiteY35" fmla="*/ 430696 h 1225826"/>
                <a:gd name="connsiteX36" fmla="*/ 1696279 w 1842053"/>
                <a:gd name="connsiteY36" fmla="*/ 483704 h 1225826"/>
                <a:gd name="connsiteX37" fmla="*/ 1722783 w 1842053"/>
                <a:gd name="connsiteY37" fmla="*/ 516835 h 1225826"/>
                <a:gd name="connsiteX38" fmla="*/ 1749287 w 1842053"/>
                <a:gd name="connsiteY38" fmla="*/ 549965 h 1225826"/>
                <a:gd name="connsiteX39" fmla="*/ 1775792 w 1842053"/>
                <a:gd name="connsiteY39" fmla="*/ 583096 h 1225826"/>
                <a:gd name="connsiteX40" fmla="*/ 1815548 w 1842053"/>
                <a:gd name="connsiteY40" fmla="*/ 649357 h 1225826"/>
                <a:gd name="connsiteX41" fmla="*/ 1842053 w 1842053"/>
                <a:gd name="connsiteY41" fmla="*/ 695739 h 1225826"/>
                <a:gd name="connsiteX42" fmla="*/ 1835427 w 1842053"/>
                <a:gd name="connsiteY42" fmla="*/ 795130 h 1225826"/>
                <a:gd name="connsiteX43" fmla="*/ 1828800 w 1842053"/>
                <a:gd name="connsiteY43" fmla="*/ 815009 h 1225826"/>
                <a:gd name="connsiteX44" fmla="*/ 1822174 w 1842053"/>
                <a:gd name="connsiteY44" fmla="*/ 881270 h 1225826"/>
                <a:gd name="connsiteX45" fmla="*/ 1815548 w 1842053"/>
                <a:gd name="connsiteY45" fmla="*/ 1093304 h 1225826"/>
                <a:gd name="connsiteX46" fmla="*/ 1802296 w 1842053"/>
                <a:gd name="connsiteY46" fmla="*/ 1106557 h 1225826"/>
                <a:gd name="connsiteX47" fmla="*/ 1795670 w 1842053"/>
                <a:gd name="connsiteY47" fmla="*/ 1126435 h 1225826"/>
                <a:gd name="connsiteX48" fmla="*/ 1722783 w 1842053"/>
                <a:gd name="connsiteY48" fmla="*/ 1172817 h 1225826"/>
                <a:gd name="connsiteX49" fmla="*/ 1689653 w 1842053"/>
                <a:gd name="connsiteY49" fmla="*/ 1192696 h 1225826"/>
                <a:gd name="connsiteX50" fmla="*/ 1656522 w 1842053"/>
                <a:gd name="connsiteY50" fmla="*/ 1199322 h 1225826"/>
                <a:gd name="connsiteX51" fmla="*/ 1583635 w 1842053"/>
                <a:gd name="connsiteY51" fmla="*/ 1212574 h 1225826"/>
                <a:gd name="connsiteX52" fmla="*/ 1557131 w 1842053"/>
                <a:gd name="connsiteY52" fmla="*/ 1219200 h 1225826"/>
                <a:gd name="connsiteX53" fmla="*/ 1133061 w 1842053"/>
                <a:gd name="connsiteY53" fmla="*/ 1225826 h 1225826"/>
                <a:gd name="connsiteX54" fmla="*/ 927653 w 1842053"/>
                <a:gd name="connsiteY54" fmla="*/ 1219200 h 1225826"/>
                <a:gd name="connsiteX55" fmla="*/ 861392 w 1842053"/>
                <a:gd name="connsiteY55" fmla="*/ 1212574 h 1225826"/>
                <a:gd name="connsiteX56" fmla="*/ 642731 w 1842053"/>
                <a:gd name="connsiteY56" fmla="*/ 1199322 h 1225826"/>
                <a:gd name="connsiteX57" fmla="*/ 609600 w 1842053"/>
                <a:gd name="connsiteY57" fmla="*/ 1192696 h 1225826"/>
                <a:gd name="connsiteX58" fmla="*/ 589722 w 1842053"/>
                <a:gd name="connsiteY58" fmla="*/ 1186070 h 1225826"/>
                <a:gd name="connsiteX59" fmla="*/ 563218 w 1842053"/>
                <a:gd name="connsiteY59" fmla="*/ 1179444 h 1225826"/>
                <a:gd name="connsiteX60" fmla="*/ 543340 w 1842053"/>
                <a:gd name="connsiteY60" fmla="*/ 1166191 h 1225826"/>
                <a:gd name="connsiteX61" fmla="*/ 490331 w 1842053"/>
                <a:gd name="connsiteY61" fmla="*/ 1152939 h 1225826"/>
                <a:gd name="connsiteX62" fmla="*/ 404192 w 1842053"/>
                <a:gd name="connsiteY62" fmla="*/ 1119809 h 1225826"/>
                <a:gd name="connsiteX63" fmla="*/ 371061 w 1842053"/>
                <a:gd name="connsiteY63" fmla="*/ 1099930 h 1225826"/>
                <a:gd name="connsiteX64" fmla="*/ 344557 w 1842053"/>
                <a:gd name="connsiteY64" fmla="*/ 1086678 h 1225826"/>
                <a:gd name="connsiteX65" fmla="*/ 291548 w 1842053"/>
                <a:gd name="connsiteY65" fmla="*/ 1073426 h 1225826"/>
                <a:gd name="connsiteX66" fmla="*/ 165653 w 1842053"/>
                <a:gd name="connsiteY66" fmla="*/ 1000539 h 1225826"/>
                <a:gd name="connsiteX67" fmla="*/ 119270 w 1842053"/>
                <a:gd name="connsiteY67" fmla="*/ 974035 h 1225826"/>
                <a:gd name="connsiteX68" fmla="*/ 86140 w 1842053"/>
                <a:gd name="connsiteY68" fmla="*/ 954157 h 1225826"/>
                <a:gd name="connsiteX69" fmla="*/ 33131 w 1842053"/>
                <a:gd name="connsiteY69" fmla="*/ 927652 h 1225826"/>
                <a:gd name="connsiteX70" fmla="*/ 0 w 1842053"/>
                <a:gd name="connsiteY70" fmla="*/ 868017 h 1225826"/>
                <a:gd name="connsiteX71" fmla="*/ 13253 w 1842053"/>
                <a:gd name="connsiteY71" fmla="*/ 801757 h 1225826"/>
                <a:gd name="connsiteX72" fmla="*/ 26505 w 1842053"/>
                <a:gd name="connsiteY72" fmla="*/ 788504 h 1225826"/>
                <a:gd name="connsiteX73" fmla="*/ 46383 w 1842053"/>
                <a:gd name="connsiteY73" fmla="*/ 762000 h 1225826"/>
                <a:gd name="connsiteX74" fmla="*/ 59635 w 1842053"/>
                <a:gd name="connsiteY74" fmla="*/ 742122 h 1225826"/>
                <a:gd name="connsiteX75" fmla="*/ 92766 w 1842053"/>
                <a:gd name="connsiteY75" fmla="*/ 708991 h 1225826"/>
                <a:gd name="connsiteX76" fmla="*/ 112644 w 1842053"/>
                <a:gd name="connsiteY76" fmla="*/ 689113 h 1225826"/>
                <a:gd name="connsiteX77" fmla="*/ 125896 w 1842053"/>
                <a:gd name="connsiteY77" fmla="*/ 669235 h 1225826"/>
                <a:gd name="connsiteX78" fmla="*/ 145774 w 1842053"/>
                <a:gd name="connsiteY78" fmla="*/ 642730 h 1225826"/>
                <a:gd name="connsiteX79" fmla="*/ 185531 w 1842053"/>
                <a:gd name="connsiteY79" fmla="*/ 589722 h 1225826"/>
                <a:gd name="connsiteX80" fmla="*/ 172279 w 1842053"/>
                <a:gd name="connsiteY80" fmla="*/ 569844 h 122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842053" h="1225826">
                  <a:moveTo>
                    <a:pt x="172279" y="569844"/>
                  </a:moveTo>
                  <a:lnTo>
                    <a:pt x="172279" y="569844"/>
                  </a:lnTo>
                  <a:cubicBezTo>
                    <a:pt x="185531" y="543339"/>
                    <a:pt x="202664" y="518442"/>
                    <a:pt x="212035" y="490330"/>
                  </a:cubicBezTo>
                  <a:cubicBezTo>
                    <a:pt x="221179" y="462897"/>
                    <a:pt x="214787" y="476263"/>
                    <a:pt x="231914" y="450574"/>
                  </a:cubicBezTo>
                  <a:cubicBezTo>
                    <a:pt x="235276" y="437127"/>
                    <a:pt x="239463" y="417498"/>
                    <a:pt x="245166" y="404191"/>
                  </a:cubicBezTo>
                  <a:cubicBezTo>
                    <a:pt x="249057" y="395112"/>
                    <a:pt x="254950" y="386936"/>
                    <a:pt x="258418" y="377687"/>
                  </a:cubicBezTo>
                  <a:cubicBezTo>
                    <a:pt x="262376" y="367131"/>
                    <a:pt x="265510" y="342393"/>
                    <a:pt x="271670" y="331304"/>
                  </a:cubicBezTo>
                  <a:cubicBezTo>
                    <a:pt x="286010" y="305491"/>
                    <a:pt x="307335" y="276394"/>
                    <a:pt x="331305" y="258417"/>
                  </a:cubicBezTo>
                  <a:cubicBezTo>
                    <a:pt x="340140" y="251791"/>
                    <a:pt x="348221" y="244018"/>
                    <a:pt x="357809" y="238539"/>
                  </a:cubicBezTo>
                  <a:cubicBezTo>
                    <a:pt x="363873" y="235074"/>
                    <a:pt x="371267" y="234664"/>
                    <a:pt x="377687" y="231913"/>
                  </a:cubicBezTo>
                  <a:cubicBezTo>
                    <a:pt x="386766" y="228022"/>
                    <a:pt x="395357" y="223078"/>
                    <a:pt x="404192" y="218661"/>
                  </a:cubicBezTo>
                  <a:cubicBezTo>
                    <a:pt x="423192" y="199661"/>
                    <a:pt x="429758" y="189881"/>
                    <a:pt x="457200" y="178904"/>
                  </a:cubicBezTo>
                  <a:cubicBezTo>
                    <a:pt x="467657" y="174721"/>
                    <a:pt x="479357" y="174810"/>
                    <a:pt x="490331" y="172278"/>
                  </a:cubicBezTo>
                  <a:cubicBezTo>
                    <a:pt x="508078" y="168183"/>
                    <a:pt x="526061" y="164786"/>
                    <a:pt x="543340" y="159026"/>
                  </a:cubicBezTo>
                  <a:cubicBezTo>
                    <a:pt x="549966" y="156817"/>
                    <a:pt x="557113" y="155792"/>
                    <a:pt x="563218" y="152400"/>
                  </a:cubicBezTo>
                  <a:cubicBezTo>
                    <a:pt x="577141" y="144665"/>
                    <a:pt x="587356" y="129019"/>
                    <a:pt x="602974" y="125896"/>
                  </a:cubicBezTo>
                  <a:cubicBezTo>
                    <a:pt x="625061" y="121479"/>
                    <a:pt x="646803" y="114684"/>
                    <a:pt x="669235" y="112644"/>
                  </a:cubicBezTo>
                  <a:cubicBezTo>
                    <a:pt x="759856" y="104405"/>
                    <a:pt x="717914" y="109043"/>
                    <a:pt x="795131" y="99391"/>
                  </a:cubicBezTo>
                  <a:cubicBezTo>
                    <a:pt x="808383" y="94974"/>
                    <a:pt x="821456" y="89976"/>
                    <a:pt x="834887" y="86139"/>
                  </a:cubicBezTo>
                  <a:cubicBezTo>
                    <a:pt x="850348" y="81722"/>
                    <a:pt x="866158" y="78382"/>
                    <a:pt x="881270" y="72887"/>
                  </a:cubicBezTo>
                  <a:cubicBezTo>
                    <a:pt x="920216" y="58725"/>
                    <a:pt x="897005" y="61057"/>
                    <a:pt x="934279" y="39757"/>
                  </a:cubicBezTo>
                  <a:cubicBezTo>
                    <a:pt x="942227" y="35215"/>
                    <a:pt x="974199" y="28350"/>
                    <a:pt x="980661" y="26504"/>
                  </a:cubicBezTo>
                  <a:cubicBezTo>
                    <a:pt x="987377" y="24585"/>
                    <a:pt x="993722" y="21393"/>
                    <a:pt x="1000540" y="19878"/>
                  </a:cubicBezTo>
                  <a:cubicBezTo>
                    <a:pt x="1013655" y="16964"/>
                    <a:pt x="1027122" y="15887"/>
                    <a:pt x="1040296" y="13252"/>
                  </a:cubicBezTo>
                  <a:cubicBezTo>
                    <a:pt x="1061095" y="9092"/>
                    <a:pt x="1067734" y="6315"/>
                    <a:pt x="1086679" y="0"/>
                  </a:cubicBezTo>
                  <a:cubicBezTo>
                    <a:pt x="1139688" y="2209"/>
                    <a:pt x="1192776" y="2976"/>
                    <a:pt x="1245705" y="6626"/>
                  </a:cubicBezTo>
                  <a:cubicBezTo>
                    <a:pt x="1254473" y="7231"/>
                    <a:pt x="1287508" y="14275"/>
                    <a:pt x="1298714" y="19878"/>
                  </a:cubicBezTo>
                  <a:cubicBezTo>
                    <a:pt x="1310233" y="25638"/>
                    <a:pt x="1320075" y="34526"/>
                    <a:pt x="1331844" y="39757"/>
                  </a:cubicBezTo>
                  <a:cubicBezTo>
                    <a:pt x="1340166" y="43456"/>
                    <a:pt x="1349513" y="44174"/>
                    <a:pt x="1358348" y="46383"/>
                  </a:cubicBezTo>
                  <a:cubicBezTo>
                    <a:pt x="1371600" y="55218"/>
                    <a:pt x="1384182" y="65152"/>
                    <a:pt x="1398105" y="72887"/>
                  </a:cubicBezTo>
                  <a:cubicBezTo>
                    <a:pt x="1404211" y="76279"/>
                    <a:pt x="1411736" y="76389"/>
                    <a:pt x="1417983" y="79513"/>
                  </a:cubicBezTo>
                  <a:cubicBezTo>
                    <a:pt x="1434009" y="87526"/>
                    <a:pt x="1454584" y="106228"/>
                    <a:pt x="1464366" y="119270"/>
                  </a:cubicBezTo>
                  <a:cubicBezTo>
                    <a:pt x="1470992" y="128105"/>
                    <a:pt x="1478391" y="136409"/>
                    <a:pt x="1484244" y="145774"/>
                  </a:cubicBezTo>
                  <a:cubicBezTo>
                    <a:pt x="1489479" y="154150"/>
                    <a:pt x="1493605" y="163199"/>
                    <a:pt x="1497496" y="172278"/>
                  </a:cubicBezTo>
                  <a:cubicBezTo>
                    <a:pt x="1511638" y="205277"/>
                    <a:pt x="1520018" y="234882"/>
                    <a:pt x="1537253" y="265044"/>
                  </a:cubicBezTo>
                  <a:cubicBezTo>
                    <a:pt x="1591384" y="359773"/>
                    <a:pt x="1573197" y="324225"/>
                    <a:pt x="1656522" y="430696"/>
                  </a:cubicBezTo>
                  <a:cubicBezTo>
                    <a:pt x="1670134" y="448089"/>
                    <a:pt x="1682812" y="466197"/>
                    <a:pt x="1696279" y="483704"/>
                  </a:cubicBezTo>
                  <a:cubicBezTo>
                    <a:pt x="1704902" y="494914"/>
                    <a:pt x="1713948" y="505791"/>
                    <a:pt x="1722783" y="516835"/>
                  </a:cubicBezTo>
                  <a:lnTo>
                    <a:pt x="1749287" y="549965"/>
                  </a:lnTo>
                  <a:lnTo>
                    <a:pt x="1775792" y="583096"/>
                  </a:lnTo>
                  <a:cubicBezTo>
                    <a:pt x="1808566" y="665030"/>
                    <a:pt x="1764647" y="564521"/>
                    <a:pt x="1815548" y="649357"/>
                  </a:cubicBezTo>
                  <a:cubicBezTo>
                    <a:pt x="1850582" y="707748"/>
                    <a:pt x="1810167" y="663856"/>
                    <a:pt x="1842053" y="695739"/>
                  </a:cubicBezTo>
                  <a:cubicBezTo>
                    <a:pt x="1839844" y="728869"/>
                    <a:pt x="1839094" y="762129"/>
                    <a:pt x="1835427" y="795130"/>
                  </a:cubicBezTo>
                  <a:cubicBezTo>
                    <a:pt x="1834656" y="802072"/>
                    <a:pt x="1829862" y="808105"/>
                    <a:pt x="1828800" y="815009"/>
                  </a:cubicBezTo>
                  <a:cubicBezTo>
                    <a:pt x="1825425" y="836948"/>
                    <a:pt x="1824383" y="859183"/>
                    <a:pt x="1822174" y="881270"/>
                  </a:cubicBezTo>
                  <a:cubicBezTo>
                    <a:pt x="1819965" y="951948"/>
                    <a:pt x="1821763" y="1022865"/>
                    <a:pt x="1815548" y="1093304"/>
                  </a:cubicBezTo>
                  <a:cubicBezTo>
                    <a:pt x="1814999" y="1099527"/>
                    <a:pt x="1805510" y="1101200"/>
                    <a:pt x="1802296" y="1106557"/>
                  </a:cubicBezTo>
                  <a:cubicBezTo>
                    <a:pt x="1798703" y="1112546"/>
                    <a:pt x="1800609" y="1121496"/>
                    <a:pt x="1795670" y="1126435"/>
                  </a:cubicBezTo>
                  <a:cubicBezTo>
                    <a:pt x="1723325" y="1198779"/>
                    <a:pt x="1767962" y="1150227"/>
                    <a:pt x="1722783" y="1172817"/>
                  </a:cubicBezTo>
                  <a:cubicBezTo>
                    <a:pt x="1711264" y="1178577"/>
                    <a:pt x="1701611" y="1187913"/>
                    <a:pt x="1689653" y="1192696"/>
                  </a:cubicBezTo>
                  <a:cubicBezTo>
                    <a:pt x="1679196" y="1196879"/>
                    <a:pt x="1667603" y="1197307"/>
                    <a:pt x="1656522" y="1199322"/>
                  </a:cubicBezTo>
                  <a:cubicBezTo>
                    <a:pt x="1616969" y="1206513"/>
                    <a:pt x="1620457" y="1204392"/>
                    <a:pt x="1583635" y="1212574"/>
                  </a:cubicBezTo>
                  <a:cubicBezTo>
                    <a:pt x="1574745" y="1214549"/>
                    <a:pt x="1566234" y="1218932"/>
                    <a:pt x="1557131" y="1219200"/>
                  </a:cubicBezTo>
                  <a:cubicBezTo>
                    <a:pt x="1415818" y="1223356"/>
                    <a:pt x="1274418" y="1223617"/>
                    <a:pt x="1133061" y="1225826"/>
                  </a:cubicBezTo>
                  <a:lnTo>
                    <a:pt x="927653" y="1219200"/>
                  </a:lnTo>
                  <a:cubicBezTo>
                    <a:pt x="905482" y="1218119"/>
                    <a:pt x="883512" y="1214417"/>
                    <a:pt x="861392" y="1212574"/>
                  </a:cubicBezTo>
                  <a:cubicBezTo>
                    <a:pt x="778933" y="1205703"/>
                    <a:pt x="728793" y="1203852"/>
                    <a:pt x="642731" y="1199322"/>
                  </a:cubicBezTo>
                  <a:cubicBezTo>
                    <a:pt x="631687" y="1197113"/>
                    <a:pt x="620526" y="1195427"/>
                    <a:pt x="609600" y="1192696"/>
                  </a:cubicBezTo>
                  <a:cubicBezTo>
                    <a:pt x="602824" y="1191002"/>
                    <a:pt x="596438" y="1187989"/>
                    <a:pt x="589722" y="1186070"/>
                  </a:cubicBezTo>
                  <a:cubicBezTo>
                    <a:pt x="580966" y="1183568"/>
                    <a:pt x="572053" y="1181653"/>
                    <a:pt x="563218" y="1179444"/>
                  </a:cubicBezTo>
                  <a:cubicBezTo>
                    <a:pt x="556592" y="1175026"/>
                    <a:pt x="550463" y="1169753"/>
                    <a:pt x="543340" y="1166191"/>
                  </a:cubicBezTo>
                  <a:cubicBezTo>
                    <a:pt x="526634" y="1157838"/>
                    <a:pt x="507968" y="1157978"/>
                    <a:pt x="490331" y="1152939"/>
                  </a:cubicBezTo>
                  <a:cubicBezTo>
                    <a:pt x="453265" y="1142349"/>
                    <a:pt x="434381" y="1136581"/>
                    <a:pt x="404192" y="1119809"/>
                  </a:cubicBezTo>
                  <a:cubicBezTo>
                    <a:pt x="392934" y="1113554"/>
                    <a:pt x="382319" y="1106185"/>
                    <a:pt x="371061" y="1099930"/>
                  </a:cubicBezTo>
                  <a:cubicBezTo>
                    <a:pt x="362427" y="1095133"/>
                    <a:pt x="353928" y="1089801"/>
                    <a:pt x="344557" y="1086678"/>
                  </a:cubicBezTo>
                  <a:cubicBezTo>
                    <a:pt x="327278" y="1080918"/>
                    <a:pt x="291548" y="1073426"/>
                    <a:pt x="291548" y="1073426"/>
                  </a:cubicBezTo>
                  <a:cubicBezTo>
                    <a:pt x="196833" y="1018176"/>
                    <a:pt x="238572" y="1042207"/>
                    <a:pt x="165653" y="1000539"/>
                  </a:cubicBezTo>
                  <a:lnTo>
                    <a:pt x="119270" y="974035"/>
                  </a:lnTo>
                  <a:cubicBezTo>
                    <a:pt x="108146" y="967546"/>
                    <a:pt x="98097" y="958940"/>
                    <a:pt x="86140" y="954157"/>
                  </a:cubicBezTo>
                  <a:cubicBezTo>
                    <a:pt x="45615" y="937946"/>
                    <a:pt x="62906" y="947502"/>
                    <a:pt x="33131" y="927652"/>
                  </a:cubicBezTo>
                  <a:cubicBezTo>
                    <a:pt x="2753" y="882084"/>
                    <a:pt x="11664" y="903005"/>
                    <a:pt x="0" y="868017"/>
                  </a:cubicBezTo>
                  <a:cubicBezTo>
                    <a:pt x="1149" y="859976"/>
                    <a:pt x="4580" y="816213"/>
                    <a:pt x="13253" y="801757"/>
                  </a:cubicBezTo>
                  <a:cubicBezTo>
                    <a:pt x="16467" y="796400"/>
                    <a:pt x="22506" y="793303"/>
                    <a:pt x="26505" y="788504"/>
                  </a:cubicBezTo>
                  <a:cubicBezTo>
                    <a:pt x="33575" y="780020"/>
                    <a:pt x="39964" y="770986"/>
                    <a:pt x="46383" y="762000"/>
                  </a:cubicBezTo>
                  <a:cubicBezTo>
                    <a:pt x="51012" y="755520"/>
                    <a:pt x="54391" y="748115"/>
                    <a:pt x="59635" y="742122"/>
                  </a:cubicBezTo>
                  <a:cubicBezTo>
                    <a:pt x="69920" y="730368"/>
                    <a:pt x="81722" y="720035"/>
                    <a:pt x="92766" y="708991"/>
                  </a:cubicBezTo>
                  <a:cubicBezTo>
                    <a:pt x="99392" y="702365"/>
                    <a:pt x="107446" y="696910"/>
                    <a:pt x="112644" y="689113"/>
                  </a:cubicBezTo>
                  <a:cubicBezTo>
                    <a:pt x="117061" y="682487"/>
                    <a:pt x="121267" y="675715"/>
                    <a:pt x="125896" y="669235"/>
                  </a:cubicBezTo>
                  <a:cubicBezTo>
                    <a:pt x="132315" y="660248"/>
                    <a:pt x="138704" y="651214"/>
                    <a:pt x="145774" y="642730"/>
                  </a:cubicBezTo>
                  <a:cubicBezTo>
                    <a:pt x="158534" y="627418"/>
                    <a:pt x="185531" y="611217"/>
                    <a:pt x="185531" y="589722"/>
                  </a:cubicBezTo>
                  <a:lnTo>
                    <a:pt x="172279" y="569844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 smtClean="0">
                  <a:solidFill>
                    <a:schemeClr val="tx1"/>
                  </a:solidFill>
                </a:rPr>
                <a:t>Consumer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手繪多邊形 10"/>
            <p:cNvSpPr/>
            <p:nvPr/>
          </p:nvSpPr>
          <p:spPr>
            <a:xfrm>
              <a:off x="899592" y="1853208"/>
              <a:ext cx="1842053" cy="1225826"/>
            </a:xfrm>
            <a:custGeom>
              <a:avLst/>
              <a:gdLst>
                <a:gd name="connsiteX0" fmla="*/ 172279 w 1842053"/>
                <a:gd name="connsiteY0" fmla="*/ 569844 h 1225826"/>
                <a:gd name="connsiteX1" fmla="*/ 172279 w 1842053"/>
                <a:gd name="connsiteY1" fmla="*/ 569844 h 1225826"/>
                <a:gd name="connsiteX2" fmla="*/ 212035 w 1842053"/>
                <a:gd name="connsiteY2" fmla="*/ 490330 h 1225826"/>
                <a:gd name="connsiteX3" fmla="*/ 231914 w 1842053"/>
                <a:gd name="connsiteY3" fmla="*/ 450574 h 1225826"/>
                <a:gd name="connsiteX4" fmla="*/ 245166 w 1842053"/>
                <a:gd name="connsiteY4" fmla="*/ 404191 h 1225826"/>
                <a:gd name="connsiteX5" fmla="*/ 258418 w 1842053"/>
                <a:gd name="connsiteY5" fmla="*/ 377687 h 1225826"/>
                <a:gd name="connsiteX6" fmla="*/ 271670 w 1842053"/>
                <a:gd name="connsiteY6" fmla="*/ 331304 h 1225826"/>
                <a:gd name="connsiteX7" fmla="*/ 331305 w 1842053"/>
                <a:gd name="connsiteY7" fmla="*/ 258417 h 1225826"/>
                <a:gd name="connsiteX8" fmla="*/ 357809 w 1842053"/>
                <a:gd name="connsiteY8" fmla="*/ 238539 h 1225826"/>
                <a:gd name="connsiteX9" fmla="*/ 377687 w 1842053"/>
                <a:gd name="connsiteY9" fmla="*/ 231913 h 1225826"/>
                <a:gd name="connsiteX10" fmla="*/ 404192 w 1842053"/>
                <a:gd name="connsiteY10" fmla="*/ 218661 h 1225826"/>
                <a:gd name="connsiteX11" fmla="*/ 457200 w 1842053"/>
                <a:gd name="connsiteY11" fmla="*/ 178904 h 1225826"/>
                <a:gd name="connsiteX12" fmla="*/ 490331 w 1842053"/>
                <a:gd name="connsiteY12" fmla="*/ 172278 h 1225826"/>
                <a:gd name="connsiteX13" fmla="*/ 543340 w 1842053"/>
                <a:gd name="connsiteY13" fmla="*/ 159026 h 1225826"/>
                <a:gd name="connsiteX14" fmla="*/ 563218 w 1842053"/>
                <a:gd name="connsiteY14" fmla="*/ 152400 h 1225826"/>
                <a:gd name="connsiteX15" fmla="*/ 602974 w 1842053"/>
                <a:gd name="connsiteY15" fmla="*/ 125896 h 1225826"/>
                <a:gd name="connsiteX16" fmla="*/ 669235 w 1842053"/>
                <a:gd name="connsiteY16" fmla="*/ 112644 h 1225826"/>
                <a:gd name="connsiteX17" fmla="*/ 795131 w 1842053"/>
                <a:gd name="connsiteY17" fmla="*/ 99391 h 1225826"/>
                <a:gd name="connsiteX18" fmla="*/ 834887 w 1842053"/>
                <a:gd name="connsiteY18" fmla="*/ 86139 h 1225826"/>
                <a:gd name="connsiteX19" fmla="*/ 881270 w 1842053"/>
                <a:gd name="connsiteY19" fmla="*/ 72887 h 1225826"/>
                <a:gd name="connsiteX20" fmla="*/ 934279 w 1842053"/>
                <a:gd name="connsiteY20" fmla="*/ 39757 h 1225826"/>
                <a:gd name="connsiteX21" fmla="*/ 980661 w 1842053"/>
                <a:gd name="connsiteY21" fmla="*/ 26504 h 1225826"/>
                <a:gd name="connsiteX22" fmla="*/ 1000540 w 1842053"/>
                <a:gd name="connsiteY22" fmla="*/ 19878 h 1225826"/>
                <a:gd name="connsiteX23" fmla="*/ 1040296 w 1842053"/>
                <a:gd name="connsiteY23" fmla="*/ 13252 h 1225826"/>
                <a:gd name="connsiteX24" fmla="*/ 1086679 w 1842053"/>
                <a:gd name="connsiteY24" fmla="*/ 0 h 1225826"/>
                <a:gd name="connsiteX25" fmla="*/ 1245705 w 1842053"/>
                <a:gd name="connsiteY25" fmla="*/ 6626 h 1225826"/>
                <a:gd name="connsiteX26" fmla="*/ 1298714 w 1842053"/>
                <a:gd name="connsiteY26" fmla="*/ 19878 h 1225826"/>
                <a:gd name="connsiteX27" fmla="*/ 1331844 w 1842053"/>
                <a:gd name="connsiteY27" fmla="*/ 39757 h 1225826"/>
                <a:gd name="connsiteX28" fmla="*/ 1358348 w 1842053"/>
                <a:gd name="connsiteY28" fmla="*/ 46383 h 1225826"/>
                <a:gd name="connsiteX29" fmla="*/ 1398105 w 1842053"/>
                <a:gd name="connsiteY29" fmla="*/ 72887 h 1225826"/>
                <a:gd name="connsiteX30" fmla="*/ 1417983 w 1842053"/>
                <a:gd name="connsiteY30" fmla="*/ 79513 h 1225826"/>
                <a:gd name="connsiteX31" fmla="*/ 1464366 w 1842053"/>
                <a:gd name="connsiteY31" fmla="*/ 119270 h 1225826"/>
                <a:gd name="connsiteX32" fmla="*/ 1484244 w 1842053"/>
                <a:gd name="connsiteY32" fmla="*/ 145774 h 1225826"/>
                <a:gd name="connsiteX33" fmla="*/ 1497496 w 1842053"/>
                <a:gd name="connsiteY33" fmla="*/ 172278 h 1225826"/>
                <a:gd name="connsiteX34" fmla="*/ 1537253 w 1842053"/>
                <a:gd name="connsiteY34" fmla="*/ 265044 h 1225826"/>
                <a:gd name="connsiteX35" fmla="*/ 1656522 w 1842053"/>
                <a:gd name="connsiteY35" fmla="*/ 430696 h 1225826"/>
                <a:gd name="connsiteX36" fmla="*/ 1696279 w 1842053"/>
                <a:gd name="connsiteY36" fmla="*/ 483704 h 1225826"/>
                <a:gd name="connsiteX37" fmla="*/ 1722783 w 1842053"/>
                <a:gd name="connsiteY37" fmla="*/ 516835 h 1225826"/>
                <a:gd name="connsiteX38" fmla="*/ 1749287 w 1842053"/>
                <a:gd name="connsiteY38" fmla="*/ 549965 h 1225826"/>
                <a:gd name="connsiteX39" fmla="*/ 1775792 w 1842053"/>
                <a:gd name="connsiteY39" fmla="*/ 583096 h 1225826"/>
                <a:gd name="connsiteX40" fmla="*/ 1815548 w 1842053"/>
                <a:gd name="connsiteY40" fmla="*/ 649357 h 1225826"/>
                <a:gd name="connsiteX41" fmla="*/ 1842053 w 1842053"/>
                <a:gd name="connsiteY41" fmla="*/ 695739 h 1225826"/>
                <a:gd name="connsiteX42" fmla="*/ 1835427 w 1842053"/>
                <a:gd name="connsiteY42" fmla="*/ 795130 h 1225826"/>
                <a:gd name="connsiteX43" fmla="*/ 1828800 w 1842053"/>
                <a:gd name="connsiteY43" fmla="*/ 815009 h 1225826"/>
                <a:gd name="connsiteX44" fmla="*/ 1822174 w 1842053"/>
                <a:gd name="connsiteY44" fmla="*/ 881270 h 1225826"/>
                <a:gd name="connsiteX45" fmla="*/ 1815548 w 1842053"/>
                <a:gd name="connsiteY45" fmla="*/ 1093304 h 1225826"/>
                <a:gd name="connsiteX46" fmla="*/ 1802296 w 1842053"/>
                <a:gd name="connsiteY46" fmla="*/ 1106557 h 1225826"/>
                <a:gd name="connsiteX47" fmla="*/ 1795670 w 1842053"/>
                <a:gd name="connsiteY47" fmla="*/ 1126435 h 1225826"/>
                <a:gd name="connsiteX48" fmla="*/ 1722783 w 1842053"/>
                <a:gd name="connsiteY48" fmla="*/ 1172817 h 1225826"/>
                <a:gd name="connsiteX49" fmla="*/ 1689653 w 1842053"/>
                <a:gd name="connsiteY49" fmla="*/ 1192696 h 1225826"/>
                <a:gd name="connsiteX50" fmla="*/ 1656522 w 1842053"/>
                <a:gd name="connsiteY50" fmla="*/ 1199322 h 1225826"/>
                <a:gd name="connsiteX51" fmla="*/ 1583635 w 1842053"/>
                <a:gd name="connsiteY51" fmla="*/ 1212574 h 1225826"/>
                <a:gd name="connsiteX52" fmla="*/ 1557131 w 1842053"/>
                <a:gd name="connsiteY52" fmla="*/ 1219200 h 1225826"/>
                <a:gd name="connsiteX53" fmla="*/ 1133061 w 1842053"/>
                <a:gd name="connsiteY53" fmla="*/ 1225826 h 1225826"/>
                <a:gd name="connsiteX54" fmla="*/ 927653 w 1842053"/>
                <a:gd name="connsiteY54" fmla="*/ 1219200 h 1225826"/>
                <a:gd name="connsiteX55" fmla="*/ 861392 w 1842053"/>
                <a:gd name="connsiteY55" fmla="*/ 1212574 h 1225826"/>
                <a:gd name="connsiteX56" fmla="*/ 642731 w 1842053"/>
                <a:gd name="connsiteY56" fmla="*/ 1199322 h 1225826"/>
                <a:gd name="connsiteX57" fmla="*/ 609600 w 1842053"/>
                <a:gd name="connsiteY57" fmla="*/ 1192696 h 1225826"/>
                <a:gd name="connsiteX58" fmla="*/ 589722 w 1842053"/>
                <a:gd name="connsiteY58" fmla="*/ 1186070 h 1225826"/>
                <a:gd name="connsiteX59" fmla="*/ 563218 w 1842053"/>
                <a:gd name="connsiteY59" fmla="*/ 1179444 h 1225826"/>
                <a:gd name="connsiteX60" fmla="*/ 543340 w 1842053"/>
                <a:gd name="connsiteY60" fmla="*/ 1166191 h 1225826"/>
                <a:gd name="connsiteX61" fmla="*/ 490331 w 1842053"/>
                <a:gd name="connsiteY61" fmla="*/ 1152939 h 1225826"/>
                <a:gd name="connsiteX62" fmla="*/ 404192 w 1842053"/>
                <a:gd name="connsiteY62" fmla="*/ 1119809 h 1225826"/>
                <a:gd name="connsiteX63" fmla="*/ 371061 w 1842053"/>
                <a:gd name="connsiteY63" fmla="*/ 1099930 h 1225826"/>
                <a:gd name="connsiteX64" fmla="*/ 344557 w 1842053"/>
                <a:gd name="connsiteY64" fmla="*/ 1086678 h 1225826"/>
                <a:gd name="connsiteX65" fmla="*/ 291548 w 1842053"/>
                <a:gd name="connsiteY65" fmla="*/ 1073426 h 1225826"/>
                <a:gd name="connsiteX66" fmla="*/ 165653 w 1842053"/>
                <a:gd name="connsiteY66" fmla="*/ 1000539 h 1225826"/>
                <a:gd name="connsiteX67" fmla="*/ 119270 w 1842053"/>
                <a:gd name="connsiteY67" fmla="*/ 974035 h 1225826"/>
                <a:gd name="connsiteX68" fmla="*/ 86140 w 1842053"/>
                <a:gd name="connsiteY68" fmla="*/ 954157 h 1225826"/>
                <a:gd name="connsiteX69" fmla="*/ 33131 w 1842053"/>
                <a:gd name="connsiteY69" fmla="*/ 927652 h 1225826"/>
                <a:gd name="connsiteX70" fmla="*/ 0 w 1842053"/>
                <a:gd name="connsiteY70" fmla="*/ 868017 h 1225826"/>
                <a:gd name="connsiteX71" fmla="*/ 13253 w 1842053"/>
                <a:gd name="connsiteY71" fmla="*/ 801757 h 1225826"/>
                <a:gd name="connsiteX72" fmla="*/ 26505 w 1842053"/>
                <a:gd name="connsiteY72" fmla="*/ 788504 h 1225826"/>
                <a:gd name="connsiteX73" fmla="*/ 46383 w 1842053"/>
                <a:gd name="connsiteY73" fmla="*/ 762000 h 1225826"/>
                <a:gd name="connsiteX74" fmla="*/ 59635 w 1842053"/>
                <a:gd name="connsiteY74" fmla="*/ 742122 h 1225826"/>
                <a:gd name="connsiteX75" fmla="*/ 92766 w 1842053"/>
                <a:gd name="connsiteY75" fmla="*/ 708991 h 1225826"/>
                <a:gd name="connsiteX76" fmla="*/ 112644 w 1842053"/>
                <a:gd name="connsiteY76" fmla="*/ 689113 h 1225826"/>
                <a:gd name="connsiteX77" fmla="*/ 125896 w 1842053"/>
                <a:gd name="connsiteY77" fmla="*/ 669235 h 1225826"/>
                <a:gd name="connsiteX78" fmla="*/ 145774 w 1842053"/>
                <a:gd name="connsiteY78" fmla="*/ 642730 h 1225826"/>
                <a:gd name="connsiteX79" fmla="*/ 185531 w 1842053"/>
                <a:gd name="connsiteY79" fmla="*/ 589722 h 1225826"/>
                <a:gd name="connsiteX80" fmla="*/ 172279 w 1842053"/>
                <a:gd name="connsiteY80" fmla="*/ 569844 h 122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842053" h="1225826">
                  <a:moveTo>
                    <a:pt x="172279" y="569844"/>
                  </a:moveTo>
                  <a:lnTo>
                    <a:pt x="172279" y="569844"/>
                  </a:lnTo>
                  <a:cubicBezTo>
                    <a:pt x="185531" y="543339"/>
                    <a:pt x="202664" y="518442"/>
                    <a:pt x="212035" y="490330"/>
                  </a:cubicBezTo>
                  <a:cubicBezTo>
                    <a:pt x="221179" y="462897"/>
                    <a:pt x="214787" y="476263"/>
                    <a:pt x="231914" y="450574"/>
                  </a:cubicBezTo>
                  <a:cubicBezTo>
                    <a:pt x="235276" y="437127"/>
                    <a:pt x="239463" y="417498"/>
                    <a:pt x="245166" y="404191"/>
                  </a:cubicBezTo>
                  <a:cubicBezTo>
                    <a:pt x="249057" y="395112"/>
                    <a:pt x="254950" y="386936"/>
                    <a:pt x="258418" y="377687"/>
                  </a:cubicBezTo>
                  <a:cubicBezTo>
                    <a:pt x="262376" y="367131"/>
                    <a:pt x="265510" y="342393"/>
                    <a:pt x="271670" y="331304"/>
                  </a:cubicBezTo>
                  <a:cubicBezTo>
                    <a:pt x="286010" y="305491"/>
                    <a:pt x="307335" y="276394"/>
                    <a:pt x="331305" y="258417"/>
                  </a:cubicBezTo>
                  <a:cubicBezTo>
                    <a:pt x="340140" y="251791"/>
                    <a:pt x="348221" y="244018"/>
                    <a:pt x="357809" y="238539"/>
                  </a:cubicBezTo>
                  <a:cubicBezTo>
                    <a:pt x="363873" y="235074"/>
                    <a:pt x="371267" y="234664"/>
                    <a:pt x="377687" y="231913"/>
                  </a:cubicBezTo>
                  <a:cubicBezTo>
                    <a:pt x="386766" y="228022"/>
                    <a:pt x="395357" y="223078"/>
                    <a:pt x="404192" y="218661"/>
                  </a:cubicBezTo>
                  <a:cubicBezTo>
                    <a:pt x="423192" y="199661"/>
                    <a:pt x="429758" y="189881"/>
                    <a:pt x="457200" y="178904"/>
                  </a:cubicBezTo>
                  <a:cubicBezTo>
                    <a:pt x="467657" y="174721"/>
                    <a:pt x="479357" y="174810"/>
                    <a:pt x="490331" y="172278"/>
                  </a:cubicBezTo>
                  <a:cubicBezTo>
                    <a:pt x="508078" y="168183"/>
                    <a:pt x="526061" y="164786"/>
                    <a:pt x="543340" y="159026"/>
                  </a:cubicBezTo>
                  <a:cubicBezTo>
                    <a:pt x="549966" y="156817"/>
                    <a:pt x="557113" y="155792"/>
                    <a:pt x="563218" y="152400"/>
                  </a:cubicBezTo>
                  <a:cubicBezTo>
                    <a:pt x="577141" y="144665"/>
                    <a:pt x="587356" y="129019"/>
                    <a:pt x="602974" y="125896"/>
                  </a:cubicBezTo>
                  <a:cubicBezTo>
                    <a:pt x="625061" y="121479"/>
                    <a:pt x="646803" y="114684"/>
                    <a:pt x="669235" y="112644"/>
                  </a:cubicBezTo>
                  <a:cubicBezTo>
                    <a:pt x="759856" y="104405"/>
                    <a:pt x="717914" y="109043"/>
                    <a:pt x="795131" y="99391"/>
                  </a:cubicBezTo>
                  <a:cubicBezTo>
                    <a:pt x="808383" y="94974"/>
                    <a:pt x="821456" y="89976"/>
                    <a:pt x="834887" y="86139"/>
                  </a:cubicBezTo>
                  <a:cubicBezTo>
                    <a:pt x="850348" y="81722"/>
                    <a:pt x="866158" y="78382"/>
                    <a:pt x="881270" y="72887"/>
                  </a:cubicBezTo>
                  <a:cubicBezTo>
                    <a:pt x="920216" y="58725"/>
                    <a:pt x="897005" y="61057"/>
                    <a:pt x="934279" y="39757"/>
                  </a:cubicBezTo>
                  <a:cubicBezTo>
                    <a:pt x="942227" y="35215"/>
                    <a:pt x="974199" y="28350"/>
                    <a:pt x="980661" y="26504"/>
                  </a:cubicBezTo>
                  <a:cubicBezTo>
                    <a:pt x="987377" y="24585"/>
                    <a:pt x="993722" y="21393"/>
                    <a:pt x="1000540" y="19878"/>
                  </a:cubicBezTo>
                  <a:cubicBezTo>
                    <a:pt x="1013655" y="16964"/>
                    <a:pt x="1027122" y="15887"/>
                    <a:pt x="1040296" y="13252"/>
                  </a:cubicBezTo>
                  <a:cubicBezTo>
                    <a:pt x="1061095" y="9092"/>
                    <a:pt x="1067734" y="6315"/>
                    <a:pt x="1086679" y="0"/>
                  </a:cubicBezTo>
                  <a:cubicBezTo>
                    <a:pt x="1139688" y="2209"/>
                    <a:pt x="1192776" y="2976"/>
                    <a:pt x="1245705" y="6626"/>
                  </a:cubicBezTo>
                  <a:cubicBezTo>
                    <a:pt x="1254473" y="7231"/>
                    <a:pt x="1287508" y="14275"/>
                    <a:pt x="1298714" y="19878"/>
                  </a:cubicBezTo>
                  <a:cubicBezTo>
                    <a:pt x="1310233" y="25638"/>
                    <a:pt x="1320075" y="34526"/>
                    <a:pt x="1331844" y="39757"/>
                  </a:cubicBezTo>
                  <a:cubicBezTo>
                    <a:pt x="1340166" y="43456"/>
                    <a:pt x="1349513" y="44174"/>
                    <a:pt x="1358348" y="46383"/>
                  </a:cubicBezTo>
                  <a:cubicBezTo>
                    <a:pt x="1371600" y="55218"/>
                    <a:pt x="1384182" y="65152"/>
                    <a:pt x="1398105" y="72887"/>
                  </a:cubicBezTo>
                  <a:cubicBezTo>
                    <a:pt x="1404211" y="76279"/>
                    <a:pt x="1411736" y="76389"/>
                    <a:pt x="1417983" y="79513"/>
                  </a:cubicBezTo>
                  <a:cubicBezTo>
                    <a:pt x="1434009" y="87526"/>
                    <a:pt x="1454584" y="106228"/>
                    <a:pt x="1464366" y="119270"/>
                  </a:cubicBezTo>
                  <a:cubicBezTo>
                    <a:pt x="1470992" y="128105"/>
                    <a:pt x="1478391" y="136409"/>
                    <a:pt x="1484244" y="145774"/>
                  </a:cubicBezTo>
                  <a:cubicBezTo>
                    <a:pt x="1489479" y="154150"/>
                    <a:pt x="1493605" y="163199"/>
                    <a:pt x="1497496" y="172278"/>
                  </a:cubicBezTo>
                  <a:cubicBezTo>
                    <a:pt x="1511638" y="205277"/>
                    <a:pt x="1520018" y="234882"/>
                    <a:pt x="1537253" y="265044"/>
                  </a:cubicBezTo>
                  <a:cubicBezTo>
                    <a:pt x="1591384" y="359773"/>
                    <a:pt x="1573197" y="324225"/>
                    <a:pt x="1656522" y="430696"/>
                  </a:cubicBezTo>
                  <a:cubicBezTo>
                    <a:pt x="1670134" y="448089"/>
                    <a:pt x="1682812" y="466197"/>
                    <a:pt x="1696279" y="483704"/>
                  </a:cubicBezTo>
                  <a:cubicBezTo>
                    <a:pt x="1704902" y="494914"/>
                    <a:pt x="1713948" y="505791"/>
                    <a:pt x="1722783" y="516835"/>
                  </a:cubicBezTo>
                  <a:lnTo>
                    <a:pt x="1749287" y="549965"/>
                  </a:lnTo>
                  <a:lnTo>
                    <a:pt x="1775792" y="583096"/>
                  </a:lnTo>
                  <a:cubicBezTo>
                    <a:pt x="1808566" y="665030"/>
                    <a:pt x="1764647" y="564521"/>
                    <a:pt x="1815548" y="649357"/>
                  </a:cubicBezTo>
                  <a:cubicBezTo>
                    <a:pt x="1850582" y="707748"/>
                    <a:pt x="1810167" y="663856"/>
                    <a:pt x="1842053" y="695739"/>
                  </a:cubicBezTo>
                  <a:cubicBezTo>
                    <a:pt x="1839844" y="728869"/>
                    <a:pt x="1839094" y="762129"/>
                    <a:pt x="1835427" y="795130"/>
                  </a:cubicBezTo>
                  <a:cubicBezTo>
                    <a:pt x="1834656" y="802072"/>
                    <a:pt x="1829862" y="808105"/>
                    <a:pt x="1828800" y="815009"/>
                  </a:cubicBezTo>
                  <a:cubicBezTo>
                    <a:pt x="1825425" y="836948"/>
                    <a:pt x="1824383" y="859183"/>
                    <a:pt x="1822174" y="881270"/>
                  </a:cubicBezTo>
                  <a:cubicBezTo>
                    <a:pt x="1819965" y="951948"/>
                    <a:pt x="1821763" y="1022865"/>
                    <a:pt x="1815548" y="1093304"/>
                  </a:cubicBezTo>
                  <a:cubicBezTo>
                    <a:pt x="1814999" y="1099527"/>
                    <a:pt x="1805510" y="1101200"/>
                    <a:pt x="1802296" y="1106557"/>
                  </a:cubicBezTo>
                  <a:cubicBezTo>
                    <a:pt x="1798703" y="1112546"/>
                    <a:pt x="1800609" y="1121496"/>
                    <a:pt x="1795670" y="1126435"/>
                  </a:cubicBezTo>
                  <a:cubicBezTo>
                    <a:pt x="1723325" y="1198779"/>
                    <a:pt x="1767962" y="1150227"/>
                    <a:pt x="1722783" y="1172817"/>
                  </a:cubicBezTo>
                  <a:cubicBezTo>
                    <a:pt x="1711264" y="1178577"/>
                    <a:pt x="1701611" y="1187913"/>
                    <a:pt x="1689653" y="1192696"/>
                  </a:cubicBezTo>
                  <a:cubicBezTo>
                    <a:pt x="1679196" y="1196879"/>
                    <a:pt x="1667603" y="1197307"/>
                    <a:pt x="1656522" y="1199322"/>
                  </a:cubicBezTo>
                  <a:cubicBezTo>
                    <a:pt x="1616969" y="1206513"/>
                    <a:pt x="1620457" y="1204392"/>
                    <a:pt x="1583635" y="1212574"/>
                  </a:cubicBezTo>
                  <a:cubicBezTo>
                    <a:pt x="1574745" y="1214549"/>
                    <a:pt x="1566234" y="1218932"/>
                    <a:pt x="1557131" y="1219200"/>
                  </a:cubicBezTo>
                  <a:cubicBezTo>
                    <a:pt x="1415818" y="1223356"/>
                    <a:pt x="1274418" y="1223617"/>
                    <a:pt x="1133061" y="1225826"/>
                  </a:cubicBezTo>
                  <a:lnTo>
                    <a:pt x="927653" y="1219200"/>
                  </a:lnTo>
                  <a:cubicBezTo>
                    <a:pt x="905482" y="1218119"/>
                    <a:pt x="883512" y="1214417"/>
                    <a:pt x="861392" y="1212574"/>
                  </a:cubicBezTo>
                  <a:cubicBezTo>
                    <a:pt x="778933" y="1205703"/>
                    <a:pt x="728793" y="1203852"/>
                    <a:pt x="642731" y="1199322"/>
                  </a:cubicBezTo>
                  <a:cubicBezTo>
                    <a:pt x="631687" y="1197113"/>
                    <a:pt x="620526" y="1195427"/>
                    <a:pt x="609600" y="1192696"/>
                  </a:cubicBezTo>
                  <a:cubicBezTo>
                    <a:pt x="602824" y="1191002"/>
                    <a:pt x="596438" y="1187989"/>
                    <a:pt x="589722" y="1186070"/>
                  </a:cubicBezTo>
                  <a:cubicBezTo>
                    <a:pt x="580966" y="1183568"/>
                    <a:pt x="572053" y="1181653"/>
                    <a:pt x="563218" y="1179444"/>
                  </a:cubicBezTo>
                  <a:cubicBezTo>
                    <a:pt x="556592" y="1175026"/>
                    <a:pt x="550463" y="1169753"/>
                    <a:pt x="543340" y="1166191"/>
                  </a:cubicBezTo>
                  <a:cubicBezTo>
                    <a:pt x="526634" y="1157838"/>
                    <a:pt x="507968" y="1157978"/>
                    <a:pt x="490331" y="1152939"/>
                  </a:cubicBezTo>
                  <a:cubicBezTo>
                    <a:pt x="453265" y="1142349"/>
                    <a:pt x="434381" y="1136581"/>
                    <a:pt x="404192" y="1119809"/>
                  </a:cubicBezTo>
                  <a:cubicBezTo>
                    <a:pt x="392934" y="1113554"/>
                    <a:pt x="382319" y="1106185"/>
                    <a:pt x="371061" y="1099930"/>
                  </a:cubicBezTo>
                  <a:cubicBezTo>
                    <a:pt x="362427" y="1095133"/>
                    <a:pt x="353928" y="1089801"/>
                    <a:pt x="344557" y="1086678"/>
                  </a:cubicBezTo>
                  <a:cubicBezTo>
                    <a:pt x="327278" y="1080918"/>
                    <a:pt x="291548" y="1073426"/>
                    <a:pt x="291548" y="1073426"/>
                  </a:cubicBezTo>
                  <a:cubicBezTo>
                    <a:pt x="196833" y="1018176"/>
                    <a:pt x="238572" y="1042207"/>
                    <a:pt x="165653" y="1000539"/>
                  </a:cubicBezTo>
                  <a:lnTo>
                    <a:pt x="119270" y="974035"/>
                  </a:lnTo>
                  <a:cubicBezTo>
                    <a:pt x="108146" y="967546"/>
                    <a:pt x="98097" y="958940"/>
                    <a:pt x="86140" y="954157"/>
                  </a:cubicBezTo>
                  <a:cubicBezTo>
                    <a:pt x="45615" y="937946"/>
                    <a:pt x="62906" y="947502"/>
                    <a:pt x="33131" y="927652"/>
                  </a:cubicBezTo>
                  <a:cubicBezTo>
                    <a:pt x="2753" y="882084"/>
                    <a:pt x="11664" y="903005"/>
                    <a:pt x="0" y="868017"/>
                  </a:cubicBezTo>
                  <a:cubicBezTo>
                    <a:pt x="1149" y="859976"/>
                    <a:pt x="4580" y="816213"/>
                    <a:pt x="13253" y="801757"/>
                  </a:cubicBezTo>
                  <a:cubicBezTo>
                    <a:pt x="16467" y="796400"/>
                    <a:pt x="22506" y="793303"/>
                    <a:pt x="26505" y="788504"/>
                  </a:cubicBezTo>
                  <a:cubicBezTo>
                    <a:pt x="33575" y="780020"/>
                    <a:pt x="39964" y="770986"/>
                    <a:pt x="46383" y="762000"/>
                  </a:cubicBezTo>
                  <a:cubicBezTo>
                    <a:pt x="51012" y="755520"/>
                    <a:pt x="54391" y="748115"/>
                    <a:pt x="59635" y="742122"/>
                  </a:cubicBezTo>
                  <a:cubicBezTo>
                    <a:pt x="69920" y="730368"/>
                    <a:pt x="81722" y="720035"/>
                    <a:pt x="92766" y="708991"/>
                  </a:cubicBezTo>
                  <a:cubicBezTo>
                    <a:pt x="99392" y="702365"/>
                    <a:pt x="107446" y="696910"/>
                    <a:pt x="112644" y="689113"/>
                  </a:cubicBezTo>
                  <a:cubicBezTo>
                    <a:pt x="117061" y="682487"/>
                    <a:pt x="121267" y="675715"/>
                    <a:pt x="125896" y="669235"/>
                  </a:cubicBezTo>
                  <a:cubicBezTo>
                    <a:pt x="132315" y="660248"/>
                    <a:pt x="138704" y="651214"/>
                    <a:pt x="145774" y="642730"/>
                  </a:cubicBezTo>
                  <a:cubicBezTo>
                    <a:pt x="158534" y="627418"/>
                    <a:pt x="185531" y="611217"/>
                    <a:pt x="185531" y="589722"/>
                  </a:cubicBezTo>
                  <a:lnTo>
                    <a:pt x="172279" y="569844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 smtClean="0">
                  <a:solidFill>
                    <a:schemeClr val="tx1"/>
                  </a:solidFill>
                </a:rPr>
                <a:t>Supplier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手繪多邊形 11"/>
            <p:cNvSpPr/>
            <p:nvPr/>
          </p:nvSpPr>
          <p:spPr>
            <a:xfrm>
              <a:off x="899592" y="4867470"/>
              <a:ext cx="1842053" cy="1225826"/>
            </a:xfrm>
            <a:custGeom>
              <a:avLst/>
              <a:gdLst>
                <a:gd name="connsiteX0" fmla="*/ 172279 w 1842053"/>
                <a:gd name="connsiteY0" fmla="*/ 569844 h 1225826"/>
                <a:gd name="connsiteX1" fmla="*/ 172279 w 1842053"/>
                <a:gd name="connsiteY1" fmla="*/ 569844 h 1225826"/>
                <a:gd name="connsiteX2" fmla="*/ 212035 w 1842053"/>
                <a:gd name="connsiteY2" fmla="*/ 490330 h 1225826"/>
                <a:gd name="connsiteX3" fmla="*/ 231914 w 1842053"/>
                <a:gd name="connsiteY3" fmla="*/ 450574 h 1225826"/>
                <a:gd name="connsiteX4" fmla="*/ 245166 w 1842053"/>
                <a:gd name="connsiteY4" fmla="*/ 404191 h 1225826"/>
                <a:gd name="connsiteX5" fmla="*/ 258418 w 1842053"/>
                <a:gd name="connsiteY5" fmla="*/ 377687 h 1225826"/>
                <a:gd name="connsiteX6" fmla="*/ 271670 w 1842053"/>
                <a:gd name="connsiteY6" fmla="*/ 331304 h 1225826"/>
                <a:gd name="connsiteX7" fmla="*/ 331305 w 1842053"/>
                <a:gd name="connsiteY7" fmla="*/ 258417 h 1225826"/>
                <a:gd name="connsiteX8" fmla="*/ 357809 w 1842053"/>
                <a:gd name="connsiteY8" fmla="*/ 238539 h 1225826"/>
                <a:gd name="connsiteX9" fmla="*/ 377687 w 1842053"/>
                <a:gd name="connsiteY9" fmla="*/ 231913 h 1225826"/>
                <a:gd name="connsiteX10" fmla="*/ 404192 w 1842053"/>
                <a:gd name="connsiteY10" fmla="*/ 218661 h 1225826"/>
                <a:gd name="connsiteX11" fmla="*/ 457200 w 1842053"/>
                <a:gd name="connsiteY11" fmla="*/ 178904 h 1225826"/>
                <a:gd name="connsiteX12" fmla="*/ 490331 w 1842053"/>
                <a:gd name="connsiteY12" fmla="*/ 172278 h 1225826"/>
                <a:gd name="connsiteX13" fmla="*/ 543340 w 1842053"/>
                <a:gd name="connsiteY13" fmla="*/ 159026 h 1225826"/>
                <a:gd name="connsiteX14" fmla="*/ 563218 w 1842053"/>
                <a:gd name="connsiteY14" fmla="*/ 152400 h 1225826"/>
                <a:gd name="connsiteX15" fmla="*/ 602974 w 1842053"/>
                <a:gd name="connsiteY15" fmla="*/ 125896 h 1225826"/>
                <a:gd name="connsiteX16" fmla="*/ 669235 w 1842053"/>
                <a:gd name="connsiteY16" fmla="*/ 112644 h 1225826"/>
                <a:gd name="connsiteX17" fmla="*/ 795131 w 1842053"/>
                <a:gd name="connsiteY17" fmla="*/ 99391 h 1225826"/>
                <a:gd name="connsiteX18" fmla="*/ 834887 w 1842053"/>
                <a:gd name="connsiteY18" fmla="*/ 86139 h 1225826"/>
                <a:gd name="connsiteX19" fmla="*/ 881270 w 1842053"/>
                <a:gd name="connsiteY19" fmla="*/ 72887 h 1225826"/>
                <a:gd name="connsiteX20" fmla="*/ 934279 w 1842053"/>
                <a:gd name="connsiteY20" fmla="*/ 39757 h 1225826"/>
                <a:gd name="connsiteX21" fmla="*/ 980661 w 1842053"/>
                <a:gd name="connsiteY21" fmla="*/ 26504 h 1225826"/>
                <a:gd name="connsiteX22" fmla="*/ 1000540 w 1842053"/>
                <a:gd name="connsiteY22" fmla="*/ 19878 h 1225826"/>
                <a:gd name="connsiteX23" fmla="*/ 1040296 w 1842053"/>
                <a:gd name="connsiteY23" fmla="*/ 13252 h 1225826"/>
                <a:gd name="connsiteX24" fmla="*/ 1086679 w 1842053"/>
                <a:gd name="connsiteY24" fmla="*/ 0 h 1225826"/>
                <a:gd name="connsiteX25" fmla="*/ 1245705 w 1842053"/>
                <a:gd name="connsiteY25" fmla="*/ 6626 h 1225826"/>
                <a:gd name="connsiteX26" fmla="*/ 1298714 w 1842053"/>
                <a:gd name="connsiteY26" fmla="*/ 19878 h 1225826"/>
                <a:gd name="connsiteX27" fmla="*/ 1331844 w 1842053"/>
                <a:gd name="connsiteY27" fmla="*/ 39757 h 1225826"/>
                <a:gd name="connsiteX28" fmla="*/ 1358348 w 1842053"/>
                <a:gd name="connsiteY28" fmla="*/ 46383 h 1225826"/>
                <a:gd name="connsiteX29" fmla="*/ 1398105 w 1842053"/>
                <a:gd name="connsiteY29" fmla="*/ 72887 h 1225826"/>
                <a:gd name="connsiteX30" fmla="*/ 1417983 w 1842053"/>
                <a:gd name="connsiteY30" fmla="*/ 79513 h 1225826"/>
                <a:gd name="connsiteX31" fmla="*/ 1464366 w 1842053"/>
                <a:gd name="connsiteY31" fmla="*/ 119270 h 1225826"/>
                <a:gd name="connsiteX32" fmla="*/ 1484244 w 1842053"/>
                <a:gd name="connsiteY32" fmla="*/ 145774 h 1225826"/>
                <a:gd name="connsiteX33" fmla="*/ 1497496 w 1842053"/>
                <a:gd name="connsiteY33" fmla="*/ 172278 h 1225826"/>
                <a:gd name="connsiteX34" fmla="*/ 1537253 w 1842053"/>
                <a:gd name="connsiteY34" fmla="*/ 265044 h 1225826"/>
                <a:gd name="connsiteX35" fmla="*/ 1656522 w 1842053"/>
                <a:gd name="connsiteY35" fmla="*/ 430696 h 1225826"/>
                <a:gd name="connsiteX36" fmla="*/ 1696279 w 1842053"/>
                <a:gd name="connsiteY36" fmla="*/ 483704 h 1225826"/>
                <a:gd name="connsiteX37" fmla="*/ 1722783 w 1842053"/>
                <a:gd name="connsiteY37" fmla="*/ 516835 h 1225826"/>
                <a:gd name="connsiteX38" fmla="*/ 1749287 w 1842053"/>
                <a:gd name="connsiteY38" fmla="*/ 549965 h 1225826"/>
                <a:gd name="connsiteX39" fmla="*/ 1775792 w 1842053"/>
                <a:gd name="connsiteY39" fmla="*/ 583096 h 1225826"/>
                <a:gd name="connsiteX40" fmla="*/ 1815548 w 1842053"/>
                <a:gd name="connsiteY40" fmla="*/ 649357 h 1225826"/>
                <a:gd name="connsiteX41" fmla="*/ 1842053 w 1842053"/>
                <a:gd name="connsiteY41" fmla="*/ 695739 h 1225826"/>
                <a:gd name="connsiteX42" fmla="*/ 1835427 w 1842053"/>
                <a:gd name="connsiteY42" fmla="*/ 795130 h 1225826"/>
                <a:gd name="connsiteX43" fmla="*/ 1828800 w 1842053"/>
                <a:gd name="connsiteY43" fmla="*/ 815009 h 1225826"/>
                <a:gd name="connsiteX44" fmla="*/ 1822174 w 1842053"/>
                <a:gd name="connsiteY44" fmla="*/ 881270 h 1225826"/>
                <a:gd name="connsiteX45" fmla="*/ 1815548 w 1842053"/>
                <a:gd name="connsiteY45" fmla="*/ 1093304 h 1225826"/>
                <a:gd name="connsiteX46" fmla="*/ 1802296 w 1842053"/>
                <a:gd name="connsiteY46" fmla="*/ 1106557 h 1225826"/>
                <a:gd name="connsiteX47" fmla="*/ 1795670 w 1842053"/>
                <a:gd name="connsiteY47" fmla="*/ 1126435 h 1225826"/>
                <a:gd name="connsiteX48" fmla="*/ 1722783 w 1842053"/>
                <a:gd name="connsiteY48" fmla="*/ 1172817 h 1225826"/>
                <a:gd name="connsiteX49" fmla="*/ 1689653 w 1842053"/>
                <a:gd name="connsiteY49" fmla="*/ 1192696 h 1225826"/>
                <a:gd name="connsiteX50" fmla="*/ 1656522 w 1842053"/>
                <a:gd name="connsiteY50" fmla="*/ 1199322 h 1225826"/>
                <a:gd name="connsiteX51" fmla="*/ 1583635 w 1842053"/>
                <a:gd name="connsiteY51" fmla="*/ 1212574 h 1225826"/>
                <a:gd name="connsiteX52" fmla="*/ 1557131 w 1842053"/>
                <a:gd name="connsiteY52" fmla="*/ 1219200 h 1225826"/>
                <a:gd name="connsiteX53" fmla="*/ 1133061 w 1842053"/>
                <a:gd name="connsiteY53" fmla="*/ 1225826 h 1225826"/>
                <a:gd name="connsiteX54" fmla="*/ 927653 w 1842053"/>
                <a:gd name="connsiteY54" fmla="*/ 1219200 h 1225826"/>
                <a:gd name="connsiteX55" fmla="*/ 861392 w 1842053"/>
                <a:gd name="connsiteY55" fmla="*/ 1212574 h 1225826"/>
                <a:gd name="connsiteX56" fmla="*/ 642731 w 1842053"/>
                <a:gd name="connsiteY56" fmla="*/ 1199322 h 1225826"/>
                <a:gd name="connsiteX57" fmla="*/ 609600 w 1842053"/>
                <a:gd name="connsiteY57" fmla="*/ 1192696 h 1225826"/>
                <a:gd name="connsiteX58" fmla="*/ 589722 w 1842053"/>
                <a:gd name="connsiteY58" fmla="*/ 1186070 h 1225826"/>
                <a:gd name="connsiteX59" fmla="*/ 563218 w 1842053"/>
                <a:gd name="connsiteY59" fmla="*/ 1179444 h 1225826"/>
                <a:gd name="connsiteX60" fmla="*/ 543340 w 1842053"/>
                <a:gd name="connsiteY60" fmla="*/ 1166191 h 1225826"/>
                <a:gd name="connsiteX61" fmla="*/ 490331 w 1842053"/>
                <a:gd name="connsiteY61" fmla="*/ 1152939 h 1225826"/>
                <a:gd name="connsiteX62" fmla="*/ 404192 w 1842053"/>
                <a:gd name="connsiteY62" fmla="*/ 1119809 h 1225826"/>
                <a:gd name="connsiteX63" fmla="*/ 371061 w 1842053"/>
                <a:gd name="connsiteY63" fmla="*/ 1099930 h 1225826"/>
                <a:gd name="connsiteX64" fmla="*/ 344557 w 1842053"/>
                <a:gd name="connsiteY64" fmla="*/ 1086678 h 1225826"/>
                <a:gd name="connsiteX65" fmla="*/ 291548 w 1842053"/>
                <a:gd name="connsiteY65" fmla="*/ 1073426 h 1225826"/>
                <a:gd name="connsiteX66" fmla="*/ 165653 w 1842053"/>
                <a:gd name="connsiteY66" fmla="*/ 1000539 h 1225826"/>
                <a:gd name="connsiteX67" fmla="*/ 119270 w 1842053"/>
                <a:gd name="connsiteY67" fmla="*/ 974035 h 1225826"/>
                <a:gd name="connsiteX68" fmla="*/ 86140 w 1842053"/>
                <a:gd name="connsiteY68" fmla="*/ 954157 h 1225826"/>
                <a:gd name="connsiteX69" fmla="*/ 33131 w 1842053"/>
                <a:gd name="connsiteY69" fmla="*/ 927652 h 1225826"/>
                <a:gd name="connsiteX70" fmla="*/ 0 w 1842053"/>
                <a:gd name="connsiteY70" fmla="*/ 868017 h 1225826"/>
                <a:gd name="connsiteX71" fmla="*/ 13253 w 1842053"/>
                <a:gd name="connsiteY71" fmla="*/ 801757 h 1225826"/>
                <a:gd name="connsiteX72" fmla="*/ 26505 w 1842053"/>
                <a:gd name="connsiteY72" fmla="*/ 788504 h 1225826"/>
                <a:gd name="connsiteX73" fmla="*/ 46383 w 1842053"/>
                <a:gd name="connsiteY73" fmla="*/ 762000 h 1225826"/>
                <a:gd name="connsiteX74" fmla="*/ 59635 w 1842053"/>
                <a:gd name="connsiteY74" fmla="*/ 742122 h 1225826"/>
                <a:gd name="connsiteX75" fmla="*/ 92766 w 1842053"/>
                <a:gd name="connsiteY75" fmla="*/ 708991 h 1225826"/>
                <a:gd name="connsiteX76" fmla="*/ 112644 w 1842053"/>
                <a:gd name="connsiteY76" fmla="*/ 689113 h 1225826"/>
                <a:gd name="connsiteX77" fmla="*/ 125896 w 1842053"/>
                <a:gd name="connsiteY77" fmla="*/ 669235 h 1225826"/>
                <a:gd name="connsiteX78" fmla="*/ 145774 w 1842053"/>
                <a:gd name="connsiteY78" fmla="*/ 642730 h 1225826"/>
                <a:gd name="connsiteX79" fmla="*/ 185531 w 1842053"/>
                <a:gd name="connsiteY79" fmla="*/ 589722 h 1225826"/>
                <a:gd name="connsiteX80" fmla="*/ 172279 w 1842053"/>
                <a:gd name="connsiteY80" fmla="*/ 569844 h 122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842053" h="1225826">
                  <a:moveTo>
                    <a:pt x="172279" y="569844"/>
                  </a:moveTo>
                  <a:lnTo>
                    <a:pt x="172279" y="569844"/>
                  </a:lnTo>
                  <a:cubicBezTo>
                    <a:pt x="185531" y="543339"/>
                    <a:pt x="202664" y="518442"/>
                    <a:pt x="212035" y="490330"/>
                  </a:cubicBezTo>
                  <a:cubicBezTo>
                    <a:pt x="221179" y="462897"/>
                    <a:pt x="214787" y="476263"/>
                    <a:pt x="231914" y="450574"/>
                  </a:cubicBezTo>
                  <a:cubicBezTo>
                    <a:pt x="235276" y="437127"/>
                    <a:pt x="239463" y="417498"/>
                    <a:pt x="245166" y="404191"/>
                  </a:cubicBezTo>
                  <a:cubicBezTo>
                    <a:pt x="249057" y="395112"/>
                    <a:pt x="254950" y="386936"/>
                    <a:pt x="258418" y="377687"/>
                  </a:cubicBezTo>
                  <a:cubicBezTo>
                    <a:pt x="262376" y="367131"/>
                    <a:pt x="265510" y="342393"/>
                    <a:pt x="271670" y="331304"/>
                  </a:cubicBezTo>
                  <a:cubicBezTo>
                    <a:pt x="286010" y="305491"/>
                    <a:pt x="307335" y="276394"/>
                    <a:pt x="331305" y="258417"/>
                  </a:cubicBezTo>
                  <a:cubicBezTo>
                    <a:pt x="340140" y="251791"/>
                    <a:pt x="348221" y="244018"/>
                    <a:pt x="357809" y="238539"/>
                  </a:cubicBezTo>
                  <a:cubicBezTo>
                    <a:pt x="363873" y="235074"/>
                    <a:pt x="371267" y="234664"/>
                    <a:pt x="377687" y="231913"/>
                  </a:cubicBezTo>
                  <a:cubicBezTo>
                    <a:pt x="386766" y="228022"/>
                    <a:pt x="395357" y="223078"/>
                    <a:pt x="404192" y="218661"/>
                  </a:cubicBezTo>
                  <a:cubicBezTo>
                    <a:pt x="423192" y="199661"/>
                    <a:pt x="429758" y="189881"/>
                    <a:pt x="457200" y="178904"/>
                  </a:cubicBezTo>
                  <a:cubicBezTo>
                    <a:pt x="467657" y="174721"/>
                    <a:pt x="479357" y="174810"/>
                    <a:pt x="490331" y="172278"/>
                  </a:cubicBezTo>
                  <a:cubicBezTo>
                    <a:pt x="508078" y="168183"/>
                    <a:pt x="526061" y="164786"/>
                    <a:pt x="543340" y="159026"/>
                  </a:cubicBezTo>
                  <a:cubicBezTo>
                    <a:pt x="549966" y="156817"/>
                    <a:pt x="557113" y="155792"/>
                    <a:pt x="563218" y="152400"/>
                  </a:cubicBezTo>
                  <a:cubicBezTo>
                    <a:pt x="577141" y="144665"/>
                    <a:pt x="587356" y="129019"/>
                    <a:pt x="602974" y="125896"/>
                  </a:cubicBezTo>
                  <a:cubicBezTo>
                    <a:pt x="625061" y="121479"/>
                    <a:pt x="646803" y="114684"/>
                    <a:pt x="669235" y="112644"/>
                  </a:cubicBezTo>
                  <a:cubicBezTo>
                    <a:pt x="759856" y="104405"/>
                    <a:pt x="717914" y="109043"/>
                    <a:pt x="795131" y="99391"/>
                  </a:cubicBezTo>
                  <a:cubicBezTo>
                    <a:pt x="808383" y="94974"/>
                    <a:pt x="821456" y="89976"/>
                    <a:pt x="834887" y="86139"/>
                  </a:cubicBezTo>
                  <a:cubicBezTo>
                    <a:pt x="850348" y="81722"/>
                    <a:pt x="866158" y="78382"/>
                    <a:pt x="881270" y="72887"/>
                  </a:cubicBezTo>
                  <a:cubicBezTo>
                    <a:pt x="920216" y="58725"/>
                    <a:pt x="897005" y="61057"/>
                    <a:pt x="934279" y="39757"/>
                  </a:cubicBezTo>
                  <a:cubicBezTo>
                    <a:pt x="942227" y="35215"/>
                    <a:pt x="974199" y="28350"/>
                    <a:pt x="980661" y="26504"/>
                  </a:cubicBezTo>
                  <a:cubicBezTo>
                    <a:pt x="987377" y="24585"/>
                    <a:pt x="993722" y="21393"/>
                    <a:pt x="1000540" y="19878"/>
                  </a:cubicBezTo>
                  <a:cubicBezTo>
                    <a:pt x="1013655" y="16964"/>
                    <a:pt x="1027122" y="15887"/>
                    <a:pt x="1040296" y="13252"/>
                  </a:cubicBezTo>
                  <a:cubicBezTo>
                    <a:pt x="1061095" y="9092"/>
                    <a:pt x="1067734" y="6315"/>
                    <a:pt x="1086679" y="0"/>
                  </a:cubicBezTo>
                  <a:cubicBezTo>
                    <a:pt x="1139688" y="2209"/>
                    <a:pt x="1192776" y="2976"/>
                    <a:pt x="1245705" y="6626"/>
                  </a:cubicBezTo>
                  <a:cubicBezTo>
                    <a:pt x="1254473" y="7231"/>
                    <a:pt x="1287508" y="14275"/>
                    <a:pt x="1298714" y="19878"/>
                  </a:cubicBezTo>
                  <a:cubicBezTo>
                    <a:pt x="1310233" y="25638"/>
                    <a:pt x="1320075" y="34526"/>
                    <a:pt x="1331844" y="39757"/>
                  </a:cubicBezTo>
                  <a:cubicBezTo>
                    <a:pt x="1340166" y="43456"/>
                    <a:pt x="1349513" y="44174"/>
                    <a:pt x="1358348" y="46383"/>
                  </a:cubicBezTo>
                  <a:cubicBezTo>
                    <a:pt x="1371600" y="55218"/>
                    <a:pt x="1384182" y="65152"/>
                    <a:pt x="1398105" y="72887"/>
                  </a:cubicBezTo>
                  <a:cubicBezTo>
                    <a:pt x="1404211" y="76279"/>
                    <a:pt x="1411736" y="76389"/>
                    <a:pt x="1417983" y="79513"/>
                  </a:cubicBezTo>
                  <a:cubicBezTo>
                    <a:pt x="1434009" y="87526"/>
                    <a:pt x="1454584" y="106228"/>
                    <a:pt x="1464366" y="119270"/>
                  </a:cubicBezTo>
                  <a:cubicBezTo>
                    <a:pt x="1470992" y="128105"/>
                    <a:pt x="1478391" y="136409"/>
                    <a:pt x="1484244" y="145774"/>
                  </a:cubicBezTo>
                  <a:cubicBezTo>
                    <a:pt x="1489479" y="154150"/>
                    <a:pt x="1493605" y="163199"/>
                    <a:pt x="1497496" y="172278"/>
                  </a:cubicBezTo>
                  <a:cubicBezTo>
                    <a:pt x="1511638" y="205277"/>
                    <a:pt x="1520018" y="234882"/>
                    <a:pt x="1537253" y="265044"/>
                  </a:cubicBezTo>
                  <a:cubicBezTo>
                    <a:pt x="1591384" y="359773"/>
                    <a:pt x="1573197" y="324225"/>
                    <a:pt x="1656522" y="430696"/>
                  </a:cubicBezTo>
                  <a:cubicBezTo>
                    <a:pt x="1670134" y="448089"/>
                    <a:pt x="1682812" y="466197"/>
                    <a:pt x="1696279" y="483704"/>
                  </a:cubicBezTo>
                  <a:cubicBezTo>
                    <a:pt x="1704902" y="494914"/>
                    <a:pt x="1713948" y="505791"/>
                    <a:pt x="1722783" y="516835"/>
                  </a:cubicBezTo>
                  <a:lnTo>
                    <a:pt x="1749287" y="549965"/>
                  </a:lnTo>
                  <a:lnTo>
                    <a:pt x="1775792" y="583096"/>
                  </a:lnTo>
                  <a:cubicBezTo>
                    <a:pt x="1808566" y="665030"/>
                    <a:pt x="1764647" y="564521"/>
                    <a:pt x="1815548" y="649357"/>
                  </a:cubicBezTo>
                  <a:cubicBezTo>
                    <a:pt x="1850582" y="707748"/>
                    <a:pt x="1810167" y="663856"/>
                    <a:pt x="1842053" y="695739"/>
                  </a:cubicBezTo>
                  <a:cubicBezTo>
                    <a:pt x="1839844" y="728869"/>
                    <a:pt x="1839094" y="762129"/>
                    <a:pt x="1835427" y="795130"/>
                  </a:cubicBezTo>
                  <a:cubicBezTo>
                    <a:pt x="1834656" y="802072"/>
                    <a:pt x="1829862" y="808105"/>
                    <a:pt x="1828800" y="815009"/>
                  </a:cubicBezTo>
                  <a:cubicBezTo>
                    <a:pt x="1825425" y="836948"/>
                    <a:pt x="1824383" y="859183"/>
                    <a:pt x="1822174" y="881270"/>
                  </a:cubicBezTo>
                  <a:cubicBezTo>
                    <a:pt x="1819965" y="951948"/>
                    <a:pt x="1821763" y="1022865"/>
                    <a:pt x="1815548" y="1093304"/>
                  </a:cubicBezTo>
                  <a:cubicBezTo>
                    <a:pt x="1814999" y="1099527"/>
                    <a:pt x="1805510" y="1101200"/>
                    <a:pt x="1802296" y="1106557"/>
                  </a:cubicBezTo>
                  <a:cubicBezTo>
                    <a:pt x="1798703" y="1112546"/>
                    <a:pt x="1800609" y="1121496"/>
                    <a:pt x="1795670" y="1126435"/>
                  </a:cubicBezTo>
                  <a:cubicBezTo>
                    <a:pt x="1723325" y="1198779"/>
                    <a:pt x="1767962" y="1150227"/>
                    <a:pt x="1722783" y="1172817"/>
                  </a:cubicBezTo>
                  <a:cubicBezTo>
                    <a:pt x="1711264" y="1178577"/>
                    <a:pt x="1701611" y="1187913"/>
                    <a:pt x="1689653" y="1192696"/>
                  </a:cubicBezTo>
                  <a:cubicBezTo>
                    <a:pt x="1679196" y="1196879"/>
                    <a:pt x="1667603" y="1197307"/>
                    <a:pt x="1656522" y="1199322"/>
                  </a:cubicBezTo>
                  <a:cubicBezTo>
                    <a:pt x="1616969" y="1206513"/>
                    <a:pt x="1620457" y="1204392"/>
                    <a:pt x="1583635" y="1212574"/>
                  </a:cubicBezTo>
                  <a:cubicBezTo>
                    <a:pt x="1574745" y="1214549"/>
                    <a:pt x="1566234" y="1218932"/>
                    <a:pt x="1557131" y="1219200"/>
                  </a:cubicBezTo>
                  <a:cubicBezTo>
                    <a:pt x="1415818" y="1223356"/>
                    <a:pt x="1274418" y="1223617"/>
                    <a:pt x="1133061" y="1225826"/>
                  </a:cubicBezTo>
                  <a:lnTo>
                    <a:pt x="927653" y="1219200"/>
                  </a:lnTo>
                  <a:cubicBezTo>
                    <a:pt x="905482" y="1218119"/>
                    <a:pt x="883512" y="1214417"/>
                    <a:pt x="861392" y="1212574"/>
                  </a:cubicBezTo>
                  <a:cubicBezTo>
                    <a:pt x="778933" y="1205703"/>
                    <a:pt x="728793" y="1203852"/>
                    <a:pt x="642731" y="1199322"/>
                  </a:cubicBezTo>
                  <a:cubicBezTo>
                    <a:pt x="631687" y="1197113"/>
                    <a:pt x="620526" y="1195427"/>
                    <a:pt x="609600" y="1192696"/>
                  </a:cubicBezTo>
                  <a:cubicBezTo>
                    <a:pt x="602824" y="1191002"/>
                    <a:pt x="596438" y="1187989"/>
                    <a:pt x="589722" y="1186070"/>
                  </a:cubicBezTo>
                  <a:cubicBezTo>
                    <a:pt x="580966" y="1183568"/>
                    <a:pt x="572053" y="1181653"/>
                    <a:pt x="563218" y="1179444"/>
                  </a:cubicBezTo>
                  <a:cubicBezTo>
                    <a:pt x="556592" y="1175026"/>
                    <a:pt x="550463" y="1169753"/>
                    <a:pt x="543340" y="1166191"/>
                  </a:cubicBezTo>
                  <a:cubicBezTo>
                    <a:pt x="526634" y="1157838"/>
                    <a:pt x="507968" y="1157978"/>
                    <a:pt x="490331" y="1152939"/>
                  </a:cubicBezTo>
                  <a:cubicBezTo>
                    <a:pt x="453265" y="1142349"/>
                    <a:pt x="434381" y="1136581"/>
                    <a:pt x="404192" y="1119809"/>
                  </a:cubicBezTo>
                  <a:cubicBezTo>
                    <a:pt x="392934" y="1113554"/>
                    <a:pt x="382319" y="1106185"/>
                    <a:pt x="371061" y="1099930"/>
                  </a:cubicBezTo>
                  <a:cubicBezTo>
                    <a:pt x="362427" y="1095133"/>
                    <a:pt x="353928" y="1089801"/>
                    <a:pt x="344557" y="1086678"/>
                  </a:cubicBezTo>
                  <a:cubicBezTo>
                    <a:pt x="327278" y="1080918"/>
                    <a:pt x="291548" y="1073426"/>
                    <a:pt x="291548" y="1073426"/>
                  </a:cubicBezTo>
                  <a:cubicBezTo>
                    <a:pt x="196833" y="1018176"/>
                    <a:pt x="238572" y="1042207"/>
                    <a:pt x="165653" y="1000539"/>
                  </a:cubicBezTo>
                  <a:lnTo>
                    <a:pt x="119270" y="974035"/>
                  </a:lnTo>
                  <a:cubicBezTo>
                    <a:pt x="108146" y="967546"/>
                    <a:pt x="98097" y="958940"/>
                    <a:pt x="86140" y="954157"/>
                  </a:cubicBezTo>
                  <a:cubicBezTo>
                    <a:pt x="45615" y="937946"/>
                    <a:pt x="62906" y="947502"/>
                    <a:pt x="33131" y="927652"/>
                  </a:cubicBezTo>
                  <a:cubicBezTo>
                    <a:pt x="2753" y="882084"/>
                    <a:pt x="11664" y="903005"/>
                    <a:pt x="0" y="868017"/>
                  </a:cubicBezTo>
                  <a:cubicBezTo>
                    <a:pt x="1149" y="859976"/>
                    <a:pt x="4580" y="816213"/>
                    <a:pt x="13253" y="801757"/>
                  </a:cubicBezTo>
                  <a:cubicBezTo>
                    <a:pt x="16467" y="796400"/>
                    <a:pt x="22506" y="793303"/>
                    <a:pt x="26505" y="788504"/>
                  </a:cubicBezTo>
                  <a:cubicBezTo>
                    <a:pt x="33575" y="780020"/>
                    <a:pt x="39964" y="770986"/>
                    <a:pt x="46383" y="762000"/>
                  </a:cubicBezTo>
                  <a:cubicBezTo>
                    <a:pt x="51012" y="755520"/>
                    <a:pt x="54391" y="748115"/>
                    <a:pt x="59635" y="742122"/>
                  </a:cubicBezTo>
                  <a:cubicBezTo>
                    <a:pt x="69920" y="730368"/>
                    <a:pt x="81722" y="720035"/>
                    <a:pt x="92766" y="708991"/>
                  </a:cubicBezTo>
                  <a:cubicBezTo>
                    <a:pt x="99392" y="702365"/>
                    <a:pt x="107446" y="696910"/>
                    <a:pt x="112644" y="689113"/>
                  </a:cubicBezTo>
                  <a:cubicBezTo>
                    <a:pt x="117061" y="682487"/>
                    <a:pt x="121267" y="675715"/>
                    <a:pt x="125896" y="669235"/>
                  </a:cubicBezTo>
                  <a:cubicBezTo>
                    <a:pt x="132315" y="660248"/>
                    <a:pt x="138704" y="651214"/>
                    <a:pt x="145774" y="642730"/>
                  </a:cubicBezTo>
                  <a:cubicBezTo>
                    <a:pt x="158534" y="627418"/>
                    <a:pt x="185531" y="611217"/>
                    <a:pt x="185531" y="589722"/>
                  </a:cubicBezTo>
                  <a:lnTo>
                    <a:pt x="172279" y="569844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 smtClean="0">
                  <a:solidFill>
                    <a:schemeClr val="tx1"/>
                  </a:solidFill>
                </a:rPr>
                <a:t>Supplier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線接點 12"/>
            <p:cNvCxnSpPr/>
            <p:nvPr/>
          </p:nvCxnSpPr>
          <p:spPr>
            <a:xfrm>
              <a:off x="2700338" y="2926634"/>
              <a:ext cx="1110068" cy="65807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>
              <a:stCxn id="12" idx="37"/>
            </p:cNvCxnSpPr>
            <p:nvPr/>
          </p:nvCxnSpPr>
          <p:spPr>
            <a:xfrm flipV="1">
              <a:off x="2622375" y="4551410"/>
              <a:ext cx="1188031" cy="83289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>
            <a:xfrm flipV="1">
              <a:off x="5225148" y="2708922"/>
              <a:ext cx="787012" cy="64489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>
              <a:endCxn id="8" idx="11"/>
            </p:cNvCxnSpPr>
            <p:nvPr/>
          </p:nvCxnSpPr>
          <p:spPr>
            <a:xfrm>
              <a:off x="5081132" y="4653136"/>
              <a:ext cx="1100196" cy="75327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>
              <a:endCxn id="10" idx="75"/>
            </p:cNvCxnSpPr>
            <p:nvPr/>
          </p:nvCxnSpPr>
          <p:spPr>
            <a:xfrm flipV="1">
              <a:off x="5488028" y="4136301"/>
              <a:ext cx="1048946" cy="8478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/>
            <p:nvPr/>
          </p:nvCxnSpPr>
          <p:spPr>
            <a:xfrm flipV="1">
              <a:off x="5225148" y="2708922"/>
              <a:ext cx="570988" cy="432046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/>
            <p:nvPr/>
          </p:nvCxnSpPr>
          <p:spPr>
            <a:xfrm flipV="1">
              <a:off x="5741981" y="4062811"/>
              <a:ext cx="753546" cy="7349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/>
            <p:nvPr/>
          </p:nvCxnSpPr>
          <p:spPr>
            <a:xfrm>
              <a:off x="5324873" y="4925854"/>
              <a:ext cx="654494" cy="433738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/>
            <p:nvPr/>
          </p:nvCxnSpPr>
          <p:spPr>
            <a:xfrm>
              <a:off x="2751010" y="3161866"/>
              <a:ext cx="724516" cy="422847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/>
            <p:nvPr/>
          </p:nvCxnSpPr>
          <p:spPr>
            <a:xfrm flipV="1">
              <a:off x="2741645" y="4551410"/>
              <a:ext cx="761778" cy="532929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4625897" y="2627620"/>
              <a:ext cx="1026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 smtClean="0"/>
                <a:t>Pull()</a:t>
              </a:r>
              <a:endParaRPr lang="zh-TW" altLang="en-US" dirty="0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5489993" y="3707740"/>
              <a:ext cx="1026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 smtClean="0"/>
                <a:t>Pull()</a:t>
              </a:r>
              <a:endParaRPr lang="zh-TW" altLang="en-US" dirty="0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4773434" y="5132401"/>
              <a:ext cx="1026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 smtClean="0"/>
                <a:t>Pull()</a:t>
              </a:r>
              <a:endParaRPr lang="zh-TW" altLang="en-US" dirty="0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2123728" y="4581128"/>
              <a:ext cx="1026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 smtClean="0"/>
                <a:t>Pull()</a:t>
              </a:r>
              <a:endParaRPr lang="zh-TW" altLang="en-US" dirty="0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2393649" y="3356992"/>
              <a:ext cx="1026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 smtClean="0"/>
                <a:t>Pull()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7838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>
                <a:ea typeface="新細明體" panose="02020500000000000000" pitchFamily="18" charset="-120"/>
              </a:rPr>
              <a:t>The Hybrid Push/Pull Model</a:t>
            </a:r>
            <a:endParaRPr lang="zh-TW" altLang="en-US" dirty="0" smtClean="0">
              <a:ea typeface="新細明體" panose="02020500000000000000" pitchFamily="18" charset="-12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899592" y="1700808"/>
            <a:ext cx="7386669" cy="4752528"/>
            <a:chOff x="899592" y="1700808"/>
            <a:chExt cx="7386669" cy="4752528"/>
          </a:xfrm>
        </p:grpSpPr>
        <p:sp>
          <p:nvSpPr>
            <p:cNvPr id="6" name="雲朵形圖說文字 5"/>
            <p:cNvSpPr/>
            <p:nvPr/>
          </p:nvSpPr>
          <p:spPr>
            <a:xfrm>
              <a:off x="3412285" y="3296656"/>
              <a:ext cx="2303462" cy="1800225"/>
            </a:xfrm>
            <a:prstGeom prst="cloud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2400" dirty="0"/>
                <a:t>Event Channel</a:t>
              </a:r>
            </a:p>
            <a:p>
              <a:pPr algn="ctr" eaLnBrk="1" hangingPunct="1">
                <a:defRPr/>
              </a:pPr>
              <a:r>
                <a:rPr lang="en-US" altLang="zh-TW" sz="2400" dirty="0"/>
                <a:t>(Queue)</a:t>
              </a:r>
              <a:endParaRPr lang="zh-TW" altLang="en-US" sz="2400" dirty="0"/>
            </a:p>
          </p:txBody>
        </p:sp>
        <p:grpSp>
          <p:nvGrpSpPr>
            <p:cNvPr id="5" name="群組 4"/>
            <p:cNvGrpSpPr/>
            <p:nvPr/>
          </p:nvGrpSpPr>
          <p:grpSpPr>
            <a:xfrm>
              <a:off x="899592" y="1700808"/>
              <a:ext cx="7386669" cy="4752528"/>
              <a:chOff x="899592" y="1700808"/>
              <a:chExt cx="7386669" cy="4752528"/>
            </a:xfrm>
          </p:grpSpPr>
          <p:sp>
            <p:nvSpPr>
              <p:cNvPr id="8" name="手繪多邊形 7"/>
              <p:cNvSpPr/>
              <p:nvPr/>
            </p:nvSpPr>
            <p:spPr>
              <a:xfrm>
                <a:off x="5724128" y="5227510"/>
                <a:ext cx="1842053" cy="1225826"/>
              </a:xfrm>
              <a:custGeom>
                <a:avLst/>
                <a:gdLst>
                  <a:gd name="connsiteX0" fmla="*/ 172279 w 1842053"/>
                  <a:gd name="connsiteY0" fmla="*/ 569844 h 1225826"/>
                  <a:gd name="connsiteX1" fmla="*/ 172279 w 1842053"/>
                  <a:gd name="connsiteY1" fmla="*/ 569844 h 1225826"/>
                  <a:gd name="connsiteX2" fmla="*/ 212035 w 1842053"/>
                  <a:gd name="connsiteY2" fmla="*/ 490330 h 1225826"/>
                  <a:gd name="connsiteX3" fmla="*/ 231914 w 1842053"/>
                  <a:gd name="connsiteY3" fmla="*/ 450574 h 1225826"/>
                  <a:gd name="connsiteX4" fmla="*/ 245166 w 1842053"/>
                  <a:gd name="connsiteY4" fmla="*/ 404191 h 1225826"/>
                  <a:gd name="connsiteX5" fmla="*/ 258418 w 1842053"/>
                  <a:gd name="connsiteY5" fmla="*/ 377687 h 1225826"/>
                  <a:gd name="connsiteX6" fmla="*/ 271670 w 1842053"/>
                  <a:gd name="connsiteY6" fmla="*/ 331304 h 1225826"/>
                  <a:gd name="connsiteX7" fmla="*/ 331305 w 1842053"/>
                  <a:gd name="connsiteY7" fmla="*/ 258417 h 1225826"/>
                  <a:gd name="connsiteX8" fmla="*/ 357809 w 1842053"/>
                  <a:gd name="connsiteY8" fmla="*/ 238539 h 1225826"/>
                  <a:gd name="connsiteX9" fmla="*/ 377687 w 1842053"/>
                  <a:gd name="connsiteY9" fmla="*/ 231913 h 1225826"/>
                  <a:gd name="connsiteX10" fmla="*/ 404192 w 1842053"/>
                  <a:gd name="connsiteY10" fmla="*/ 218661 h 1225826"/>
                  <a:gd name="connsiteX11" fmla="*/ 457200 w 1842053"/>
                  <a:gd name="connsiteY11" fmla="*/ 178904 h 1225826"/>
                  <a:gd name="connsiteX12" fmla="*/ 490331 w 1842053"/>
                  <a:gd name="connsiteY12" fmla="*/ 172278 h 1225826"/>
                  <a:gd name="connsiteX13" fmla="*/ 543340 w 1842053"/>
                  <a:gd name="connsiteY13" fmla="*/ 159026 h 1225826"/>
                  <a:gd name="connsiteX14" fmla="*/ 563218 w 1842053"/>
                  <a:gd name="connsiteY14" fmla="*/ 152400 h 1225826"/>
                  <a:gd name="connsiteX15" fmla="*/ 602974 w 1842053"/>
                  <a:gd name="connsiteY15" fmla="*/ 125896 h 1225826"/>
                  <a:gd name="connsiteX16" fmla="*/ 669235 w 1842053"/>
                  <a:gd name="connsiteY16" fmla="*/ 112644 h 1225826"/>
                  <a:gd name="connsiteX17" fmla="*/ 795131 w 1842053"/>
                  <a:gd name="connsiteY17" fmla="*/ 99391 h 1225826"/>
                  <a:gd name="connsiteX18" fmla="*/ 834887 w 1842053"/>
                  <a:gd name="connsiteY18" fmla="*/ 86139 h 1225826"/>
                  <a:gd name="connsiteX19" fmla="*/ 881270 w 1842053"/>
                  <a:gd name="connsiteY19" fmla="*/ 72887 h 1225826"/>
                  <a:gd name="connsiteX20" fmla="*/ 934279 w 1842053"/>
                  <a:gd name="connsiteY20" fmla="*/ 39757 h 1225826"/>
                  <a:gd name="connsiteX21" fmla="*/ 980661 w 1842053"/>
                  <a:gd name="connsiteY21" fmla="*/ 26504 h 1225826"/>
                  <a:gd name="connsiteX22" fmla="*/ 1000540 w 1842053"/>
                  <a:gd name="connsiteY22" fmla="*/ 19878 h 1225826"/>
                  <a:gd name="connsiteX23" fmla="*/ 1040296 w 1842053"/>
                  <a:gd name="connsiteY23" fmla="*/ 13252 h 1225826"/>
                  <a:gd name="connsiteX24" fmla="*/ 1086679 w 1842053"/>
                  <a:gd name="connsiteY24" fmla="*/ 0 h 1225826"/>
                  <a:gd name="connsiteX25" fmla="*/ 1245705 w 1842053"/>
                  <a:gd name="connsiteY25" fmla="*/ 6626 h 1225826"/>
                  <a:gd name="connsiteX26" fmla="*/ 1298714 w 1842053"/>
                  <a:gd name="connsiteY26" fmla="*/ 19878 h 1225826"/>
                  <a:gd name="connsiteX27" fmla="*/ 1331844 w 1842053"/>
                  <a:gd name="connsiteY27" fmla="*/ 39757 h 1225826"/>
                  <a:gd name="connsiteX28" fmla="*/ 1358348 w 1842053"/>
                  <a:gd name="connsiteY28" fmla="*/ 46383 h 1225826"/>
                  <a:gd name="connsiteX29" fmla="*/ 1398105 w 1842053"/>
                  <a:gd name="connsiteY29" fmla="*/ 72887 h 1225826"/>
                  <a:gd name="connsiteX30" fmla="*/ 1417983 w 1842053"/>
                  <a:gd name="connsiteY30" fmla="*/ 79513 h 1225826"/>
                  <a:gd name="connsiteX31" fmla="*/ 1464366 w 1842053"/>
                  <a:gd name="connsiteY31" fmla="*/ 119270 h 1225826"/>
                  <a:gd name="connsiteX32" fmla="*/ 1484244 w 1842053"/>
                  <a:gd name="connsiteY32" fmla="*/ 145774 h 1225826"/>
                  <a:gd name="connsiteX33" fmla="*/ 1497496 w 1842053"/>
                  <a:gd name="connsiteY33" fmla="*/ 172278 h 1225826"/>
                  <a:gd name="connsiteX34" fmla="*/ 1537253 w 1842053"/>
                  <a:gd name="connsiteY34" fmla="*/ 265044 h 1225826"/>
                  <a:gd name="connsiteX35" fmla="*/ 1656522 w 1842053"/>
                  <a:gd name="connsiteY35" fmla="*/ 430696 h 1225826"/>
                  <a:gd name="connsiteX36" fmla="*/ 1696279 w 1842053"/>
                  <a:gd name="connsiteY36" fmla="*/ 483704 h 1225826"/>
                  <a:gd name="connsiteX37" fmla="*/ 1722783 w 1842053"/>
                  <a:gd name="connsiteY37" fmla="*/ 516835 h 1225826"/>
                  <a:gd name="connsiteX38" fmla="*/ 1749287 w 1842053"/>
                  <a:gd name="connsiteY38" fmla="*/ 549965 h 1225826"/>
                  <a:gd name="connsiteX39" fmla="*/ 1775792 w 1842053"/>
                  <a:gd name="connsiteY39" fmla="*/ 583096 h 1225826"/>
                  <a:gd name="connsiteX40" fmla="*/ 1815548 w 1842053"/>
                  <a:gd name="connsiteY40" fmla="*/ 649357 h 1225826"/>
                  <a:gd name="connsiteX41" fmla="*/ 1842053 w 1842053"/>
                  <a:gd name="connsiteY41" fmla="*/ 695739 h 1225826"/>
                  <a:gd name="connsiteX42" fmla="*/ 1835427 w 1842053"/>
                  <a:gd name="connsiteY42" fmla="*/ 795130 h 1225826"/>
                  <a:gd name="connsiteX43" fmla="*/ 1828800 w 1842053"/>
                  <a:gd name="connsiteY43" fmla="*/ 815009 h 1225826"/>
                  <a:gd name="connsiteX44" fmla="*/ 1822174 w 1842053"/>
                  <a:gd name="connsiteY44" fmla="*/ 881270 h 1225826"/>
                  <a:gd name="connsiteX45" fmla="*/ 1815548 w 1842053"/>
                  <a:gd name="connsiteY45" fmla="*/ 1093304 h 1225826"/>
                  <a:gd name="connsiteX46" fmla="*/ 1802296 w 1842053"/>
                  <a:gd name="connsiteY46" fmla="*/ 1106557 h 1225826"/>
                  <a:gd name="connsiteX47" fmla="*/ 1795670 w 1842053"/>
                  <a:gd name="connsiteY47" fmla="*/ 1126435 h 1225826"/>
                  <a:gd name="connsiteX48" fmla="*/ 1722783 w 1842053"/>
                  <a:gd name="connsiteY48" fmla="*/ 1172817 h 1225826"/>
                  <a:gd name="connsiteX49" fmla="*/ 1689653 w 1842053"/>
                  <a:gd name="connsiteY49" fmla="*/ 1192696 h 1225826"/>
                  <a:gd name="connsiteX50" fmla="*/ 1656522 w 1842053"/>
                  <a:gd name="connsiteY50" fmla="*/ 1199322 h 1225826"/>
                  <a:gd name="connsiteX51" fmla="*/ 1583635 w 1842053"/>
                  <a:gd name="connsiteY51" fmla="*/ 1212574 h 1225826"/>
                  <a:gd name="connsiteX52" fmla="*/ 1557131 w 1842053"/>
                  <a:gd name="connsiteY52" fmla="*/ 1219200 h 1225826"/>
                  <a:gd name="connsiteX53" fmla="*/ 1133061 w 1842053"/>
                  <a:gd name="connsiteY53" fmla="*/ 1225826 h 1225826"/>
                  <a:gd name="connsiteX54" fmla="*/ 927653 w 1842053"/>
                  <a:gd name="connsiteY54" fmla="*/ 1219200 h 1225826"/>
                  <a:gd name="connsiteX55" fmla="*/ 861392 w 1842053"/>
                  <a:gd name="connsiteY55" fmla="*/ 1212574 h 1225826"/>
                  <a:gd name="connsiteX56" fmla="*/ 642731 w 1842053"/>
                  <a:gd name="connsiteY56" fmla="*/ 1199322 h 1225826"/>
                  <a:gd name="connsiteX57" fmla="*/ 609600 w 1842053"/>
                  <a:gd name="connsiteY57" fmla="*/ 1192696 h 1225826"/>
                  <a:gd name="connsiteX58" fmla="*/ 589722 w 1842053"/>
                  <a:gd name="connsiteY58" fmla="*/ 1186070 h 1225826"/>
                  <a:gd name="connsiteX59" fmla="*/ 563218 w 1842053"/>
                  <a:gd name="connsiteY59" fmla="*/ 1179444 h 1225826"/>
                  <a:gd name="connsiteX60" fmla="*/ 543340 w 1842053"/>
                  <a:gd name="connsiteY60" fmla="*/ 1166191 h 1225826"/>
                  <a:gd name="connsiteX61" fmla="*/ 490331 w 1842053"/>
                  <a:gd name="connsiteY61" fmla="*/ 1152939 h 1225826"/>
                  <a:gd name="connsiteX62" fmla="*/ 404192 w 1842053"/>
                  <a:gd name="connsiteY62" fmla="*/ 1119809 h 1225826"/>
                  <a:gd name="connsiteX63" fmla="*/ 371061 w 1842053"/>
                  <a:gd name="connsiteY63" fmla="*/ 1099930 h 1225826"/>
                  <a:gd name="connsiteX64" fmla="*/ 344557 w 1842053"/>
                  <a:gd name="connsiteY64" fmla="*/ 1086678 h 1225826"/>
                  <a:gd name="connsiteX65" fmla="*/ 291548 w 1842053"/>
                  <a:gd name="connsiteY65" fmla="*/ 1073426 h 1225826"/>
                  <a:gd name="connsiteX66" fmla="*/ 165653 w 1842053"/>
                  <a:gd name="connsiteY66" fmla="*/ 1000539 h 1225826"/>
                  <a:gd name="connsiteX67" fmla="*/ 119270 w 1842053"/>
                  <a:gd name="connsiteY67" fmla="*/ 974035 h 1225826"/>
                  <a:gd name="connsiteX68" fmla="*/ 86140 w 1842053"/>
                  <a:gd name="connsiteY68" fmla="*/ 954157 h 1225826"/>
                  <a:gd name="connsiteX69" fmla="*/ 33131 w 1842053"/>
                  <a:gd name="connsiteY69" fmla="*/ 927652 h 1225826"/>
                  <a:gd name="connsiteX70" fmla="*/ 0 w 1842053"/>
                  <a:gd name="connsiteY70" fmla="*/ 868017 h 1225826"/>
                  <a:gd name="connsiteX71" fmla="*/ 13253 w 1842053"/>
                  <a:gd name="connsiteY71" fmla="*/ 801757 h 1225826"/>
                  <a:gd name="connsiteX72" fmla="*/ 26505 w 1842053"/>
                  <a:gd name="connsiteY72" fmla="*/ 788504 h 1225826"/>
                  <a:gd name="connsiteX73" fmla="*/ 46383 w 1842053"/>
                  <a:gd name="connsiteY73" fmla="*/ 762000 h 1225826"/>
                  <a:gd name="connsiteX74" fmla="*/ 59635 w 1842053"/>
                  <a:gd name="connsiteY74" fmla="*/ 742122 h 1225826"/>
                  <a:gd name="connsiteX75" fmla="*/ 92766 w 1842053"/>
                  <a:gd name="connsiteY75" fmla="*/ 708991 h 1225826"/>
                  <a:gd name="connsiteX76" fmla="*/ 112644 w 1842053"/>
                  <a:gd name="connsiteY76" fmla="*/ 689113 h 1225826"/>
                  <a:gd name="connsiteX77" fmla="*/ 125896 w 1842053"/>
                  <a:gd name="connsiteY77" fmla="*/ 669235 h 1225826"/>
                  <a:gd name="connsiteX78" fmla="*/ 145774 w 1842053"/>
                  <a:gd name="connsiteY78" fmla="*/ 642730 h 1225826"/>
                  <a:gd name="connsiteX79" fmla="*/ 185531 w 1842053"/>
                  <a:gd name="connsiteY79" fmla="*/ 589722 h 1225826"/>
                  <a:gd name="connsiteX80" fmla="*/ 172279 w 1842053"/>
                  <a:gd name="connsiteY80" fmla="*/ 569844 h 1225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42053" h="1225826">
                    <a:moveTo>
                      <a:pt x="172279" y="569844"/>
                    </a:moveTo>
                    <a:lnTo>
                      <a:pt x="172279" y="569844"/>
                    </a:lnTo>
                    <a:cubicBezTo>
                      <a:pt x="185531" y="543339"/>
                      <a:pt x="202664" y="518442"/>
                      <a:pt x="212035" y="490330"/>
                    </a:cubicBezTo>
                    <a:cubicBezTo>
                      <a:pt x="221179" y="462897"/>
                      <a:pt x="214787" y="476263"/>
                      <a:pt x="231914" y="450574"/>
                    </a:cubicBezTo>
                    <a:cubicBezTo>
                      <a:pt x="235276" y="437127"/>
                      <a:pt x="239463" y="417498"/>
                      <a:pt x="245166" y="404191"/>
                    </a:cubicBezTo>
                    <a:cubicBezTo>
                      <a:pt x="249057" y="395112"/>
                      <a:pt x="254950" y="386936"/>
                      <a:pt x="258418" y="377687"/>
                    </a:cubicBezTo>
                    <a:cubicBezTo>
                      <a:pt x="262376" y="367131"/>
                      <a:pt x="265510" y="342393"/>
                      <a:pt x="271670" y="331304"/>
                    </a:cubicBezTo>
                    <a:cubicBezTo>
                      <a:pt x="286010" y="305491"/>
                      <a:pt x="307335" y="276394"/>
                      <a:pt x="331305" y="258417"/>
                    </a:cubicBezTo>
                    <a:cubicBezTo>
                      <a:pt x="340140" y="251791"/>
                      <a:pt x="348221" y="244018"/>
                      <a:pt x="357809" y="238539"/>
                    </a:cubicBezTo>
                    <a:cubicBezTo>
                      <a:pt x="363873" y="235074"/>
                      <a:pt x="371267" y="234664"/>
                      <a:pt x="377687" y="231913"/>
                    </a:cubicBezTo>
                    <a:cubicBezTo>
                      <a:pt x="386766" y="228022"/>
                      <a:pt x="395357" y="223078"/>
                      <a:pt x="404192" y="218661"/>
                    </a:cubicBezTo>
                    <a:cubicBezTo>
                      <a:pt x="423192" y="199661"/>
                      <a:pt x="429758" y="189881"/>
                      <a:pt x="457200" y="178904"/>
                    </a:cubicBezTo>
                    <a:cubicBezTo>
                      <a:pt x="467657" y="174721"/>
                      <a:pt x="479357" y="174810"/>
                      <a:pt x="490331" y="172278"/>
                    </a:cubicBezTo>
                    <a:cubicBezTo>
                      <a:pt x="508078" y="168183"/>
                      <a:pt x="526061" y="164786"/>
                      <a:pt x="543340" y="159026"/>
                    </a:cubicBezTo>
                    <a:cubicBezTo>
                      <a:pt x="549966" y="156817"/>
                      <a:pt x="557113" y="155792"/>
                      <a:pt x="563218" y="152400"/>
                    </a:cubicBezTo>
                    <a:cubicBezTo>
                      <a:pt x="577141" y="144665"/>
                      <a:pt x="587356" y="129019"/>
                      <a:pt x="602974" y="125896"/>
                    </a:cubicBezTo>
                    <a:cubicBezTo>
                      <a:pt x="625061" y="121479"/>
                      <a:pt x="646803" y="114684"/>
                      <a:pt x="669235" y="112644"/>
                    </a:cubicBezTo>
                    <a:cubicBezTo>
                      <a:pt x="759856" y="104405"/>
                      <a:pt x="717914" y="109043"/>
                      <a:pt x="795131" y="99391"/>
                    </a:cubicBezTo>
                    <a:cubicBezTo>
                      <a:pt x="808383" y="94974"/>
                      <a:pt x="821456" y="89976"/>
                      <a:pt x="834887" y="86139"/>
                    </a:cubicBezTo>
                    <a:cubicBezTo>
                      <a:pt x="850348" y="81722"/>
                      <a:pt x="866158" y="78382"/>
                      <a:pt x="881270" y="72887"/>
                    </a:cubicBezTo>
                    <a:cubicBezTo>
                      <a:pt x="920216" y="58725"/>
                      <a:pt x="897005" y="61057"/>
                      <a:pt x="934279" y="39757"/>
                    </a:cubicBezTo>
                    <a:cubicBezTo>
                      <a:pt x="942227" y="35215"/>
                      <a:pt x="974199" y="28350"/>
                      <a:pt x="980661" y="26504"/>
                    </a:cubicBezTo>
                    <a:cubicBezTo>
                      <a:pt x="987377" y="24585"/>
                      <a:pt x="993722" y="21393"/>
                      <a:pt x="1000540" y="19878"/>
                    </a:cubicBezTo>
                    <a:cubicBezTo>
                      <a:pt x="1013655" y="16964"/>
                      <a:pt x="1027122" y="15887"/>
                      <a:pt x="1040296" y="13252"/>
                    </a:cubicBezTo>
                    <a:cubicBezTo>
                      <a:pt x="1061095" y="9092"/>
                      <a:pt x="1067734" y="6315"/>
                      <a:pt x="1086679" y="0"/>
                    </a:cubicBezTo>
                    <a:cubicBezTo>
                      <a:pt x="1139688" y="2209"/>
                      <a:pt x="1192776" y="2976"/>
                      <a:pt x="1245705" y="6626"/>
                    </a:cubicBezTo>
                    <a:cubicBezTo>
                      <a:pt x="1254473" y="7231"/>
                      <a:pt x="1287508" y="14275"/>
                      <a:pt x="1298714" y="19878"/>
                    </a:cubicBezTo>
                    <a:cubicBezTo>
                      <a:pt x="1310233" y="25638"/>
                      <a:pt x="1320075" y="34526"/>
                      <a:pt x="1331844" y="39757"/>
                    </a:cubicBezTo>
                    <a:cubicBezTo>
                      <a:pt x="1340166" y="43456"/>
                      <a:pt x="1349513" y="44174"/>
                      <a:pt x="1358348" y="46383"/>
                    </a:cubicBezTo>
                    <a:cubicBezTo>
                      <a:pt x="1371600" y="55218"/>
                      <a:pt x="1384182" y="65152"/>
                      <a:pt x="1398105" y="72887"/>
                    </a:cubicBezTo>
                    <a:cubicBezTo>
                      <a:pt x="1404211" y="76279"/>
                      <a:pt x="1411736" y="76389"/>
                      <a:pt x="1417983" y="79513"/>
                    </a:cubicBezTo>
                    <a:cubicBezTo>
                      <a:pt x="1434009" y="87526"/>
                      <a:pt x="1454584" y="106228"/>
                      <a:pt x="1464366" y="119270"/>
                    </a:cubicBezTo>
                    <a:cubicBezTo>
                      <a:pt x="1470992" y="128105"/>
                      <a:pt x="1478391" y="136409"/>
                      <a:pt x="1484244" y="145774"/>
                    </a:cubicBezTo>
                    <a:cubicBezTo>
                      <a:pt x="1489479" y="154150"/>
                      <a:pt x="1493605" y="163199"/>
                      <a:pt x="1497496" y="172278"/>
                    </a:cubicBezTo>
                    <a:cubicBezTo>
                      <a:pt x="1511638" y="205277"/>
                      <a:pt x="1520018" y="234882"/>
                      <a:pt x="1537253" y="265044"/>
                    </a:cubicBezTo>
                    <a:cubicBezTo>
                      <a:pt x="1591384" y="359773"/>
                      <a:pt x="1573197" y="324225"/>
                      <a:pt x="1656522" y="430696"/>
                    </a:cubicBezTo>
                    <a:cubicBezTo>
                      <a:pt x="1670134" y="448089"/>
                      <a:pt x="1682812" y="466197"/>
                      <a:pt x="1696279" y="483704"/>
                    </a:cubicBezTo>
                    <a:cubicBezTo>
                      <a:pt x="1704902" y="494914"/>
                      <a:pt x="1713948" y="505791"/>
                      <a:pt x="1722783" y="516835"/>
                    </a:cubicBezTo>
                    <a:lnTo>
                      <a:pt x="1749287" y="549965"/>
                    </a:lnTo>
                    <a:lnTo>
                      <a:pt x="1775792" y="583096"/>
                    </a:lnTo>
                    <a:cubicBezTo>
                      <a:pt x="1808566" y="665030"/>
                      <a:pt x="1764647" y="564521"/>
                      <a:pt x="1815548" y="649357"/>
                    </a:cubicBezTo>
                    <a:cubicBezTo>
                      <a:pt x="1850582" y="707748"/>
                      <a:pt x="1810167" y="663856"/>
                      <a:pt x="1842053" y="695739"/>
                    </a:cubicBezTo>
                    <a:cubicBezTo>
                      <a:pt x="1839844" y="728869"/>
                      <a:pt x="1839094" y="762129"/>
                      <a:pt x="1835427" y="795130"/>
                    </a:cubicBezTo>
                    <a:cubicBezTo>
                      <a:pt x="1834656" y="802072"/>
                      <a:pt x="1829862" y="808105"/>
                      <a:pt x="1828800" y="815009"/>
                    </a:cubicBezTo>
                    <a:cubicBezTo>
                      <a:pt x="1825425" y="836948"/>
                      <a:pt x="1824383" y="859183"/>
                      <a:pt x="1822174" y="881270"/>
                    </a:cubicBezTo>
                    <a:cubicBezTo>
                      <a:pt x="1819965" y="951948"/>
                      <a:pt x="1821763" y="1022865"/>
                      <a:pt x="1815548" y="1093304"/>
                    </a:cubicBezTo>
                    <a:cubicBezTo>
                      <a:pt x="1814999" y="1099527"/>
                      <a:pt x="1805510" y="1101200"/>
                      <a:pt x="1802296" y="1106557"/>
                    </a:cubicBezTo>
                    <a:cubicBezTo>
                      <a:pt x="1798703" y="1112546"/>
                      <a:pt x="1800609" y="1121496"/>
                      <a:pt x="1795670" y="1126435"/>
                    </a:cubicBezTo>
                    <a:cubicBezTo>
                      <a:pt x="1723325" y="1198779"/>
                      <a:pt x="1767962" y="1150227"/>
                      <a:pt x="1722783" y="1172817"/>
                    </a:cubicBezTo>
                    <a:cubicBezTo>
                      <a:pt x="1711264" y="1178577"/>
                      <a:pt x="1701611" y="1187913"/>
                      <a:pt x="1689653" y="1192696"/>
                    </a:cubicBezTo>
                    <a:cubicBezTo>
                      <a:pt x="1679196" y="1196879"/>
                      <a:pt x="1667603" y="1197307"/>
                      <a:pt x="1656522" y="1199322"/>
                    </a:cubicBezTo>
                    <a:cubicBezTo>
                      <a:pt x="1616969" y="1206513"/>
                      <a:pt x="1620457" y="1204392"/>
                      <a:pt x="1583635" y="1212574"/>
                    </a:cubicBezTo>
                    <a:cubicBezTo>
                      <a:pt x="1574745" y="1214549"/>
                      <a:pt x="1566234" y="1218932"/>
                      <a:pt x="1557131" y="1219200"/>
                    </a:cubicBezTo>
                    <a:cubicBezTo>
                      <a:pt x="1415818" y="1223356"/>
                      <a:pt x="1274418" y="1223617"/>
                      <a:pt x="1133061" y="1225826"/>
                    </a:cubicBezTo>
                    <a:lnTo>
                      <a:pt x="927653" y="1219200"/>
                    </a:lnTo>
                    <a:cubicBezTo>
                      <a:pt x="905482" y="1218119"/>
                      <a:pt x="883512" y="1214417"/>
                      <a:pt x="861392" y="1212574"/>
                    </a:cubicBezTo>
                    <a:cubicBezTo>
                      <a:pt x="778933" y="1205703"/>
                      <a:pt x="728793" y="1203852"/>
                      <a:pt x="642731" y="1199322"/>
                    </a:cubicBezTo>
                    <a:cubicBezTo>
                      <a:pt x="631687" y="1197113"/>
                      <a:pt x="620526" y="1195427"/>
                      <a:pt x="609600" y="1192696"/>
                    </a:cubicBezTo>
                    <a:cubicBezTo>
                      <a:pt x="602824" y="1191002"/>
                      <a:pt x="596438" y="1187989"/>
                      <a:pt x="589722" y="1186070"/>
                    </a:cubicBezTo>
                    <a:cubicBezTo>
                      <a:pt x="580966" y="1183568"/>
                      <a:pt x="572053" y="1181653"/>
                      <a:pt x="563218" y="1179444"/>
                    </a:cubicBezTo>
                    <a:cubicBezTo>
                      <a:pt x="556592" y="1175026"/>
                      <a:pt x="550463" y="1169753"/>
                      <a:pt x="543340" y="1166191"/>
                    </a:cubicBezTo>
                    <a:cubicBezTo>
                      <a:pt x="526634" y="1157838"/>
                      <a:pt x="507968" y="1157978"/>
                      <a:pt x="490331" y="1152939"/>
                    </a:cubicBezTo>
                    <a:cubicBezTo>
                      <a:pt x="453265" y="1142349"/>
                      <a:pt x="434381" y="1136581"/>
                      <a:pt x="404192" y="1119809"/>
                    </a:cubicBezTo>
                    <a:cubicBezTo>
                      <a:pt x="392934" y="1113554"/>
                      <a:pt x="382319" y="1106185"/>
                      <a:pt x="371061" y="1099930"/>
                    </a:cubicBezTo>
                    <a:cubicBezTo>
                      <a:pt x="362427" y="1095133"/>
                      <a:pt x="353928" y="1089801"/>
                      <a:pt x="344557" y="1086678"/>
                    </a:cubicBezTo>
                    <a:cubicBezTo>
                      <a:pt x="327278" y="1080918"/>
                      <a:pt x="291548" y="1073426"/>
                      <a:pt x="291548" y="1073426"/>
                    </a:cubicBezTo>
                    <a:cubicBezTo>
                      <a:pt x="196833" y="1018176"/>
                      <a:pt x="238572" y="1042207"/>
                      <a:pt x="165653" y="1000539"/>
                    </a:cubicBezTo>
                    <a:lnTo>
                      <a:pt x="119270" y="974035"/>
                    </a:lnTo>
                    <a:cubicBezTo>
                      <a:pt x="108146" y="967546"/>
                      <a:pt x="98097" y="958940"/>
                      <a:pt x="86140" y="954157"/>
                    </a:cubicBezTo>
                    <a:cubicBezTo>
                      <a:pt x="45615" y="937946"/>
                      <a:pt x="62906" y="947502"/>
                      <a:pt x="33131" y="927652"/>
                    </a:cubicBezTo>
                    <a:cubicBezTo>
                      <a:pt x="2753" y="882084"/>
                      <a:pt x="11664" y="903005"/>
                      <a:pt x="0" y="868017"/>
                    </a:cubicBezTo>
                    <a:cubicBezTo>
                      <a:pt x="1149" y="859976"/>
                      <a:pt x="4580" y="816213"/>
                      <a:pt x="13253" y="801757"/>
                    </a:cubicBezTo>
                    <a:cubicBezTo>
                      <a:pt x="16467" y="796400"/>
                      <a:pt x="22506" y="793303"/>
                      <a:pt x="26505" y="788504"/>
                    </a:cubicBezTo>
                    <a:cubicBezTo>
                      <a:pt x="33575" y="780020"/>
                      <a:pt x="39964" y="770986"/>
                      <a:pt x="46383" y="762000"/>
                    </a:cubicBezTo>
                    <a:cubicBezTo>
                      <a:pt x="51012" y="755520"/>
                      <a:pt x="54391" y="748115"/>
                      <a:pt x="59635" y="742122"/>
                    </a:cubicBezTo>
                    <a:cubicBezTo>
                      <a:pt x="69920" y="730368"/>
                      <a:pt x="81722" y="720035"/>
                      <a:pt x="92766" y="708991"/>
                    </a:cubicBezTo>
                    <a:cubicBezTo>
                      <a:pt x="99392" y="702365"/>
                      <a:pt x="107446" y="696910"/>
                      <a:pt x="112644" y="689113"/>
                    </a:cubicBezTo>
                    <a:cubicBezTo>
                      <a:pt x="117061" y="682487"/>
                      <a:pt x="121267" y="675715"/>
                      <a:pt x="125896" y="669235"/>
                    </a:cubicBezTo>
                    <a:cubicBezTo>
                      <a:pt x="132315" y="660248"/>
                      <a:pt x="138704" y="651214"/>
                      <a:pt x="145774" y="642730"/>
                    </a:cubicBezTo>
                    <a:cubicBezTo>
                      <a:pt x="158534" y="627418"/>
                      <a:pt x="185531" y="611217"/>
                      <a:pt x="185531" y="589722"/>
                    </a:cubicBezTo>
                    <a:lnTo>
                      <a:pt x="172279" y="569844"/>
                    </a:ln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 smtClean="0">
                    <a:solidFill>
                      <a:schemeClr val="tx1"/>
                    </a:solidFill>
                  </a:rPr>
                  <a:t>Consumer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手繪多邊形 8"/>
              <p:cNvSpPr/>
              <p:nvPr/>
            </p:nvSpPr>
            <p:spPr>
              <a:xfrm>
                <a:off x="5868144" y="1700808"/>
                <a:ext cx="1842053" cy="1225826"/>
              </a:xfrm>
              <a:custGeom>
                <a:avLst/>
                <a:gdLst>
                  <a:gd name="connsiteX0" fmla="*/ 172279 w 1842053"/>
                  <a:gd name="connsiteY0" fmla="*/ 569844 h 1225826"/>
                  <a:gd name="connsiteX1" fmla="*/ 172279 w 1842053"/>
                  <a:gd name="connsiteY1" fmla="*/ 569844 h 1225826"/>
                  <a:gd name="connsiteX2" fmla="*/ 212035 w 1842053"/>
                  <a:gd name="connsiteY2" fmla="*/ 490330 h 1225826"/>
                  <a:gd name="connsiteX3" fmla="*/ 231914 w 1842053"/>
                  <a:gd name="connsiteY3" fmla="*/ 450574 h 1225826"/>
                  <a:gd name="connsiteX4" fmla="*/ 245166 w 1842053"/>
                  <a:gd name="connsiteY4" fmla="*/ 404191 h 1225826"/>
                  <a:gd name="connsiteX5" fmla="*/ 258418 w 1842053"/>
                  <a:gd name="connsiteY5" fmla="*/ 377687 h 1225826"/>
                  <a:gd name="connsiteX6" fmla="*/ 271670 w 1842053"/>
                  <a:gd name="connsiteY6" fmla="*/ 331304 h 1225826"/>
                  <a:gd name="connsiteX7" fmla="*/ 331305 w 1842053"/>
                  <a:gd name="connsiteY7" fmla="*/ 258417 h 1225826"/>
                  <a:gd name="connsiteX8" fmla="*/ 357809 w 1842053"/>
                  <a:gd name="connsiteY8" fmla="*/ 238539 h 1225826"/>
                  <a:gd name="connsiteX9" fmla="*/ 377687 w 1842053"/>
                  <a:gd name="connsiteY9" fmla="*/ 231913 h 1225826"/>
                  <a:gd name="connsiteX10" fmla="*/ 404192 w 1842053"/>
                  <a:gd name="connsiteY10" fmla="*/ 218661 h 1225826"/>
                  <a:gd name="connsiteX11" fmla="*/ 457200 w 1842053"/>
                  <a:gd name="connsiteY11" fmla="*/ 178904 h 1225826"/>
                  <a:gd name="connsiteX12" fmla="*/ 490331 w 1842053"/>
                  <a:gd name="connsiteY12" fmla="*/ 172278 h 1225826"/>
                  <a:gd name="connsiteX13" fmla="*/ 543340 w 1842053"/>
                  <a:gd name="connsiteY13" fmla="*/ 159026 h 1225826"/>
                  <a:gd name="connsiteX14" fmla="*/ 563218 w 1842053"/>
                  <a:gd name="connsiteY14" fmla="*/ 152400 h 1225826"/>
                  <a:gd name="connsiteX15" fmla="*/ 602974 w 1842053"/>
                  <a:gd name="connsiteY15" fmla="*/ 125896 h 1225826"/>
                  <a:gd name="connsiteX16" fmla="*/ 669235 w 1842053"/>
                  <a:gd name="connsiteY16" fmla="*/ 112644 h 1225826"/>
                  <a:gd name="connsiteX17" fmla="*/ 795131 w 1842053"/>
                  <a:gd name="connsiteY17" fmla="*/ 99391 h 1225826"/>
                  <a:gd name="connsiteX18" fmla="*/ 834887 w 1842053"/>
                  <a:gd name="connsiteY18" fmla="*/ 86139 h 1225826"/>
                  <a:gd name="connsiteX19" fmla="*/ 881270 w 1842053"/>
                  <a:gd name="connsiteY19" fmla="*/ 72887 h 1225826"/>
                  <a:gd name="connsiteX20" fmla="*/ 934279 w 1842053"/>
                  <a:gd name="connsiteY20" fmla="*/ 39757 h 1225826"/>
                  <a:gd name="connsiteX21" fmla="*/ 980661 w 1842053"/>
                  <a:gd name="connsiteY21" fmla="*/ 26504 h 1225826"/>
                  <a:gd name="connsiteX22" fmla="*/ 1000540 w 1842053"/>
                  <a:gd name="connsiteY22" fmla="*/ 19878 h 1225826"/>
                  <a:gd name="connsiteX23" fmla="*/ 1040296 w 1842053"/>
                  <a:gd name="connsiteY23" fmla="*/ 13252 h 1225826"/>
                  <a:gd name="connsiteX24" fmla="*/ 1086679 w 1842053"/>
                  <a:gd name="connsiteY24" fmla="*/ 0 h 1225826"/>
                  <a:gd name="connsiteX25" fmla="*/ 1245705 w 1842053"/>
                  <a:gd name="connsiteY25" fmla="*/ 6626 h 1225826"/>
                  <a:gd name="connsiteX26" fmla="*/ 1298714 w 1842053"/>
                  <a:gd name="connsiteY26" fmla="*/ 19878 h 1225826"/>
                  <a:gd name="connsiteX27" fmla="*/ 1331844 w 1842053"/>
                  <a:gd name="connsiteY27" fmla="*/ 39757 h 1225826"/>
                  <a:gd name="connsiteX28" fmla="*/ 1358348 w 1842053"/>
                  <a:gd name="connsiteY28" fmla="*/ 46383 h 1225826"/>
                  <a:gd name="connsiteX29" fmla="*/ 1398105 w 1842053"/>
                  <a:gd name="connsiteY29" fmla="*/ 72887 h 1225826"/>
                  <a:gd name="connsiteX30" fmla="*/ 1417983 w 1842053"/>
                  <a:gd name="connsiteY30" fmla="*/ 79513 h 1225826"/>
                  <a:gd name="connsiteX31" fmla="*/ 1464366 w 1842053"/>
                  <a:gd name="connsiteY31" fmla="*/ 119270 h 1225826"/>
                  <a:gd name="connsiteX32" fmla="*/ 1484244 w 1842053"/>
                  <a:gd name="connsiteY32" fmla="*/ 145774 h 1225826"/>
                  <a:gd name="connsiteX33" fmla="*/ 1497496 w 1842053"/>
                  <a:gd name="connsiteY33" fmla="*/ 172278 h 1225826"/>
                  <a:gd name="connsiteX34" fmla="*/ 1537253 w 1842053"/>
                  <a:gd name="connsiteY34" fmla="*/ 265044 h 1225826"/>
                  <a:gd name="connsiteX35" fmla="*/ 1656522 w 1842053"/>
                  <a:gd name="connsiteY35" fmla="*/ 430696 h 1225826"/>
                  <a:gd name="connsiteX36" fmla="*/ 1696279 w 1842053"/>
                  <a:gd name="connsiteY36" fmla="*/ 483704 h 1225826"/>
                  <a:gd name="connsiteX37" fmla="*/ 1722783 w 1842053"/>
                  <a:gd name="connsiteY37" fmla="*/ 516835 h 1225826"/>
                  <a:gd name="connsiteX38" fmla="*/ 1749287 w 1842053"/>
                  <a:gd name="connsiteY38" fmla="*/ 549965 h 1225826"/>
                  <a:gd name="connsiteX39" fmla="*/ 1775792 w 1842053"/>
                  <a:gd name="connsiteY39" fmla="*/ 583096 h 1225826"/>
                  <a:gd name="connsiteX40" fmla="*/ 1815548 w 1842053"/>
                  <a:gd name="connsiteY40" fmla="*/ 649357 h 1225826"/>
                  <a:gd name="connsiteX41" fmla="*/ 1842053 w 1842053"/>
                  <a:gd name="connsiteY41" fmla="*/ 695739 h 1225826"/>
                  <a:gd name="connsiteX42" fmla="*/ 1835427 w 1842053"/>
                  <a:gd name="connsiteY42" fmla="*/ 795130 h 1225826"/>
                  <a:gd name="connsiteX43" fmla="*/ 1828800 w 1842053"/>
                  <a:gd name="connsiteY43" fmla="*/ 815009 h 1225826"/>
                  <a:gd name="connsiteX44" fmla="*/ 1822174 w 1842053"/>
                  <a:gd name="connsiteY44" fmla="*/ 881270 h 1225826"/>
                  <a:gd name="connsiteX45" fmla="*/ 1815548 w 1842053"/>
                  <a:gd name="connsiteY45" fmla="*/ 1093304 h 1225826"/>
                  <a:gd name="connsiteX46" fmla="*/ 1802296 w 1842053"/>
                  <a:gd name="connsiteY46" fmla="*/ 1106557 h 1225826"/>
                  <a:gd name="connsiteX47" fmla="*/ 1795670 w 1842053"/>
                  <a:gd name="connsiteY47" fmla="*/ 1126435 h 1225826"/>
                  <a:gd name="connsiteX48" fmla="*/ 1722783 w 1842053"/>
                  <a:gd name="connsiteY48" fmla="*/ 1172817 h 1225826"/>
                  <a:gd name="connsiteX49" fmla="*/ 1689653 w 1842053"/>
                  <a:gd name="connsiteY49" fmla="*/ 1192696 h 1225826"/>
                  <a:gd name="connsiteX50" fmla="*/ 1656522 w 1842053"/>
                  <a:gd name="connsiteY50" fmla="*/ 1199322 h 1225826"/>
                  <a:gd name="connsiteX51" fmla="*/ 1583635 w 1842053"/>
                  <a:gd name="connsiteY51" fmla="*/ 1212574 h 1225826"/>
                  <a:gd name="connsiteX52" fmla="*/ 1557131 w 1842053"/>
                  <a:gd name="connsiteY52" fmla="*/ 1219200 h 1225826"/>
                  <a:gd name="connsiteX53" fmla="*/ 1133061 w 1842053"/>
                  <a:gd name="connsiteY53" fmla="*/ 1225826 h 1225826"/>
                  <a:gd name="connsiteX54" fmla="*/ 927653 w 1842053"/>
                  <a:gd name="connsiteY54" fmla="*/ 1219200 h 1225826"/>
                  <a:gd name="connsiteX55" fmla="*/ 861392 w 1842053"/>
                  <a:gd name="connsiteY55" fmla="*/ 1212574 h 1225826"/>
                  <a:gd name="connsiteX56" fmla="*/ 642731 w 1842053"/>
                  <a:gd name="connsiteY56" fmla="*/ 1199322 h 1225826"/>
                  <a:gd name="connsiteX57" fmla="*/ 609600 w 1842053"/>
                  <a:gd name="connsiteY57" fmla="*/ 1192696 h 1225826"/>
                  <a:gd name="connsiteX58" fmla="*/ 589722 w 1842053"/>
                  <a:gd name="connsiteY58" fmla="*/ 1186070 h 1225826"/>
                  <a:gd name="connsiteX59" fmla="*/ 563218 w 1842053"/>
                  <a:gd name="connsiteY59" fmla="*/ 1179444 h 1225826"/>
                  <a:gd name="connsiteX60" fmla="*/ 543340 w 1842053"/>
                  <a:gd name="connsiteY60" fmla="*/ 1166191 h 1225826"/>
                  <a:gd name="connsiteX61" fmla="*/ 490331 w 1842053"/>
                  <a:gd name="connsiteY61" fmla="*/ 1152939 h 1225826"/>
                  <a:gd name="connsiteX62" fmla="*/ 404192 w 1842053"/>
                  <a:gd name="connsiteY62" fmla="*/ 1119809 h 1225826"/>
                  <a:gd name="connsiteX63" fmla="*/ 371061 w 1842053"/>
                  <a:gd name="connsiteY63" fmla="*/ 1099930 h 1225826"/>
                  <a:gd name="connsiteX64" fmla="*/ 344557 w 1842053"/>
                  <a:gd name="connsiteY64" fmla="*/ 1086678 h 1225826"/>
                  <a:gd name="connsiteX65" fmla="*/ 291548 w 1842053"/>
                  <a:gd name="connsiteY65" fmla="*/ 1073426 h 1225826"/>
                  <a:gd name="connsiteX66" fmla="*/ 165653 w 1842053"/>
                  <a:gd name="connsiteY66" fmla="*/ 1000539 h 1225826"/>
                  <a:gd name="connsiteX67" fmla="*/ 119270 w 1842053"/>
                  <a:gd name="connsiteY67" fmla="*/ 974035 h 1225826"/>
                  <a:gd name="connsiteX68" fmla="*/ 86140 w 1842053"/>
                  <a:gd name="connsiteY68" fmla="*/ 954157 h 1225826"/>
                  <a:gd name="connsiteX69" fmla="*/ 33131 w 1842053"/>
                  <a:gd name="connsiteY69" fmla="*/ 927652 h 1225826"/>
                  <a:gd name="connsiteX70" fmla="*/ 0 w 1842053"/>
                  <a:gd name="connsiteY70" fmla="*/ 868017 h 1225826"/>
                  <a:gd name="connsiteX71" fmla="*/ 13253 w 1842053"/>
                  <a:gd name="connsiteY71" fmla="*/ 801757 h 1225826"/>
                  <a:gd name="connsiteX72" fmla="*/ 26505 w 1842053"/>
                  <a:gd name="connsiteY72" fmla="*/ 788504 h 1225826"/>
                  <a:gd name="connsiteX73" fmla="*/ 46383 w 1842053"/>
                  <a:gd name="connsiteY73" fmla="*/ 762000 h 1225826"/>
                  <a:gd name="connsiteX74" fmla="*/ 59635 w 1842053"/>
                  <a:gd name="connsiteY74" fmla="*/ 742122 h 1225826"/>
                  <a:gd name="connsiteX75" fmla="*/ 92766 w 1842053"/>
                  <a:gd name="connsiteY75" fmla="*/ 708991 h 1225826"/>
                  <a:gd name="connsiteX76" fmla="*/ 112644 w 1842053"/>
                  <a:gd name="connsiteY76" fmla="*/ 689113 h 1225826"/>
                  <a:gd name="connsiteX77" fmla="*/ 125896 w 1842053"/>
                  <a:gd name="connsiteY77" fmla="*/ 669235 h 1225826"/>
                  <a:gd name="connsiteX78" fmla="*/ 145774 w 1842053"/>
                  <a:gd name="connsiteY78" fmla="*/ 642730 h 1225826"/>
                  <a:gd name="connsiteX79" fmla="*/ 185531 w 1842053"/>
                  <a:gd name="connsiteY79" fmla="*/ 589722 h 1225826"/>
                  <a:gd name="connsiteX80" fmla="*/ 172279 w 1842053"/>
                  <a:gd name="connsiteY80" fmla="*/ 569844 h 1225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42053" h="1225826">
                    <a:moveTo>
                      <a:pt x="172279" y="569844"/>
                    </a:moveTo>
                    <a:lnTo>
                      <a:pt x="172279" y="569844"/>
                    </a:lnTo>
                    <a:cubicBezTo>
                      <a:pt x="185531" y="543339"/>
                      <a:pt x="202664" y="518442"/>
                      <a:pt x="212035" y="490330"/>
                    </a:cubicBezTo>
                    <a:cubicBezTo>
                      <a:pt x="221179" y="462897"/>
                      <a:pt x="214787" y="476263"/>
                      <a:pt x="231914" y="450574"/>
                    </a:cubicBezTo>
                    <a:cubicBezTo>
                      <a:pt x="235276" y="437127"/>
                      <a:pt x="239463" y="417498"/>
                      <a:pt x="245166" y="404191"/>
                    </a:cubicBezTo>
                    <a:cubicBezTo>
                      <a:pt x="249057" y="395112"/>
                      <a:pt x="254950" y="386936"/>
                      <a:pt x="258418" y="377687"/>
                    </a:cubicBezTo>
                    <a:cubicBezTo>
                      <a:pt x="262376" y="367131"/>
                      <a:pt x="265510" y="342393"/>
                      <a:pt x="271670" y="331304"/>
                    </a:cubicBezTo>
                    <a:cubicBezTo>
                      <a:pt x="286010" y="305491"/>
                      <a:pt x="307335" y="276394"/>
                      <a:pt x="331305" y="258417"/>
                    </a:cubicBezTo>
                    <a:cubicBezTo>
                      <a:pt x="340140" y="251791"/>
                      <a:pt x="348221" y="244018"/>
                      <a:pt x="357809" y="238539"/>
                    </a:cubicBezTo>
                    <a:cubicBezTo>
                      <a:pt x="363873" y="235074"/>
                      <a:pt x="371267" y="234664"/>
                      <a:pt x="377687" y="231913"/>
                    </a:cubicBezTo>
                    <a:cubicBezTo>
                      <a:pt x="386766" y="228022"/>
                      <a:pt x="395357" y="223078"/>
                      <a:pt x="404192" y="218661"/>
                    </a:cubicBezTo>
                    <a:cubicBezTo>
                      <a:pt x="423192" y="199661"/>
                      <a:pt x="429758" y="189881"/>
                      <a:pt x="457200" y="178904"/>
                    </a:cubicBezTo>
                    <a:cubicBezTo>
                      <a:pt x="467657" y="174721"/>
                      <a:pt x="479357" y="174810"/>
                      <a:pt x="490331" y="172278"/>
                    </a:cubicBezTo>
                    <a:cubicBezTo>
                      <a:pt x="508078" y="168183"/>
                      <a:pt x="526061" y="164786"/>
                      <a:pt x="543340" y="159026"/>
                    </a:cubicBezTo>
                    <a:cubicBezTo>
                      <a:pt x="549966" y="156817"/>
                      <a:pt x="557113" y="155792"/>
                      <a:pt x="563218" y="152400"/>
                    </a:cubicBezTo>
                    <a:cubicBezTo>
                      <a:pt x="577141" y="144665"/>
                      <a:pt x="587356" y="129019"/>
                      <a:pt x="602974" y="125896"/>
                    </a:cubicBezTo>
                    <a:cubicBezTo>
                      <a:pt x="625061" y="121479"/>
                      <a:pt x="646803" y="114684"/>
                      <a:pt x="669235" y="112644"/>
                    </a:cubicBezTo>
                    <a:cubicBezTo>
                      <a:pt x="759856" y="104405"/>
                      <a:pt x="717914" y="109043"/>
                      <a:pt x="795131" y="99391"/>
                    </a:cubicBezTo>
                    <a:cubicBezTo>
                      <a:pt x="808383" y="94974"/>
                      <a:pt x="821456" y="89976"/>
                      <a:pt x="834887" y="86139"/>
                    </a:cubicBezTo>
                    <a:cubicBezTo>
                      <a:pt x="850348" y="81722"/>
                      <a:pt x="866158" y="78382"/>
                      <a:pt x="881270" y="72887"/>
                    </a:cubicBezTo>
                    <a:cubicBezTo>
                      <a:pt x="920216" y="58725"/>
                      <a:pt x="897005" y="61057"/>
                      <a:pt x="934279" y="39757"/>
                    </a:cubicBezTo>
                    <a:cubicBezTo>
                      <a:pt x="942227" y="35215"/>
                      <a:pt x="974199" y="28350"/>
                      <a:pt x="980661" y="26504"/>
                    </a:cubicBezTo>
                    <a:cubicBezTo>
                      <a:pt x="987377" y="24585"/>
                      <a:pt x="993722" y="21393"/>
                      <a:pt x="1000540" y="19878"/>
                    </a:cubicBezTo>
                    <a:cubicBezTo>
                      <a:pt x="1013655" y="16964"/>
                      <a:pt x="1027122" y="15887"/>
                      <a:pt x="1040296" y="13252"/>
                    </a:cubicBezTo>
                    <a:cubicBezTo>
                      <a:pt x="1061095" y="9092"/>
                      <a:pt x="1067734" y="6315"/>
                      <a:pt x="1086679" y="0"/>
                    </a:cubicBezTo>
                    <a:cubicBezTo>
                      <a:pt x="1139688" y="2209"/>
                      <a:pt x="1192776" y="2976"/>
                      <a:pt x="1245705" y="6626"/>
                    </a:cubicBezTo>
                    <a:cubicBezTo>
                      <a:pt x="1254473" y="7231"/>
                      <a:pt x="1287508" y="14275"/>
                      <a:pt x="1298714" y="19878"/>
                    </a:cubicBezTo>
                    <a:cubicBezTo>
                      <a:pt x="1310233" y="25638"/>
                      <a:pt x="1320075" y="34526"/>
                      <a:pt x="1331844" y="39757"/>
                    </a:cubicBezTo>
                    <a:cubicBezTo>
                      <a:pt x="1340166" y="43456"/>
                      <a:pt x="1349513" y="44174"/>
                      <a:pt x="1358348" y="46383"/>
                    </a:cubicBezTo>
                    <a:cubicBezTo>
                      <a:pt x="1371600" y="55218"/>
                      <a:pt x="1384182" y="65152"/>
                      <a:pt x="1398105" y="72887"/>
                    </a:cubicBezTo>
                    <a:cubicBezTo>
                      <a:pt x="1404211" y="76279"/>
                      <a:pt x="1411736" y="76389"/>
                      <a:pt x="1417983" y="79513"/>
                    </a:cubicBezTo>
                    <a:cubicBezTo>
                      <a:pt x="1434009" y="87526"/>
                      <a:pt x="1454584" y="106228"/>
                      <a:pt x="1464366" y="119270"/>
                    </a:cubicBezTo>
                    <a:cubicBezTo>
                      <a:pt x="1470992" y="128105"/>
                      <a:pt x="1478391" y="136409"/>
                      <a:pt x="1484244" y="145774"/>
                    </a:cubicBezTo>
                    <a:cubicBezTo>
                      <a:pt x="1489479" y="154150"/>
                      <a:pt x="1493605" y="163199"/>
                      <a:pt x="1497496" y="172278"/>
                    </a:cubicBezTo>
                    <a:cubicBezTo>
                      <a:pt x="1511638" y="205277"/>
                      <a:pt x="1520018" y="234882"/>
                      <a:pt x="1537253" y="265044"/>
                    </a:cubicBezTo>
                    <a:cubicBezTo>
                      <a:pt x="1591384" y="359773"/>
                      <a:pt x="1573197" y="324225"/>
                      <a:pt x="1656522" y="430696"/>
                    </a:cubicBezTo>
                    <a:cubicBezTo>
                      <a:pt x="1670134" y="448089"/>
                      <a:pt x="1682812" y="466197"/>
                      <a:pt x="1696279" y="483704"/>
                    </a:cubicBezTo>
                    <a:cubicBezTo>
                      <a:pt x="1704902" y="494914"/>
                      <a:pt x="1713948" y="505791"/>
                      <a:pt x="1722783" y="516835"/>
                    </a:cubicBezTo>
                    <a:lnTo>
                      <a:pt x="1749287" y="549965"/>
                    </a:lnTo>
                    <a:lnTo>
                      <a:pt x="1775792" y="583096"/>
                    </a:lnTo>
                    <a:cubicBezTo>
                      <a:pt x="1808566" y="665030"/>
                      <a:pt x="1764647" y="564521"/>
                      <a:pt x="1815548" y="649357"/>
                    </a:cubicBezTo>
                    <a:cubicBezTo>
                      <a:pt x="1850582" y="707748"/>
                      <a:pt x="1810167" y="663856"/>
                      <a:pt x="1842053" y="695739"/>
                    </a:cubicBezTo>
                    <a:cubicBezTo>
                      <a:pt x="1839844" y="728869"/>
                      <a:pt x="1839094" y="762129"/>
                      <a:pt x="1835427" y="795130"/>
                    </a:cubicBezTo>
                    <a:cubicBezTo>
                      <a:pt x="1834656" y="802072"/>
                      <a:pt x="1829862" y="808105"/>
                      <a:pt x="1828800" y="815009"/>
                    </a:cubicBezTo>
                    <a:cubicBezTo>
                      <a:pt x="1825425" y="836948"/>
                      <a:pt x="1824383" y="859183"/>
                      <a:pt x="1822174" y="881270"/>
                    </a:cubicBezTo>
                    <a:cubicBezTo>
                      <a:pt x="1819965" y="951948"/>
                      <a:pt x="1821763" y="1022865"/>
                      <a:pt x="1815548" y="1093304"/>
                    </a:cubicBezTo>
                    <a:cubicBezTo>
                      <a:pt x="1814999" y="1099527"/>
                      <a:pt x="1805510" y="1101200"/>
                      <a:pt x="1802296" y="1106557"/>
                    </a:cubicBezTo>
                    <a:cubicBezTo>
                      <a:pt x="1798703" y="1112546"/>
                      <a:pt x="1800609" y="1121496"/>
                      <a:pt x="1795670" y="1126435"/>
                    </a:cubicBezTo>
                    <a:cubicBezTo>
                      <a:pt x="1723325" y="1198779"/>
                      <a:pt x="1767962" y="1150227"/>
                      <a:pt x="1722783" y="1172817"/>
                    </a:cubicBezTo>
                    <a:cubicBezTo>
                      <a:pt x="1711264" y="1178577"/>
                      <a:pt x="1701611" y="1187913"/>
                      <a:pt x="1689653" y="1192696"/>
                    </a:cubicBezTo>
                    <a:cubicBezTo>
                      <a:pt x="1679196" y="1196879"/>
                      <a:pt x="1667603" y="1197307"/>
                      <a:pt x="1656522" y="1199322"/>
                    </a:cubicBezTo>
                    <a:cubicBezTo>
                      <a:pt x="1616969" y="1206513"/>
                      <a:pt x="1620457" y="1204392"/>
                      <a:pt x="1583635" y="1212574"/>
                    </a:cubicBezTo>
                    <a:cubicBezTo>
                      <a:pt x="1574745" y="1214549"/>
                      <a:pt x="1566234" y="1218932"/>
                      <a:pt x="1557131" y="1219200"/>
                    </a:cubicBezTo>
                    <a:cubicBezTo>
                      <a:pt x="1415818" y="1223356"/>
                      <a:pt x="1274418" y="1223617"/>
                      <a:pt x="1133061" y="1225826"/>
                    </a:cubicBezTo>
                    <a:lnTo>
                      <a:pt x="927653" y="1219200"/>
                    </a:lnTo>
                    <a:cubicBezTo>
                      <a:pt x="905482" y="1218119"/>
                      <a:pt x="883512" y="1214417"/>
                      <a:pt x="861392" y="1212574"/>
                    </a:cubicBezTo>
                    <a:cubicBezTo>
                      <a:pt x="778933" y="1205703"/>
                      <a:pt x="728793" y="1203852"/>
                      <a:pt x="642731" y="1199322"/>
                    </a:cubicBezTo>
                    <a:cubicBezTo>
                      <a:pt x="631687" y="1197113"/>
                      <a:pt x="620526" y="1195427"/>
                      <a:pt x="609600" y="1192696"/>
                    </a:cubicBezTo>
                    <a:cubicBezTo>
                      <a:pt x="602824" y="1191002"/>
                      <a:pt x="596438" y="1187989"/>
                      <a:pt x="589722" y="1186070"/>
                    </a:cubicBezTo>
                    <a:cubicBezTo>
                      <a:pt x="580966" y="1183568"/>
                      <a:pt x="572053" y="1181653"/>
                      <a:pt x="563218" y="1179444"/>
                    </a:cubicBezTo>
                    <a:cubicBezTo>
                      <a:pt x="556592" y="1175026"/>
                      <a:pt x="550463" y="1169753"/>
                      <a:pt x="543340" y="1166191"/>
                    </a:cubicBezTo>
                    <a:cubicBezTo>
                      <a:pt x="526634" y="1157838"/>
                      <a:pt x="507968" y="1157978"/>
                      <a:pt x="490331" y="1152939"/>
                    </a:cubicBezTo>
                    <a:cubicBezTo>
                      <a:pt x="453265" y="1142349"/>
                      <a:pt x="434381" y="1136581"/>
                      <a:pt x="404192" y="1119809"/>
                    </a:cubicBezTo>
                    <a:cubicBezTo>
                      <a:pt x="392934" y="1113554"/>
                      <a:pt x="382319" y="1106185"/>
                      <a:pt x="371061" y="1099930"/>
                    </a:cubicBezTo>
                    <a:cubicBezTo>
                      <a:pt x="362427" y="1095133"/>
                      <a:pt x="353928" y="1089801"/>
                      <a:pt x="344557" y="1086678"/>
                    </a:cubicBezTo>
                    <a:cubicBezTo>
                      <a:pt x="327278" y="1080918"/>
                      <a:pt x="291548" y="1073426"/>
                      <a:pt x="291548" y="1073426"/>
                    </a:cubicBezTo>
                    <a:cubicBezTo>
                      <a:pt x="196833" y="1018176"/>
                      <a:pt x="238572" y="1042207"/>
                      <a:pt x="165653" y="1000539"/>
                    </a:cubicBezTo>
                    <a:lnTo>
                      <a:pt x="119270" y="974035"/>
                    </a:lnTo>
                    <a:cubicBezTo>
                      <a:pt x="108146" y="967546"/>
                      <a:pt x="98097" y="958940"/>
                      <a:pt x="86140" y="954157"/>
                    </a:cubicBezTo>
                    <a:cubicBezTo>
                      <a:pt x="45615" y="937946"/>
                      <a:pt x="62906" y="947502"/>
                      <a:pt x="33131" y="927652"/>
                    </a:cubicBezTo>
                    <a:cubicBezTo>
                      <a:pt x="2753" y="882084"/>
                      <a:pt x="11664" y="903005"/>
                      <a:pt x="0" y="868017"/>
                    </a:cubicBezTo>
                    <a:cubicBezTo>
                      <a:pt x="1149" y="859976"/>
                      <a:pt x="4580" y="816213"/>
                      <a:pt x="13253" y="801757"/>
                    </a:cubicBezTo>
                    <a:cubicBezTo>
                      <a:pt x="16467" y="796400"/>
                      <a:pt x="22506" y="793303"/>
                      <a:pt x="26505" y="788504"/>
                    </a:cubicBezTo>
                    <a:cubicBezTo>
                      <a:pt x="33575" y="780020"/>
                      <a:pt x="39964" y="770986"/>
                      <a:pt x="46383" y="762000"/>
                    </a:cubicBezTo>
                    <a:cubicBezTo>
                      <a:pt x="51012" y="755520"/>
                      <a:pt x="54391" y="748115"/>
                      <a:pt x="59635" y="742122"/>
                    </a:cubicBezTo>
                    <a:cubicBezTo>
                      <a:pt x="69920" y="730368"/>
                      <a:pt x="81722" y="720035"/>
                      <a:pt x="92766" y="708991"/>
                    </a:cubicBezTo>
                    <a:cubicBezTo>
                      <a:pt x="99392" y="702365"/>
                      <a:pt x="107446" y="696910"/>
                      <a:pt x="112644" y="689113"/>
                    </a:cubicBezTo>
                    <a:cubicBezTo>
                      <a:pt x="117061" y="682487"/>
                      <a:pt x="121267" y="675715"/>
                      <a:pt x="125896" y="669235"/>
                    </a:cubicBezTo>
                    <a:cubicBezTo>
                      <a:pt x="132315" y="660248"/>
                      <a:pt x="138704" y="651214"/>
                      <a:pt x="145774" y="642730"/>
                    </a:cubicBezTo>
                    <a:cubicBezTo>
                      <a:pt x="158534" y="627418"/>
                      <a:pt x="185531" y="611217"/>
                      <a:pt x="185531" y="589722"/>
                    </a:cubicBezTo>
                    <a:lnTo>
                      <a:pt x="172279" y="569844"/>
                    </a:ln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 smtClean="0">
                    <a:solidFill>
                      <a:schemeClr val="tx1"/>
                    </a:solidFill>
                  </a:rPr>
                  <a:t>Consumer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手繪多邊形 9"/>
              <p:cNvSpPr/>
              <p:nvPr/>
            </p:nvSpPr>
            <p:spPr>
              <a:xfrm>
                <a:off x="6444208" y="3427310"/>
                <a:ext cx="1842053" cy="1225826"/>
              </a:xfrm>
              <a:custGeom>
                <a:avLst/>
                <a:gdLst>
                  <a:gd name="connsiteX0" fmla="*/ 172279 w 1842053"/>
                  <a:gd name="connsiteY0" fmla="*/ 569844 h 1225826"/>
                  <a:gd name="connsiteX1" fmla="*/ 172279 w 1842053"/>
                  <a:gd name="connsiteY1" fmla="*/ 569844 h 1225826"/>
                  <a:gd name="connsiteX2" fmla="*/ 212035 w 1842053"/>
                  <a:gd name="connsiteY2" fmla="*/ 490330 h 1225826"/>
                  <a:gd name="connsiteX3" fmla="*/ 231914 w 1842053"/>
                  <a:gd name="connsiteY3" fmla="*/ 450574 h 1225826"/>
                  <a:gd name="connsiteX4" fmla="*/ 245166 w 1842053"/>
                  <a:gd name="connsiteY4" fmla="*/ 404191 h 1225826"/>
                  <a:gd name="connsiteX5" fmla="*/ 258418 w 1842053"/>
                  <a:gd name="connsiteY5" fmla="*/ 377687 h 1225826"/>
                  <a:gd name="connsiteX6" fmla="*/ 271670 w 1842053"/>
                  <a:gd name="connsiteY6" fmla="*/ 331304 h 1225826"/>
                  <a:gd name="connsiteX7" fmla="*/ 331305 w 1842053"/>
                  <a:gd name="connsiteY7" fmla="*/ 258417 h 1225826"/>
                  <a:gd name="connsiteX8" fmla="*/ 357809 w 1842053"/>
                  <a:gd name="connsiteY8" fmla="*/ 238539 h 1225826"/>
                  <a:gd name="connsiteX9" fmla="*/ 377687 w 1842053"/>
                  <a:gd name="connsiteY9" fmla="*/ 231913 h 1225826"/>
                  <a:gd name="connsiteX10" fmla="*/ 404192 w 1842053"/>
                  <a:gd name="connsiteY10" fmla="*/ 218661 h 1225826"/>
                  <a:gd name="connsiteX11" fmla="*/ 457200 w 1842053"/>
                  <a:gd name="connsiteY11" fmla="*/ 178904 h 1225826"/>
                  <a:gd name="connsiteX12" fmla="*/ 490331 w 1842053"/>
                  <a:gd name="connsiteY12" fmla="*/ 172278 h 1225826"/>
                  <a:gd name="connsiteX13" fmla="*/ 543340 w 1842053"/>
                  <a:gd name="connsiteY13" fmla="*/ 159026 h 1225826"/>
                  <a:gd name="connsiteX14" fmla="*/ 563218 w 1842053"/>
                  <a:gd name="connsiteY14" fmla="*/ 152400 h 1225826"/>
                  <a:gd name="connsiteX15" fmla="*/ 602974 w 1842053"/>
                  <a:gd name="connsiteY15" fmla="*/ 125896 h 1225826"/>
                  <a:gd name="connsiteX16" fmla="*/ 669235 w 1842053"/>
                  <a:gd name="connsiteY16" fmla="*/ 112644 h 1225826"/>
                  <a:gd name="connsiteX17" fmla="*/ 795131 w 1842053"/>
                  <a:gd name="connsiteY17" fmla="*/ 99391 h 1225826"/>
                  <a:gd name="connsiteX18" fmla="*/ 834887 w 1842053"/>
                  <a:gd name="connsiteY18" fmla="*/ 86139 h 1225826"/>
                  <a:gd name="connsiteX19" fmla="*/ 881270 w 1842053"/>
                  <a:gd name="connsiteY19" fmla="*/ 72887 h 1225826"/>
                  <a:gd name="connsiteX20" fmla="*/ 934279 w 1842053"/>
                  <a:gd name="connsiteY20" fmla="*/ 39757 h 1225826"/>
                  <a:gd name="connsiteX21" fmla="*/ 980661 w 1842053"/>
                  <a:gd name="connsiteY21" fmla="*/ 26504 h 1225826"/>
                  <a:gd name="connsiteX22" fmla="*/ 1000540 w 1842053"/>
                  <a:gd name="connsiteY22" fmla="*/ 19878 h 1225826"/>
                  <a:gd name="connsiteX23" fmla="*/ 1040296 w 1842053"/>
                  <a:gd name="connsiteY23" fmla="*/ 13252 h 1225826"/>
                  <a:gd name="connsiteX24" fmla="*/ 1086679 w 1842053"/>
                  <a:gd name="connsiteY24" fmla="*/ 0 h 1225826"/>
                  <a:gd name="connsiteX25" fmla="*/ 1245705 w 1842053"/>
                  <a:gd name="connsiteY25" fmla="*/ 6626 h 1225826"/>
                  <a:gd name="connsiteX26" fmla="*/ 1298714 w 1842053"/>
                  <a:gd name="connsiteY26" fmla="*/ 19878 h 1225826"/>
                  <a:gd name="connsiteX27" fmla="*/ 1331844 w 1842053"/>
                  <a:gd name="connsiteY27" fmla="*/ 39757 h 1225826"/>
                  <a:gd name="connsiteX28" fmla="*/ 1358348 w 1842053"/>
                  <a:gd name="connsiteY28" fmla="*/ 46383 h 1225826"/>
                  <a:gd name="connsiteX29" fmla="*/ 1398105 w 1842053"/>
                  <a:gd name="connsiteY29" fmla="*/ 72887 h 1225826"/>
                  <a:gd name="connsiteX30" fmla="*/ 1417983 w 1842053"/>
                  <a:gd name="connsiteY30" fmla="*/ 79513 h 1225826"/>
                  <a:gd name="connsiteX31" fmla="*/ 1464366 w 1842053"/>
                  <a:gd name="connsiteY31" fmla="*/ 119270 h 1225826"/>
                  <a:gd name="connsiteX32" fmla="*/ 1484244 w 1842053"/>
                  <a:gd name="connsiteY32" fmla="*/ 145774 h 1225826"/>
                  <a:gd name="connsiteX33" fmla="*/ 1497496 w 1842053"/>
                  <a:gd name="connsiteY33" fmla="*/ 172278 h 1225826"/>
                  <a:gd name="connsiteX34" fmla="*/ 1537253 w 1842053"/>
                  <a:gd name="connsiteY34" fmla="*/ 265044 h 1225826"/>
                  <a:gd name="connsiteX35" fmla="*/ 1656522 w 1842053"/>
                  <a:gd name="connsiteY35" fmla="*/ 430696 h 1225826"/>
                  <a:gd name="connsiteX36" fmla="*/ 1696279 w 1842053"/>
                  <a:gd name="connsiteY36" fmla="*/ 483704 h 1225826"/>
                  <a:gd name="connsiteX37" fmla="*/ 1722783 w 1842053"/>
                  <a:gd name="connsiteY37" fmla="*/ 516835 h 1225826"/>
                  <a:gd name="connsiteX38" fmla="*/ 1749287 w 1842053"/>
                  <a:gd name="connsiteY38" fmla="*/ 549965 h 1225826"/>
                  <a:gd name="connsiteX39" fmla="*/ 1775792 w 1842053"/>
                  <a:gd name="connsiteY39" fmla="*/ 583096 h 1225826"/>
                  <a:gd name="connsiteX40" fmla="*/ 1815548 w 1842053"/>
                  <a:gd name="connsiteY40" fmla="*/ 649357 h 1225826"/>
                  <a:gd name="connsiteX41" fmla="*/ 1842053 w 1842053"/>
                  <a:gd name="connsiteY41" fmla="*/ 695739 h 1225826"/>
                  <a:gd name="connsiteX42" fmla="*/ 1835427 w 1842053"/>
                  <a:gd name="connsiteY42" fmla="*/ 795130 h 1225826"/>
                  <a:gd name="connsiteX43" fmla="*/ 1828800 w 1842053"/>
                  <a:gd name="connsiteY43" fmla="*/ 815009 h 1225826"/>
                  <a:gd name="connsiteX44" fmla="*/ 1822174 w 1842053"/>
                  <a:gd name="connsiteY44" fmla="*/ 881270 h 1225826"/>
                  <a:gd name="connsiteX45" fmla="*/ 1815548 w 1842053"/>
                  <a:gd name="connsiteY45" fmla="*/ 1093304 h 1225826"/>
                  <a:gd name="connsiteX46" fmla="*/ 1802296 w 1842053"/>
                  <a:gd name="connsiteY46" fmla="*/ 1106557 h 1225826"/>
                  <a:gd name="connsiteX47" fmla="*/ 1795670 w 1842053"/>
                  <a:gd name="connsiteY47" fmla="*/ 1126435 h 1225826"/>
                  <a:gd name="connsiteX48" fmla="*/ 1722783 w 1842053"/>
                  <a:gd name="connsiteY48" fmla="*/ 1172817 h 1225826"/>
                  <a:gd name="connsiteX49" fmla="*/ 1689653 w 1842053"/>
                  <a:gd name="connsiteY49" fmla="*/ 1192696 h 1225826"/>
                  <a:gd name="connsiteX50" fmla="*/ 1656522 w 1842053"/>
                  <a:gd name="connsiteY50" fmla="*/ 1199322 h 1225826"/>
                  <a:gd name="connsiteX51" fmla="*/ 1583635 w 1842053"/>
                  <a:gd name="connsiteY51" fmla="*/ 1212574 h 1225826"/>
                  <a:gd name="connsiteX52" fmla="*/ 1557131 w 1842053"/>
                  <a:gd name="connsiteY52" fmla="*/ 1219200 h 1225826"/>
                  <a:gd name="connsiteX53" fmla="*/ 1133061 w 1842053"/>
                  <a:gd name="connsiteY53" fmla="*/ 1225826 h 1225826"/>
                  <a:gd name="connsiteX54" fmla="*/ 927653 w 1842053"/>
                  <a:gd name="connsiteY54" fmla="*/ 1219200 h 1225826"/>
                  <a:gd name="connsiteX55" fmla="*/ 861392 w 1842053"/>
                  <a:gd name="connsiteY55" fmla="*/ 1212574 h 1225826"/>
                  <a:gd name="connsiteX56" fmla="*/ 642731 w 1842053"/>
                  <a:gd name="connsiteY56" fmla="*/ 1199322 h 1225826"/>
                  <a:gd name="connsiteX57" fmla="*/ 609600 w 1842053"/>
                  <a:gd name="connsiteY57" fmla="*/ 1192696 h 1225826"/>
                  <a:gd name="connsiteX58" fmla="*/ 589722 w 1842053"/>
                  <a:gd name="connsiteY58" fmla="*/ 1186070 h 1225826"/>
                  <a:gd name="connsiteX59" fmla="*/ 563218 w 1842053"/>
                  <a:gd name="connsiteY59" fmla="*/ 1179444 h 1225826"/>
                  <a:gd name="connsiteX60" fmla="*/ 543340 w 1842053"/>
                  <a:gd name="connsiteY60" fmla="*/ 1166191 h 1225826"/>
                  <a:gd name="connsiteX61" fmla="*/ 490331 w 1842053"/>
                  <a:gd name="connsiteY61" fmla="*/ 1152939 h 1225826"/>
                  <a:gd name="connsiteX62" fmla="*/ 404192 w 1842053"/>
                  <a:gd name="connsiteY62" fmla="*/ 1119809 h 1225826"/>
                  <a:gd name="connsiteX63" fmla="*/ 371061 w 1842053"/>
                  <a:gd name="connsiteY63" fmla="*/ 1099930 h 1225826"/>
                  <a:gd name="connsiteX64" fmla="*/ 344557 w 1842053"/>
                  <a:gd name="connsiteY64" fmla="*/ 1086678 h 1225826"/>
                  <a:gd name="connsiteX65" fmla="*/ 291548 w 1842053"/>
                  <a:gd name="connsiteY65" fmla="*/ 1073426 h 1225826"/>
                  <a:gd name="connsiteX66" fmla="*/ 165653 w 1842053"/>
                  <a:gd name="connsiteY66" fmla="*/ 1000539 h 1225826"/>
                  <a:gd name="connsiteX67" fmla="*/ 119270 w 1842053"/>
                  <a:gd name="connsiteY67" fmla="*/ 974035 h 1225826"/>
                  <a:gd name="connsiteX68" fmla="*/ 86140 w 1842053"/>
                  <a:gd name="connsiteY68" fmla="*/ 954157 h 1225826"/>
                  <a:gd name="connsiteX69" fmla="*/ 33131 w 1842053"/>
                  <a:gd name="connsiteY69" fmla="*/ 927652 h 1225826"/>
                  <a:gd name="connsiteX70" fmla="*/ 0 w 1842053"/>
                  <a:gd name="connsiteY70" fmla="*/ 868017 h 1225826"/>
                  <a:gd name="connsiteX71" fmla="*/ 13253 w 1842053"/>
                  <a:gd name="connsiteY71" fmla="*/ 801757 h 1225826"/>
                  <a:gd name="connsiteX72" fmla="*/ 26505 w 1842053"/>
                  <a:gd name="connsiteY72" fmla="*/ 788504 h 1225826"/>
                  <a:gd name="connsiteX73" fmla="*/ 46383 w 1842053"/>
                  <a:gd name="connsiteY73" fmla="*/ 762000 h 1225826"/>
                  <a:gd name="connsiteX74" fmla="*/ 59635 w 1842053"/>
                  <a:gd name="connsiteY74" fmla="*/ 742122 h 1225826"/>
                  <a:gd name="connsiteX75" fmla="*/ 92766 w 1842053"/>
                  <a:gd name="connsiteY75" fmla="*/ 708991 h 1225826"/>
                  <a:gd name="connsiteX76" fmla="*/ 112644 w 1842053"/>
                  <a:gd name="connsiteY76" fmla="*/ 689113 h 1225826"/>
                  <a:gd name="connsiteX77" fmla="*/ 125896 w 1842053"/>
                  <a:gd name="connsiteY77" fmla="*/ 669235 h 1225826"/>
                  <a:gd name="connsiteX78" fmla="*/ 145774 w 1842053"/>
                  <a:gd name="connsiteY78" fmla="*/ 642730 h 1225826"/>
                  <a:gd name="connsiteX79" fmla="*/ 185531 w 1842053"/>
                  <a:gd name="connsiteY79" fmla="*/ 589722 h 1225826"/>
                  <a:gd name="connsiteX80" fmla="*/ 172279 w 1842053"/>
                  <a:gd name="connsiteY80" fmla="*/ 569844 h 1225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42053" h="1225826">
                    <a:moveTo>
                      <a:pt x="172279" y="569844"/>
                    </a:moveTo>
                    <a:lnTo>
                      <a:pt x="172279" y="569844"/>
                    </a:lnTo>
                    <a:cubicBezTo>
                      <a:pt x="185531" y="543339"/>
                      <a:pt x="202664" y="518442"/>
                      <a:pt x="212035" y="490330"/>
                    </a:cubicBezTo>
                    <a:cubicBezTo>
                      <a:pt x="221179" y="462897"/>
                      <a:pt x="214787" y="476263"/>
                      <a:pt x="231914" y="450574"/>
                    </a:cubicBezTo>
                    <a:cubicBezTo>
                      <a:pt x="235276" y="437127"/>
                      <a:pt x="239463" y="417498"/>
                      <a:pt x="245166" y="404191"/>
                    </a:cubicBezTo>
                    <a:cubicBezTo>
                      <a:pt x="249057" y="395112"/>
                      <a:pt x="254950" y="386936"/>
                      <a:pt x="258418" y="377687"/>
                    </a:cubicBezTo>
                    <a:cubicBezTo>
                      <a:pt x="262376" y="367131"/>
                      <a:pt x="265510" y="342393"/>
                      <a:pt x="271670" y="331304"/>
                    </a:cubicBezTo>
                    <a:cubicBezTo>
                      <a:pt x="286010" y="305491"/>
                      <a:pt x="307335" y="276394"/>
                      <a:pt x="331305" y="258417"/>
                    </a:cubicBezTo>
                    <a:cubicBezTo>
                      <a:pt x="340140" y="251791"/>
                      <a:pt x="348221" y="244018"/>
                      <a:pt x="357809" y="238539"/>
                    </a:cubicBezTo>
                    <a:cubicBezTo>
                      <a:pt x="363873" y="235074"/>
                      <a:pt x="371267" y="234664"/>
                      <a:pt x="377687" y="231913"/>
                    </a:cubicBezTo>
                    <a:cubicBezTo>
                      <a:pt x="386766" y="228022"/>
                      <a:pt x="395357" y="223078"/>
                      <a:pt x="404192" y="218661"/>
                    </a:cubicBezTo>
                    <a:cubicBezTo>
                      <a:pt x="423192" y="199661"/>
                      <a:pt x="429758" y="189881"/>
                      <a:pt x="457200" y="178904"/>
                    </a:cubicBezTo>
                    <a:cubicBezTo>
                      <a:pt x="467657" y="174721"/>
                      <a:pt x="479357" y="174810"/>
                      <a:pt x="490331" y="172278"/>
                    </a:cubicBezTo>
                    <a:cubicBezTo>
                      <a:pt x="508078" y="168183"/>
                      <a:pt x="526061" y="164786"/>
                      <a:pt x="543340" y="159026"/>
                    </a:cubicBezTo>
                    <a:cubicBezTo>
                      <a:pt x="549966" y="156817"/>
                      <a:pt x="557113" y="155792"/>
                      <a:pt x="563218" y="152400"/>
                    </a:cubicBezTo>
                    <a:cubicBezTo>
                      <a:pt x="577141" y="144665"/>
                      <a:pt x="587356" y="129019"/>
                      <a:pt x="602974" y="125896"/>
                    </a:cubicBezTo>
                    <a:cubicBezTo>
                      <a:pt x="625061" y="121479"/>
                      <a:pt x="646803" y="114684"/>
                      <a:pt x="669235" y="112644"/>
                    </a:cubicBezTo>
                    <a:cubicBezTo>
                      <a:pt x="759856" y="104405"/>
                      <a:pt x="717914" y="109043"/>
                      <a:pt x="795131" y="99391"/>
                    </a:cubicBezTo>
                    <a:cubicBezTo>
                      <a:pt x="808383" y="94974"/>
                      <a:pt x="821456" y="89976"/>
                      <a:pt x="834887" y="86139"/>
                    </a:cubicBezTo>
                    <a:cubicBezTo>
                      <a:pt x="850348" y="81722"/>
                      <a:pt x="866158" y="78382"/>
                      <a:pt x="881270" y="72887"/>
                    </a:cubicBezTo>
                    <a:cubicBezTo>
                      <a:pt x="920216" y="58725"/>
                      <a:pt x="897005" y="61057"/>
                      <a:pt x="934279" y="39757"/>
                    </a:cubicBezTo>
                    <a:cubicBezTo>
                      <a:pt x="942227" y="35215"/>
                      <a:pt x="974199" y="28350"/>
                      <a:pt x="980661" y="26504"/>
                    </a:cubicBezTo>
                    <a:cubicBezTo>
                      <a:pt x="987377" y="24585"/>
                      <a:pt x="993722" y="21393"/>
                      <a:pt x="1000540" y="19878"/>
                    </a:cubicBezTo>
                    <a:cubicBezTo>
                      <a:pt x="1013655" y="16964"/>
                      <a:pt x="1027122" y="15887"/>
                      <a:pt x="1040296" y="13252"/>
                    </a:cubicBezTo>
                    <a:cubicBezTo>
                      <a:pt x="1061095" y="9092"/>
                      <a:pt x="1067734" y="6315"/>
                      <a:pt x="1086679" y="0"/>
                    </a:cubicBezTo>
                    <a:cubicBezTo>
                      <a:pt x="1139688" y="2209"/>
                      <a:pt x="1192776" y="2976"/>
                      <a:pt x="1245705" y="6626"/>
                    </a:cubicBezTo>
                    <a:cubicBezTo>
                      <a:pt x="1254473" y="7231"/>
                      <a:pt x="1287508" y="14275"/>
                      <a:pt x="1298714" y="19878"/>
                    </a:cubicBezTo>
                    <a:cubicBezTo>
                      <a:pt x="1310233" y="25638"/>
                      <a:pt x="1320075" y="34526"/>
                      <a:pt x="1331844" y="39757"/>
                    </a:cubicBezTo>
                    <a:cubicBezTo>
                      <a:pt x="1340166" y="43456"/>
                      <a:pt x="1349513" y="44174"/>
                      <a:pt x="1358348" y="46383"/>
                    </a:cubicBezTo>
                    <a:cubicBezTo>
                      <a:pt x="1371600" y="55218"/>
                      <a:pt x="1384182" y="65152"/>
                      <a:pt x="1398105" y="72887"/>
                    </a:cubicBezTo>
                    <a:cubicBezTo>
                      <a:pt x="1404211" y="76279"/>
                      <a:pt x="1411736" y="76389"/>
                      <a:pt x="1417983" y="79513"/>
                    </a:cubicBezTo>
                    <a:cubicBezTo>
                      <a:pt x="1434009" y="87526"/>
                      <a:pt x="1454584" y="106228"/>
                      <a:pt x="1464366" y="119270"/>
                    </a:cubicBezTo>
                    <a:cubicBezTo>
                      <a:pt x="1470992" y="128105"/>
                      <a:pt x="1478391" y="136409"/>
                      <a:pt x="1484244" y="145774"/>
                    </a:cubicBezTo>
                    <a:cubicBezTo>
                      <a:pt x="1489479" y="154150"/>
                      <a:pt x="1493605" y="163199"/>
                      <a:pt x="1497496" y="172278"/>
                    </a:cubicBezTo>
                    <a:cubicBezTo>
                      <a:pt x="1511638" y="205277"/>
                      <a:pt x="1520018" y="234882"/>
                      <a:pt x="1537253" y="265044"/>
                    </a:cubicBezTo>
                    <a:cubicBezTo>
                      <a:pt x="1591384" y="359773"/>
                      <a:pt x="1573197" y="324225"/>
                      <a:pt x="1656522" y="430696"/>
                    </a:cubicBezTo>
                    <a:cubicBezTo>
                      <a:pt x="1670134" y="448089"/>
                      <a:pt x="1682812" y="466197"/>
                      <a:pt x="1696279" y="483704"/>
                    </a:cubicBezTo>
                    <a:cubicBezTo>
                      <a:pt x="1704902" y="494914"/>
                      <a:pt x="1713948" y="505791"/>
                      <a:pt x="1722783" y="516835"/>
                    </a:cubicBezTo>
                    <a:lnTo>
                      <a:pt x="1749287" y="549965"/>
                    </a:lnTo>
                    <a:lnTo>
                      <a:pt x="1775792" y="583096"/>
                    </a:lnTo>
                    <a:cubicBezTo>
                      <a:pt x="1808566" y="665030"/>
                      <a:pt x="1764647" y="564521"/>
                      <a:pt x="1815548" y="649357"/>
                    </a:cubicBezTo>
                    <a:cubicBezTo>
                      <a:pt x="1850582" y="707748"/>
                      <a:pt x="1810167" y="663856"/>
                      <a:pt x="1842053" y="695739"/>
                    </a:cubicBezTo>
                    <a:cubicBezTo>
                      <a:pt x="1839844" y="728869"/>
                      <a:pt x="1839094" y="762129"/>
                      <a:pt x="1835427" y="795130"/>
                    </a:cubicBezTo>
                    <a:cubicBezTo>
                      <a:pt x="1834656" y="802072"/>
                      <a:pt x="1829862" y="808105"/>
                      <a:pt x="1828800" y="815009"/>
                    </a:cubicBezTo>
                    <a:cubicBezTo>
                      <a:pt x="1825425" y="836948"/>
                      <a:pt x="1824383" y="859183"/>
                      <a:pt x="1822174" y="881270"/>
                    </a:cubicBezTo>
                    <a:cubicBezTo>
                      <a:pt x="1819965" y="951948"/>
                      <a:pt x="1821763" y="1022865"/>
                      <a:pt x="1815548" y="1093304"/>
                    </a:cubicBezTo>
                    <a:cubicBezTo>
                      <a:pt x="1814999" y="1099527"/>
                      <a:pt x="1805510" y="1101200"/>
                      <a:pt x="1802296" y="1106557"/>
                    </a:cubicBezTo>
                    <a:cubicBezTo>
                      <a:pt x="1798703" y="1112546"/>
                      <a:pt x="1800609" y="1121496"/>
                      <a:pt x="1795670" y="1126435"/>
                    </a:cubicBezTo>
                    <a:cubicBezTo>
                      <a:pt x="1723325" y="1198779"/>
                      <a:pt x="1767962" y="1150227"/>
                      <a:pt x="1722783" y="1172817"/>
                    </a:cubicBezTo>
                    <a:cubicBezTo>
                      <a:pt x="1711264" y="1178577"/>
                      <a:pt x="1701611" y="1187913"/>
                      <a:pt x="1689653" y="1192696"/>
                    </a:cubicBezTo>
                    <a:cubicBezTo>
                      <a:pt x="1679196" y="1196879"/>
                      <a:pt x="1667603" y="1197307"/>
                      <a:pt x="1656522" y="1199322"/>
                    </a:cubicBezTo>
                    <a:cubicBezTo>
                      <a:pt x="1616969" y="1206513"/>
                      <a:pt x="1620457" y="1204392"/>
                      <a:pt x="1583635" y="1212574"/>
                    </a:cubicBezTo>
                    <a:cubicBezTo>
                      <a:pt x="1574745" y="1214549"/>
                      <a:pt x="1566234" y="1218932"/>
                      <a:pt x="1557131" y="1219200"/>
                    </a:cubicBezTo>
                    <a:cubicBezTo>
                      <a:pt x="1415818" y="1223356"/>
                      <a:pt x="1274418" y="1223617"/>
                      <a:pt x="1133061" y="1225826"/>
                    </a:cubicBezTo>
                    <a:lnTo>
                      <a:pt x="927653" y="1219200"/>
                    </a:lnTo>
                    <a:cubicBezTo>
                      <a:pt x="905482" y="1218119"/>
                      <a:pt x="883512" y="1214417"/>
                      <a:pt x="861392" y="1212574"/>
                    </a:cubicBezTo>
                    <a:cubicBezTo>
                      <a:pt x="778933" y="1205703"/>
                      <a:pt x="728793" y="1203852"/>
                      <a:pt x="642731" y="1199322"/>
                    </a:cubicBezTo>
                    <a:cubicBezTo>
                      <a:pt x="631687" y="1197113"/>
                      <a:pt x="620526" y="1195427"/>
                      <a:pt x="609600" y="1192696"/>
                    </a:cubicBezTo>
                    <a:cubicBezTo>
                      <a:pt x="602824" y="1191002"/>
                      <a:pt x="596438" y="1187989"/>
                      <a:pt x="589722" y="1186070"/>
                    </a:cubicBezTo>
                    <a:cubicBezTo>
                      <a:pt x="580966" y="1183568"/>
                      <a:pt x="572053" y="1181653"/>
                      <a:pt x="563218" y="1179444"/>
                    </a:cubicBezTo>
                    <a:cubicBezTo>
                      <a:pt x="556592" y="1175026"/>
                      <a:pt x="550463" y="1169753"/>
                      <a:pt x="543340" y="1166191"/>
                    </a:cubicBezTo>
                    <a:cubicBezTo>
                      <a:pt x="526634" y="1157838"/>
                      <a:pt x="507968" y="1157978"/>
                      <a:pt x="490331" y="1152939"/>
                    </a:cubicBezTo>
                    <a:cubicBezTo>
                      <a:pt x="453265" y="1142349"/>
                      <a:pt x="434381" y="1136581"/>
                      <a:pt x="404192" y="1119809"/>
                    </a:cubicBezTo>
                    <a:cubicBezTo>
                      <a:pt x="392934" y="1113554"/>
                      <a:pt x="382319" y="1106185"/>
                      <a:pt x="371061" y="1099930"/>
                    </a:cubicBezTo>
                    <a:cubicBezTo>
                      <a:pt x="362427" y="1095133"/>
                      <a:pt x="353928" y="1089801"/>
                      <a:pt x="344557" y="1086678"/>
                    </a:cubicBezTo>
                    <a:cubicBezTo>
                      <a:pt x="327278" y="1080918"/>
                      <a:pt x="291548" y="1073426"/>
                      <a:pt x="291548" y="1073426"/>
                    </a:cubicBezTo>
                    <a:cubicBezTo>
                      <a:pt x="196833" y="1018176"/>
                      <a:pt x="238572" y="1042207"/>
                      <a:pt x="165653" y="1000539"/>
                    </a:cubicBezTo>
                    <a:lnTo>
                      <a:pt x="119270" y="974035"/>
                    </a:lnTo>
                    <a:cubicBezTo>
                      <a:pt x="108146" y="967546"/>
                      <a:pt x="98097" y="958940"/>
                      <a:pt x="86140" y="954157"/>
                    </a:cubicBezTo>
                    <a:cubicBezTo>
                      <a:pt x="45615" y="937946"/>
                      <a:pt x="62906" y="947502"/>
                      <a:pt x="33131" y="927652"/>
                    </a:cubicBezTo>
                    <a:cubicBezTo>
                      <a:pt x="2753" y="882084"/>
                      <a:pt x="11664" y="903005"/>
                      <a:pt x="0" y="868017"/>
                    </a:cubicBezTo>
                    <a:cubicBezTo>
                      <a:pt x="1149" y="859976"/>
                      <a:pt x="4580" y="816213"/>
                      <a:pt x="13253" y="801757"/>
                    </a:cubicBezTo>
                    <a:cubicBezTo>
                      <a:pt x="16467" y="796400"/>
                      <a:pt x="22506" y="793303"/>
                      <a:pt x="26505" y="788504"/>
                    </a:cubicBezTo>
                    <a:cubicBezTo>
                      <a:pt x="33575" y="780020"/>
                      <a:pt x="39964" y="770986"/>
                      <a:pt x="46383" y="762000"/>
                    </a:cubicBezTo>
                    <a:cubicBezTo>
                      <a:pt x="51012" y="755520"/>
                      <a:pt x="54391" y="748115"/>
                      <a:pt x="59635" y="742122"/>
                    </a:cubicBezTo>
                    <a:cubicBezTo>
                      <a:pt x="69920" y="730368"/>
                      <a:pt x="81722" y="720035"/>
                      <a:pt x="92766" y="708991"/>
                    </a:cubicBezTo>
                    <a:cubicBezTo>
                      <a:pt x="99392" y="702365"/>
                      <a:pt x="107446" y="696910"/>
                      <a:pt x="112644" y="689113"/>
                    </a:cubicBezTo>
                    <a:cubicBezTo>
                      <a:pt x="117061" y="682487"/>
                      <a:pt x="121267" y="675715"/>
                      <a:pt x="125896" y="669235"/>
                    </a:cubicBezTo>
                    <a:cubicBezTo>
                      <a:pt x="132315" y="660248"/>
                      <a:pt x="138704" y="651214"/>
                      <a:pt x="145774" y="642730"/>
                    </a:cubicBezTo>
                    <a:cubicBezTo>
                      <a:pt x="158534" y="627418"/>
                      <a:pt x="185531" y="611217"/>
                      <a:pt x="185531" y="589722"/>
                    </a:cubicBezTo>
                    <a:lnTo>
                      <a:pt x="172279" y="569844"/>
                    </a:ln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 smtClean="0">
                    <a:solidFill>
                      <a:schemeClr val="tx1"/>
                    </a:solidFill>
                  </a:rPr>
                  <a:t>Consumer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手繪多邊形 10"/>
              <p:cNvSpPr/>
              <p:nvPr/>
            </p:nvSpPr>
            <p:spPr>
              <a:xfrm>
                <a:off x="899592" y="1853208"/>
                <a:ext cx="1842053" cy="1225826"/>
              </a:xfrm>
              <a:custGeom>
                <a:avLst/>
                <a:gdLst>
                  <a:gd name="connsiteX0" fmla="*/ 172279 w 1842053"/>
                  <a:gd name="connsiteY0" fmla="*/ 569844 h 1225826"/>
                  <a:gd name="connsiteX1" fmla="*/ 172279 w 1842053"/>
                  <a:gd name="connsiteY1" fmla="*/ 569844 h 1225826"/>
                  <a:gd name="connsiteX2" fmla="*/ 212035 w 1842053"/>
                  <a:gd name="connsiteY2" fmla="*/ 490330 h 1225826"/>
                  <a:gd name="connsiteX3" fmla="*/ 231914 w 1842053"/>
                  <a:gd name="connsiteY3" fmla="*/ 450574 h 1225826"/>
                  <a:gd name="connsiteX4" fmla="*/ 245166 w 1842053"/>
                  <a:gd name="connsiteY4" fmla="*/ 404191 h 1225826"/>
                  <a:gd name="connsiteX5" fmla="*/ 258418 w 1842053"/>
                  <a:gd name="connsiteY5" fmla="*/ 377687 h 1225826"/>
                  <a:gd name="connsiteX6" fmla="*/ 271670 w 1842053"/>
                  <a:gd name="connsiteY6" fmla="*/ 331304 h 1225826"/>
                  <a:gd name="connsiteX7" fmla="*/ 331305 w 1842053"/>
                  <a:gd name="connsiteY7" fmla="*/ 258417 h 1225826"/>
                  <a:gd name="connsiteX8" fmla="*/ 357809 w 1842053"/>
                  <a:gd name="connsiteY8" fmla="*/ 238539 h 1225826"/>
                  <a:gd name="connsiteX9" fmla="*/ 377687 w 1842053"/>
                  <a:gd name="connsiteY9" fmla="*/ 231913 h 1225826"/>
                  <a:gd name="connsiteX10" fmla="*/ 404192 w 1842053"/>
                  <a:gd name="connsiteY10" fmla="*/ 218661 h 1225826"/>
                  <a:gd name="connsiteX11" fmla="*/ 457200 w 1842053"/>
                  <a:gd name="connsiteY11" fmla="*/ 178904 h 1225826"/>
                  <a:gd name="connsiteX12" fmla="*/ 490331 w 1842053"/>
                  <a:gd name="connsiteY12" fmla="*/ 172278 h 1225826"/>
                  <a:gd name="connsiteX13" fmla="*/ 543340 w 1842053"/>
                  <a:gd name="connsiteY13" fmla="*/ 159026 h 1225826"/>
                  <a:gd name="connsiteX14" fmla="*/ 563218 w 1842053"/>
                  <a:gd name="connsiteY14" fmla="*/ 152400 h 1225826"/>
                  <a:gd name="connsiteX15" fmla="*/ 602974 w 1842053"/>
                  <a:gd name="connsiteY15" fmla="*/ 125896 h 1225826"/>
                  <a:gd name="connsiteX16" fmla="*/ 669235 w 1842053"/>
                  <a:gd name="connsiteY16" fmla="*/ 112644 h 1225826"/>
                  <a:gd name="connsiteX17" fmla="*/ 795131 w 1842053"/>
                  <a:gd name="connsiteY17" fmla="*/ 99391 h 1225826"/>
                  <a:gd name="connsiteX18" fmla="*/ 834887 w 1842053"/>
                  <a:gd name="connsiteY18" fmla="*/ 86139 h 1225826"/>
                  <a:gd name="connsiteX19" fmla="*/ 881270 w 1842053"/>
                  <a:gd name="connsiteY19" fmla="*/ 72887 h 1225826"/>
                  <a:gd name="connsiteX20" fmla="*/ 934279 w 1842053"/>
                  <a:gd name="connsiteY20" fmla="*/ 39757 h 1225826"/>
                  <a:gd name="connsiteX21" fmla="*/ 980661 w 1842053"/>
                  <a:gd name="connsiteY21" fmla="*/ 26504 h 1225826"/>
                  <a:gd name="connsiteX22" fmla="*/ 1000540 w 1842053"/>
                  <a:gd name="connsiteY22" fmla="*/ 19878 h 1225826"/>
                  <a:gd name="connsiteX23" fmla="*/ 1040296 w 1842053"/>
                  <a:gd name="connsiteY23" fmla="*/ 13252 h 1225826"/>
                  <a:gd name="connsiteX24" fmla="*/ 1086679 w 1842053"/>
                  <a:gd name="connsiteY24" fmla="*/ 0 h 1225826"/>
                  <a:gd name="connsiteX25" fmla="*/ 1245705 w 1842053"/>
                  <a:gd name="connsiteY25" fmla="*/ 6626 h 1225826"/>
                  <a:gd name="connsiteX26" fmla="*/ 1298714 w 1842053"/>
                  <a:gd name="connsiteY26" fmla="*/ 19878 h 1225826"/>
                  <a:gd name="connsiteX27" fmla="*/ 1331844 w 1842053"/>
                  <a:gd name="connsiteY27" fmla="*/ 39757 h 1225826"/>
                  <a:gd name="connsiteX28" fmla="*/ 1358348 w 1842053"/>
                  <a:gd name="connsiteY28" fmla="*/ 46383 h 1225826"/>
                  <a:gd name="connsiteX29" fmla="*/ 1398105 w 1842053"/>
                  <a:gd name="connsiteY29" fmla="*/ 72887 h 1225826"/>
                  <a:gd name="connsiteX30" fmla="*/ 1417983 w 1842053"/>
                  <a:gd name="connsiteY30" fmla="*/ 79513 h 1225826"/>
                  <a:gd name="connsiteX31" fmla="*/ 1464366 w 1842053"/>
                  <a:gd name="connsiteY31" fmla="*/ 119270 h 1225826"/>
                  <a:gd name="connsiteX32" fmla="*/ 1484244 w 1842053"/>
                  <a:gd name="connsiteY32" fmla="*/ 145774 h 1225826"/>
                  <a:gd name="connsiteX33" fmla="*/ 1497496 w 1842053"/>
                  <a:gd name="connsiteY33" fmla="*/ 172278 h 1225826"/>
                  <a:gd name="connsiteX34" fmla="*/ 1537253 w 1842053"/>
                  <a:gd name="connsiteY34" fmla="*/ 265044 h 1225826"/>
                  <a:gd name="connsiteX35" fmla="*/ 1656522 w 1842053"/>
                  <a:gd name="connsiteY35" fmla="*/ 430696 h 1225826"/>
                  <a:gd name="connsiteX36" fmla="*/ 1696279 w 1842053"/>
                  <a:gd name="connsiteY36" fmla="*/ 483704 h 1225826"/>
                  <a:gd name="connsiteX37" fmla="*/ 1722783 w 1842053"/>
                  <a:gd name="connsiteY37" fmla="*/ 516835 h 1225826"/>
                  <a:gd name="connsiteX38" fmla="*/ 1749287 w 1842053"/>
                  <a:gd name="connsiteY38" fmla="*/ 549965 h 1225826"/>
                  <a:gd name="connsiteX39" fmla="*/ 1775792 w 1842053"/>
                  <a:gd name="connsiteY39" fmla="*/ 583096 h 1225826"/>
                  <a:gd name="connsiteX40" fmla="*/ 1815548 w 1842053"/>
                  <a:gd name="connsiteY40" fmla="*/ 649357 h 1225826"/>
                  <a:gd name="connsiteX41" fmla="*/ 1842053 w 1842053"/>
                  <a:gd name="connsiteY41" fmla="*/ 695739 h 1225826"/>
                  <a:gd name="connsiteX42" fmla="*/ 1835427 w 1842053"/>
                  <a:gd name="connsiteY42" fmla="*/ 795130 h 1225826"/>
                  <a:gd name="connsiteX43" fmla="*/ 1828800 w 1842053"/>
                  <a:gd name="connsiteY43" fmla="*/ 815009 h 1225826"/>
                  <a:gd name="connsiteX44" fmla="*/ 1822174 w 1842053"/>
                  <a:gd name="connsiteY44" fmla="*/ 881270 h 1225826"/>
                  <a:gd name="connsiteX45" fmla="*/ 1815548 w 1842053"/>
                  <a:gd name="connsiteY45" fmla="*/ 1093304 h 1225826"/>
                  <a:gd name="connsiteX46" fmla="*/ 1802296 w 1842053"/>
                  <a:gd name="connsiteY46" fmla="*/ 1106557 h 1225826"/>
                  <a:gd name="connsiteX47" fmla="*/ 1795670 w 1842053"/>
                  <a:gd name="connsiteY47" fmla="*/ 1126435 h 1225826"/>
                  <a:gd name="connsiteX48" fmla="*/ 1722783 w 1842053"/>
                  <a:gd name="connsiteY48" fmla="*/ 1172817 h 1225826"/>
                  <a:gd name="connsiteX49" fmla="*/ 1689653 w 1842053"/>
                  <a:gd name="connsiteY49" fmla="*/ 1192696 h 1225826"/>
                  <a:gd name="connsiteX50" fmla="*/ 1656522 w 1842053"/>
                  <a:gd name="connsiteY50" fmla="*/ 1199322 h 1225826"/>
                  <a:gd name="connsiteX51" fmla="*/ 1583635 w 1842053"/>
                  <a:gd name="connsiteY51" fmla="*/ 1212574 h 1225826"/>
                  <a:gd name="connsiteX52" fmla="*/ 1557131 w 1842053"/>
                  <a:gd name="connsiteY52" fmla="*/ 1219200 h 1225826"/>
                  <a:gd name="connsiteX53" fmla="*/ 1133061 w 1842053"/>
                  <a:gd name="connsiteY53" fmla="*/ 1225826 h 1225826"/>
                  <a:gd name="connsiteX54" fmla="*/ 927653 w 1842053"/>
                  <a:gd name="connsiteY54" fmla="*/ 1219200 h 1225826"/>
                  <a:gd name="connsiteX55" fmla="*/ 861392 w 1842053"/>
                  <a:gd name="connsiteY55" fmla="*/ 1212574 h 1225826"/>
                  <a:gd name="connsiteX56" fmla="*/ 642731 w 1842053"/>
                  <a:gd name="connsiteY56" fmla="*/ 1199322 h 1225826"/>
                  <a:gd name="connsiteX57" fmla="*/ 609600 w 1842053"/>
                  <a:gd name="connsiteY57" fmla="*/ 1192696 h 1225826"/>
                  <a:gd name="connsiteX58" fmla="*/ 589722 w 1842053"/>
                  <a:gd name="connsiteY58" fmla="*/ 1186070 h 1225826"/>
                  <a:gd name="connsiteX59" fmla="*/ 563218 w 1842053"/>
                  <a:gd name="connsiteY59" fmla="*/ 1179444 h 1225826"/>
                  <a:gd name="connsiteX60" fmla="*/ 543340 w 1842053"/>
                  <a:gd name="connsiteY60" fmla="*/ 1166191 h 1225826"/>
                  <a:gd name="connsiteX61" fmla="*/ 490331 w 1842053"/>
                  <a:gd name="connsiteY61" fmla="*/ 1152939 h 1225826"/>
                  <a:gd name="connsiteX62" fmla="*/ 404192 w 1842053"/>
                  <a:gd name="connsiteY62" fmla="*/ 1119809 h 1225826"/>
                  <a:gd name="connsiteX63" fmla="*/ 371061 w 1842053"/>
                  <a:gd name="connsiteY63" fmla="*/ 1099930 h 1225826"/>
                  <a:gd name="connsiteX64" fmla="*/ 344557 w 1842053"/>
                  <a:gd name="connsiteY64" fmla="*/ 1086678 h 1225826"/>
                  <a:gd name="connsiteX65" fmla="*/ 291548 w 1842053"/>
                  <a:gd name="connsiteY65" fmla="*/ 1073426 h 1225826"/>
                  <a:gd name="connsiteX66" fmla="*/ 165653 w 1842053"/>
                  <a:gd name="connsiteY66" fmla="*/ 1000539 h 1225826"/>
                  <a:gd name="connsiteX67" fmla="*/ 119270 w 1842053"/>
                  <a:gd name="connsiteY67" fmla="*/ 974035 h 1225826"/>
                  <a:gd name="connsiteX68" fmla="*/ 86140 w 1842053"/>
                  <a:gd name="connsiteY68" fmla="*/ 954157 h 1225826"/>
                  <a:gd name="connsiteX69" fmla="*/ 33131 w 1842053"/>
                  <a:gd name="connsiteY69" fmla="*/ 927652 h 1225826"/>
                  <a:gd name="connsiteX70" fmla="*/ 0 w 1842053"/>
                  <a:gd name="connsiteY70" fmla="*/ 868017 h 1225826"/>
                  <a:gd name="connsiteX71" fmla="*/ 13253 w 1842053"/>
                  <a:gd name="connsiteY71" fmla="*/ 801757 h 1225826"/>
                  <a:gd name="connsiteX72" fmla="*/ 26505 w 1842053"/>
                  <a:gd name="connsiteY72" fmla="*/ 788504 h 1225826"/>
                  <a:gd name="connsiteX73" fmla="*/ 46383 w 1842053"/>
                  <a:gd name="connsiteY73" fmla="*/ 762000 h 1225826"/>
                  <a:gd name="connsiteX74" fmla="*/ 59635 w 1842053"/>
                  <a:gd name="connsiteY74" fmla="*/ 742122 h 1225826"/>
                  <a:gd name="connsiteX75" fmla="*/ 92766 w 1842053"/>
                  <a:gd name="connsiteY75" fmla="*/ 708991 h 1225826"/>
                  <a:gd name="connsiteX76" fmla="*/ 112644 w 1842053"/>
                  <a:gd name="connsiteY76" fmla="*/ 689113 h 1225826"/>
                  <a:gd name="connsiteX77" fmla="*/ 125896 w 1842053"/>
                  <a:gd name="connsiteY77" fmla="*/ 669235 h 1225826"/>
                  <a:gd name="connsiteX78" fmla="*/ 145774 w 1842053"/>
                  <a:gd name="connsiteY78" fmla="*/ 642730 h 1225826"/>
                  <a:gd name="connsiteX79" fmla="*/ 185531 w 1842053"/>
                  <a:gd name="connsiteY79" fmla="*/ 589722 h 1225826"/>
                  <a:gd name="connsiteX80" fmla="*/ 172279 w 1842053"/>
                  <a:gd name="connsiteY80" fmla="*/ 569844 h 1225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42053" h="1225826">
                    <a:moveTo>
                      <a:pt x="172279" y="569844"/>
                    </a:moveTo>
                    <a:lnTo>
                      <a:pt x="172279" y="569844"/>
                    </a:lnTo>
                    <a:cubicBezTo>
                      <a:pt x="185531" y="543339"/>
                      <a:pt x="202664" y="518442"/>
                      <a:pt x="212035" y="490330"/>
                    </a:cubicBezTo>
                    <a:cubicBezTo>
                      <a:pt x="221179" y="462897"/>
                      <a:pt x="214787" y="476263"/>
                      <a:pt x="231914" y="450574"/>
                    </a:cubicBezTo>
                    <a:cubicBezTo>
                      <a:pt x="235276" y="437127"/>
                      <a:pt x="239463" y="417498"/>
                      <a:pt x="245166" y="404191"/>
                    </a:cubicBezTo>
                    <a:cubicBezTo>
                      <a:pt x="249057" y="395112"/>
                      <a:pt x="254950" y="386936"/>
                      <a:pt x="258418" y="377687"/>
                    </a:cubicBezTo>
                    <a:cubicBezTo>
                      <a:pt x="262376" y="367131"/>
                      <a:pt x="265510" y="342393"/>
                      <a:pt x="271670" y="331304"/>
                    </a:cubicBezTo>
                    <a:cubicBezTo>
                      <a:pt x="286010" y="305491"/>
                      <a:pt x="307335" y="276394"/>
                      <a:pt x="331305" y="258417"/>
                    </a:cubicBezTo>
                    <a:cubicBezTo>
                      <a:pt x="340140" y="251791"/>
                      <a:pt x="348221" y="244018"/>
                      <a:pt x="357809" y="238539"/>
                    </a:cubicBezTo>
                    <a:cubicBezTo>
                      <a:pt x="363873" y="235074"/>
                      <a:pt x="371267" y="234664"/>
                      <a:pt x="377687" y="231913"/>
                    </a:cubicBezTo>
                    <a:cubicBezTo>
                      <a:pt x="386766" y="228022"/>
                      <a:pt x="395357" y="223078"/>
                      <a:pt x="404192" y="218661"/>
                    </a:cubicBezTo>
                    <a:cubicBezTo>
                      <a:pt x="423192" y="199661"/>
                      <a:pt x="429758" y="189881"/>
                      <a:pt x="457200" y="178904"/>
                    </a:cubicBezTo>
                    <a:cubicBezTo>
                      <a:pt x="467657" y="174721"/>
                      <a:pt x="479357" y="174810"/>
                      <a:pt x="490331" y="172278"/>
                    </a:cubicBezTo>
                    <a:cubicBezTo>
                      <a:pt x="508078" y="168183"/>
                      <a:pt x="526061" y="164786"/>
                      <a:pt x="543340" y="159026"/>
                    </a:cubicBezTo>
                    <a:cubicBezTo>
                      <a:pt x="549966" y="156817"/>
                      <a:pt x="557113" y="155792"/>
                      <a:pt x="563218" y="152400"/>
                    </a:cubicBezTo>
                    <a:cubicBezTo>
                      <a:pt x="577141" y="144665"/>
                      <a:pt x="587356" y="129019"/>
                      <a:pt x="602974" y="125896"/>
                    </a:cubicBezTo>
                    <a:cubicBezTo>
                      <a:pt x="625061" y="121479"/>
                      <a:pt x="646803" y="114684"/>
                      <a:pt x="669235" y="112644"/>
                    </a:cubicBezTo>
                    <a:cubicBezTo>
                      <a:pt x="759856" y="104405"/>
                      <a:pt x="717914" y="109043"/>
                      <a:pt x="795131" y="99391"/>
                    </a:cubicBezTo>
                    <a:cubicBezTo>
                      <a:pt x="808383" y="94974"/>
                      <a:pt x="821456" y="89976"/>
                      <a:pt x="834887" y="86139"/>
                    </a:cubicBezTo>
                    <a:cubicBezTo>
                      <a:pt x="850348" y="81722"/>
                      <a:pt x="866158" y="78382"/>
                      <a:pt x="881270" y="72887"/>
                    </a:cubicBezTo>
                    <a:cubicBezTo>
                      <a:pt x="920216" y="58725"/>
                      <a:pt x="897005" y="61057"/>
                      <a:pt x="934279" y="39757"/>
                    </a:cubicBezTo>
                    <a:cubicBezTo>
                      <a:pt x="942227" y="35215"/>
                      <a:pt x="974199" y="28350"/>
                      <a:pt x="980661" y="26504"/>
                    </a:cubicBezTo>
                    <a:cubicBezTo>
                      <a:pt x="987377" y="24585"/>
                      <a:pt x="993722" y="21393"/>
                      <a:pt x="1000540" y="19878"/>
                    </a:cubicBezTo>
                    <a:cubicBezTo>
                      <a:pt x="1013655" y="16964"/>
                      <a:pt x="1027122" y="15887"/>
                      <a:pt x="1040296" y="13252"/>
                    </a:cubicBezTo>
                    <a:cubicBezTo>
                      <a:pt x="1061095" y="9092"/>
                      <a:pt x="1067734" y="6315"/>
                      <a:pt x="1086679" y="0"/>
                    </a:cubicBezTo>
                    <a:cubicBezTo>
                      <a:pt x="1139688" y="2209"/>
                      <a:pt x="1192776" y="2976"/>
                      <a:pt x="1245705" y="6626"/>
                    </a:cubicBezTo>
                    <a:cubicBezTo>
                      <a:pt x="1254473" y="7231"/>
                      <a:pt x="1287508" y="14275"/>
                      <a:pt x="1298714" y="19878"/>
                    </a:cubicBezTo>
                    <a:cubicBezTo>
                      <a:pt x="1310233" y="25638"/>
                      <a:pt x="1320075" y="34526"/>
                      <a:pt x="1331844" y="39757"/>
                    </a:cubicBezTo>
                    <a:cubicBezTo>
                      <a:pt x="1340166" y="43456"/>
                      <a:pt x="1349513" y="44174"/>
                      <a:pt x="1358348" y="46383"/>
                    </a:cubicBezTo>
                    <a:cubicBezTo>
                      <a:pt x="1371600" y="55218"/>
                      <a:pt x="1384182" y="65152"/>
                      <a:pt x="1398105" y="72887"/>
                    </a:cubicBezTo>
                    <a:cubicBezTo>
                      <a:pt x="1404211" y="76279"/>
                      <a:pt x="1411736" y="76389"/>
                      <a:pt x="1417983" y="79513"/>
                    </a:cubicBezTo>
                    <a:cubicBezTo>
                      <a:pt x="1434009" y="87526"/>
                      <a:pt x="1454584" y="106228"/>
                      <a:pt x="1464366" y="119270"/>
                    </a:cubicBezTo>
                    <a:cubicBezTo>
                      <a:pt x="1470992" y="128105"/>
                      <a:pt x="1478391" y="136409"/>
                      <a:pt x="1484244" y="145774"/>
                    </a:cubicBezTo>
                    <a:cubicBezTo>
                      <a:pt x="1489479" y="154150"/>
                      <a:pt x="1493605" y="163199"/>
                      <a:pt x="1497496" y="172278"/>
                    </a:cubicBezTo>
                    <a:cubicBezTo>
                      <a:pt x="1511638" y="205277"/>
                      <a:pt x="1520018" y="234882"/>
                      <a:pt x="1537253" y="265044"/>
                    </a:cubicBezTo>
                    <a:cubicBezTo>
                      <a:pt x="1591384" y="359773"/>
                      <a:pt x="1573197" y="324225"/>
                      <a:pt x="1656522" y="430696"/>
                    </a:cubicBezTo>
                    <a:cubicBezTo>
                      <a:pt x="1670134" y="448089"/>
                      <a:pt x="1682812" y="466197"/>
                      <a:pt x="1696279" y="483704"/>
                    </a:cubicBezTo>
                    <a:cubicBezTo>
                      <a:pt x="1704902" y="494914"/>
                      <a:pt x="1713948" y="505791"/>
                      <a:pt x="1722783" y="516835"/>
                    </a:cubicBezTo>
                    <a:lnTo>
                      <a:pt x="1749287" y="549965"/>
                    </a:lnTo>
                    <a:lnTo>
                      <a:pt x="1775792" y="583096"/>
                    </a:lnTo>
                    <a:cubicBezTo>
                      <a:pt x="1808566" y="665030"/>
                      <a:pt x="1764647" y="564521"/>
                      <a:pt x="1815548" y="649357"/>
                    </a:cubicBezTo>
                    <a:cubicBezTo>
                      <a:pt x="1850582" y="707748"/>
                      <a:pt x="1810167" y="663856"/>
                      <a:pt x="1842053" y="695739"/>
                    </a:cubicBezTo>
                    <a:cubicBezTo>
                      <a:pt x="1839844" y="728869"/>
                      <a:pt x="1839094" y="762129"/>
                      <a:pt x="1835427" y="795130"/>
                    </a:cubicBezTo>
                    <a:cubicBezTo>
                      <a:pt x="1834656" y="802072"/>
                      <a:pt x="1829862" y="808105"/>
                      <a:pt x="1828800" y="815009"/>
                    </a:cubicBezTo>
                    <a:cubicBezTo>
                      <a:pt x="1825425" y="836948"/>
                      <a:pt x="1824383" y="859183"/>
                      <a:pt x="1822174" y="881270"/>
                    </a:cubicBezTo>
                    <a:cubicBezTo>
                      <a:pt x="1819965" y="951948"/>
                      <a:pt x="1821763" y="1022865"/>
                      <a:pt x="1815548" y="1093304"/>
                    </a:cubicBezTo>
                    <a:cubicBezTo>
                      <a:pt x="1814999" y="1099527"/>
                      <a:pt x="1805510" y="1101200"/>
                      <a:pt x="1802296" y="1106557"/>
                    </a:cubicBezTo>
                    <a:cubicBezTo>
                      <a:pt x="1798703" y="1112546"/>
                      <a:pt x="1800609" y="1121496"/>
                      <a:pt x="1795670" y="1126435"/>
                    </a:cubicBezTo>
                    <a:cubicBezTo>
                      <a:pt x="1723325" y="1198779"/>
                      <a:pt x="1767962" y="1150227"/>
                      <a:pt x="1722783" y="1172817"/>
                    </a:cubicBezTo>
                    <a:cubicBezTo>
                      <a:pt x="1711264" y="1178577"/>
                      <a:pt x="1701611" y="1187913"/>
                      <a:pt x="1689653" y="1192696"/>
                    </a:cubicBezTo>
                    <a:cubicBezTo>
                      <a:pt x="1679196" y="1196879"/>
                      <a:pt x="1667603" y="1197307"/>
                      <a:pt x="1656522" y="1199322"/>
                    </a:cubicBezTo>
                    <a:cubicBezTo>
                      <a:pt x="1616969" y="1206513"/>
                      <a:pt x="1620457" y="1204392"/>
                      <a:pt x="1583635" y="1212574"/>
                    </a:cubicBezTo>
                    <a:cubicBezTo>
                      <a:pt x="1574745" y="1214549"/>
                      <a:pt x="1566234" y="1218932"/>
                      <a:pt x="1557131" y="1219200"/>
                    </a:cubicBezTo>
                    <a:cubicBezTo>
                      <a:pt x="1415818" y="1223356"/>
                      <a:pt x="1274418" y="1223617"/>
                      <a:pt x="1133061" y="1225826"/>
                    </a:cubicBezTo>
                    <a:lnTo>
                      <a:pt x="927653" y="1219200"/>
                    </a:lnTo>
                    <a:cubicBezTo>
                      <a:pt x="905482" y="1218119"/>
                      <a:pt x="883512" y="1214417"/>
                      <a:pt x="861392" y="1212574"/>
                    </a:cubicBezTo>
                    <a:cubicBezTo>
                      <a:pt x="778933" y="1205703"/>
                      <a:pt x="728793" y="1203852"/>
                      <a:pt x="642731" y="1199322"/>
                    </a:cubicBezTo>
                    <a:cubicBezTo>
                      <a:pt x="631687" y="1197113"/>
                      <a:pt x="620526" y="1195427"/>
                      <a:pt x="609600" y="1192696"/>
                    </a:cubicBezTo>
                    <a:cubicBezTo>
                      <a:pt x="602824" y="1191002"/>
                      <a:pt x="596438" y="1187989"/>
                      <a:pt x="589722" y="1186070"/>
                    </a:cubicBezTo>
                    <a:cubicBezTo>
                      <a:pt x="580966" y="1183568"/>
                      <a:pt x="572053" y="1181653"/>
                      <a:pt x="563218" y="1179444"/>
                    </a:cubicBezTo>
                    <a:cubicBezTo>
                      <a:pt x="556592" y="1175026"/>
                      <a:pt x="550463" y="1169753"/>
                      <a:pt x="543340" y="1166191"/>
                    </a:cubicBezTo>
                    <a:cubicBezTo>
                      <a:pt x="526634" y="1157838"/>
                      <a:pt x="507968" y="1157978"/>
                      <a:pt x="490331" y="1152939"/>
                    </a:cubicBezTo>
                    <a:cubicBezTo>
                      <a:pt x="453265" y="1142349"/>
                      <a:pt x="434381" y="1136581"/>
                      <a:pt x="404192" y="1119809"/>
                    </a:cubicBezTo>
                    <a:cubicBezTo>
                      <a:pt x="392934" y="1113554"/>
                      <a:pt x="382319" y="1106185"/>
                      <a:pt x="371061" y="1099930"/>
                    </a:cubicBezTo>
                    <a:cubicBezTo>
                      <a:pt x="362427" y="1095133"/>
                      <a:pt x="353928" y="1089801"/>
                      <a:pt x="344557" y="1086678"/>
                    </a:cubicBezTo>
                    <a:cubicBezTo>
                      <a:pt x="327278" y="1080918"/>
                      <a:pt x="291548" y="1073426"/>
                      <a:pt x="291548" y="1073426"/>
                    </a:cubicBezTo>
                    <a:cubicBezTo>
                      <a:pt x="196833" y="1018176"/>
                      <a:pt x="238572" y="1042207"/>
                      <a:pt x="165653" y="1000539"/>
                    </a:cubicBezTo>
                    <a:lnTo>
                      <a:pt x="119270" y="974035"/>
                    </a:lnTo>
                    <a:cubicBezTo>
                      <a:pt x="108146" y="967546"/>
                      <a:pt x="98097" y="958940"/>
                      <a:pt x="86140" y="954157"/>
                    </a:cubicBezTo>
                    <a:cubicBezTo>
                      <a:pt x="45615" y="937946"/>
                      <a:pt x="62906" y="947502"/>
                      <a:pt x="33131" y="927652"/>
                    </a:cubicBezTo>
                    <a:cubicBezTo>
                      <a:pt x="2753" y="882084"/>
                      <a:pt x="11664" y="903005"/>
                      <a:pt x="0" y="868017"/>
                    </a:cubicBezTo>
                    <a:cubicBezTo>
                      <a:pt x="1149" y="859976"/>
                      <a:pt x="4580" y="816213"/>
                      <a:pt x="13253" y="801757"/>
                    </a:cubicBezTo>
                    <a:cubicBezTo>
                      <a:pt x="16467" y="796400"/>
                      <a:pt x="22506" y="793303"/>
                      <a:pt x="26505" y="788504"/>
                    </a:cubicBezTo>
                    <a:cubicBezTo>
                      <a:pt x="33575" y="780020"/>
                      <a:pt x="39964" y="770986"/>
                      <a:pt x="46383" y="762000"/>
                    </a:cubicBezTo>
                    <a:cubicBezTo>
                      <a:pt x="51012" y="755520"/>
                      <a:pt x="54391" y="748115"/>
                      <a:pt x="59635" y="742122"/>
                    </a:cubicBezTo>
                    <a:cubicBezTo>
                      <a:pt x="69920" y="730368"/>
                      <a:pt x="81722" y="720035"/>
                      <a:pt x="92766" y="708991"/>
                    </a:cubicBezTo>
                    <a:cubicBezTo>
                      <a:pt x="99392" y="702365"/>
                      <a:pt x="107446" y="696910"/>
                      <a:pt x="112644" y="689113"/>
                    </a:cubicBezTo>
                    <a:cubicBezTo>
                      <a:pt x="117061" y="682487"/>
                      <a:pt x="121267" y="675715"/>
                      <a:pt x="125896" y="669235"/>
                    </a:cubicBezTo>
                    <a:cubicBezTo>
                      <a:pt x="132315" y="660248"/>
                      <a:pt x="138704" y="651214"/>
                      <a:pt x="145774" y="642730"/>
                    </a:cubicBezTo>
                    <a:cubicBezTo>
                      <a:pt x="158534" y="627418"/>
                      <a:pt x="185531" y="611217"/>
                      <a:pt x="185531" y="589722"/>
                    </a:cubicBezTo>
                    <a:lnTo>
                      <a:pt x="172279" y="569844"/>
                    </a:ln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 smtClean="0">
                    <a:solidFill>
                      <a:schemeClr val="tx1"/>
                    </a:solidFill>
                  </a:rPr>
                  <a:t>Supplier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手繪多邊形 11"/>
              <p:cNvSpPr/>
              <p:nvPr/>
            </p:nvSpPr>
            <p:spPr>
              <a:xfrm>
                <a:off x="899592" y="4867470"/>
                <a:ext cx="1842053" cy="1225826"/>
              </a:xfrm>
              <a:custGeom>
                <a:avLst/>
                <a:gdLst>
                  <a:gd name="connsiteX0" fmla="*/ 172279 w 1842053"/>
                  <a:gd name="connsiteY0" fmla="*/ 569844 h 1225826"/>
                  <a:gd name="connsiteX1" fmla="*/ 172279 w 1842053"/>
                  <a:gd name="connsiteY1" fmla="*/ 569844 h 1225826"/>
                  <a:gd name="connsiteX2" fmla="*/ 212035 w 1842053"/>
                  <a:gd name="connsiteY2" fmla="*/ 490330 h 1225826"/>
                  <a:gd name="connsiteX3" fmla="*/ 231914 w 1842053"/>
                  <a:gd name="connsiteY3" fmla="*/ 450574 h 1225826"/>
                  <a:gd name="connsiteX4" fmla="*/ 245166 w 1842053"/>
                  <a:gd name="connsiteY4" fmla="*/ 404191 h 1225826"/>
                  <a:gd name="connsiteX5" fmla="*/ 258418 w 1842053"/>
                  <a:gd name="connsiteY5" fmla="*/ 377687 h 1225826"/>
                  <a:gd name="connsiteX6" fmla="*/ 271670 w 1842053"/>
                  <a:gd name="connsiteY6" fmla="*/ 331304 h 1225826"/>
                  <a:gd name="connsiteX7" fmla="*/ 331305 w 1842053"/>
                  <a:gd name="connsiteY7" fmla="*/ 258417 h 1225826"/>
                  <a:gd name="connsiteX8" fmla="*/ 357809 w 1842053"/>
                  <a:gd name="connsiteY8" fmla="*/ 238539 h 1225826"/>
                  <a:gd name="connsiteX9" fmla="*/ 377687 w 1842053"/>
                  <a:gd name="connsiteY9" fmla="*/ 231913 h 1225826"/>
                  <a:gd name="connsiteX10" fmla="*/ 404192 w 1842053"/>
                  <a:gd name="connsiteY10" fmla="*/ 218661 h 1225826"/>
                  <a:gd name="connsiteX11" fmla="*/ 457200 w 1842053"/>
                  <a:gd name="connsiteY11" fmla="*/ 178904 h 1225826"/>
                  <a:gd name="connsiteX12" fmla="*/ 490331 w 1842053"/>
                  <a:gd name="connsiteY12" fmla="*/ 172278 h 1225826"/>
                  <a:gd name="connsiteX13" fmla="*/ 543340 w 1842053"/>
                  <a:gd name="connsiteY13" fmla="*/ 159026 h 1225826"/>
                  <a:gd name="connsiteX14" fmla="*/ 563218 w 1842053"/>
                  <a:gd name="connsiteY14" fmla="*/ 152400 h 1225826"/>
                  <a:gd name="connsiteX15" fmla="*/ 602974 w 1842053"/>
                  <a:gd name="connsiteY15" fmla="*/ 125896 h 1225826"/>
                  <a:gd name="connsiteX16" fmla="*/ 669235 w 1842053"/>
                  <a:gd name="connsiteY16" fmla="*/ 112644 h 1225826"/>
                  <a:gd name="connsiteX17" fmla="*/ 795131 w 1842053"/>
                  <a:gd name="connsiteY17" fmla="*/ 99391 h 1225826"/>
                  <a:gd name="connsiteX18" fmla="*/ 834887 w 1842053"/>
                  <a:gd name="connsiteY18" fmla="*/ 86139 h 1225826"/>
                  <a:gd name="connsiteX19" fmla="*/ 881270 w 1842053"/>
                  <a:gd name="connsiteY19" fmla="*/ 72887 h 1225826"/>
                  <a:gd name="connsiteX20" fmla="*/ 934279 w 1842053"/>
                  <a:gd name="connsiteY20" fmla="*/ 39757 h 1225826"/>
                  <a:gd name="connsiteX21" fmla="*/ 980661 w 1842053"/>
                  <a:gd name="connsiteY21" fmla="*/ 26504 h 1225826"/>
                  <a:gd name="connsiteX22" fmla="*/ 1000540 w 1842053"/>
                  <a:gd name="connsiteY22" fmla="*/ 19878 h 1225826"/>
                  <a:gd name="connsiteX23" fmla="*/ 1040296 w 1842053"/>
                  <a:gd name="connsiteY23" fmla="*/ 13252 h 1225826"/>
                  <a:gd name="connsiteX24" fmla="*/ 1086679 w 1842053"/>
                  <a:gd name="connsiteY24" fmla="*/ 0 h 1225826"/>
                  <a:gd name="connsiteX25" fmla="*/ 1245705 w 1842053"/>
                  <a:gd name="connsiteY25" fmla="*/ 6626 h 1225826"/>
                  <a:gd name="connsiteX26" fmla="*/ 1298714 w 1842053"/>
                  <a:gd name="connsiteY26" fmla="*/ 19878 h 1225826"/>
                  <a:gd name="connsiteX27" fmla="*/ 1331844 w 1842053"/>
                  <a:gd name="connsiteY27" fmla="*/ 39757 h 1225826"/>
                  <a:gd name="connsiteX28" fmla="*/ 1358348 w 1842053"/>
                  <a:gd name="connsiteY28" fmla="*/ 46383 h 1225826"/>
                  <a:gd name="connsiteX29" fmla="*/ 1398105 w 1842053"/>
                  <a:gd name="connsiteY29" fmla="*/ 72887 h 1225826"/>
                  <a:gd name="connsiteX30" fmla="*/ 1417983 w 1842053"/>
                  <a:gd name="connsiteY30" fmla="*/ 79513 h 1225826"/>
                  <a:gd name="connsiteX31" fmla="*/ 1464366 w 1842053"/>
                  <a:gd name="connsiteY31" fmla="*/ 119270 h 1225826"/>
                  <a:gd name="connsiteX32" fmla="*/ 1484244 w 1842053"/>
                  <a:gd name="connsiteY32" fmla="*/ 145774 h 1225826"/>
                  <a:gd name="connsiteX33" fmla="*/ 1497496 w 1842053"/>
                  <a:gd name="connsiteY33" fmla="*/ 172278 h 1225826"/>
                  <a:gd name="connsiteX34" fmla="*/ 1537253 w 1842053"/>
                  <a:gd name="connsiteY34" fmla="*/ 265044 h 1225826"/>
                  <a:gd name="connsiteX35" fmla="*/ 1656522 w 1842053"/>
                  <a:gd name="connsiteY35" fmla="*/ 430696 h 1225826"/>
                  <a:gd name="connsiteX36" fmla="*/ 1696279 w 1842053"/>
                  <a:gd name="connsiteY36" fmla="*/ 483704 h 1225826"/>
                  <a:gd name="connsiteX37" fmla="*/ 1722783 w 1842053"/>
                  <a:gd name="connsiteY37" fmla="*/ 516835 h 1225826"/>
                  <a:gd name="connsiteX38" fmla="*/ 1749287 w 1842053"/>
                  <a:gd name="connsiteY38" fmla="*/ 549965 h 1225826"/>
                  <a:gd name="connsiteX39" fmla="*/ 1775792 w 1842053"/>
                  <a:gd name="connsiteY39" fmla="*/ 583096 h 1225826"/>
                  <a:gd name="connsiteX40" fmla="*/ 1815548 w 1842053"/>
                  <a:gd name="connsiteY40" fmla="*/ 649357 h 1225826"/>
                  <a:gd name="connsiteX41" fmla="*/ 1842053 w 1842053"/>
                  <a:gd name="connsiteY41" fmla="*/ 695739 h 1225826"/>
                  <a:gd name="connsiteX42" fmla="*/ 1835427 w 1842053"/>
                  <a:gd name="connsiteY42" fmla="*/ 795130 h 1225826"/>
                  <a:gd name="connsiteX43" fmla="*/ 1828800 w 1842053"/>
                  <a:gd name="connsiteY43" fmla="*/ 815009 h 1225826"/>
                  <a:gd name="connsiteX44" fmla="*/ 1822174 w 1842053"/>
                  <a:gd name="connsiteY44" fmla="*/ 881270 h 1225826"/>
                  <a:gd name="connsiteX45" fmla="*/ 1815548 w 1842053"/>
                  <a:gd name="connsiteY45" fmla="*/ 1093304 h 1225826"/>
                  <a:gd name="connsiteX46" fmla="*/ 1802296 w 1842053"/>
                  <a:gd name="connsiteY46" fmla="*/ 1106557 h 1225826"/>
                  <a:gd name="connsiteX47" fmla="*/ 1795670 w 1842053"/>
                  <a:gd name="connsiteY47" fmla="*/ 1126435 h 1225826"/>
                  <a:gd name="connsiteX48" fmla="*/ 1722783 w 1842053"/>
                  <a:gd name="connsiteY48" fmla="*/ 1172817 h 1225826"/>
                  <a:gd name="connsiteX49" fmla="*/ 1689653 w 1842053"/>
                  <a:gd name="connsiteY49" fmla="*/ 1192696 h 1225826"/>
                  <a:gd name="connsiteX50" fmla="*/ 1656522 w 1842053"/>
                  <a:gd name="connsiteY50" fmla="*/ 1199322 h 1225826"/>
                  <a:gd name="connsiteX51" fmla="*/ 1583635 w 1842053"/>
                  <a:gd name="connsiteY51" fmla="*/ 1212574 h 1225826"/>
                  <a:gd name="connsiteX52" fmla="*/ 1557131 w 1842053"/>
                  <a:gd name="connsiteY52" fmla="*/ 1219200 h 1225826"/>
                  <a:gd name="connsiteX53" fmla="*/ 1133061 w 1842053"/>
                  <a:gd name="connsiteY53" fmla="*/ 1225826 h 1225826"/>
                  <a:gd name="connsiteX54" fmla="*/ 927653 w 1842053"/>
                  <a:gd name="connsiteY54" fmla="*/ 1219200 h 1225826"/>
                  <a:gd name="connsiteX55" fmla="*/ 861392 w 1842053"/>
                  <a:gd name="connsiteY55" fmla="*/ 1212574 h 1225826"/>
                  <a:gd name="connsiteX56" fmla="*/ 642731 w 1842053"/>
                  <a:gd name="connsiteY56" fmla="*/ 1199322 h 1225826"/>
                  <a:gd name="connsiteX57" fmla="*/ 609600 w 1842053"/>
                  <a:gd name="connsiteY57" fmla="*/ 1192696 h 1225826"/>
                  <a:gd name="connsiteX58" fmla="*/ 589722 w 1842053"/>
                  <a:gd name="connsiteY58" fmla="*/ 1186070 h 1225826"/>
                  <a:gd name="connsiteX59" fmla="*/ 563218 w 1842053"/>
                  <a:gd name="connsiteY59" fmla="*/ 1179444 h 1225826"/>
                  <a:gd name="connsiteX60" fmla="*/ 543340 w 1842053"/>
                  <a:gd name="connsiteY60" fmla="*/ 1166191 h 1225826"/>
                  <a:gd name="connsiteX61" fmla="*/ 490331 w 1842053"/>
                  <a:gd name="connsiteY61" fmla="*/ 1152939 h 1225826"/>
                  <a:gd name="connsiteX62" fmla="*/ 404192 w 1842053"/>
                  <a:gd name="connsiteY62" fmla="*/ 1119809 h 1225826"/>
                  <a:gd name="connsiteX63" fmla="*/ 371061 w 1842053"/>
                  <a:gd name="connsiteY63" fmla="*/ 1099930 h 1225826"/>
                  <a:gd name="connsiteX64" fmla="*/ 344557 w 1842053"/>
                  <a:gd name="connsiteY64" fmla="*/ 1086678 h 1225826"/>
                  <a:gd name="connsiteX65" fmla="*/ 291548 w 1842053"/>
                  <a:gd name="connsiteY65" fmla="*/ 1073426 h 1225826"/>
                  <a:gd name="connsiteX66" fmla="*/ 165653 w 1842053"/>
                  <a:gd name="connsiteY66" fmla="*/ 1000539 h 1225826"/>
                  <a:gd name="connsiteX67" fmla="*/ 119270 w 1842053"/>
                  <a:gd name="connsiteY67" fmla="*/ 974035 h 1225826"/>
                  <a:gd name="connsiteX68" fmla="*/ 86140 w 1842053"/>
                  <a:gd name="connsiteY68" fmla="*/ 954157 h 1225826"/>
                  <a:gd name="connsiteX69" fmla="*/ 33131 w 1842053"/>
                  <a:gd name="connsiteY69" fmla="*/ 927652 h 1225826"/>
                  <a:gd name="connsiteX70" fmla="*/ 0 w 1842053"/>
                  <a:gd name="connsiteY70" fmla="*/ 868017 h 1225826"/>
                  <a:gd name="connsiteX71" fmla="*/ 13253 w 1842053"/>
                  <a:gd name="connsiteY71" fmla="*/ 801757 h 1225826"/>
                  <a:gd name="connsiteX72" fmla="*/ 26505 w 1842053"/>
                  <a:gd name="connsiteY72" fmla="*/ 788504 h 1225826"/>
                  <a:gd name="connsiteX73" fmla="*/ 46383 w 1842053"/>
                  <a:gd name="connsiteY73" fmla="*/ 762000 h 1225826"/>
                  <a:gd name="connsiteX74" fmla="*/ 59635 w 1842053"/>
                  <a:gd name="connsiteY74" fmla="*/ 742122 h 1225826"/>
                  <a:gd name="connsiteX75" fmla="*/ 92766 w 1842053"/>
                  <a:gd name="connsiteY75" fmla="*/ 708991 h 1225826"/>
                  <a:gd name="connsiteX76" fmla="*/ 112644 w 1842053"/>
                  <a:gd name="connsiteY76" fmla="*/ 689113 h 1225826"/>
                  <a:gd name="connsiteX77" fmla="*/ 125896 w 1842053"/>
                  <a:gd name="connsiteY77" fmla="*/ 669235 h 1225826"/>
                  <a:gd name="connsiteX78" fmla="*/ 145774 w 1842053"/>
                  <a:gd name="connsiteY78" fmla="*/ 642730 h 1225826"/>
                  <a:gd name="connsiteX79" fmla="*/ 185531 w 1842053"/>
                  <a:gd name="connsiteY79" fmla="*/ 589722 h 1225826"/>
                  <a:gd name="connsiteX80" fmla="*/ 172279 w 1842053"/>
                  <a:gd name="connsiteY80" fmla="*/ 569844 h 1225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42053" h="1225826">
                    <a:moveTo>
                      <a:pt x="172279" y="569844"/>
                    </a:moveTo>
                    <a:lnTo>
                      <a:pt x="172279" y="569844"/>
                    </a:lnTo>
                    <a:cubicBezTo>
                      <a:pt x="185531" y="543339"/>
                      <a:pt x="202664" y="518442"/>
                      <a:pt x="212035" y="490330"/>
                    </a:cubicBezTo>
                    <a:cubicBezTo>
                      <a:pt x="221179" y="462897"/>
                      <a:pt x="214787" y="476263"/>
                      <a:pt x="231914" y="450574"/>
                    </a:cubicBezTo>
                    <a:cubicBezTo>
                      <a:pt x="235276" y="437127"/>
                      <a:pt x="239463" y="417498"/>
                      <a:pt x="245166" y="404191"/>
                    </a:cubicBezTo>
                    <a:cubicBezTo>
                      <a:pt x="249057" y="395112"/>
                      <a:pt x="254950" y="386936"/>
                      <a:pt x="258418" y="377687"/>
                    </a:cubicBezTo>
                    <a:cubicBezTo>
                      <a:pt x="262376" y="367131"/>
                      <a:pt x="265510" y="342393"/>
                      <a:pt x="271670" y="331304"/>
                    </a:cubicBezTo>
                    <a:cubicBezTo>
                      <a:pt x="286010" y="305491"/>
                      <a:pt x="307335" y="276394"/>
                      <a:pt x="331305" y="258417"/>
                    </a:cubicBezTo>
                    <a:cubicBezTo>
                      <a:pt x="340140" y="251791"/>
                      <a:pt x="348221" y="244018"/>
                      <a:pt x="357809" y="238539"/>
                    </a:cubicBezTo>
                    <a:cubicBezTo>
                      <a:pt x="363873" y="235074"/>
                      <a:pt x="371267" y="234664"/>
                      <a:pt x="377687" y="231913"/>
                    </a:cubicBezTo>
                    <a:cubicBezTo>
                      <a:pt x="386766" y="228022"/>
                      <a:pt x="395357" y="223078"/>
                      <a:pt x="404192" y="218661"/>
                    </a:cubicBezTo>
                    <a:cubicBezTo>
                      <a:pt x="423192" y="199661"/>
                      <a:pt x="429758" y="189881"/>
                      <a:pt x="457200" y="178904"/>
                    </a:cubicBezTo>
                    <a:cubicBezTo>
                      <a:pt x="467657" y="174721"/>
                      <a:pt x="479357" y="174810"/>
                      <a:pt x="490331" y="172278"/>
                    </a:cubicBezTo>
                    <a:cubicBezTo>
                      <a:pt x="508078" y="168183"/>
                      <a:pt x="526061" y="164786"/>
                      <a:pt x="543340" y="159026"/>
                    </a:cubicBezTo>
                    <a:cubicBezTo>
                      <a:pt x="549966" y="156817"/>
                      <a:pt x="557113" y="155792"/>
                      <a:pt x="563218" y="152400"/>
                    </a:cubicBezTo>
                    <a:cubicBezTo>
                      <a:pt x="577141" y="144665"/>
                      <a:pt x="587356" y="129019"/>
                      <a:pt x="602974" y="125896"/>
                    </a:cubicBezTo>
                    <a:cubicBezTo>
                      <a:pt x="625061" y="121479"/>
                      <a:pt x="646803" y="114684"/>
                      <a:pt x="669235" y="112644"/>
                    </a:cubicBezTo>
                    <a:cubicBezTo>
                      <a:pt x="759856" y="104405"/>
                      <a:pt x="717914" y="109043"/>
                      <a:pt x="795131" y="99391"/>
                    </a:cubicBezTo>
                    <a:cubicBezTo>
                      <a:pt x="808383" y="94974"/>
                      <a:pt x="821456" y="89976"/>
                      <a:pt x="834887" y="86139"/>
                    </a:cubicBezTo>
                    <a:cubicBezTo>
                      <a:pt x="850348" y="81722"/>
                      <a:pt x="866158" y="78382"/>
                      <a:pt x="881270" y="72887"/>
                    </a:cubicBezTo>
                    <a:cubicBezTo>
                      <a:pt x="920216" y="58725"/>
                      <a:pt x="897005" y="61057"/>
                      <a:pt x="934279" y="39757"/>
                    </a:cubicBezTo>
                    <a:cubicBezTo>
                      <a:pt x="942227" y="35215"/>
                      <a:pt x="974199" y="28350"/>
                      <a:pt x="980661" y="26504"/>
                    </a:cubicBezTo>
                    <a:cubicBezTo>
                      <a:pt x="987377" y="24585"/>
                      <a:pt x="993722" y="21393"/>
                      <a:pt x="1000540" y="19878"/>
                    </a:cubicBezTo>
                    <a:cubicBezTo>
                      <a:pt x="1013655" y="16964"/>
                      <a:pt x="1027122" y="15887"/>
                      <a:pt x="1040296" y="13252"/>
                    </a:cubicBezTo>
                    <a:cubicBezTo>
                      <a:pt x="1061095" y="9092"/>
                      <a:pt x="1067734" y="6315"/>
                      <a:pt x="1086679" y="0"/>
                    </a:cubicBezTo>
                    <a:cubicBezTo>
                      <a:pt x="1139688" y="2209"/>
                      <a:pt x="1192776" y="2976"/>
                      <a:pt x="1245705" y="6626"/>
                    </a:cubicBezTo>
                    <a:cubicBezTo>
                      <a:pt x="1254473" y="7231"/>
                      <a:pt x="1287508" y="14275"/>
                      <a:pt x="1298714" y="19878"/>
                    </a:cubicBezTo>
                    <a:cubicBezTo>
                      <a:pt x="1310233" y="25638"/>
                      <a:pt x="1320075" y="34526"/>
                      <a:pt x="1331844" y="39757"/>
                    </a:cubicBezTo>
                    <a:cubicBezTo>
                      <a:pt x="1340166" y="43456"/>
                      <a:pt x="1349513" y="44174"/>
                      <a:pt x="1358348" y="46383"/>
                    </a:cubicBezTo>
                    <a:cubicBezTo>
                      <a:pt x="1371600" y="55218"/>
                      <a:pt x="1384182" y="65152"/>
                      <a:pt x="1398105" y="72887"/>
                    </a:cubicBezTo>
                    <a:cubicBezTo>
                      <a:pt x="1404211" y="76279"/>
                      <a:pt x="1411736" y="76389"/>
                      <a:pt x="1417983" y="79513"/>
                    </a:cubicBezTo>
                    <a:cubicBezTo>
                      <a:pt x="1434009" y="87526"/>
                      <a:pt x="1454584" y="106228"/>
                      <a:pt x="1464366" y="119270"/>
                    </a:cubicBezTo>
                    <a:cubicBezTo>
                      <a:pt x="1470992" y="128105"/>
                      <a:pt x="1478391" y="136409"/>
                      <a:pt x="1484244" y="145774"/>
                    </a:cubicBezTo>
                    <a:cubicBezTo>
                      <a:pt x="1489479" y="154150"/>
                      <a:pt x="1493605" y="163199"/>
                      <a:pt x="1497496" y="172278"/>
                    </a:cubicBezTo>
                    <a:cubicBezTo>
                      <a:pt x="1511638" y="205277"/>
                      <a:pt x="1520018" y="234882"/>
                      <a:pt x="1537253" y="265044"/>
                    </a:cubicBezTo>
                    <a:cubicBezTo>
                      <a:pt x="1591384" y="359773"/>
                      <a:pt x="1573197" y="324225"/>
                      <a:pt x="1656522" y="430696"/>
                    </a:cubicBezTo>
                    <a:cubicBezTo>
                      <a:pt x="1670134" y="448089"/>
                      <a:pt x="1682812" y="466197"/>
                      <a:pt x="1696279" y="483704"/>
                    </a:cubicBezTo>
                    <a:cubicBezTo>
                      <a:pt x="1704902" y="494914"/>
                      <a:pt x="1713948" y="505791"/>
                      <a:pt x="1722783" y="516835"/>
                    </a:cubicBezTo>
                    <a:lnTo>
                      <a:pt x="1749287" y="549965"/>
                    </a:lnTo>
                    <a:lnTo>
                      <a:pt x="1775792" y="583096"/>
                    </a:lnTo>
                    <a:cubicBezTo>
                      <a:pt x="1808566" y="665030"/>
                      <a:pt x="1764647" y="564521"/>
                      <a:pt x="1815548" y="649357"/>
                    </a:cubicBezTo>
                    <a:cubicBezTo>
                      <a:pt x="1850582" y="707748"/>
                      <a:pt x="1810167" y="663856"/>
                      <a:pt x="1842053" y="695739"/>
                    </a:cubicBezTo>
                    <a:cubicBezTo>
                      <a:pt x="1839844" y="728869"/>
                      <a:pt x="1839094" y="762129"/>
                      <a:pt x="1835427" y="795130"/>
                    </a:cubicBezTo>
                    <a:cubicBezTo>
                      <a:pt x="1834656" y="802072"/>
                      <a:pt x="1829862" y="808105"/>
                      <a:pt x="1828800" y="815009"/>
                    </a:cubicBezTo>
                    <a:cubicBezTo>
                      <a:pt x="1825425" y="836948"/>
                      <a:pt x="1824383" y="859183"/>
                      <a:pt x="1822174" y="881270"/>
                    </a:cubicBezTo>
                    <a:cubicBezTo>
                      <a:pt x="1819965" y="951948"/>
                      <a:pt x="1821763" y="1022865"/>
                      <a:pt x="1815548" y="1093304"/>
                    </a:cubicBezTo>
                    <a:cubicBezTo>
                      <a:pt x="1814999" y="1099527"/>
                      <a:pt x="1805510" y="1101200"/>
                      <a:pt x="1802296" y="1106557"/>
                    </a:cubicBezTo>
                    <a:cubicBezTo>
                      <a:pt x="1798703" y="1112546"/>
                      <a:pt x="1800609" y="1121496"/>
                      <a:pt x="1795670" y="1126435"/>
                    </a:cubicBezTo>
                    <a:cubicBezTo>
                      <a:pt x="1723325" y="1198779"/>
                      <a:pt x="1767962" y="1150227"/>
                      <a:pt x="1722783" y="1172817"/>
                    </a:cubicBezTo>
                    <a:cubicBezTo>
                      <a:pt x="1711264" y="1178577"/>
                      <a:pt x="1701611" y="1187913"/>
                      <a:pt x="1689653" y="1192696"/>
                    </a:cubicBezTo>
                    <a:cubicBezTo>
                      <a:pt x="1679196" y="1196879"/>
                      <a:pt x="1667603" y="1197307"/>
                      <a:pt x="1656522" y="1199322"/>
                    </a:cubicBezTo>
                    <a:cubicBezTo>
                      <a:pt x="1616969" y="1206513"/>
                      <a:pt x="1620457" y="1204392"/>
                      <a:pt x="1583635" y="1212574"/>
                    </a:cubicBezTo>
                    <a:cubicBezTo>
                      <a:pt x="1574745" y="1214549"/>
                      <a:pt x="1566234" y="1218932"/>
                      <a:pt x="1557131" y="1219200"/>
                    </a:cubicBezTo>
                    <a:cubicBezTo>
                      <a:pt x="1415818" y="1223356"/>
                      <a:pt x="1274418" y="1223617"/>
                      <a:pt x="1133061" y="1225826"/>
                    </a:cubicBezTo>
                    <a:lnTo>
                      <a:pt x="927653" y="1219200"/>
                    </a:lnTo>
                    <a:cubicBezTo>
                      <a:pt x="905482" y="1218119"/>
                      <a:pt x="883512" y="1214417"/>
                      <a:pt x="861392" y="1212574"/>
                    </a:cubicBezTo>
                    <a:cubicBezTo>
                      <a:pt x="778933" y="1205703"/>
                      <a:pt x="728793" y="1203852"/>
                      <a:pt x="642731" y="1199322"/>
                    </a:cubicBezTo>
                    <a:cubicBezTo>
                      <a:pt x="631687" y="1197113"/>
                      <a:pt x="620526" y="1195427"/>
                      <a:pt x="609600" y="1192696"/>
                    </a:cubicBezTo>
                    <a:cubicBezTo>
                      <a:pt x="602824" y="1191002"/>
                      <a:pt x="596438" y="1187989"/>
                      <a:pt x="589722" y="1186070"/>
                    </a:cubicBezTo>
                    <a:cubicBezTo>
                      <a:pt x="580966" y="1183568"/>
                      <a:pt x="572053" y="1181653"/>
                      <a:pt x="563218" y="1179444"/>
                    </a:cubicBezTo>
                    <a:cubicBezTo>
                      <a:pt x="556592" y="1175026"/>
                      <a:pt x="550463" y="1169753"/>
                      <a:pt x="543340" y="1166191"/>
                    </a:cubicBezTo>
                    <a:cubicBezTo>
                      <a:pt x="526634" y="1157838"/>
                      <a:pt x="507968" y="1157978"/>
                      <a:pt x="490331" y="1152939"/>
                    </a:cubicBezTo>
                    <a:cubicBezTo>
                      <a:pt x="453265" y="1142349"/>
                      <a:pt x="434381" y="1136581"/>
                      <a:pt x="404192" y="1119809"/>
                    </a:cubicBezTo>
                    <a:cubicBezTo>
                      <a:pt x="392934" y="1113554"/>
                      <a:pt x="382319" y="1106185"/>
                      <a:pt x="371061" y="1099930"/>
                    </a:cubicBezTo>
                    <a:cubicBezTo>
                      <a:pt x="362427" y="1095133"/>
                      <a:pt x="353928" y="1089801"/>
                      <a:pt x="344557" y="1086678"/>
                    </a:cubicBezTo>
                    <a:cubicBezTo>
                      <a:pt x="327278" y="1080918"/>
                      <a:pt x="291548" y="1073426"/>
                      <a:pt x="291548" y="1073426"/>
                    </a:cubicBezTo>
                    <a:cubicBezTo>
                      <a:pt x="196833" y="1018176"/>
                      <a:pt x="238572" y="1042207"/>
                      <a:pt x="165653" y="1000539"/>
                    </a:cubicBezTo>
                    <a:lnTo>
                      <a:pt x="119270" y="974035"/>
                    </a:lnTo>
                    <a:cubicBezTo>
                      <a:pt x="108146" y="967546"/>
                      <a:pt x="98097" y="958940"/>
                      <a:pt x="86140" y="954157"/>
                    </a:cubicBezTo>
                    <a:cubicBezTo>
                      <a:pt x="45615" y="937946"/>
                      <a:pt x="62906" y="947502"/>
                      <a:pt x="33131" y="927652"/>
                    </a:cubicBezTo>
                    <a:cubicBezTo>
                      <a:pt x="2753" y="882084"/>
                      <a:pt x="11664" y="903005"/>
                      <a:pt x="0" y="868017"/>
                    </a:cubicBezTo>
                    <a:cubicBezTo>
                      <a:pt x="1149" y="859976"/>
                      <a:pt x="4580" y="816213"/>
                      <a:pt x="13253" y="801757"/>
                    </a:cubicBezTo>
                    <a:cubicBezTo>
                      <a:pt x="16467" y="796400"/>
                      <a:pt x="22506" y="793303"/>
                      <a:pt x="26505" y="788504"/>
                    </a:cubicBezTo>
                    <a:cubicBezTo>
                      <a:pt x="33575" y="780020"/>
                      <a:pt x="39964" y="770986"/>
                      <a:pt x="46383" y="762000"/>
                    </a:cubicBezTo>
                    <a:cubicBezTo>
                      <a:pt x="51012" y="755520"/>
                      <a:pt x="54391" y="748115"/>
                      <a:pt x="59635" y="742122"/>
                    </a:cubicBezTo>
                    <a:cubicBezTo>
                      <a:pt x="69920" y="730368"/>
                      <a:pt x="81722" y="720035"/>
                      <a:pt x="92766" y="708991"/>
                    </a:cubicBezTo>
                    <a:cubicBezTo>
                      <a:pt x="99392" y="702365"/>
                      <a:pt x="107446" y="696910"/>
                      <a:pt x="112644" y="689113"/>
                    </a:cubicBezTo>
                    <a:cubicBezTo>
                      <a:pt x="117061" y="682487"/>
                      <a:pt x="121267" y="675715"/>
                      <a:pt x="125896" y="669235"/>
                    </a:cubicBezTo>
                    <a:cubicBezTo>
                      <a:pt x="132315" y="660248"/>
                      <a:pt x="138704" y="651214"/>
                      <a:pt x="145774" y="642730"/>
                    </a:cubicBezTo>
                    <a:cubicBezTo>
                      <a:pt x="158534" y="627418"/>
                      <a:pt x="185531" y="611217"/>
                      <a:pt x="185531" y="589722"/>
                    </a:cubicBezTo>
                    <a:lnTo>
                      <a:pt x="172279" y="569844"/>
                    </a:ln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 smtClean="0">
                    <a:solidFill>
                      <a:schemeClr val="tx1"/>
                    </a:solidFill>
                  </a:rPr>
                  <a:t>Supplier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" name="直線接點 12"/>
              <p:cNvCxnSpPr/>
              <p:nvPr/>
            </p:nvCxnSpPr>
            <p:spPr>
              <a:xfrm>
                <a:off x="2700338" y="2926634"/>
                <a:ext cx="1110068" cy="658079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接點 13"/>
              <p:cNvCxnSpPr>
                <a:stCxn id="12" idx="37"/>
              </p:cNvCxnSpPr>
              <p:nvPr/>
            </p:nvCxnSpPr>
            <p:spPr>
              <a:xfrm flipV="1">
                <a:off x="2622375" y="4551410"/>
                <a:ext cx="1188031" cy="83289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接點 14"/>
              <p:cNvCxnSpPr/>
              <p:nvPr/>
            </p:nvCxnSpPr>
            <p:spPr>
              <a:xfrm flipV="1">
                <a:off x="5225148" y="2708922"/>
                <a:ext cx="787012" cy="644898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接點 15"/>
              <p:cNvCxnSpPr>
                <a:endCxn id="8" idx="11"/>
              </p:cNvCxnSpPr>
              <p:nvPr/>
            </p:nvCxnSpPr>
            <p:spPr>
              <a:xfrm>
                <a:off x="5081132" y="4653136"/>
                <a:ext cx="1100196" cy="753278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接點 16"/>
              <p:cNvCxnSpPr>
                <a:endCxn id="10" idx="75"/>
              </p:cNvCxnSpPr>
              <p:nvPr/>
            </p:nvCxnSpPr>
            <p:spPr>
              <a:xfrm flipV="1">
                <a:off x="5488028" y="4136301"/>
                <a:ext cx="1048946" cy="84787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單箭頭接點 17"/>
              <p:cNvCxnSpPr/>
              <p:nvPr/>
            </p:nvCxnSpPr>
            <p:spPr>
              <a:xfrm flipV="1">
                <a:off x="5225148" y="2708922"/>
                <a:ext cx="570988" cy="432046"/>
              </a:xfrm>
              <a:prstGeom prst="straightConnector1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單箭頭接點 18"/>
              <p:cNvCxnSpPr/>
              <p:nvPr/>
            </p:nvCxnSpPr>
            <p:spPr>
              <a:xfrm flipV="1">
                <a:off x="5741981" y="4062811"/>
                <a:ext cx="753546" cy="73490"/>
              </a:xfrm>
              <a:prstGeom prst="straightConnector1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/>
              <p:cNvCxnSpPr/>
              <p:nvPr/>
            </p:nvCxnSpPr>
            <p:spPr>
              <a:xfrm>
                <a:off x="5324873" y="4925854"/>
                <a:ext cx="654494" cy="433738"/>
              </a:xfrm>
              <a:prstGeom prst="straightConnector1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/>
              <p:cNvCxnSpPr/>
              <p:nvPr/>
            </p:nvCxnSpPr>
            <p:spPr>
              <a:xfrm>
                <a:off x="2751010" y="3161866"/>
                <a:ext cx="724516" cy="422847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2682432" y="4658139"/>
                <a:ext cx="761778" cy="532929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文字方塊 22"/>
              <p:cNvSpPr txBox="1"/>
              <p:nvPr/>
            </p:nvSpPr>
            <p:spPr>
              <a:xfrm>
                <a:off x="4625897" y="2627620"/>
                <a:ext cx="102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 smtClean="0"/>
                  <a:t>Pull()</a:t>
                </a:r>
                <a:endParaRPr lang="zh-TW" altLang="en-US" dirty="0"/>
              </a:p>
            </p:txBody>
          </p:sp>
          <p:sp>
            <p:nvSpPr>
              <p:cNvPr id="24" name="文字方塊 23"/>
              <p:cNvSpPr txBox="1"/>
              <p:nvPr/>
            </p:nvSpPr>
            <p:spPr>
              <a:xfrm>
                <a:off x="5489993" y="3707740"/>
                <a:ext cx="102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 smtClean="0"/>
                  <a:t>Pull()</a:t>
                </a:r>
                <a:endParaRPr lang="zh-TW" altLang="en-US" dirty="0"/>
              </a:p>
            </p:txBody>
          </p:sp>
          <p:sp>
            <p:nvSpPr>
              <p:cNvPr id="25" name="文字方塊 24"/>
              <p:cNvSpPr txBox="1"/>
              <p:nvPr/>
            </p:nvSpPr>
            <p:spPr>
              <a:xfrm>
                <a:off x="4773434" y="5132401"/>
                <a:ext cx="102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 smtClean="0"/>
                  <a:t>Pull()</a:t>
                </a:r>
                <a:endParaRPr lang="zh-TW" altLang="en-US" dirty="0"/>
              </a:p>
            </p:txBody>
          </p:sp>
          <p:sp>
            <p:nvSpPr>
              <p:cNvPr id="26" name="文字方塊 25"/>
              <p:cNvSpPr txBox="1"/>
              <p:nvPr/>
            </p:nvSpPr>
            <p:spPr>
              <a:xfrm>
                <a:off x="2321641" y="4571836"/>
                <a:ext cx="102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 smtClean="0"/>
                  <a:t>Push()</a:t>
                </a:r>
                <a:endParaRPr lang="zh-TW" altLang="en-US" dirty="0"/>
              </a:p>
            </p:txBody>
          </p:sp>
          <p:sp>
            <p:nvSpPr>
              <p:cNvPr id="27" name="文字方塊 26"/>
              <p:cNvSpPr txBox="1"/>
              <p:nvPr/>
            </p:nvSpPr>
            <p:spPr>
              <a:xfrm>
                <a:off x="2393649" y="3356992"/>
                <a:ext cx="102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 smtClean="0"/>
                  <a:t>Push()</a:t>
                </a:r>
                <a:endParaRPr lang="zh-TW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65658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標題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>
                <a:ea typeface="新細明體" panose="02020500000000000000" pitchFamily="18" charset="-120"/>
              </a:rPr>
              <a:t>The Hybrid Pull/Push Model</a:t>
            </a:r>
            <a:endParaRPr lang="zh-TW" altLang="en-US" dirty="0" smtClean="0">
              <a:ea typeface="新細明體" panose="02020500000000000000" pitchFamily="18" charset="-12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899592" y="1700808"/>
            <a:ext cx="7386669" cy="4752528"/>
            <a:chOff x="899592" y="1700808"/>
            <a:chExt cx="7386669" cy="4752528"/>
          </a:xfrm>
        </p:grpSpPr>
        <p:sp>
          <p:nvSpPr>
            <p:cNvPr id="5" name="雲朵形圖說文字 4"/>
            <p:cNvSpPr/>
            <p:nvPr/>
          </p:nvSpPr>
          <p:spPr>
            <a:xfrm>
              <a:off x="3536036" y="3325653"/>
              <a:ext cx="1995961" cy="1621296"/>
            </a:xfrm>
            <a:prstGeom prst="cloud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sz="2400" dirty="0"/>
                <a:t>Event Channel</a:t>
              </a:r>
            </a:p>
            <a:p>
              <a:pPr algn="ctr" eaLnBrk="1" hangingPunct="1">
                <a:defRPr/>
              </a:pPr>
              <a:r>
                <a:rPr lang="en-US" altLang="zh-TW" sz="2400" dirty="0"/>
                <a:t>(Agent)</a:t>
              </a:r>
              <a:endParaRPr lang="zh-TW" altLang="en-US" sz="2400" dirty="0"/>
            </a:p>
          </p:txBody>
        </p:sp>
        <p:grpSp>
          <p:nvGrpSpPr>
            <p:cNvPr id="6" name="群組 5"/>
            <p:cNvGrpSpPr/>
            <p:nvPr/>
          </p:nvGrpSpPr>
          <p:grpSpPr>
            <a:xfrm>
              <a:off x="899592" y="1700808"/>
              <a:ext cx="7386669" cy="4752528"/>
              <a:chOff x="1475656" y="1700808"/>
              <a:chExt cx="7386669" cy="4752528"/>
            </a:xfrm>
          </p:grpSpPr>
          <p:sp>
            <p:nvSpPr>
              <p:cNvPr id="8" name="手繪多邊形 7"/>
              <p:cNvSpPr/>
              <p:nvPr/>
            </p:nvSpPr>
            <p:spPr>
              <a:xfrm>
                <a:off x="6300192" y="5227510"/>
                <a:ext cx="1842053" cy="1225826"/>
              </a:xfrm>
              <a:custGeom>
                <a:avLst/>
                <a:gdLst>
                  <a:gd name="connsiteX0" fmla="*/ 172279 w 1842053"/>
                  <a:gd name="connsiteY0" fmla="*/ 569844 h 1225826"/>
                  <a:gd name="connsiteX1" fmla="*/ 172279 w 1842053"/>
                  <a:gd name="connsiteY1" fmla="*/ 569844 h 1225826"/>
                  <a:gd name="connsiteX2" fmla="*/ 212035 w 1842053"/>
                  <a:gd name="connsiteY2" fmla="*/ 490330 h 1225826"/>
                  <a:gd name="connsiteX3" fmla="*/ 231914 w 1842053"/>
                  <a:gd name="connsiteY3" fmla="*/ 450574 h 1225826"/>
                  <a:gd name="connsiteX4" fmla="*/ 245166 w 1842053"/>
                  <a:gd name="connsiteY4" fmla="*/ 404191 h 1225826"/>
                  <a:gd name="connsiteX5" fmla="*/ 258418 w 1842053"/>
                  <a:gd name="connsiteY5" fmla="*/ 377687 h 1225826"/>
                  <a:gd name="connsiteX6" fmla="*/ 271670 w 1842053"/>
                  <a:gd name="connsiteY6" fmla="*/ 331304 h 1225826"/>
                  <a:gd name="connsiteX7" fmla="*/ 331305 w 1842053"/>
                  <a:gd name="connsiteY7" fmla="*/ 258417 h 1225826"/>
                  <a:gd name="connsiteX8" fmla="*/ 357809 w 1842053"/>
                  <a:gd name="connsiteY8" fmla="*/ 238539 h 1225826"/>
                  <a:gd name="connsiteX9" fmla="*/ 377687 w 1842053"/>
                  <a:gd name="connsiteY9" fmla="*/ 231913 h 1225826"/>
                  <a:gd name="connsiteX10" fmla="*/ 404192 w 1842053"/>
                  <a:gd name="connsiteY10" fmla="*/ 218661 h 1225826"/>
                  <a:gd name="connsiteX11" fmla="*/ 457200 w 1842053"/>
                  <a:gd name="connsiteY11" fmla="*/ 178904 h 1225826"/>
                  <a:gd name="connsiteX12" fmla="*/ 490331 w 1842053"/>
                  <a:gd name="connsiteY12" fmla="*/ 172278 h 1225826"/>
                  <a:gd name="connsiteX13" fmla="*/ 543340 w 1842053"/>
                  <a:gd name="connsiteY13" fmla="*/ 159026 h 1225826"/>
                  <a:gd name="connsiteX14" fmla="*/ 563218 w 1842053"/>
                  <a:gd name="connsiteY14" fmla="*/ 152400 h 1225826"/>
                  <a:gd name="connsiteX15" fmla="*/ 602974 w 1842053"/>
                  <a:gd name="connsiteY15" fmla="*/ 125896 h 1225826"/>
                  <a:gd name="connsiteX16" fmla="*/ 669235 w 1842053"/>
                  <a:gd name="connsiteY16" fmla="*/ 112644 h 1225826"/>
                  <a:gd name="connsiteX17" fmla="*/ 795131 w 1842053"/>
                  <a:gd name="connsiteY17" fmla="*/ 99391 h 1225826"/>
                  <a:gd name="connsiteX18" fmla="*/ 834887 w 1842053"/>
                  <a:gd name="connsiteY18" fmla="*/ 86139 h 1225826"/>
                  <a:gd name="connsiteX19" fmla="*/ 881270 w 1842053"/>
                  <a:gd name="connsiteY19" fmla="*/ 72887 h 1225826"/>
                  <a:gd name="connsiteX20" fmla="*/ 934279 w 1842053"/>
                  <a:gd name="connsiteY20" fmla="*/ 39757 h 1225826"/>
                  <a:gd name="connsiteX21" fmla="*/ 980661 w 1842053"/>
                  <a:gd name="connsiteY21" fmla="*/ 26504 h 1225826"/>
                  <a:gd name="connsiteX22" fmla="*/ 1000540 w 1842053"/>
                  <a:gd name="connsiteY22" fmla="*/ 19878 h 1225826"/>
                  <a:gd name="connsiteX23" fmla="*/ 1040296 w 1842053"/>
                  <a:gd name="connsiteY23" fmla="*/ 13252 h 1225826"/>
                  <a:gd name="connsiteX24" fmla="*/ 1086679 w 1842053"/>
                  <a:gd name="connsiteY24" fmla="*/ 0 h 1225826"/>
                  <a:gd name="connsiteX25" fmla="*/ 1245705 w 1842053"/>
                  <a:gd name="connsiteY25" fmla="*/ 6626 h 1225826"/>
                  <a:gd name="connsiteX26" fmla="*/ 1298714 w 1842053"/>
                  <a:gd name="connsiteY26" fmla="*/ 19878 h 1225826"/>
                  <a:gd name="connsiteX27" fmla="*/ 1331844 w 1842053"/>
                  <a:gd name="connsiteY27" fmla="*/ 39757 h 1225826"/>
                  <a:gd name="connsiteX28" fmla="*/ 1358348 w 1842053"/>
                  <a:gd name="connsiteY28" fmla="*/ 46383 h 1225826"/>
                  <a:gd name="connsiteX29" fmla="*/ 1398105 w 1842053"/>
                  <a:gd name="connsiteY29" fmla="*/ 72887 h 1225826"/>
                  <a:gd name="connsiteX30" fmla="*/ 1417983 w 1842053"/>
                  <a:gd name="connsiteY30" fmla="*/ 79513 h 1225826"/>
                  <a:gd name="connsiteX31" fmla="*/ 1464366 w 1842053"/>
                  <a:gd name="connsiteY31" fmla="*/ 119270 h 1225826"/>
                  <a:gd name="connsiteX32" fmla="*/ 1484244 w 1842053"/>
                  <a:gd name="connsiteY32" fmla="*/ 145774 h 1225826"/>
                  <a:gd name="connsiteX33" fmla="*/ 1497496 w 1842053"/>
                  <a:gd name="connsiteY33" fmla="*/ 172278 h 1225826"/>
                  <a:gd name="connsiteX34" fmla="*/ 1537253 w 1842053"/>
                  <a:gd name="connsiteY34" fmla="*/ 265044 h 1225826"/>
                  <a:gd name="connsiteX35" fmla="*/ 1656522 w 1842053"/>
                  <a:gd name="connsiteY35" fmla="*/ 430696 h 1225826"/>
                  <a:gd name="connsiteX36" fmla="*/ 1696279 w 1842053"/>
                  <a:gd name="connsiteY36" fmla="*/ 483704 h 1225826"/>
                  <a:gd name="connsiteX37" fmla="*/ 1722783 w 1842053"/>
                  <a:gd name="connsiteY37" fmla="*/ 516835 h 1225826"/>
                  <a:gd name="connsiteX38" fmla="*/ 1749287 w 1842053"/>
                  <a:gd name="connsiteY38" fmla="*/ 549965 h 1225826"/>
                  <a:gd name="connsiteX39" fmla="*/ 1775792 w 1842053"/>
                  <a:gd name="connsiteY39" fmla="*/ 583096 h 1225826"/>
                  <a:gd name="connsiteX40" fmla="*/ 1815548 w 1842053"/>
                  <a:gd name="connsiteY40" fmla="*/ 649357 h 1225826"/>
                  <a:gd name="connsiteX41" fmla="*/ 1842053 w 1842053"/>
                  <a:gd name="connsiteY41" fmla="*/ 695739 h 1225826"/>
                  <a:gd name="connsiteX42" fmla="*/ 1835427 w 1842053"/>
                  <a:gd name="connsiteY42" fmla="*/ 795130 h 1225826"/>
                  <a:gd name="connsiteX43" fmla="*/ 1828800 w 1842053"/>
                  <a:gd name="connsiteY43" fmla="*/ 815009 h 1225826"/>
                  <a:gd name="connsiteX44" fmla="*/ 1822174 w 1842053"/>
                  <a:gd name="connsiteY44" fmla="*/ 881270 h 1225826"/>
                  <a:gd name="connsiteX45" fmla="*/ 1815548 w 1842053"/>
                  <a:gd name="connsiteY45" fmla="*/ 1093304 h 1225826"/>
                  <a:gd name="connsiteX46" fmla="*/ 1802296 w 1842053"/>
                  <a:gd name="connsiteY46" fmla="*/ 1106557 h 1225826"/>
                  <a:gd name="connsiteX47" fmla="*/ 1795670 w 1842053"/>
                  <a:gd name="connsiteY47" fmla="*/ 1126435 h 1225826"/>
                  <a:gd name="connsiteX48" fmla="*/ 1722783 w 1842053"/>
                  <a:gd name="connsiteY48" fmla="*/ 1172817 h 1225826"/>
                  <a:gd name="connsiteX49" fmla="*/ 1689653 w 1842053"/>
                  <a:gd name="connsiteY49" fmla="*/ 1192696 h 1225826"/>
                  <a:gd name="connsiteX50" fmla="*/ 1656522 w 1842053"/>
                  <a:gd name="connsiteY50" fmla="*/ 1199322 h 1225826"/>
                  <a:gd name="connsiteX51" fmla="*/ 1583635 w 1842053"/>
                  <a:gd name="connsiteY51" fmla="*/ 1212574 h 1225826"/>
                  <a:gd name="connsiteX52" fmla="*/ 1557131 w 1842053"/>
                  <a:gd name="connsiteY52" fmla="*/ 1219200 h 1225826"/>
                  <a:gd name="connsiteX53" fmla="*/ 1133061 w 1842053"/>
                  <a:gd name="connsiteY53" fmla="*/ 1225826 h 1225826"/>
                  <a:gd name="connsiteX54" fmla="*/ 927653 w 1842053"/>
                  <a:gd name="connsiteY54" fmla="*/ 1219200 h 1225826"/>
                  <a:gd name="connsiteX55" fmla="*/ 861392 w 1842053"/>
                  <a:gd name="connsiteY55" fmla="*/ 1212574 h 1225826"/>
                  <a:gd name="connsiteX56" fmla="*/ 642731 w 1842053"/>
                  <a:gd name="connsiteY56" fmla="*/ 1199322 h 1225826"/>
                  <a:gd name="connsiteX57" fmla="*/ 609600 w 1842053"/>
                  <a:gd name="connsiteY57" fmla="*/ 1192696 h 1225826"/>
                  <a:gd name="connsiteX58" fmla="*/ 589722 w 1842053"/>
                  <a:gd name="connsiteY58" fmla="*/ 1186070 h 1225826"/>
                  <a:gd name="connsiteX59" fmla="*/ 563218 w 1842053"/>
                  <a:gd name="connsiteY59" fmla="*/ 1179444 h 1225826"/>
                  <a:gd name="connsiteX60" fmla="*/ 543340 w 1842053"/>
                  <a:gd name="connsiteY60" fmla="*/ 1166191 h 1225826"/>
                  <a:gd name="connsiteX61" fmla="*/ 490331 w 1842053"/>
                  <a:gd name="connsiteY61" fmla="*/ 1152939 h 1225826"/>
                  <a:gd name="connsiteX62" fmla="*/ 404192 w 1842053"/>
                  <a:gd name="connsiteY62" fmla="*/ 1119809 h 1225826"/>
                  <a:gd name="connsiteX63" fmla="*/ 371061 w 1842053"/>
                  <a:gd name="connsiteY63" fmla="*/ 1099930 h 1225826"/>
                  <a:gd name="connsiteX64" fmla="*/ 344557 w 1842053"/>
                  <a:gd name="connsiteY64" fmla="*/ 1086678 h 1225826"/>
                  <a:gd name="connsiteX65" fmla="*/ 291548 w 1842053"/>
                  <a:gd name="connsiteY65" fmla="*/ 1073426 h 1225826"/>
                  <a:gd name="connsiteX66" fmla="*/ 165653 w 1842053"/>
                  <a:gd name="connsiteY66" fmla="*/ 1000539 h 1225826"/>
                  <a:gd name="connsiteX67" fmla="*/ 119270 w 1842053"/>
                  <a:gd name="connsiteY67" fmla="*/ 974035 h 1225826"/>
                  <a:gd name="connsiteX68" fmla="*/ 86140 w 1842053"/>
                  <a:gd name="connsiteY68" fmla="*/ 954157 h 1225826"/>
                  <a:gd name="connsiteX69" fmla="*/ 33131 w 1842053"/>
                  <a:gd name="connsiteY69" fmla="*/ 927652 h 1225826"/>
                  <a:gd name="connsiteX70" fmla="*/ 0 w 1842053"/>
                  <a:gd name="connsiteY70" fmla="*/ 868017 h 1225826"/>
                  <a:gd name="connsiteX71" fmla="*/ 13253 w 1842053"/>
                  <a:gd name="connsiteY71" fmla="*/ 801757 h 1225826"/>
                  <a:gd name="connsiteX72" fmla="*/ 26505 w 1842053"/>
                  <a:gd name="connsiteY72" fmla="*/ 788504 h 1225826"/>
                  <a:gd name="connsiteX73" fmla="*/ 46383 w 1842053"/>
                  <a:gd name="connsiteY73" fmla="*/ 762000 h 1225826"/>
                  <a:gd name="connsiteX74" fmla="*/ 59635 w 1842053"/>
                  <a:gd name="connsiteY74" fmla="*/ 742122 h 1225826"/>
                  <a:gd name="connsiteX75" fmla="*/ 92766 w 1842053"/>
                  <a:gd name="connsiteY75" fmla="*/ 708991 h 1225826"/>
                  <a:gd name="connsiteX76" fmla="*/ 112644 w 1842053"/>
                  <a:gd name="connsiteY76" fmla="*/ 689113 h 1225826"/>
                  <a:gd name="connsiteX77" fmla="*/ 125896 w 1842053"/>
                  <a:gd name="connsiteY77" fmla="*/ 669235 h 1225826"/>
                  <a:gd name="connsiteX78" fmla="*/ 145774 w 1842053"/>
                  <a:gd name="connsiteY78" fmla="*/ 642730 h 1225826"/>
                  <a:gd name="connsiteX79" fmla="*/ 185531 w 1842053"/>
                  <a:gd name="connsiteY79" fmla="*/ 589722 h 1225826"/>
                  <a:gd name="connsiteX80" fmla="*/ 172279 w 1842053"/>
                  <a:gd name="connsiteY80" fmla="*/ 569844 h 1225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42053" h="1225826">
                    <a:moveTo>
                      <a:pt x="172279" y="569844"/>
                    </a:moveTo>
                    <a:lnTo>
                      <a:pt x="172279" y="569844"/>
                    </a:lnTo>
                    <a:cubicBezTo>
                      <a:pt x="185531" y="543339"/>
                      <a:pt x="202664" y="518442"/>
                      <a:pt x="212035" y="490330"/>
                    </a:cubicBezTo>
                    <a:cubicBezTo>
                      <a:pt x="221179" y="462897"/>
                      <a:pt x="214787" y="476263"/>
                      <a:pt x="231914" y="450574"/>
                    </a:cubicBezTo>
                    <a:cubicBezTo>
                      <a:pt x="235276" y="437127"/>
                      <a:pt x="239463" y="417498"/>
                      <a:pt x="245166" y="404191"/>
                    </a:cubicBezTo>
                    <a:cubicBezTo>
                      <a:pt x="249057" y="395112"/>
                      <a:pt x="254950" y="386936"/>
                      <a:pt x="258418" y="377687"/>
                    </a:cubicBezTo>
                    <a:cubicBezTo>
                      <a:pt x="262376" y="367131"/>
                      <a:pt x="265510" y="342393"/>
                      <a:pt x="271670" y="331304"/>
                    </a:cubicBezTo>
                    <a:cubicBezTo>
                      <a:pt x="286010" y="305491"/>
                      <a:pt x="307335" y="276394"/>
                      <a:pt x="331305" y="258417"/>
                    </a:cubicBezTo>
                    <a:cubicBezTo>
                      <a:pt x="340140" y="251791"/>
                      <a:pt x="348221" y="244018"/>
                      <a:pt x="357809" y="238539"/>
                    </a:cubicBezTo>
                    <a:cubicBezTo>
                      <a:pt x="363873" y="235074"/>
                      <a:pt x="371267" y="234664"/>
                      <a:pt x="377687" y="231913"/>
                    </a:cubicBezTo>
                    <a:cubicBezTo>
                      <a:pt x="386766" y="228022"/>
                      <a:pt x="395357" y="223078"/>
                      <a:pt x="404192" y="218661"/>
                    </a:cubicBezTo>
                    <a:cubicBezTo>
                      <a:pt x="423192" y="199661"/>
                      <a:pt x="429758" y="189881"/>
                      <a:pt x="457200" y="178904"/>
                    </a:cubicBezTo>
                    <a:cubicBezTo>
                      <a:pt x="467657" y="174721"/>
                      <a:pt x="479357" y="174810"/>
                      <a:pt x="490331" y="172278"/>
                    </a:cubicBezTo>
                    <a:cubicBezTo>
                      <a:pt x="508078" y="168183"/>
                      <a:pt x="526061" y="164786"/>
                      <a:pt x="543340" y="159026"/>
                    </a:cubicBezTo>
                    <a:cubicBezTo>
                      <a:pt x="549966" y="156817"/>
                      <a:pt x="557113" y="155792"/>
                      <a:pt x="563218" y="152400"/>
                    </a:cubicBezTo>
                    <a:cubicBezTo>
                      <a:pt x="577141" y="144665"/>
                      <a:pt x="587356" y="129019"/>
                      <a:pt x="602974" y="125896"/>
                    </a:cubicBezTo>
                    <a:cubicBezTo>
                      <a:pt x="625061" y="121479"/>
                      <a:pt x="646803" y="114684"/>
                      <a:pt x="669235" y="112644"/>
                    </a:cubicBezTo>
                    <a:cubicBezTo>
                      <a:pt x="759856" y="104405"/>
                      <a:pt x="717914" y="109043"/>
                      <a:pt x="795131" y="99391"/>
                    </a:cubicBezTo>
                    <a:cubicBezTo>
                      <a:pt x="808383" y="94974"/>
                      <a:pt x="821456" y="89976"/>
                      <a:pt x="834887" y="86139"/>
                    </a:cubicBezTo>
                    <a:cubicBezTo>
                      <a:pt x="850348" y="81722"/>
                      <a:pt x="866158" y="78382"/>
                      <a:pt x="881270" y="72887"/>
                    </a:cubicBezTo>
                    <a:cubicBezTo>
                      <a:pt x="920216" y="58725"/>
                      <a:pt x="897005" y="61057"/>
                      <a:pt x="934279" y="39757"/>
                    </a:cubicBezTo>
                    <a:cubicBezTo>
                      <a:pt x="942227" y="35215"/>
                      <a:pt x="974199" y="28350"/>
                      <a:pt x="980661" y="26504"/>
                    </a:cubicBezTo>
                    <a:cubicBezTo>
                      <a:pt x="987377" y="24585"/>
                      <a:pt x="993722" y="21393"/>
                      <a:pt x="1000540" y="19878"/>
                    </a:cubicBezTo>
                    <a:cubicBezTo>
                      <a:pt x="1013655" y="16964"/>
                      <a:pt x="1027122" y="15887"/>
                      <a:pt x="1040296" y="13252"/>
                    </a:cubicBezTo>
                    <a:cubicBezTo>
                      <a:pt x="1061095" y="9092"/>
                      <a:pt x="1067734" y="6315"/>
                      <a:pt x="1086679" y="0"/>
                    </a:cubicBezTo>
                    <a:cubicBezTo>
                      <a:pt x="1139688" y="2209"/>
                      <a:pt x="1192776" y="2976"/>
                      <a:pt x="1245705" y="6626"/>
                    </a:cubicBezTo>
                    <a:cubicBezTo>
                      <a:pt x="1254473" y="7231"/>
                      <a:pt x="1287508" y="14275"/>
                      <a:pt x="1298714" y="19878"/>
                    </a:cubicBezTo>
                    <a:cubicBezTo>
                      <a:pt x="1310233" y="25638"/>
                      <a:pt x="1320075" y="34526"/>
                      <a:pt x="1331844" y="39757"/>
                    </a:cubicBezTo>
                    <a:cubicBezTo>
                      <a:pt x="1340166" y="43456"/>
                      <a:pt x="1349513" y="44174"/>
                      <a:pt x="1358348" y="46383"/>
                    </a:cubicBezTo>
                    <a:cubicBezTo>
                      <a:pt x="1371600" y="55218"/>
                      <a:pt x="1384182" y="65152"/>
                      <a:pt x="1398105" y="72887"/>
                    </a:cubicBezTo>
                    <a:cubicBezTo>
                      <a:pt x="1404211" y="76279"/>
                      <a:pt x="1411736" y="76389"/>
                      <a:pt x="1417983" y="79513"/>
                    </a:cubicBezTo>
                    <a:cubicBezTo>
                      <a:pt x="1434009" y="87526"/>
                      <a:pt x="1454584" y="106228"/>
                      <a:pt x="1464366" y="119270"/>
                    </a:cubicBezTo>
                    <a:cubicBezTo>
                      <a:pt x="1470992" y="128105"/>
                      <a:pt x="1478391" y="136409"/>
                      <a:pt x="1484244" y="145774"/>
                    </a:cubicBezTo>
                    <a:cubicBezTo>
                      <a:pt x="1489479" y="154150"/>
                      <a:pt x="1493605" y="163199"/>
                      <a:pt x="1497496" y="172278"/>
                    </a:cubicBezTo>
                    <a:cubicBezTo>
                      <a:pt x="1511638" y="205277"/>
                      <a:pt x="1520018" y="234882"/>
                      <a:pt x="1537253" y="265044"/>
                    </a:cubicBezTo>
                    <a:cubicBezTo>
                      <a:pt x="1591384" y="359773"/>
                      <a:pt x="1573197" y="324225"/>
                      <a:pt x="1656522" y="430696"/>
                    </a:cubicBezTo>
                    <a:cubicBezTo>
                      <a:pt x="1670134" y="448089"/>
                      <a:pt x="1682812" y="466197"/>
                      <a:pt x="1696279" y="483704"/>
                    </a:cubicBezTo>
                    <a:cubicBezTo>
                      <a:pt x="1704902" y="494914"/>
                      <a:pt x="1713948" y="505791"/>
                      <a:pt x="1722783" y="516835"/>
                    </a:cubicBezTo>
                    <a:lnTo>
                      <a:pt x="1749287" y="549965"/>
                    </a:lnTo>
                    <a:lnTo>
                      <a:pt x="1775792" y="583096"/>
                    </a:lnTo>
                    <a:cubicBezTo>
                      <a:pt x="1808566" y="665030"/>
                      <a:pt x="1764647" y="564521"/>
                      <a:pt x="1815548" y="649357"/>
                    </a:cubicBezTo>
                    <a:cubicBezTo>
                      <a:pt x="1850582" y="707748"/>
                      <a:pt x="1810167" y="663856"/>
                      <a:pt x="1842053" y="695739"/>
                    </a:cubicBezTo>
                    <a:cubicBezTo>
                      <a:pt x="1839844" y="728869"/>
                      <a:pt x="1839094" y="762129"/>
                      <a:pt x="1835427" y="795130"/>
                    </a:cubicBezTo>
                    <a:cubicBezTo>
                      <a:pt x="1834656" y="802072"/>
                      <a:pt x="1829862" y="808105"/>
                      <a:pt x="1828800" y="815009"/>
                    </a:cubicBezTo>
                    <a:cubicBezTo>
                      <a:pt x="1825425" y="836948"/>
                      <a:pt x="1824383" y="859183"/>
                      <a:pt x="1822174" y="881270"/>
                    </a:cubicBezTo>
                    <a:cubicBezTo>
                      <a:pt x="1819965" y="951948"/>
                      <a:pt x="1821763" y="1022865"/>
                      <a:pt x="1815548" y="1093304"/>
                    </a:cubicBezTo>
                    <a:cubicBezTo>
                      <a:pt x="1814999" y="1099527"/>
                      <a:pt x="1805510" y="1101200"/>
                      <a:pt x="1802296" y="1106557"/>
                    </a:cubicBezTo>
                    <a:cubicBezTo>
                      <a:pt x="1798703" y="1112546"/>
                      <a:pt x="1800609" y="1121496"/>
                      <a:pt x="1795670" y="1126435"/>
                    </a:cubicBezTo>
                    <a:cubicBezTo>
                      <a:pt x="1723325" y="1198779"/>
                      <a:pt x="1767962" y="1150227"/>
                      <a:pt x="1722783" y="1172817"/>
                    </a:cubicBezTo>
                    <a:cubicBezTo>
                      <a:pt x="1711264" y="1178577"/>
                      <a:pt x="1701611" y="1187913"/>
                      <a:pt x="1689653" y="1192696"/>
                    </a:cubicBezTo>
                    <a:cubicBezTo>
                      <a:pt x="1679196" y="1196879"/>
                      <a:pt x="1667603" y="1197307"/>
                      <a:pt x="1656522" y="1199322"/>
                    </a:cubicBezTo>
                    <a:cubicBezTo>
                      <a:pt x="1616969" y="1206513"/>
                      <a:pt x="1620457" y="1204392"/>
                      <a:pt x="1583635" y="1212574"/>
                    </a:cubicBezTo>
                    <a:cubicBezTo>
                      <a:pt x="1574745" y="1214549"/>
                      <a:pt x="1566234" y="1218932"/>
                      <a:pt x="1557131" y="1219200"/>
                    </a:cubicBezTo>
                    <a:cubicBezTo>
                      <a:pt x="1415818" y="1223356"/>
                      <a:pt x="1274418" y="1223617"/>
                      <a:pt x="1133061" y="1225826"/>
                    </a:cubicBezTo>
                    <a:lnTo>
                      <a:pt x="927653" y="1219200"/>
                    </a:lnTo>
                    <a:cubicBezTo>
                      <a:pt x="905482" y="1218119"/>
                      <a:pt x="883512" y="1214417"/>
                      <a:pt x="861392" y="1212574"/>
                    </a:cubicBezTo>
                    <a:cubicBezTo>
                      <a:pt x="778933" y="1205703"/>
                      <a:pt x="728793" y="1203852"/>
                      <a:pt x="642731" y="1199322"/>
                    </a:cubicBezTo>
                    <a:cubicBezTo>
                      <a:pt x="631687" y="1197113"/>
                      <a:pt x="620526" y="1195427"/>
                      <a:pt x="609600" y="1192696"/>
                    </a:cubicBezTo>
                    <a:cubicBezTo>
                      <a:pt x="602824" y="1191002"/>
                      <a:pt x="596438" y="1187989"/>
                      <a:pt x="589722" y="1186070"/>
                    </a:cubicBezTo>
                    <a:cubicBezTo>
                      <a:pt x="580966" y="1183568"/>
                      <a:pt x="572053" y="1181653"/>
                      <a:pt x="563218" y="1179444"/>
                    </a:cubicBezTo>
                    <a:cubicBezTo>
                      <a:pt x="556592" y="1175026"/>
                      <a:pt x="550463" y="1169753"/>
                      <a:pt x="543340" y="1166191"/>
                    </a:cubicBezTo>
                    <a:cubicBezTo>
                      <a:pt x="526634" y="1157838"/>
                      <a:pt x="507968" y="1157978"/>
                      <a:pt x="490331" y="1152939"/>
                    </a:cubicBezTo>
                    <a:cubicBezTo>
                      <a:pt x="453265" y="1142349"/>
                      <a:pt x="434381" y="1136581"/>
                      <a:pt x="404192" y="1119809"/>
                    </a:cubicBezTo>
                    <a:cubicBezTo>
                      <a:pt x="392934" y="1113554"/>
                      <a:pt x="382319" y="1106185"/>
                      <a:pt x="371061" y="1099930"/>
                    </a:cubicBezTo>
                    <a:cubicBezTo>
                      <a:pt x="362427" y="1095133"/>
                      <a:pt x="353928" y="1089801"/>
                      <a:pt x="344557" y="1086678"/>
                    </a:cubicBezTo>
                    <a:cubicBezTo>
                      <a:pt x="327278" y="1080918"/>
                      <a:pt x="291548" y="1073426"/>
                      <a:pt x="291548" y="1073426"/>
                    </a:cubicBezTo>
                    <a:cubicBezTo>
                      <a:pt x="196833" y="1018176"/>
                      <a:pt x="238572" y="1042207"/>
                      <a:pt x="165653" y="1000539"/>
                    </a:cubicBezTo>
                    <a:lnTo>
                      <a:pt x="119270" y="974035"/>
                    </a:lnTo>
                    <a:cubicBezTo>
                      <a:pt x="108146" y="967546"/>
                      <a:pt x="98097" y="958940"/>
                      <a:pt x="86140" y="954157"/>
                    </a:cubicBezTo>
                    <a:cubicBezTo>
                      <a:pt x="45615" y="937946"/>
                      <a:pt x="62906" y="947502"/>
                      <a:pt x="33131" y="927652"/>
                    </a:cubicBezTo>
                    <a:cubicBezTo>
                      <a:pt x="2753" y="882084"/>
                      <a:pt x="11664" y="903005"/>
                      <a:pt x="0" y="868017"/>
                    </a:cubicBezTo>
                    <a:cubicBezTo>
                      <a:pt x="1149" y="859976"/>
                      <a:pt x="4580" y="816213"/>
                      <a:pt x="13253" y="801757"/>
                    </a:cubicBezTo>
                    <a:cubicBezTo>
                      <a:pt x="16467" y="796400"/>
                      <a:pt x="22506" y="793303"/>
                      <a:pt x="26505" y="788504"/>
                    </a:cubicBezTo>
                    <a:cubicBezTo>
                      <a:pt x="33575" y="780020"/>
                      <a:pt x="39964" y="770986"/>
                      <a:pt x="46383" y="762000"/>
                    </a:cubicBezTo>
                    <a:cubicBezTo>
                      <a:pt x="51012" y="755520"/>
                      <a:pt x="54391" y="748115"/>
                      <a:pt x="59635" y="742122"/>
                    </a:cubicBezTo>
                    <a:cubicBezTo>
                      <a:pt x="69920" y="730368"/>
                      <a:pt x="81722" y="720035"/>
                      <a:pt x="92766" y="708991"/>
                    </a:cubicBezTo>
                    <a:cubicBezTo>
                      <a:pt x="99392" y="702365"/>
                      <a:pt x="107446" y="696910"/>
                      <a:pt x="112644" y="689113"/>
                    </a:cubicBezTo>
                    <a:cubicBezTo>
                      <a:pt x="117061" y="682487"/>
                      <a:pt x="121267" y="675715"/>
                      <a:pt x="125896" y="669235"/>
                    </a:cubicBezTo>
                    <a:cubicBezTo>
                      <a:pt x="132315" y="660248"/>
                      <a:pt x="138704" y="651214"/>
                      <a:pt x="145774" y="642730"/>
                    </a:cubicBezTo>
                    <a:cubicBezTo>
                      <a:pt x="158534" y="627418"/>
                      <a:pt x="185531" y="611217"/>
                      <a:pt x="185531" y="589722"/>
                    </a:cubicBezTo>
                    <a:lnTo>
                      <a:pt x="172279" y="569844"/>
                    </a:ln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 smtClean="0">
                    <a:solidFill>
                      <a:schemeClr val="tx1"/>
                    </a:solidFill>
                  </a:rPr>
                  <a:t>Consumer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手繪多邊形 8"/>
              <p:cNvSpPr/>
              <p:nvPr/>
            </p:nvSpPr>
            <p:spPr>
              <a:xfrm>
                <a:off x="6444208" y="1700808"/>
                <a:ext cx="1842053" cy="1225826"/>
              </a:xfrm>
              <a:custGeom>
                <a:avLst/>
                <a:gdLst>
                  <a:gd name="connsiteX0" fmla="*/ 172279 w 1842053"/>
                  <a:gd name="connsiteY0" fmla="*/ 569844 h 1225826"/>
                  <a:gd name="connsiteX1" fmla="*/ 172279 w 1842053"/>
                  <a:gd name="connsiteY1" fmla="*/ 569844 h 1225826"/>
                  <a:gd name="connsiteX2" fmla="*/ 212035 w 1842053"/>
                  <a:gd name="connsiteY2" fmla="*/ 490330 h 1225826"/>
                  <a:gd name="connsiteX3" fmla="*/ 231914 w 1842053"/>
                  <a:gd name="connsiteY3" fmla="*/ 450574 h 1225826"/>
                  <a:gd name="connsiteX4" fmla="*/ 245166 w 1842053"/>
                  <a:gd name="connsiteY4" fmla="*/ 404191 h 1225826"/>
                  <a:gd name="connsiteX5" fmla="*/ 258418 w 1842053"/>
                  <a:gd name="connsiteY5" fmla="*/ 377687 h 1225826"/>
                  <a:gd name="connsiteX6" fmla="*/ 271670 w 1842053"/>
                  <a:gd name="connsiteY6" fmla="*/ 331304 h 1225826"/>
                  <a:gd name="connsiteX7" fmla="*/ 331305 w 1842053"/>
                  <a:gd name="connsiteY7" fmla="*/ 258417 h 1225826"/>
                  <a:gd name="connsiteX8" fmla="*/ 357809 w 1842053"/>
                  <a:gd name="connsiteY8" fmla="*/ 238539 h 1225826"/>
                  <a:gd name="connsiteX9" fmla="*/ 377687 w 1842053"/>
                  <a:gd name="connsiteY9" fmla="*/ 231913 h 1225826"/>
                  <a:gd name="connsiteX10" fmla="*/ 404192 w 1842053"/>
                  <a:gd name="connsiteY10" fmla="*/ 218661 h 1225826"/>
                  <a:gd name="connsiteX11" fmla="*/ 457200 w 1842053"/>
                  <a:gd name="connsiteY11" fmla="*/ 178904 h 1225826"/>
                  <a:gd name="connsiteX12" fmla="*/ 490331 w 1842053"/>
                  <a:gd name="connsiteY12" fmla="*/ 172278 h 1225826"/>
                  <a:gd name="connsiteX13" fmla="*/ 543340 w 1842053"/>
                  <a:gd name="connsiteY13" fmla="*/ 159026 h 1225826"/>
                  <a:gd name="connsiteX14" fmla="*/ 563218 w 1842053"/>
                  <a:gd name="connsiteY14" fmla="*/ 152400 h 1225826"/>
                  <a:gd name="connsiteX15" fmla="*/ 602974 w 1842053"/>
                  <a:gd name="connsiteY15" fmla="*/ 125896 h 1225826"/>
                  <a:gd name="connsiteX16" fmla="*/ 669235 w 1842053"/>
                  <a:gd name="connsiteY16" fmla="*/ 112644 h 1225826"/>
                  <a:gd name="connsiteX17" fmla="*/ 795131 w 1842053"/>
                  <a:gd name="connsiteY17" fmla="*/ 99391 h 1225826"/>
                  <a:gd name="connsiteX18" fmla="*/ 834887 w 1842053"/>
                  <a:gd name="connsiteY18" fmla="*/ 86139 h 1225826"/>
                  <a:gd name="connsiteX19" fmla="*/ 881270 w 1842053"/>
                  <a:gd name="connsiteY19" fmla="*/ 72887 h 1225826"/>
                  <a:gd name="connsiteX20" fmla="*/ 934279 w 1842053"/>
                  <a:gd name="connsiteY20" fmla="*/ 39757 h 1225826"/>
                  <a:gd name="connsiteX21" fmla="*/ 980661 w 1842053"/>
                  <a:gd name="connsiteY21" fmla="*/ 26504 h 1225826"/>
                  <a:gd name="connsiteX22" fmla="*/ 1000540 w 1842053"/>
                  <a:gd name="connsiteY22" fmla="*/ 19878 h 1225826"/>
                  <a:gd name="connsiteX23" fmla="*/ 1040296 w 1842053"/>
                  <a:gd name="connsiteY23" fmla="*/ 13252 h 1225826"/>
                  <a:gd name="connsiteX24" fmla="*/ 1086679 w 1842053"/>
                  <a:gd name="connsiteY24" fmla="*/ 0 h 1225826"/>
                  <a:gd name="connsiteX25" fmla="*/ 1245705 w 1842053"/>
                  <a:gd name="connsiteY25" fmla="*/ 6626 h 1225826"/>
                  <a:gd name="connsiteX26" fmla="*/ 1298714 w 1842053"/>
                  <a:gd name="connsiteY26" fmla="*/ 19878 h 1225826"/>
                  <a:gd name="connsiteX27" fmla="*/ 1331844 w 1842053"/>
                  <a:gd name="connsiteY27" fmla="*/ 39757 h 1225826"/>
                  <a:gd name="connsiteX28" fmla="*/ 1358348 w 1842053"/>
                  <a:gd name="connsiteY28" fmla="*/ 46383 h 1225826"/>
                  <a:gd name="connsiteX29" fmla="*/ 1398105 w 1842053"/>
                  <a:gd name="connsiteY29" fmla="*/ 72887 h 1225826"/>
                  <a:gd name="connsiteX30" fmla="*/ 1417983 w 1842053"/>
                  <a:gd name="connsiteY30" fmla="*/ 79513 h 1225826"/>
                  <a:gd name="connsiteX31" fmla="*/ 1464366 w 1842053"/>
                  <a:gd name="connsiteY31" fmla="*/ 119270 h 1225826"/>
                  <a:gd name="connsiteX32" fmla="*/ 1484244 w 1842053"/>
                  <a:gd name="connsiteY32" fmla="*/ 145774 h 1225826"/>
                  <a:gd name="connsiteX33" fmla="*/ 1497496 w 1842053"/>
                  <a:gd name="connsiteY33" fmla="*/ 172278 h 1225826"/>
                  <a:gd name="connsiteX34" fmla="*/ 1537253 w 1842053"/>
                  <a:gd name="connsiteY34" fmla="*/ 265044 h 1225826"/>
                  <a:gd name="connsiteX35" fmla="*/ 1656522 w 1842053"/>
                  <a:gd name="connsiteY35" fmla="*/ 430696 h 1225826"/>
                  <a:gd name="connsiteX36" fmla="*/ 1696279 w 1842053"/>
                  <a:gd name="connsiteY36" fmla="*/ 483704 h 1225826"/>
                  <a:gd name="connsiteX37" fmla="*/ 1722783 w 1842053"/>
                  <a:gd name="connsiteY37" fmla="*/ 516835 h 1225826"/>
                  <a:gd name="connsiteX38" fmla="*/ 1749287 w 1842053"/>
                  <a:gd name="connsiteY38" fmla="*/ 549965 h 1225826"/>
                  <a:gd name="connsiteX39" fmla="*/ 1775792 w 1842053"/>
                  <a:gd name="connsiteY39" fmla="*/ 583096 h 1225826"/>
                  <a:gd name="connsiteX40" fmla="*/ 1815548 w 1842053"/>
                  <a:gd name="connsiteY40" fmla="*/ 649357 h 1225826"/>
                  <a:gd name="connsiteX41" fmla="*/ 1842053 w 1842053"/>
                  <a:gd name="connsiteY41" fmla="*/ 695739 h 1225826"/>
                  <a:gd name="connsiteX42" fmla="*/ 1835427 w 1842053"/>
                  <a:gd name="connsiteY42" fmla="*/ 795130 h 1225826"/>
                  <a:gd name="connsiteX43" fmla="*/ 1828800 w 1842053"/>
                  <a:gd name="connsiteY43" fmla="*/ 815009 h 1225826"/>
                  <a:gd name="connsiteX44" fmla="*/ 1822174 w 1842053"/>
                  <a:gd name="connsiteY44" fmla="*/ 881270 h 1225826"/>
                  <a:gd name="connsiteX45" fmla="*/ 1815548 w 1842053"/>
                  <a:gd name="connsiteY45" fmla="*/ 1093304 h 1225826"/>
                  <a:gd name="connsiteX46" fmla="*/ 1802296 w 1842053"/>
                  <a:gd name="connsiteY46" fmla="*/ 1106557 h 1225826"/>
                  <a:gd name="connsiteX47" fmla="*/ 1795670 w 1842053"/>
                  <a:gd name="connsiteY47" fmla="*/ 1126435 h 1225826"/>
                  <a:gd name="connsiteX48" fmla="*/ 1722783 w 1842053"/>
                  <a:gd name="connsiteY48" fmla="*/ 1172817 h 1225826"/>
                  <a:gd name="connsiteX49" fmla="*/ 1689653 w 1842053"/>
                  <a:gd name="connsiteY49" fmla="*/ 1192696 h 1225826"/>
                  <a:gd name="connsiteX50" fmla="*/ 1656522 w 1842053"/>
                  <a:gd name="connsiteY50" fmla="*/ 1199322 h 1225826"/>
                  <a:gd name="connsiteX51" fmla="*/ 1583635 w 1842053"/>
                  <a:gd name="connsiteY51" fmla="*/ 1212574 h 1225826"/>
                  <a:gd name="connsiteX52" fmla="*/ 1557131 w 1842053"/>
                  <a:gd name="connsiteY52" fmla="*/ 1219200 h 1225826"/>
                  <a:gd name="connsiteX53" fmla="*/ 1133061 w 1842053"/>
                  <a:gd name="connsiteY53" fmla="*/ 1225826 h 1225826"/>
                  <a:gd name="connsiteX54" fmla="*/ 927653 w 1842053"/>
                  <a:gd name="connsiteY54" fmla="*/ 1219200 h 1225826"/>
                  <a:gd name="connsiteX55" fmla="*/ 861392 w 1842053"/>
                  <a:gd name="connsiteY55" fmla="*/ 1212574 h 1225826"/>
                  <a:gd name="connsiteX56" fmla="*/ 642731 w 1842053"/>
                  <a:gd name="connsiteY56" fmla="*/ 1199322 h 1225826"/>
                  <a:gd name="connsiteX57" fmla="*/ 609600 w 1842053"/>
                  <a:gd name="connsiteY57" fmla="*/ 1192696 h 1225826"/>
                  <a:gd name="connsiteX58" fmla="*/ 589722 w 1842053"/>
                  <a:gd name="connsiteY58" fmla="*/ 1186070 h 1225826"/>
                  <a:gd name="connsiteX59" fmla="*/ 563218 w 1842053"/>
                  <a:gd name="connsiteY59" fmla="*/ 1179444 h 1225826"/>
                  <a:gd name="connsiteX60" fmla="*/ 543340 w 1842053"/>
                  <a:gd name="connsiteY60" fmla="*/ 1166191 h 1225826"/>
                  <a:gd name="connsiteX61" fmla="*/ 490331 w 1842053"/>
                  <a:gd name="connsiteY61" fmla="*/ 1152939 h 1225826"/>
                  <a:gd name="connsiteX62" fmla="*/ 404192 w 1842053"/>
                  <a:gd name="connsiteY62" fmla="*/ 1119809 h 1225826"/>
                  <a:gd name="connsiteX63" fmla="*/ 371061 w 1842053"/>
                  <a:gd name="connsiteY63" fmla="*/ 1099930 h 1225826"/>
                  <a:gd name="connsiteX64" fmla="*/ 344557 w 1842053"/>
                  <a:gd name="connsiteY64" fmla="*/ 1086678 h 1225826"/>
                  <a:gd name="connsiteX65" fmla="*/ 291548 w 1842053"/>
                  <a:gd name="connsiteY65" fmla="*/ 1073426 h 1225826"/>
                  <a:gd name="connsiteX66" fmla="*/ 165653 w 1842053"/>
                  <a:gd name="connsiteY66" fmla="*/ 1000539 h 1225826"/>
                  <a:gd name="connsiteX67" fmla="*/ 119270 w 1842053"/>
                  <a:gd name="connsiteY67" fmla="*/ 974035 h 1225826"/>
                  <a:gd name="connsiteX68" fmla="*/ 86140 w 1842053"/>
                  <a:gd name="connsiteY68" fmla="*/ 954157 h 1225826"/>
                  <a:gd name="connsiteX69" fmla="*/ 33131 w 1842053"/>
                  <a:gd name="connsiteY69" fmla="*/ 927652 h 1225826"/>
                  <a:gd name="connsiteX70" fmla="*/ 0 w 1842053"/>
                  <a:gd name="connsiteY70" fmla="*/ 868017 h 1225826"/>
                  <a:gd name="connsiteX71" fmla="*/ 13253 w 1842053"/>
                  <a:gd name="connsiteY71" fmla="*/ 801757 h 1225826"/>
                  <a:gd name="connsiteX72" fmla="*/ 26505 w 1842053"/>
                  <a:gd name="connsiteY72" fmla="*/ 788504 h 1225826"/>
                  <a:gd name="connsiteX73" fmla="*/ 46383 w 1842053"/>
                  <a:gd name="connsiteY73" fmla="*/ 762000 h 1225826"/>
                  <a:gd name="connsiteX74" fmla="*/ 59635 w 1842053"/>
                  <a:gd name="connsiteY74" fmla="*/ 742122 h 1225826"/>
                  <a:gd name="connsiteX75" fmla="*/ 92766 w 1842053"/>
                  <a:gd name="connsiteY75" fmla="*/ 708991 h 1225826"/>
                  <a:gd name="connsiteX76" fmla="*/ 112644 w 1842053"/>
                  <a:gd name="connsiteY76" fmla="*/ 689113 h 1225826"/>
                  <a:gd name="connsiteX77" fmla="*/ 125896 w 1842053"/>
                  <a:gd name="connsiteY77" fmla="*/ 669235 h 1225826"/>
                  <a:gd name="connsiteX78" fmla="*/ 145774 w 1842053"/>
                  <a:gd name="connsiteY78" fmla="*/ 642730 h 1225826"/>
                  <a:gd name="connsiteX79" fmla="*/ 185531 w 1842053"/>
                  <a:gd name="connsiteY79" fmla="*/ 589722 h 1225826"/>
                  <a:gd name="connsiteX80" fmla="*/ 172279 w 1842053"/>
                  <a:gd name="connsiteY80" fmla="*/ 569844 h 1225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42053" h="1225826">
                    <a:moveTo>
                      <a:pt x="172279" y="569844"/>
                    </a:moveTo>
                    <a:lnTo>
                      <a:pt x="172279" y="569844"/>
                    </a:lnTo>
                    <a:cubicBezTo>
                      <a:pt x="185531" y="543339"/>
                      <a:pt x="202664" y="518442"/>
                      <a:pt x="212035" y="490330"/>
                    </a:cubicBezTo>
                    <a:cubicBezTo>
                      <a:pt x="221179" y="462897"/>
                      <a:pt x="214787" y="476263"/>
                      <a:pt x="231914" y="450574"/>
                    </a:cubicBezTo>
                    <a:cubicBezTo>
                      <a:pt x="235276" y="437127"/>
                      <a:pt x="239463" y="417498"/>
                      <a:pt x="245166" y="404191"/>
                    </a:cubicBezTo>
                    <a:cubicBezTo>
                      <a:pt x="249057" y="395112"/>
                      <a:pt x="254950" y="386936"/>
                      <a:pt x="258418" y="377687"/>
                    </a:cubicBezTo>
                    <a:cubicBezTo>
                      <a:pt x="262376" y="367131"/>
                      <a:pt x="265510" y="342393"/>
                      <a:pt x="271670" y="331304"/>
                    </a:cubicBezTo>
                    <a:cubicBezTo>
                      <a:pt x="286010" y="305491"/>
                      <a:pt x="307335" y="276394"/>
                      <a:pt x="331305" y="258417"/>
                    </a:cubicBezTo>
                    <a:cubicBezTo>
                      <a:pt x="340140" y="251791"/>
                      <a:pt x="348221" y="244018"/>
                      <a:pt x="357809" y="238539"/>
                    </a:cubicBezTo>
                    <a:cubicBezTo>
                      <a:pt x="363873" y="235074"/>
                      <a:pt x="371267" y="234664"/>
                      <a:pt x="377687" y="231913"/>
                    </a:cubicBezTo>
                    <a:cubicBezTo>
                      <a:pt x="386766" y="228022"/>
                      <a:pt x="395357" y="223078"/>
                      <a:pt x="404192" y="218661"/>
                    </a:cubicBezTo>
                    <a:cubicBezTo>
                      <a:pt x="423192" y="199661"/>
                      <a:pt x="429758" y="189881"/>
                      <a:pt x="457200" y="178904"/>
                    </a:cubicBezTo>
                    <a:cubicBezTo>
                      <a:pt x="467657" y="174721"/>
                      <a:pt x="479357" y="174810"/>
                      <a:pt x="490331" y="172278"/>
                    </a:cubicBezTo>
                    <a:cubicBezTo>
                      <a:pt x="508078" y="168183"/>
                      <a:pt x="526061" y="164786"/>
                      <a:pt x="543340" y="159026"/>
                    </a:cubicBezTo>
                    <a:cubicBezTo>
                      <a:pt x="549966" y="156817"/>
                      <a:pt x="557113" y="155792"/>
                      <a:pt x="563218" y="152400"/>
                    </a:cubicBezTo>
                    <a:cubicBezTo>
                      <a:pt x="577141" y="144665"/>
                      <a:pt x="587356" y="129019"/>
                      <a:pt x="602974" y="125896"/>
                    </a:cubicBezTo>
                    <a:cubicBezTo>
                      <a:pt x="625061" y="121479"/>
                      <a:pt x="646803" y="114684"/>
                      <a:pt x="669235" y="112644"/>
                    </a:cubicBezTo>
                    <a:cubicBezTo>
                      <a:pt x="759856" y="104405"/>
                      <a:pt x="717914" y="109043"/>
                      <a:pt x="795131" y="99391"/>
                    </a:cubicBezTo>
                    <a:cubicBezTo>
                      <a:pt x="808383" y="94974"/>
                      <a:pt x="821456" y="89976"/>
                      <a:pt x="834887" y="86139"/>
                    </a:cubicBezTo>
                    <a:cubicBezTo>
                      <a:pt x="850348" y="81722"/>
                      <a:pt x="866158" y="78382"/>
                      <a:pt x="881270" y="72887"/>
                    </a:cubicBezTo>
                    <a:cubicBezTo>
                      <a:pt x="920216" y="58725"/>
                      <a:pt x="897005" y="61057"/>
                      <a:pt x="934279" y="39757"/>
                    </a:cubicBezTo>
                    <a:cubicBezTo>
                      <a:pt x="942227" y="35215"/>
                      <a:pt x="974199" y="28350"/>
                      <a:pt x="980661" y="26504"/>
                    </a:cubicBezTo>
                    <a:cubicBezTo>
                      <a:pt x="987377" y="24585"/>
                      <a:pt x="993722" y="21393"/>
                      <a:pt x="1000540" y="19878"/>
                    </a:cubicBezTo>
                    <a:cubicBezTo>
                      <a:pt x="1013655" y="16964"/>
                      <a:pt x="1027122" y="15887"/>
                      <a:pt x="1040296" y="13252"/>
                    </a:cubicBezTo>
                    <a:cubicBezTo>
                      <a:pt x="1061095" y="9092"/>
                      <a:pt x="1067734" y="6315"/>
                      <a:pt x="1086679" y="0"/>
                    </a:cubicBezTo>
                    <a:cubicBezTo>
                      <a:pt x="1139688" y="2209"/>
                      <a:pt x="1192776" y="2976"/>
                      <a:pt x="1245705" y="6626"/>
                    </a:cubicBezTo>
                    <a:cubicBezTo>
                      <a:pt x="1254473" y="7231"/>
                      <a:pt x="1287508" y="14275"/>
                      <a:pt x="1298714" y="19878"/>
                    </a:cubicBezTo>
                    <a:cubicBezTo>
                      <a:pt x="1310233" y="25638"/>
                      <a:pt x="1320075" y="34526"/>
                      <a:pt x="1331844" y="39757"/>
                    </a:cubicBezTo>
                    <a:cubicBezTo>
                      <a:pt x="1340166" y="43456"/>
                      <a:pt x="1349513" y="44174"/>
                      <a:pt x="1358348" y="46383"/>
                    </a:cubicBezTo>
                    <a:cubicBezTo>
                      <a:pt x="1371600" y="55218"/>
                      <a:pt x="1384182" y="65152"/>
                      <a:pt x="1398105" y="72887"/>
                    </a:cubicBezTo>
                    <a:cubicBezTo>
                      <a:pt x="1404211" y="76279"/>
                      <a:pt x="1411736" y="76389"/>
                      <a:pt x="1417983" y="79513"/>
                    </a:cubicBezTo>
                    <a:cubicBezTo>
                      <a:pt x="1434009" y="87526"/>
                      <a:pt x="1454584" y="106228"/>
                      <a:pt x="1464366" y="119270"/>
                    </a:cubicBezTo>
                    <a:cubicBezTo>
                      <a:pt x="1470992" y="128105"/>
                      <a:pt x="1478391" y="136409"/>
                      <a:pt x="1484244" y="145774"/>
                    </a:cubicBezTo>
                    <a:cubicBezTo>
                      <a:pt x="1489479" y="154150"/>
                      <a:pt x="1493605" y="163199"/>
                      <a:pt x="1497496" y="172278"/>
                    </a:cubicBezTo>
                    <a:cubicBezTo>
                      <a:pt x="1511638" y="205277"/>
                      <a:pt x="1520018" y="234882"/>
                      <a:pt x="1537253" y="265044"/>
                    </a:cubicBezTo>
                    <a:cubicBezTo>
                      <a:pt x="1591384" y="359773"/>
                      <a:pt x="1573197" y="324225"/>
                      <a:pt x="1656522" y="430696"/>
                    </a:cubicBezTo>
                    <a:cubicBezTo>
                      <a:pt x="1670134" y="448089"/>
                      <a:pt x="1682812" y="466197"/>
                      <a:pt x="1696279" y="483704"/>
                    </a:cubicBezTo>
                    <a:cubicBezTo>
                      <a:pt x="1704902" y="494914"/>
                      <a:pt x="1713948" y="505791"/>
                      <a:pt x="1722783" y="516835"/>
                    </a:cubicBezTo>
                    <a:lnTo>
                      <a:pt x="1749287" y="549965"/>
                    </a:lnTo>
                    <a:lnTo>
                      <a:pt x="1775792" y="583096"/>
                    </a:lnTo>
                    <a:cubicBezTo>
                      <a:pt x="1808566" y="665030"/>
                      <a:pt x="1764647" y="564521"/>
                      <a:pt x="1815548" y="649357"/>
                    </a:cubicBezTo>
                    <a:cubicBezTo>
                      <a:pt x="1850582" y="707748"/>
                      <a:pt x="1810167" y="663856"/>
                      <a:pt x="1842053" y="695739"/>
                    </a:cubicBezTo>
                    <a:cubicBezTo>
                      <a:pt x="1839844" y="728869"/>
                      <a:pt x="1839094" y="762129"/>
                      <a:pt x="1835427" y="795130"/>
                    </a:cubicBezTo>
                    <a:cubicBezTo>
                      <a:pt x="1834656" y="802072"/>
                      <a:pt x="1829862" y="808105"/>
                      <a:pt x="1828800" y="815009"/>
                    </a:cubicBezTo>
                    <a:cubicBezTo>
                      <a:pt x="1825425" y="836948"/>
                      <a:pt x="1824383" y="859183"/>
                      <a:pt x="1822174" y="881270"/>
                    </a:cubicBezTo>
                    <a:cubicBezTo>
                      <a:pt x="1819965" y="951948"/>
                      <a:pt x="1821763" y="1022865"/>
                      <a:pt x="1815548" y="1093304"/>
                    </a:cubicBezTo>
                    <a:cubicBezTo>
                      <a:pt x="1814999" y="1099527"/>
                      <a:pt x="1805510" y="1101200"/>
                      <a:pt x="1802296" y="1106557"/>
                    </a:cubicBezTo>
                    <a:cubicBezTo>
                      <a:pt x="1798703" y="1112546"/>
                      <a:pt x="1800609" y="1121496"/>
                      <a:pt x="1795670" y="1126435"/>
                    </a:cubicBezTo>
                    <a:cubicBezTo>
                      <a:pt x="1723325" y="1198779"/>
                      <a:pt x="1767962" y="1150227"/>
                      <a:pt x="1722783" y="1172817"/>
                    </a:cubicBezTo>
                    <a:cubicBezTo>
                      <a:pt x="1711264" y="1178577"/>
                      <a:pt x="1701611" y="1187913"/>
                      <a:pt x="1689653" y="1192696"/>
                    </a:cubicBezTo>
                    <a:cubicBezTo>
                      <a:pt x="1679196" y="1196879"/>
                      <a:pt x="1667603" y="1197307"/>
                      <a:pt x="1656522" y="1199322"/>
                    </a:cubicBezTo>
                    <a:cubicBezTo>
                      <a:pt x="1616969" y="1206513"/>
                      <a:pt x="1620457" y="1204392"/>
                      <a:pt x="1583635" y="1212574"/>
                    </a:cubicBezTo>
                    <a:cubicBezTo>
                      <a:pt x="1574745" y="1214549"/>
                      <a:pt x="1566234" y="1218932"/>
                      <a:pt x="1557131" y="1219200"/>
                    </a:cubicBezTo>
                    <a:cubicBezTo>
                      <a:pt x="1415818" y="1223356"/>
                      <a:pt x="1274418" y="1223617"/>
                      <a:pt x="1133061" y="1225826"/>
                    </a:cubicBezTo>
                    <a:lnTo>
                      <a:pt x="927653" y="1219200"/>
                    </a:lnTo>
                    <a:cubicBezTo>
                      <a:pt x="905482" y="1218119"/>
                      <a:pt x="883512" y="1214417"/>
                      <a:pt x="861392" y="1212574"/>
                    </a:cubicBezTo>
                    <a:cubicBezTo>
                      <a:pt x="778933" y="1205703"/>
                      <a:pt x="728793" y="1203852"/>
                      <a:pt x="642731" y="1199322"/>
                    </a:cubicBezTo>
                    <a:cubicBezTo>
                      <a:pt x="631687" y="1197113"/>
                      <a:pt x="620526" y="1195427"/>
                      <a:pt x="609600" y="1192696"/>
                    </a:cubicBezTo>
                    <a:cubicBezTo>
                      <a:pt x="602824" y="1191002"/>
                      <a:pt x="596438" y="1187989"/>
                      <a:pt x="589722" y="1186070"/>
                    </a:cubicBezTo>
                    <a:cubicBezTo>
                      <a:pt x="580966" y="1183568"/>
                      <a:pt x="572053" y="1181653"/>
                      <a:pt x="563218" y="1179444"/>
                    </a:cubicBezTo>
                    <a:cubicBezTo>
                      <a:pt x="556592" y="1175026"/>
                      <a:pt x="550463" y="1169753"/>
                      <a:pt x="543340" y="1166191"/>
                    </a:cubicBezTo>
                    <a:cubicBezTo>
                      <a:pt x="526634" y="1157838"/>
                      <a:pt x="507968" y="1157978"/>
                      <a:pt x="490331" y="1152939"/>
                    </a:cubicBezTo>
                    <a:cubicBezTo>
                      <a:pt x="453265" y="1142349"/>
                      <a:pt x="434381" y="1136581"/>
                      <a:pt x="404192" y="1119809"/>
                    </a:cubicBezTo>
                    <a:cubicBezTo>
                      <a:pt x="392934" y="1113554"/>
                      <a:pt x="382319" y="1106185"/>
                      <a:pt x="371061" y="1099930"/>
                    </a:cubicBezTo>
                    <a:cubicBezTo>
                      <a:pt x="362427" y="1095133"/>
                      <a:pt x="353928" y="1089801"/>
                      <a:pt x="344557" y="1086678"/>
                    </a:cubicBezTo>
                    <a:cubicBezTo>
                      <a:pt x="327278" y="1080918"/>
                      <a:pt x="291548" y="1073426"/>
                      <a:pt x="291548" y="1073426"/>
                    </a:cubicBezTo>
                    <a:cubicBezTo>
                      <a:pt x="196833" y="1018176"/>
                      <a:pt x="238572" y="1042207"/>
                      <a:pt x="165653" y="1000539"/>
                    </a:cubicBezTo>
                    <a:lnTo>
                      <a:pt x="119270" y="974035"/>
                    </a:lnTo>
                    <a:cubicBezTo>
                      <a:pt x="108146" y="967546"/>
                      <a:pt x="98097" y="958940"/>
                      <a:pt x="86140" y="954157"/>
                    </a:cubicBezTo>
                    <a:cubicBezTo>
                      <a:pt x="45615" y="937946"/>
                      <a:pt x="62906" y="947502"/>
                      <a:pt x="33131" y="927652"/>
                    </a:cubicBezTo>
                    <a:cubicBezTo>
                      <a:pt x="2753" y="882084"/>
                      <a:pt x="11664" y="903005"/>
                      <a:pt x="0" y="868017"/>
                    </a:cubicBezTo>
                    <a:cubicBezTo>
                      <a:pt x="1149" y="859976"/>
                      <a:pt x="4580" y="816213"/>
                      <a:pt x="13253" y="801757"/>
                    </a:cubicBezTo>
                    <a:cubicBezTo>
                      <a:pt x="16467" y="796400"/>
                      <a:pt x="22506" y="793303"/>
                      <a:pt x="26505" y="788504"/>
                    </a:cubicBezTo>
                    <a:cubicBezTo>
                      <a:pt x="33575" y="780020"/>
                      <a:pt x="39964" y="770986"/>
                      <a:pt x="46383" y="762000"/>
                    </a:cubicBezTo>
                    <a:cubicBezTo>
                      <a:pt x="51012" y="755520"/>
                      <a:pt x="54391" y="748115"/>
                      <a:pt x="59635" y="742122"/>
                    </a:cubicBezTo>
                    <a:cubicBezTo>
                      <a:pt x="69920" y="730368"/>
                      <a:pt x="81722" y="720035"/>
                      <a:pt x="92766" y="708991"/>
                    </a:cubicBezTo>
                    <a:cubicBezTo>
                      <a:pt x="99392" y="702365"/>
                      <a:pt x="107446" y="696910"/>
                      <a:pt x="112644" y="689113"/>
                    </a:cubicBezTo>
                    <a:cubicBezTo>
                      <a:pt x="117061" y="682487"/>
                      <a:pt x="121267" y="675715"/>
                      <a:pt x="125896" y="669235"/>
                    </a:cubicBezTo>
                    <a:cubicBezTo>
                      <a:pt x="132315" y="660248"/>
                      <a:pt x="138704" y="651214"/>
                      <a:pt x="145774" y="642730"/>
                    </a:cubicBezTo>
                    <a:cubicBezTo>
                      <a:pt x="158534" y="627418"/>
                      <a:pt x="185531" y="611217"/>
                      <a:pt x="185531" y="589722"/>
                    </a:cubicBezTo>
                    <a:lnTo>
                      <a:pt x="172279" y="569844"/>
                    </a:ln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 smtClean="0">
                    <a:solidFill>
                      <a:schemeClr val="tx1"/>
                    </a:solidFill>
                  </a:rPr>
                  <a:t>Consumer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手繪多邊形 9"/>
              <p:cNvSpPr/>
              <p:nvPr/>
            </p:nvSpPr>
            <p:spPr>
              <a:xfrm>
                <a:off x="7020272" y="3427310"/>
                <a:ext cx="1842053" cy="1225826"/>
              </a:xfrm>
              <a:custGeom>
                <a:avLst/>
                <a:gdLst>
                  <a:gd name="connsiteX0" fmla="*/ 172279 w 1842053"/>
                  <a:gd name="connsiteY0" fmla="*/ 569844 h 1225826"/>
                  <a:gd name="connsiteX1" fmla="*/ 172279 w 1842053"/>
                  <a:gd name="connsiteY1" fmla="*/ 569844 h 1225826"/>
                  <a:gd name="connsiteX2" fmla="*/ 212035 w 1842053"/>
                  <a:gd name="connsiteY2" fmla="*/ 490330 h 1225826"/>
                  <a:gd name="connsiteX3" fmla="*/ 231914 w 1842053"/>
                  <a:gd name="connsiteY3" fmla="*/ 450574 h 1225826"/>
                  <a:gd name="connsiteX4" fmla="*/ 245166 w 1842053"/>
                  <a:gd name="connsiteY4" fmla="*/ 404191 h 1225826"/>
                  <a:gd name="connsiteX5" fmla="*/ 258418 w 1842053"/>
                  <a:gd name="connsiteY5" fmla="*/ 377687 h 1225826"/>
                  <a:gd name="connsiteX6" fmla="*/ 271670 w 1842053"/>
                  <a:gd name="connsiteY6" fmla="*/ 331304 h 1225826"/>
                  <a:gd name="connsiteX7" fmla="*/ 331305 w 1842053"/>
                  <a:gd name="connsiteY7" fmla="*/ 258417 h 1225826"/>
                  <a:gd name="connsiteX8" fmla="*/ 357809 w 1842053"/>
                  <a:gd name="connsiteY8" fmla="*/ 238539 h 1225826"/>
                  <a:gd name="connsiteX9" fmla="*/ 377687 w 1842053"/>
                  <a:gd name="connsiteY9" fmla="*/ 231913 h 1225826"/>
                  <a:gd name="connsiteX10" fmla="*/ 404192 w 1842053"/>
                  <a:gd name="connsiteY10" fmla="*/ 218661 h 1225826"/>
                  <a:gd name="connsiteX11" fmla="*/ 457200 w 1842053"/>
                  <a:gd name="connsiteY11" fmla="*/ 178904 h 1225826"/>
                  <a:gd name="connsiteX12" fmla="*/ 490331 w 1842053"/>
                  <a:gd name="connsiteY12" fmla="*/ 172278 h 1225826"/>
                  <a:gd name="connsiteX13" fmla="*/ 543340 w 1842053"/>
                  <a:gd name="connsiteY13" fmla="*/ 159026 h 1225826"/>
                  <a:gd name="connsiteX14" fmla="*/ 563218 w 1842053"/>
                  <a:gd name="connsiteY14" fmla="*/ 152400 h 1225826"/>
                  <a:gd name="connsiteX15" fmla="*/ 602974 w 1842053"/>
                  <a:gd name="connsiteY15" fmla="*/ 125896 h 1225826"/>
                  <a:gd name="connsiteX16" fmla="*/ 669235 w 1842053"/>
                  <a:gd name="connsiteY16" fmla="*/ 112644 h 1225826"/>
                  <a:gd name="connsiteX17" fmla="*/ 795131 w 1842053"/>
                  <a:gd name="connsiteY17" fmla="*/ 99391 h 1225826"/>
                  <a:gd name="connsiteX18" fmla="*/ 834887 w 1842053"/>
                  <a:gd name="connsiteY18" fmla="*/ 86139 h 1225826"/>
                  <a:gd name="connsiteX19" fmla="*/ 881270 w 1842053"/>
                  <a:gd name="connsiteY19" fmla="*/ 72887 h 1225826"/>
                  <a:gd name="connsiteX20" fmla="*/ 934279 w 1842053"/>
                  <a:gd name="connsiteY20" fmla="*/ 39757 h 1225826"/>
                  <a:gd name="connsiteX21" fmla="*/ 980661 w 1842053"/>
                  <a:gd name="connsiteY21" fmla="*/ 26504 h 1225826"/>
                  <a:gd name="connsiteX22" fmla="*/ 1000540 w 1842053"/>
                  <a:gd name="connsiteY22" fmla="*/ 19878 h 1225826"/>
                  <a:gd name="connsiteX23" fmla="*/ 1040296 w 1842053"/>
                  <a:gd name="connsiteY23" fmla="*/ 13252 h 1225826"/>
                  <a:gd name="connsiteX24" fmla="*/ 1086679 w 1842053"/>
                  <a:gd name="connsiteY24" fmla="*/ 0 h 1225826"/>
                  <a:gd name="connsiteX25" fmla="*/ 1245705 w 1842053"/>
                  <a:gd name="connsiteY25" fmla="*/ 6626 h 1225826"/>
                  <a:gd name="connsiteX26" fmla="*/ 1298714 w 1842053"/>
                  <a:gd name="connsiteY26" fmla="*/ 19878 h 1225826"/>
                  <a:gd name="connsiteX27" fmla="*/ 1331844 w 1842053"/>
                  <a:gd name="connsiteY27" fmla="*/ 39757 h 1225826"/>
                  <a:gd name="connsiteX28" fmla="*/ 1358348 w 1842053"/>
                  <a:gd name="connsiteY28" fmla="*/ 46383 h 1225826"/>
                  <a:gd name="connsiteX29" fmla="*/ 1398105 w 1842053"/>
                  <a:gd name="connsiteY29" fmla="*/ 72887 h 1225826"/>
                  <a:gd name="connsiteX30" fmla="*/ 1417983 w 1842053"/>
                  <a:gd name="connsiteY30" fmla="*/ 79513 h 1225826"/>
                  <a:gd name="connsiteX31" fmla="*/ 1464366 w 1842053"/>
                  <a:gd name="connsiteY31" fmla="*/ 119270 h 1225826"/>
                  <a:gd name="connsiteX32" fmla="*/ 1484244 w 1842053"/>
                  <a:gd name="connsiteY32" fmla="*/ 145774 h 1225826"/>
                  <a:gd name="connsiteX33" fmla="*/ 1497496 w 1842053"/>
                  <a:gd name="connsiteY33" fmla="*/ 172278 h 1225826"/>
                  <a:gd name="connsiteX34" fmla="*/ 1537253 w 1842053"/>
                  <a:gd name="connsiteY34" fmla="*/ 265044 h 1225826"/>
                  <a:gd name="connsiteX35" fmla="*/ 1656522 w 1842053"/>
                  <a:gd name="connsiteY35" fmla="*/ 430696 h 1225826"/>
                  <a:gd name="connsiteX36" fmla="*/ 1696279 w 1842053"/>
                  <a:gd name="connsiteY36" fmla="*/ 483704 h 1225826"/>
                  <a:gd name="connsiteX37" fmla="*/ 1722783 w 1842053"/>
                  <a:gd name="connsiteY37" fmla="*/ 516835 h 1225826"/>
                  <a:gd name="connsiteX38" fmla="*/ 1749287 w 1842053"/>
                  <a:gd name="connsiteY38" fmla="*/ 549965 h 1225826"/>
                  <a:gd name="connsiteX39" fmla="*/ 1775792 w 1842053"/>
                  <a:gd name="connsiteY39" fmla="*/ 583096 h 1225826"/>
                  <a:gd name="connsiteX40" fmla="*/ 1815548 w 1842053"/>
                  <a:gd name="connsiteY40" fmla="*/ 649357 h 1225826"/>
                  <a:gd name="connsiteX41" fmla="*/ 1842053 w 1842053"/>
                  <a:gd name="connsiteY41" fmla="*/ 695739 h 1225826"/>
                  <a:gd name="connsiteX42" fmla="*/ 1835427 w 1842053"/>
                  <a:gd name="connsiteY42" fmla="*/ 795130 h 1225826"/>
                  <a:gd name="connsiteX43" fmla="*/ 1828800 w 1842053"/>
                  <a:gd name="connsiteY43" fmla="*/ 815009 h 1225826"/>
                  <a:gd name="connsiteX44" fmla="*/ 1822174 w 1842053"/>
                  <a:gd name="connsiteY44" fmla="*/ 881270 h 1225826"/>
                  <a:gd name="connsiteX45" fmla="*/ 1815548 w 1842053"/>
                  <a:gd name="connsiteY45" fmla="*/ 1093304 h 1225826"/>
                  <a:gd name="connsiteX46" fmla="*/ 1802296 w 1842053"/>
                  <a:gd name="connsiteY46" fmla="*/ 1106557 h 1225826"/>
                  <a:gd name="connsiteX47" fmla="*/ 1795670 w 1842053"/>
                  <a:gd name="connsiteY47" fmla="*/ 1126435 h 1225826"/>
                  <a:gd name="connsiteX48" fmla="*/ 1722783 w 1842053"/>
                  <a:gd name="connsiteY48" fmla="*/ 1172817 h 1225826"/>
                  <a:gd name="connsiteX49" fmla="*/ 1689653 w 1842053"/>
                  <a:gd name="connsiteY49" fmla="*/ 1192696 h 1225826"/>
                  <a:gd name="connsiteX50" fmla="*/ 1656522 w 1842053"/>
                  <a:gd name="connsiteY50" fmla="*/ 1199322 h 1225826"/>
                  <a:gd name="connsiteX51" fmla="*/ 1583635 w 1842053"/>
                  <a:gd name="connsiteY51" fmla="*/ 1212574 h 1225826"/>
                  <a:gd name="connsiteX52" fmla="*/ 1557131 w 1842053"/>
                  <a:gd name="connsiteY52" fmla="*/ 1219200 h 1225826"/>
                  <a:gd name="connsiteX53" fmla="*/ 1133061 w 1842053"/>
                  <a:gd name="connsiteY53" fmla="*/ 1225826 h 1225826"/>
                  <a:gd name="connsiteX54" fmla="*/ 927653 w 1842053"/>
                  <a:gd name="connsiteY54" fmla="*/ 1219200 h 1225826"/>
                  <a:gd name="connsiteX55" fmla="*/ 861392 w 1842053"/>
                  <a:gd name="connsiteY55" fmla="*/ 1212574 h 1225826"/>
                  <a:gd name="connsiteX56" fmla="*/ 642731 w 1842053"/>
                  <a:gd name="connsiteY56" fmla="*/ 1199322 h 1225826"/>
                  <a:gd name="connsiteX57" fmla="*/ 609600 w 1842053"/>
                  <a:gd name="connsiteY57" fmla="*/ 1192696 h 1225826"/>
                  <a:gd name="connsiteX58" fmla="*/ 589722 w 1842053"/>
                  <a:gd name="connsiteY58" fmla="*/ 1186070 h 1225826"/>
                  <a:gd name="connsiteX59" fmla="*/ 563218 w 1842053"/>
                  <a:gd name="connsiteY59" fmla="*/ 1179444 h 1225826"/>
                  <a:gd name="connsiteX60" fmla="*/ 543340 w 1842053"/>
                  <a:gd name="connsiteY60" fmla="*/ 1166191 h 1225826"/>
                  <a:gd name="connsiteX61" fmla="*/ 490331 w 1842053"/>
                  <a:gd name="connsiteY61" fmla="*/ 1152939 h 1225826"/>
                  <a:gd name="connsiteX62" fmla="*/ 404192 w 1842053"/>
                  <a:gd name="connsiteY62" fmla="*/ 1119809 h 1225826"/>
                  <a:gd name="connsiteX63" fmla="*/ 371061 w 1842053"/>
                  <a:gd name="connsiteY63" fmla="*/ 1099930 h 1225826"/>
                  <a:gd name="connsiteX64" fmla="*/ 344557 w 1842053"/>
                  <a:gd name="connsiteY64" fmla="*/ 1086678 h 1225826"/>
                  <a:gd name="connsiteX65" fmla="*/ 291548 w 1842053"/>
                  <a:gd name="connsiteY65" fmla="*/ 1073426 h 1225826"/>
                  <a:gd name="connsiteX66" fmla="*/ 165653 w 1842053"/>
                  <a:gd name="connsiteY66" fmla="*/ 1000539 h 1225826"/>
                  <a:gd name="connsiteX67" fmla="*/ 119270 w 1842053"/>
                  <a:gd name="connsiteY67" fmla="*/ 974035 h 1225826"/>
                  <a:gd name="connsiteX68" fmla="*/ 86140 w 1842053"/>
                  <a:gd name="connsiteY68" fmla="*/ 954157 h 1225826"/>
                  <a:gd name="connsiteX69" fmla="*/ 33131 w 1842053"/>
                  <a:gd name="connsiteY69" fmla="*/ 927652 h 1225826"/>
                  <a:gd name="connsiteX70" fmla="*/ 0 w 1842053"/>
                  <a:gd name="connsiteY70" fmla="*/ 868017 h 1225826"/>
                  <a:gd name="connsiteX71" fmla="*/ 13253 w 1842053"/>
                  <a:gd name="connsiteY71" fmla="*/ 801757 h 1225826"/>
                  <a:gd name="connsiteX72" fmla="*/ 26505 w 1842053"/>
                  <a:gd name="connsiteY72" fmla="*/ 788504 h 1225826"/>
                  <a:gd name="connsiteX73" fmla="*/ 46383 w 1842053"/>
                  <a:gd name="connsiteY73" fmla="*/ 762000 h 1225826"/>
                  <a:gd name="connsiteX74" fmla="*/ 59635 w 1842053"/>
                  <a:gd name="connsiteY74" fmla="*/ 742122 h 1225826"/>
                  <a:gd name="connsiteX75" fmla="*/ 92766 w 1842053"/>
                  <a:gd name="connsiteY75" fmla="*/ 708991 h 1225826"/>
                  <a:gd name="connsiteX76" fmla="*/ 112644 w 1842053"/>
                  <a:gd name="connsiteY76" fmla="*/ 689113 h 1225826"/>
                  <a:gd name="connsiteX77" fmla="*/ 125896 w 1842053"/>
                  <a:gd name="connsiteY77" fmla="*/ 669235 h 1225826"/>
                  <a:gd name="connsiteX78" fmla="*/ 145774 w 1842053"/>
                  <a:gd name="connsiteY78" fmla="*/ 642730 h 1225826"/>
                  <a:gd name="connsiteX79" fmla="*/ 185531 w 1842053"/>
                  <a:gd name="connsiteY79" fmla="*/ 589722 h 1225826"/>
                  <a:gd name="connsiteX80" fmla="*/ 172279 w 1842053"/>
                  <a:gd name="connsiteY80" fmla="*/ 569844 h 1225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42053" h="1225826">
                    <a:moveTo>
                      <a:pt x="172279" y="569844"/>
                    </a:moveTo>
                    <a:lnTo>
                      <a:pt x="172279" y="569844"/>
                    </a:lnTo>
                    <a:cubicBezTo>
                      <a:pt x="185531" y="543339"/>
                      <a:pt x="202664" y="518442"/>
                      <a:pt x="212035" y="490330"/>
                    </a:cubicBezTo>
                    <a:cubicBezTo>
                      <a:pt x="221179" y="462897"/>
                      <a:pt x="214787" y="476263"/>
                      <a:pt x="231914" y="450574"/>
                    </a:cubicBezTo>
                    <a:cubicBezTo>
                      <a:pt x="235276" y="437127"/>
                      <a:pt x="239463" y="417498"/>
                      <a:pt x="245166" y="404191"/>
                    </a:cubicBezTo>
                    <a:cubicBezTo>
                      <a:pt x="249057" y="395112"/>
                      <a:pt x="254950" y="386936"/>
                      <a:pt x="258418" y="377687"/>
                    </a:cubicBezTo>
                    <a:cubicBezTo>
                      <a:pt x="262376" y="367131"/>
                      <a:pt x="265510" y="342393"/>
                      <a:pt x="271670" y="331304"/>
                    </a:cubicBezTo>
                    <a:cubicBezTo>
                      <a:pt x="286010" y="305491"/>
                      <a:pt x="307335" y="276394"/>
                      <a:pt x="331305" y="258417"/>
                    </a:cubicBezTo>
                    <a:cubicBezTo>
                      <a:pt x="340140" y="251791"/>
                      <a:pt x="348221" y="244018"/>
                      <a:pt x="357809" y="238539"/>
                    </a:cubicBezTo>
                    <a:cubicBezTo>
                      <a:pt x="363873" y="235074"/>
                      <a:pt x="371267" y="234664"/>
                      <a:pt x="377687" y="231913"/>
                    </a:cubicBezTo>
                    <a:cubicBezTo>
                      <a:pt x="386766" y="228022"/>
                      <a:pt x="395357" y="223078"/>
                      <a:pt x="404192" y="218661"/>
                    </a:cubicBezTo>
                    <a:cubicBezTo>
                      <a:pt x="423192" y="199661"/>
                      <a:pt x="429758" y="189881"/>
                      <a:pt x="457200" y="178904"/>
                    </a:cubicBezTo>
                    <a:cubicBezTo>
                      <a:pt x="467657" y="174721"/>
                      <a:pt x="479357" y="174810"/>
                      <a:pt x="490331" y="172278"/>
                    </a:cubicBezTo>
                    <a:cubicBezTo>
                      <a:pt x="508078" y="168183"/>
                      <a:pt x="526061" y="164786"/>
                      <a:pt x="543340" y="159026"/>
                    </a:cubicBezTo>
                    <a:cubicBezTo>
                      <a:pt x="549966" y="156817"/>
                      <a:pt x="557113" y="155792"/>
                      <a:pt x="563218" y="152400"/>
                    </a:cubicBezTo>
                    <a:cubicBezTo>
                      <a:pt x="577141" y="144665"/>
                      <a:pt x="587356" y="129019"/>
                      <a:pt x="602974" y="125896"/>
                    </a:cubicBezTo>
                    <a:cubicBezTo>
                      <a:pt x="625061" y="121479"/>
                      <a:pt x="646803" y="114684"/>
                      <a:pt x="669235" y="112644"/>
                    </a:cubicBezTo>
                    <a:cubicBezTo>
                      <a:pt x="759856" y="104405"/>
                      <a:pt x="717914" y="109043"/>
                      <a:pt x="795131" y="99391"/>
                    </a:cubicBezTo>
                    <a:cubicBezTo>
                      <a:pt x="808383" y="94974"/>
                      <a:pt x="821456" y="89976"/>
                      <a:pt x="834887" y="86139"/>
                    </a:cubicBezTo>
                    <a:cubicBezTo>
                      <a:pt x="850348" y="81722"/>
                      <a:pt x="866158" y="78382"/>
                      <a:pt x="881270" y="72887"/>
                    </a:cubicBezTo>
                    <a:cubicBezTo>
                      <a:pt x="920216" y="58725"/>
                      <a:pt x="897005" y="61057"/>
                      <a:pt x="934279" y="39757"/>
                    </a:cubicBezTo>
                    <a:cubicBezTo>
                      <a:pt x="942227" y="35215"/>
                      <a:pt x="974199" y="28350"/>
                      <a:pt x="980661" y="26504"/>
                    </a:cubicBezTo>
                    <a:cubicBezTo>
                      <a:pt x="987377" y="24585"/>
                      <a:pt x="993722" y="21393"/>
                      <a:pt x="1000540" y="19878"/>
                    </a:cubicBezTo>
                    <a:cubicBezTo>
                      <a:pt x="1013655" y="16964"/>
                      <a:pt x="1027122" y="15887"/>
                      <a:pt x="1040296" y="13252"/>
                    </a:cubicBezTo>
                    <a:cubicBezTo>
                      <a:pt x="1061095" y="9092"/>
                      <a:pt x="1067734" y="6315"/>
                      <a:pt x="1086679" y="0"/>
                    </a:cubicBezTo>
                    <a:cubicBezTo>
                      <a:pt x="1139688" y="2209"/>
                      <a:pt x="1192776" y="2976"/>
                      <a:pt x="1245705" y="6626"/>
                    </a:cubicBezTo>
                    <a:cubicBezTo>
                      <a:pt x="1254473" y="7231"/>
                      <a:pt x="1287508" y="14275"/>
                      <a:pt x="1298714" y="19878"/>
                    </a:cubicBezTo>
                    <a:cubicBezTo>
                      <a:pt x="1310233" y="25638"/>
                      <a:pt x="1320075" y="34526"/>
                      <a:pt x="1331844" y="39757"/>
                    </a:cubicBezTo>
                    <a:cubicBezTo>
                      <a:pt x="1340166" y="43456"/>
                      <a:pt x="1349513" y="44174"/>
                      <a:pt x="1358348" y="46383"/>
                    </a:cubicBezTo>
                    <a:cubicBezTo>
                      <a:pt x="1371600" y="55218"/>
                      <a:pt x="1384182" y="65152"/>
                      <a:pt x="1398105" y="72887"/>
                    </a:cubicBezTo>
                    <a:cubicBezTo>
                      <a:pt x="1404211" y="76279"/>
                      <a:pt x="1411736" y="76389"/>
                      <a:pt x="1417983" y="79513"/>
                    </a:cubicBezTo>
                    <a:cubicBezTo>
                      <a:pt x="1434009" y="87526"/>
                      <a:pt x="1454584" y="106228"/>
                      <a:pt x="1464366" y="119270"/>
                    </a:cubicBezTo>
                    <a:cubicBezTo>
                      <a:pt x="1470992" y="128105"/>
                      <a:pt x="1478391" y="136409"/>
                      <a:pt x="1484244" y="145774"/>
                    </a:cubicBezTo>
                    <a:cubicBezTo>
                      <a:pt x="1489479" y="154150"/>
                      <a:pt x="1493605" y="163199"/>
                      <a:pt x="1497496" y="172278"/>
                    </a:cubicBezTo>
                    <a:cubicBezTo>
                      <a:pt x="1511638" y="205277"/>
                      <a:pt x="1520018" y="234882"/>
                      <a:pt x="1537253" y="265044"/>
                    </a:cubicBezTo>
                    <a:cubicBezTo>
                      <a:pt x="1591384" y="359773"/>
                      <a:pt x="1573197" y="324225"/>
                      <a:pt x="1656522" y="430696"/>
                    </a:cubicBezTo>
                    <a:cubicBezTo>
                      <a:pt x="1670134" y="448089"/>
                      <a:pt x="1682812" y="466197"/>
                      <a:pt x="1696279" y="483704"/>
                    </a:cubicBezTo>
                    <a:cubicBezTo>
                      <a:pt x="1704902" y="494914"/>
                      <a:pt x="1713948" y="505791"/>
                      <a:pt x="1722783" y="516835"/>
                    </a:cubicBezTo>
                    <a:lnTo>
                      <a:pt x="1749287" y="549965"/>
                    </a:lnTo>
                    <a:lnTo>
                      <a:pt x="1775792" y="583096"/>
                    </a:lnTo>
                    <a:cubicBezTo>
                      <a:pt x="1808566" y="665030"/>
                      <a:pt x="1764647" y="564521"/>
                      <a:pt x="1815548" y="649357"/>
                    </a:cubicBezTo>
                    <a:cubicBezTo>
                      <a:pt x="1850582" y="707748"/>
                      <a:pt x="1810167" y="663856"/>
                      <a:pt x="1842053" y="695739"/>
                    </a:cubicBezTo>
                    <a:cubicBezTo>
                      <a:pt x="1839844" y="728869"/>
                      <a:pt x="1839094" y="762129"/>
                      <a:pt x="1835427" y="795130"/>
                    </a:cubicBezTo>
                    <a:cubicBezTo>
                      <a:pt x="1834656" y="802072"/>
                      <a:pt x="1829862" y="808105"/>
                      <a:pt x="1828800" y="815009"/>
                    </a:cubicBezTo>
                    <a:cubicBezTo>
                      <a:pt x="1825425" y="836948"/>
                      <a:pt x="1824383" y="859183"/>
                      <a:pt x="1822174" y="881270"/>
                    </a:cubicBezTo>
                    <a:cubicBezTo>
                      <a:pt x="1819965" y="951948"/>
                      <a:pt x="1821763" y="1022865"/>
                      <a:pt x="1815548" y="1093304"/>
                    </a:cubicBezTo>
                    <a:cubicBezTo>
                      <a:pt x="1814999" y="1099527"/>
                      <a:pt x="1805510" y="1101200"/>
                      <a:pt x="1802296" y="1106557"/>
                    </a:cubicBezTo>
                    <a:cubicBezTo>
                      <a:pt x="1798703" y="1112546"/>
                      <a:pt x="1800609" y="1121496"/>
                      <a:pt x="1795670" y="1126435"/>
                    </a:cubicBezTo>
                    <a:cubicBezTo>
                      <a:pt x="1723325" y="1198779"/>
                      <a:pt x="1767962" y="1150227"/>
                      <a:pt x="1722783" y="1172817"/>
                    </a:cubicBezTo>
                    <a:cubicBezTo>
                      <a:pt x="1711264" y="1178577"/>
                      <a:pt x="1701611" y="1187913"/>
                      <a:pt x="1689653" y="1192696"/>
                    </a:cubicBezTo>
                    <a:cubicBezTo>
                      <a:pt x="1679196" y="1196879"/>
                      <a:pt x="1667603" y="1197307"/>
                      <a:pt x="1656522" y="1199322"/>
                    </a:cubicBezTo>
                    <a:cubicBezTo>
                      <a:pt x="1616969" y="1206513"/>
                      <a:pt x="1620457" y="1204392"/>
                      <a:pt x="1583635" y="1212574"/>
                    </a:cubicBezTo>
                    <a:cubicBezTo>
                      <a:pt x="1574745" y="1214549"/>
                      <a:pt x="1566234" y="1218932"/>
                      <a:pt x="1557131" y="1219200"/>
                    </a:cubicBezTo>
                    <a:cubicBezTo>
                      <a:pt x="1415818" y="1223356"/>
                      <a:pt x="1274418" y="1223617"/>
                      <a:pt x="1133061" y="1225826"/>
                    </a:cubicBezTo>
                    <a:lnTo>
                      <a:pt x="927653" y="1219200"/>
                    </a:lnTo>
                    <a:cubicBezTo>
                      <a:pt x="905482" y="1218119"/>
                      <a:pt x="883512" y="1214417"/>
                      <a:pt x="861392" y="1212574"/>
                    </a:cubicBezTo>
                    <a:cubicBezTo>
                      <a:pt x="778933" y="1205703"/>
                      <a:pt x="728793" y="1203852"/>
                      <a:pt x="642731" y="1199322"/>
                    </a:cubicBezTo>
                    <a:cubicBezTo>
                      <a:pt x="631687" y="1197113"/>
                      <a:pt x="620526" y="1195427"/>
                      <a:pt x="609600" y="1192696"/>
                    </a:cubicBezTo>
                    <a:cubicBezTo>
                      <a:pt x="602824" y="1191002"/>
                      <a:pt x="596438" y="1187989"/>
                      <a:pt x="589722" y="1186070"/>
                    </a:cubicBezTo>
                    <a:cubicBezTo>
                      <a:pt x="580966" y="1183568"/>
                      <a:pt x="572053" y="1181653"/>
                      <a:pt x="563218" y="1179444"/>
                    </a:cubicBezTo>
                    <a:cubicBezTo>
                      <a:pt x="556592" y="1175026"/>
                      <a:pt x="550463" y="1169753"/>
                      <a:pt x="543340" y="1166191"/>
                    </a:cubicBezTo>
                    <a:cubicBezTo>
                      <a:pt x="526634" y="1157838"/>
                      <a:pt x="507968" y="1157978"/>
                      <a:pt x="490331" y="1152939"/>
                    </a:cubicBezTo>
                    <a:cubicBezTo>
                      <a:pt x="453265" y="1142349"/>
                      <a:pt x="434381" y="1136581"/>
                      <a:pt x="404192" y="1119809"/>
                    </a:cubicBezTo>
                    <a:cubicBezTo>
                      <a:pt x="392934" y="1113554"/>
                      <a:pt x="382319" y="1106185"/>
                      <a:pt x="371061" y="1099930"/>
                    </a:cubicBezTo>
                    <a:cubicBezTo>
                      <a:pt x="362427" y="1095133"/>
                      <a:pt x="353928" y="1089801"/>
                      <a:pt x="344557" y="1086678"/>
                    </a:cubicBezTo>
                    <a:cubicBezTo>
                      <a:pt x="327278" y="1080918"/>
                      <a:pt x="291548" y="1073426"/>
                      <a:pt x="291548" y="1073426"/>
                    </a:cubicBezTo>
                    <a:cubicBezTo>
                      <a:pt x="196833" y="1018176"/>
                      <a:pt x="238572" y="1042207"/>
                      <a:pt x="165653" y="1000539"/>
                    </a:cubicBezTo>
                    <a:lnTo>
                      <a:pt x="119270" y="974035"/>
                    </a:lnTo>
                    <a:cubicBezTo>
                      <a:pt x="108146" y="967546"/>
                      <a:pt x="98097" y="958940"/>
                      <a:pt x="86140" y="954157"/>
                    </a:cubicBezTo>
                    <a:cubicBezTo>
                      <a:pt x="45615" y="937946"/>
                      <a:pt x="62906" y="947502"/>
                      <a:pt x="33131" y="927652"/>
                    </a:cubicBezTo>
                    <a:cubicBezTo>
                      <a:pt x="2753" y="882084"/>
                      <a:pt x="11664" y="903005"/>
                      <a:pt x="0" y="868017"/>
                    </a:cubicBezTo>
                    <a:cubicBezTo>
                      <a:pt x="1149" y="859976"/>
                      <a:pt x="4580" y="816213"/>
                      <a:pt x="13253" y="801757"/>
                    </a:cubicBezTo>
                    <a:cubicBezTo>
                      <a:pt x="16467" y="796400"/>
                      <a:pt x="22506" y="793303"/>
                      <a:pt x="26505" y="788504"/>
                    </a:cubicBezTo>
                    <a:cubicBezTo>
                      <a:pt x="33575" y="780020"/>
                      <a:pt x="39964" y="770986"/>
                      <a:pt x="46383" y="762000"/>
                    </a:cubicBezTo>
                    <a:cubicBezTo>
                      <a:pt x="51012" y="755520"/>
                      <a:pt x="54391" y="748115"/>
                      <a:pt x="59635" y="742122"/>
                    </a:cubicBezTo>
                    <a:cubicBezTo>
                      <a:pt x="69920" y="730368"/>
                      <a:pt x="81722" y="720035"/>
                      <a:pt x="92766" y="708991"/>
                    </a:cubicBezTo>
                    <a:cubicBezTo>
                      <a:pt x="99392" y="702365"/>
                      <a:pt x="107446" y="696910"/>
                      <a:pt x="112644" y="689113"/>
                    </a:cubicBezTo>
                    <a:cubicBezTo>
                      <a:pt x="117061" y="682487"/>
                      <a:pt x="121267" y="675715"/>
                      <a:pt x="125896" y="669235"/>
                    </a:cubicBezTo>
                    <a:cubicBezTo>
                      <a:pt x="132315" y="660248"/>
                      <a:pt x="138704" y="651214"/>
                      <a:pt x="145774" y="642730"/>
                    </a:cubicBezTo>
                    <a:cubicBezTo>
                      <a:pt x="158534" y="627418"/>
                      <a:pt x="185531" y="611217"/>
                      <a:pt x="185531" y="589722"/>
                    </a:cubicBezTo>
                    <a:lnTo>
                      <a:pt x="172279" y="569844"/>
                    </a:ln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 smtClean="0">
                    <a:solidFill>
                      <a:schemeClr val="tx1"/>
                    </a:solidFill>
                  </a:rPr>
                  <a:t>Consumer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手繪多邊形 10"/>
              <p:cNvSpPr/>
              <p:nvPr/>
            </p:nvSpPr>
            <p:spPr>
              <a:xfrm>
                <a:off x="1475656" y="1853208"/>
                <a:ext cx="1842053" cy="1225826"/>
              </a:xfrm>
              <a:custGeom>
                <a:avLst/>
                <a:gdLst>
                  <a:gd name="connsiteX0" fmla="*/ 172279 w 1842053"/>
                  <a:gd name="connsiteY0" fmla="*/ 569844 h 1225826"/>
                  <a:gd name="connsiteX1" fmla="*/ 172279 w 1842053"/>
                  <a:gd name="connsiteY1" fmla="*/ 569844 h 1225826"/>
                  <a:gd name="connsiteX2" fmla="*/ 212035 w 1842053"/>
                  <a:gd name="connsiteY2" fmla="*/ 490330 h 1225826"/>
                  <a:gd name="connsiteX3" fmla="*/ 231914 w 1842053"/>
                  <a:gd name="connsiteY3" fmla="*/ 450574 h 1225826"/>
                  <a:gd name="connsiteX4" fmla="*/ 245166 w 1842053"/>
                  <a:gd name="connsiteY4" fmla="*/ 404191 h 1225826"/>
                  <a:gd name="connsiteX5" fmla="*/ 258418 w 1842053"/>
                  <a:gd name="connsiteY5" fmla="*/ 377687 h 1225826"/>
                  <a:gd name="connsiteX6" fmla="*/ 271670 w 1842053"/>
                  <a:gd name="connsiteY6" fmla="*/ 331304 h 1225826"/>
                  <a:gd name="connsiteX7" fmla="*/ 331305 w 1842053"/>
                  <a:gd name="connsiteY7" fmla="*/ 258417 h 1225826"/>
                  <a:gd name="connsiteX8" fmla="*/ 357809 w 1842053"/>
                  <a:gd name="connsiteY8" fmla="*/ 238539 h 1225826"/>
                  <a:gd name="connsiteX9" fmla="*/ 377687 w 1842053"/>
                  <a:gd name="connsiteY9" fmla="*/ 231913 h 1225826"/>
                  <a:gd name="connsiteX10" fmla="*/ 404192 w 1842053"/>
                  <a:gd name="connsiteY10" fmla="*/ 218661 h 1225826"/>
                  <a:gd name="connsiteX11" fmla="*/ 457200 w 1842053"/>
                  <a:gd name="connsiteY11" fmla="*/ 178904 h 1225826"/>
                  <a:gd name="connsiteX12" fmla="*/ 490331 w 1842053"/>
                  <a:gd name="connsiteY12" fmla="*/ 172278 h 1225826"/>
                  <a:gd name="connsiteX13" fmla="*/ 543340 w 1842053"/>
                  <a:gd name="connsiteY13" fmla="*/ 159026 h 1225826"/>
                  <a:gd name="connsiteX14" fmla="*/ 563218 w 1842053"/>
                  <a:gd name="connsiteY14" fmla="*/ 152400 h 1225826"/>
                  <a:gd name="connsiteX15" fmla="*/ 602974 w 1842053"/>
                  <a:gd name="connsiteY15" fmla="*/ 125896 h 1225826"/>
                  <a:gd name="connsiteX16" fmla="*/ 669235 w 1842053"/>
                  <a:gd name="connsiteY16" fmla="*/ 112644 h 1225826"/>
                  <a:gd name="connsiteX17" fmla="*/ 795131 w 1842053"/>
                  <a:gd name="connsiteY17" fmla="*/ 99391 h 1225826"/>
                  <a:gd name="connsiteX18" fmla="*/ 834887 w 1842053"/>
                  <a:gd name="connsiteY18" fmla="*/ 86139 h 1225826"/>
                  <a:gd name="connsiteX19" fmla="*/ 881270 w 1842053"/>
                  <a:gd name="connsiteY19" fmla="*/ 72887 h 1225826"/>
                  <a:gd name="connsiteX20" fmla="*/ 934279 w 1842053"/>
                  <a:gd name="connsiteY20" fmla="*/ 39757 h 1225826"/>
                  <a:gd name="connsiteX21" fmla="*/ 980661 w 1842053"/>
                  <a:gd name="connsiteY21" fmla="*/ 26504 h 1225826"/>
                  <a:gd name="connsiteX22" fmla="*/ 1000540 w 1842053"/>
                  <a:gd name="connsiteY22" fmla="*/ 19878 h 1225826"/>
                  <a:gd name="connsiteX23" fmla="*/ 1040296 w 1842053"/>
                  <a:gd name="connsiteY23" fmla="*/ 13252 h 1225826"/>
                  <a:gd name="connsiteX24" fmla="*/ 1086679 w 1842053"/>
                  <a:gd name="connsiteY24" fmla="*/ 0 h 1225826"/>
                  <a:gd name="connsiteX25" fmla="*/ 1245705 w 1842053"/>
                  <a:gd name="connsiteY25" fmla="*/ 6626 h 1225826"/>
                  <a:gd name="connsiteX26" fmla="*/ 1298714 w 1842053"/>
                  <a:gd name="connsiteY26" fmla="*/ 19878 h 1225826"/>
                  <a:gd name="connsiteX27" fmla="*/ 1331844 w 1842053"/>
                  <a:gd name="connsiteY27" fmla="*/ 39757 h 1225826"/>
                  <a:gd name="connsiteX28" fmla="*/ 1358348 w 1842053"/>
                  <a:gd name="connsiteY28" fmla="*/ 46383 h 1225826"/>
                  <a:gd name="connsiteX29" fmla="*/ 1398105 w 1842053"/>
                  <a:gd name="connsiteY29" fmla="*/ 72887 h 1225826"/>
                  <a:gd name="connsiteX30" fmla="*/ 1417983 w 1842053"/>
                  <a:gd name="connsiteY30" fmla="*/ 79513 h 1225826"/>
                  <a:gd name="connsiteX31" fmla="*/ 1464366 w 1842053"/>
                  <a:gd name="connsiteY31" fmla="*/ 119270 h 1225826"/>
                  <a:gd name="connsiteX32" fmla="*/ 1484244 w 1842053"/>
                  <a:gd name="connsiteY32" fmla="*/ 145774 h 1225826"/>
                  <a:gd name="connsiteX33" fmla="*/ 1497496 w 1842053"/>
                  <a:gd name="connsiteY33" fmla="*/ 172278 h 1225826"/>
                  <a:gd name="connsiteX34" fmla="*/ 1537253 w 1842053"/>
                  <a:gd name="connsiteY34" fmla="*/ 265044 h 1225826"/>
                  <a:gd name="connsiteX35" fmla="*/ 1656522 w 1842053"/>
                  <a:gd name="connsiteY35" fmla="*/ 430696 h 1225826"/>
                  <a:gd name="connsiteX36" fmla="*/ 1696279 w 1842053"/>
                  <a:gd name="connsiteY36" fmla="*/ 483704 h 1225826"/>
                  <a:gd name="connsiteX37" fmla="*/ 1722783 w 1842053"/>
                  <a:gd name="connsiteY37" fmla="*/ 516835 h 1225826"/>
                  <a:gd name="connsiteX38" fmla="*/ 1749287 w 1842053"/>
                  <a:gd name="connsiteY38" fmla="*/ 549965 h 1225826"/>
                  <a:gd name="connsiteX39" fmla="*/ 1775792 w 1842053"/>
                  <a:gd name="connsiteY39" fmla="*/ 583096 h 1225826"/>
                  <a:gd name="connsiteX40" fmla="*/ 1815548 w 1842053"/>
                  <a:gd name="connsiteY40" fmla="*/ 649357 h 1225826"/>
                  <a:gd name="connsiteX41" fmla="*/ 1842053 w 1842053"/>
                  <a:gd name="connsiteY41" fmla="*/ 695739 h 1225826"/>
                  <a:gd name="connsiteX42" fmla="*/ 1835427 w 1842053"/>
                  <a:gd name="connsiteY42" fmla="*/ 795130 h 1225826"/>
                  <a:gd name="connsiteX43" fmla="*/ 1828800 w 1842053"/>
                  <a:gd name="connsiteY43" fmla="*/ 815009 h 1225826"/>
                  <a:gd name="connsiteX44" fmla="*/ 1822174 w 1842053"/>
                  <a:gd name="connsiteY44" fmla="*/ 881270 h 1225826"/>
                  <a:gd name="connsiteX45" fmla="*/ 1815548 w 1842053"/>
                  <a:gd name="connsiteY45" fmla="*/ 1093304 h 1225826"/>
                  <a:gd name="connsiteX46" fmla="*/ 1802296 w 1842053"/>
                  <a:gd name="connsiteY46" fmla="*/ 1106557 h 1225826"/>
                  <a:gd name="connsiteX47" fmla="*/ 1795670 w 1842053"/>
                  <a:gd name="connsiteY47" fmla="*/ 1126435 h 1225826"/>
                  <a:gd name="connsiteX48" fmla="*/ 1722783 w 1842053"/>
                  <a:gd name="connsiteY48" fmla="*/ 1172817 h 1225826"/>
                  <a:gd name="connsiteX49" fmla="*/ 1689653 w 1842053"/>
                  <a:gd name="connsiteY49" fmla="*/ 1192696 h 1225826"/>
                  <a:gd name="connsiteX50" fmla="*/ 1656522 w 1842053"/>
                  <a:gd name="connsiteY50" fmla="*/ 1199322 h 1225826"/>
                  <a:gd name="connsiteX51" fmla="*/ 1583635 w 1842053"/>
                  <a:gd name="connsiteY51" fmla="*/ 1212574 h 1225826"/>
                  <a:gd name="connsiteX52" fmla="*/ 1557131 w 1842053"/>
                  <a:gd name="connsiteY52" fmla="*/ 1219200 h 1225826"/>
                  <a:gd name="connsiteX53" fmla="*/ 1133061 w 1842053"/>
                  <a:gd name="connsiteY53" fmla="*/ 1225826 h 1225826"/>
                  <a:gd name="connsiteX54" fmla="*/ 927653 w 1842053"/>
                  <a:gd name="connsiteY54" fmla="*/ 1219200 h 1225826"/>
                  <a:gd name="connsiteX55" fmla="*/ 861392 w 1842053"/>
                  <a:gd name="connsiteY55" fmla="*/ 1212574 h 1225826"/>
                  <a:gd name="connsiteX56" fmla="*/ 642731 w 1842053"/>
                  <a:gd name="connsiteY56" fmla="*/ 1199322 h 1225826"/>
                  <a:gd name="connsiteX57" fmla="*/ 609600 w 1842053"/>
                  <a:gd name="connsiteY57" fmla="*/ 1192696 h 1225826"/>
                  <a:gd name="connsiteX58" fmla="*/ 589722 w 1842053"/>
                  <a:gd name="connsiteY58" fmla="*/ 1186070 h 1225826"/>
                  <a:gd name="connsiteX59" fmla="*/ 563218 w 1842053"/>
                  <a:gd name="connsiteY59" fmla="*/ 1179444 h 1225826"/>
                  <a:gd name="connsiteX60" fmla="*/ 543340 w 1842053"/>
                  <a:gd name="connsiteY60" fmla="*/ 1166191 h 1225826"/>
                  <a:gd name="connsiteX61" fmla="*/ 490331 w 1842053"/>
                  <a:gd name="connsiteY61" fmla="*/ 1152939 h 1225826"/>
                  <a:gd name="connsiteX62" fmla="*/ 404192 w 1842053"/>
                  <a:gd name="connsiteY62" fmla="*/ 1119809 h 1225826"/>
                  <a:gd name="connsiteX63" fmla="*/ 371061 w 1842053"/>
                  <a:gd name="connsiteY63" fmla="*/ 1099930 h 1225826"/>
                  <a:gd name="connsiteX64" fmla="*/ 344557 w 1842053"/>
                  <a:gd name="connsiteY64" fmla="*/ 1086678 h 1225826"/>
                  <a:gd name="connsiteX65" fmla="*/ 291548 w 1842053"/>
                  <a:gd name="connsiteY65" fmla="*/ 1073426 h 1225826"/>
                  <a:gd name="connsiteX66" fmla="*/ 165653 w 1842053"/>
                  <a:gd name="connsiteY66" fmla="*/ 1000539 h 1225826"/>
                  <a:gd name="connsiteX67" fmla="*/ 119270 w 1842053"/>
                  <a:gd name="connsiteY67" fmla="*/ 974035 h 1225826"/>
                  <a:gd name="connsiteX68" fmla="*/ 86140 w 1842053"/>
                  <a:gd name="connsiteY68" fmla="*/ 954157 h 1225826"/>
                  <a:gd name="connsiteX69" fmla="*/ 33131 w 1842053"/>
                  <a:gd name="connsiteY69" fmla="*/ 927652 h 1225826"/>
                  <a:gd name="connsiteX70" fmla="*/ 0 w 1842053"/>
                  <a:gd name="connsiteY70" fmla="*/ 868017 h 1225826"/>
                  <a:gd name="connsiteX71" fmla="*/ 13253 w 1842053"/>
                  <a:gd name="connsiteY71" fmla="*/ 801757 h 1225826"/>
                  <a:gd name="connsiteX72" fmla="*/ 26505 w 1842053"/>
                  <a:gd name="connsiteY72" fmla="*/ 788504 h 1225826"/>
                  <a:gd name="connsiteX73" fmla="*/ 46383 w 1842053"/>
                  <a:gd name="connsiteY73" fmla="*/ 762000 h 1225826"/>
                  <a:gd name="connsiteX74" fmla="*/ 59635 w 1842053"/>
                  <a:gd name="connsiteY74" fmla="*/ 742122 h 1225826"/>
                  <a:gd name="connsiteX75" fmla="*/ 92766 w 1842053"/>
                  <a:gd name="connsiteY75" fmla="*/ 708991 h 1225826"/>
                  <a:gd name="connsiteX76" fmla="*/ 112644 w 1842053"/>
                  <a:gd name="connsiteY76" fmla="*/ 689113 h 1225826"/>
                  <a:gd name="connsiteX77" fmla="*/ 125896 w 1842053"/>
                  <a:gd name="connsiteY77" fmla="*/ 669235 h 1225826"/>
                  <a:gd name="connsiteX78" fmla="*/ 145774 w 1842053"/>
                  <a:gd name="connsiteY78" fmla="*/ 642730 h 1225826"/>
                  <a:gd name="connsiteX79" fmla="*/ 185531 w 1842053"/>
                  <a:gd name="connsiteY79" fmla="*/ 589722 h 1225826"/>
                  <a:gd name="connsiteX80" fmla="*/ 172279 w 1842053"/>
                  <a:gd name="connsiteY80" fmla="*/ 569844 h 1225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42053" h="1225826">
                    <a:moveTo>
                      <a:pt x="172279" y="569844"/>
                    </a:moveTo>
                    <a:lnTo>
                      <a:pt x="172279" y="569844"/>
                    </a:lnTo>
                    <a:cubicBezTo>
                      <a:pt x="185531" y="543339"/>
                      <a:pt x="202664" y="518442"/>
                      <a:pt x="212035" y="490330"/>
                    </a:cubicBezTo>
                    <a:cubicBezTo>
                      <a:pt x="221179" y="462897"/>
                      <a:pt x="214787" y="476263"/>
                      <a:pt x="231914" y="450574"/>
                    </a:cubicBezTo>
                    <a:cubicBezTo>
                      <a:pt x="235276" y="437127"/>
                      <a:pt x="239463" y="417498"/>
                      <a:pt x="245166" y="404191"/>
                    </a:cubicBezTo>
                    <a:cubicBezTo>
                      <a:pt x="249057" y="395112"/>
                      <a:pt x="254950" y="386936"/>
                      <a:pt x="258418" y="377687"/>
                    </a:cubicBezTo>
                    <a:cubicBezTo>
                      <a:pt x="262376" y="367131"/>
                      <a:pt x="265510" y="342393"/>
                      <a:pt x="271670" y="331304"/>
                    </a:cubicBezTo>
                    <a:cubicBezTo>
                      <a:pt x="286010" y="305491"/>
                      <a:pt x="307335" y="276394"/>
                      <a:pt x="331305" y="258417"/>
                    </a:cubicBezTo>
                    <a:cubicBezTo>
                      <a:pt x="340140" y="251791"/>
                      <a:pt x="348221" y="244018"/>
                      <a:pt x="357809" y="238539"/>
                    </a:cubicBezTo>
                    <a:cubicBezTo>
                      <a:pt x="363873" y="235074"/>
                      <a:pt x="371267" y="234664"/>
                      <a:pt x="377687" y="231913"/>
                    </a:cubicBezTo>
                    <a:cubicBezTo>
                      <a:pt x="386766" y="228022"/>
                      <a:pt x="395357" y="223078"/>
                      <a:pt x="404192" y="218661"/>
                    </a:cubicBezTo>
                    <a:cubicBezTo>
                      <a:pt x="423192" y="199661"/>
                      <a:pt x="429758" y="189881"/>
                      <a:pt x="457200" y="178904"/>
                    </a:cubicBezTo>
                    <a:cubicBezTo>
                      <a:pt x="467657" y="174721"/>
                      <a:pt x="479357" y="174810"/>
                      <a:pt x="490331" y="172278"/>
                    </a:cubicBezTo>
                    <a:cubicBezTo>
                      <a:pt x="508078" y="168183"/>
                      <a:pt x="526061" y="164786"/>
                      <a:pt x="543340" y="159026"/>
                    </a:cubicBezTo>
                    <a:cubicBezTo>
                      <a:pt x="549966" y="156817"/>
                      <a:pt x="557113" y="155792"/>
                      <a:pt x="563218" y="152400"/>
                    </a:cubicBezTo>
                    <a:cubicBezTo>
                      <a:pt x="577141" y="144665"/>
                      <a:pt x="587356" y="129019"/>
                      <a:pt x="602974" y="125896"/>
                    </a:cubicBezTo>
                    <a:cubicBezTo>
                      <a:pt x="625061" y="121479"/>
                      <a:pt x="646803" y="114684"/>
                      <a:pt x="669235" y="112644"/>
                    </a:cubicBezTo>
                    <a:cubicBezTo>
                      <a:pt x="759856" y="104405"/>
                      <a:pt x="717914" y="109043"/>
                      <a:pt x="795131" y="99391"/>
                    </a:cubicBezTo>
                    <a:cubicBezTo>
                      <a:pt x="808383" y="94974"/>
                      <a:pt x="821456" y="89976"/>
                      <a:pt x="834887" y="86139"/>
                    </a:cubicBezTo>
                    <a:cubicBezTo>
                      <a:pt x="850348" y="81722"/>
                      <a:pt x="866158" y="78382"/>
                      <a:pt x="881270" y="72887"/>
                    </a:cubicBezTo>
                    <a:cubicBezTo>
                      <a:pt x="920216" y="58725"/>
                      <a:pt x="897005" y="61057"/>
                      <a:pt x="934279" y="39757"/>
                    </a:cubicBezTo>
                    <a:cubicBezTo>
                      <a:pt x="942227" y="35215"/>
                      <a:pt x="974199" y="28350"/>
                      <a:pt x="980661" y="26504"/>
                    </a:cubicBezTo>
                    <a:cubicBezTo>
                      <a:pt x="987377" y="24585"/>
                      <a:pt x="993722" y="21393"/>
                      <a:pt x="1000540" y="19878"/>
                    </a:cubicBezTo>
                    <a:cubicBezTo>
                      <a:pt x="1013655" y="16964"/>
                      <a:pt x="1027122" y="15887"/>
                      <a:pt x="1040296" y="13252"/>
                    </a:cubicBezTo>
                    <a:cubicBezTo>
                      <a:pt x="1061095" y="9092"/>
                      <a:pt x="1067734" y="6315"/>
                      <a:pt x="1086679" y="0"/>
                    </a:cubicBezTo>
                    <a:cubicBezTo>
                      <a:pt x="1139688" y="2209"/>
                      <a:pt x="1192776" y="2976"/>
                      <a:pt x="1245705" y="6626"/>
                    </a:cubicBezTo>
                    <a:cubicBezTo>
                      <a:pt x="1254473" y="7231"/>
                      <a:pt x="1287508" y="14275"/>
                      <a:pt x="1298714" y="19878"/>
                    </a:cubicBezTo>
                    <a:cubicBezTo>
                      <a:pt x="1310233" y="25638"/>
                      <a:pt x="1320075" y="34526"/>
                      <a:pt x="1331844" y="39757"/>
                    </a:cubicBezTo>
                    <a:cubicBezTo>
                      <a:pt x="1340166" y="43456"/>
                      <a:pt x="1349513" y="44174"/>
                      <a:pt x="1358348" y="46383"/>
                    </a:cubicBezTo>
                    <a:cubicBezTo>
                      <a:pt x="1371600" y="55218"/>
                      <a:pt x="1384182" y="65152"/>
                      <a:pt x="1398105" y="72887"/>
                    </a:cubicBezTo>
                    <a:cubicBezTo>
                      <a:pt x="1404211" y="76279"/>
                      <a:pt x="1411736" y="76389"/>
                      <a:pt x="1417983" y="79513"/>
                    </a:cubicBezTo>
                    <a:cubicBezTo>
                      <a:pt x="1434009" y="87526"/>
                      <a:pt x="1454584" y="106228"/>
                      <a:pt x="1464366" y="119270"/>
                    </a:cubicBezTo>
                    <a:cubicBezTo>
                      <a:pt x="1470992" y="128105"/>
                      <a:pt x="1478391" y="136409"/>
                      <a:pt x="1484244" y="145774"/>
                    </a:cubicBezTo>
                    <a:cubicBezTo>
                      <a:pt x="1489479" y="154150"/>
                      <a:pt x="1493605" y="163199"/>
                      <a:pt x="1497496" y="172278"/>
                    </a:cubicBezTo>
                    <a:cubicBezTo>
                      <a:pt x="1511638" y="205277"/>
                      <a:pt x="1520018" y="234882"/>
                      <a:pt x="1537253" y="265044"/>
                    </a:cubicBezTo>
                    <a:cubicBezTo>
                      <a:pt x="1591384" y="359773"/>
                      <a:pt x="1573197" y="324225"/>
                      <a:pt x="1656522" y="430696"/>
                    </a:cubicBezTo>
                    <a:cubicBezTo>
                      <a:pt x="1670134" y="448089"/>
                      <a:pt x="1682812" y="466197"/>
                      <a:pt x="1696279" y="483704"/>
                    </a:cubicBezTo>
                    <a:cubicBezTo>
                      <a:pt x="1704902" y="494914"/>
                      <a:pt x="1713948" y="505791"/>
                      <a:pt x="1722783" y="516835"/>
                    </a:cubicBezTo>
                    <a:lnTo>
                      <a:pt x="1749287" y="549965"/>
                    </a:lnTo>
                    <a:lnTo>
                      <a:pt x="1775792" y="583096"/>
                    </a:lnTo>
                    <a:cubicBezTo>
                      <a:pt x="1808566" y="665030"/>
                      <a:pt x="1764647" y="564521"/>
                      <a:pt x="1815548" y="649357"/>
                    </a:cubicBezTo>
                    <a:cubicBezTo>
                      <a:pt x="1850582" y="707748"/>
                      <a:pt x="1810167" y="663856"/>
                      <a:pt x="1842053" y="695739"/>
                    </a:cubicBezTo>
                    <a:cubicBezTo>
                      <a:pt x="1839844" y="728869"/>
                      <a:pt x="1839094" y="762129"/>
                      <a:pt x="1835427" y="795130"/>
                    </a:cubicBezTo>
                    <a:cubicBezTo>
                      <a:pt x="1834656" y="802072"/>
                      <a:pt x="1829862" y="808105"/>
                      <a:pt x="1828800" y="815009"/>
                    </a:cubicBezTo>
                    <a:cubicBezTo>
                      <a:pt x="1825425" y="836948"/>
                      <a:pt x="1824383" y="859183"/>
                      <a:pt x="1822174" y="881270"/>
                    </a:cubicBezTo>
                    <a:cubicBezTo>
                      <a:pt x="1819965" y="951948"/>
                      <a:pt x="1821763" y="1022865"/>
                      <a:pt x="1815548" y="1093304"/>
                    </a:cubicBezTo>
                    <a:cubicBezTo>
                      <a:pt x="1814999" y="1099527"/>
                      <a:pt x="1805510" y="1101200"/>
                      <a:pt x="1802296" y="1106557"/>
                    </a:cubicBezTo>
                    <a:cubicBezTo>
                      <a:pt x="1798703" y="1112546"/>
                      <a:pt x="1800609" y="1121496"/>
                      <a:pt x="1795670" y="1126435"/>
                    </a:cubicBezTo>
                    <a:cubicBezTo>
                      <a:pt x="1723325" y="1198779"/>
                      <a:pt x="1767962" y="1150227"/>
                      <a:pt x="1722783" y="1172817"/>
                    </a:cubicBezTo>
                    <a:cubicBezTo>
                      <a:pt x="1711264" y="1178577"/>
                      <a:pt x="1701611" y="1187913"/>
                      <a:pt x="1689653" y="1192696"/>
                    </a:cubicBezTo>
                    <a:cubicBezTo>
                      <a:pt x="1679196" y="1196879"/>
                      <a:pt x="1667603" y="1197307"/>
                      <a:pt x="1656522" y="1199322"/>
                    </a:cubicBezTo>
                    <a:cubicBezTo>
                      <a:pt x="1616969" y="1206513"/>
                      <a:pt x="1620457" y="1204392"/>
                      <a:pt x="1583635" y="1212574"/>
                    </a:cubicBezTo>
                    <a:cubicBezTo>
                      <a:pt x="1574745" y="1214549"/>
                      <a:pt x="1566234" y="1218932"/>
                      <a:pt x="1557131" y="1219200"/>
                    </a:cubicBezTo>
                    <a:cubicBezTo>
                      <a:pt x="1415818" y="1223356"/>
                      <a:pt x="1274418" y="1223617"/>
                      <a:pt x="1133061" y="1225826"/>
                    </a:cubicBezTo>
                    <a:lnTo>
                      <a:pt x="927653" y="1219200"/>
                    </a:lnTo>
                    <a:cubicBezTo>
                      <a:pt x="905482" y="1218119"/>
                      <a:pt x="883512" y="1214417"/>
                      <a:pt x="861392" y="1212574"/>
                    </a:cubicBezTo>
                    <a:cubicBezTo>
                      <a:pt x="778933" y="1205703"/>
                      <a:pt x="728793" y="1203852"/>
                      <a:pt x="642731" y="1199322"/>
                    </a:cubicBezTo>
                    <a:cubicBezTo>
                      <a:pt x="631687" y="1197113"/>
                      <a:pt x="620526" y="1195427"/>
                      <a:pt x="609600" y="1192696"/>
                    </a:cubicBezTo>
                    <a:cubicBezTo>
                      <a:pt x="602824" y="1191002"/>
                      <a:pt x="596438" y="1187989"/>
                      <a:pt x="589722" y="1186070"/>
                    </a:cubicBezTo>
                    <a:cubicBezTo>
                      <a:pt x="580966" y="1183568"/>
                      <a:pt x="572053" y="1181653"/>
                      <a:pt x="563218" y="1179444"/>
                    </a:cubicBezTo>
                    <a:cubicBezTo>
                      <a:pt x="556592" y="1175026"/>
                      <a:pt x="550463" y="1169753"/>
                      <a:pt x="543340" y="1166191"/>
                    </a:cubicBezTo>
                    <a:cubicBezTo>
                      <a:pt x="526634" y="1157838"/>
                      <a:pt x="507968" y="1157978"/>
                      <a:pt x="490331" y="1152939"/>
                    </a:cubicBezTo>
                    <a:cubicBezTo>
                      <a:pt x="453265" y="1142349"/>
                      <a:pt x="434381" y="1136581"/>
                      <a:pt x="404192" y="1119809"/>
                    </a:cubicBezTo>
                    <a:cubicBezTo>
                      <a:pt x="392934" y="1113554"/>
                      <a:pt x="382319" y="1106185"/>
                      <a:pt x="371061" y="1099930"/>
                    </a:cubicBezTo>
                    <a:cubicBezTo>
                      <a:pt x="362427" y="1095133"/>
                      <a:pt x="353928" y="1089801"/>
                      <a:pt x="344557" y="1086678"/>
                    </a:cubicBezTo>
                    <a:cubicBezTo>
                      <a:pt x="327278" y="1080918"/>
                      <a:pt x="291548" y="1073426"/>
                      <a:pt x="291548" y="1073426"/>
                    </a:cubicBezTo>
                    <a:cubicBezTo>
                      <a:pt x="196833" y="1018176"/>
                      <a:pt x="238572" y="1042207"/>
                      <a:pt x="165653" y="1000539"/>
                    </a:cubicBezTo>
                    <a:lnTo>
                      <a:pt x="119270" y="974035"/>
                    </a:lnTo>
                    <a:cubicBezTo>
                      <a:pt x="108146" y="967546"/>
                      <a:pt x="98097" y="958940"/>
                      <a:pt x="86140" y="954157"/>
                    </a:cubicBezTo>
                    <a:cubicBezTo>
                      <a:pt x="45615" y="937946"/>
                      <a:pt x="62906" y="947502"/>
                      <a:pt x="33131" y="927652"/>
                    </a:cubicBezTo>
                    <a:cubicBezTo>
                      <a:pt x="2753" y="882084"/>
                      <a:pt x="11664" y="903005"/>
                      <a:pt x="0" y="868017"/>
                    </a:cubicBezTo>
                    <a:cubicBezTo>
                      <a:pt x="1149" y="859976"/>
                      <a:pt x="4580" y="816213"/>
                      <a:pt x="13253" y="801757"/>
                    </a:cubicBezTo>
                    <a:cubicBezTo>
                      <a:pt x="16467" y="796400"/>
                      <a:pt x="22506" y="793303"/>
                      <a:pt x="26505" y="788504"/>
                    </a:cubicBezTo>
                    <a:cubicBezTo>
                      <a:pt x="33575" y="780020"/>
                      <a:pt x="39964" y="770986"/>
                      <a:pt x="46383" y="762000"/>
                    </a:cubicBezTo>
                    <a:cubicBezTo>
                      <a:pt x="51012" y="755520"/>
                      <a:pt x="54391" y="748115"/>
                      <a:pt x="59635" y="742122"/>
                    </a:cubicBezTo>
                    <a:cubicBezTo>
                      <a:pt x="69920" y="730368"/>
                      <a:pt x="81722" y="720035"/>
                      <a:pt x="92766" y="708991"/>
                    </a:cubicBezTo>
                    <a:cubicBezTo>
                      <a:pt x="99392" y="702365"/>
                      <a:pt x="107446" y="696910"/>
                      <a:pt x="112644" y="689113"/>
                    </a:cubicBezTo>
                    <a:cubicBezTo>
                      <a:pt x="117061" y="682487"/>
                      <a:pt x="121267" y="675715"/>
                      <a:pt x="125896" y="669235"/>
                    </a:cubicBezTo>
                    <a:cubicBezTo>
                      <a:pt x="132315" y="660248"/>
                      <a:pt x="138704" y="651214"/>
                      <a:pt x="145774" y="642730"/>
                    </a:cubicBezTo>
                    <a:cubicBezTo>
                      <a:pt x="158534" y="627418"/>
                      <a:pt x="185531" y="611217"/>
                      <a:pt x="185531" y="589722"/>
                    </a:cubicBezTo>
                    <a:lnTo>
                      <a:pt x="172279" y="569844"/>
                    </a:ln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 smtClean="0">
                    <a:solidFill>
                      <a:schemeClr val="tx1"/>
                    </a:solidFill>
                  </a:rPr>
                  <a:t>Supplier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手繪多邊形 11"/>
              <p:cNvSpPr/>
              <p:nvPr/>
            </p:nvSpPr>
            <p:spPr>
              <a:xfrm>
                <a:off x="1475656" y="4867470"/>
                <a:ext cx="1842053" cy="1225826"/>
              </a:xfrm>
              <a:custGeom>
                <a:avLst/>
                <a:gdLst>
                  <a:gd name="connsiteX0" fmla="*/ 172279 w 1842053"/>
                  <a:gd name="connsiteY0" fmla="*/ 569844 h 1225826"/>
                  <a:gd name="connsiteX1" fmla="*/ 172279 w 1842053"/>
                  <a:gd name="connsiteY1" fmla="*/ 569844 h 1225826"/>
                  <a:gd name="connsiteX2" fmla="*/ 212035 w 1842053"/>
                  <a:gd name="connsiteY2" fmla="*/ 490330 h 1225826"/>
                  <a:gd name="connsiteX3" fmla="*/ 231914 w 1842053"/>
                  <a:gd name="connsiteY3" fmla="*/ 450574 h 1225826"/>
                  <a:gd name="connsiteX4" fmla="*/ 245166 w 1842053"/>
                  <a:gd name="connsiteY4" fmla="*/ 404191 h 1225826"/>
                  <a:gd name="connsiteX5" fmla="*/ 258418 w 1842053"/>
                  <a:gd name="connsiteY5" fmla="*/ 377687 h 1225826"/>
                  <a:gd name="connsiteX6" fmla="*/ 271670 w 1842053"/>
                  <a:gd name="connsiteY6" fmla="*/ 331304 h 1225826"/>
                  <a:gd name="connsiteX7" fmla="*/ 331305 w 1842053"/>
                  <a:gd name="connsiteY7" fmla="*/ 258417 h 1225826"/>
                  <a:gd name="connsiteX8" fmla="*/ 357809 w 1842053"/>
                  <a:gd name="connsiteY8" fmla="*/ 238539 h 1225826"/>
                  <a:gd name="connsiteX9" fmla="*/ 377687 w 1842053"/>
                  <a:gd name="connsiteY9" fmla="*/ 231913 h 1225826"/>
                  <a:gd name="connsiteX10" fmla="*/ 404192 w 1842053"/>
                  <a:gd name="connsiteY10" fmla="*/ 218661 h 1225826"/>
                  <a:gd name="connsiteX11" fmla="*/ 457200 w 1842053"/>
                  <a:gd name="connsiteY11" fmla="*/ 178904 h 1225826"/>
                  <a:gd name="connsiteX12" fmla="*/ 490331 w 1842053"/>
                  <a:gd name="connsiteY12" fmla="*/ 172278 h 1225826"/>
                  <a:gd name="connsiteX13" fmla="*/ 543340 w 1842053"/>
                  <a:gd name="connsiteY13" fmla="*/ 159026 h 1225826"/>
                  <a:gd name="connsiteX14" fmla="*/ 563218 w 1842053"/>
                  <a:gd name="connsiteY14" fmla="*/ 152400 h 1225826"/>
                  <a:gd name="connsiteX15" fmla="*/ 602974 w 1842053"/>
                  <a:gd name="connsiteY15" fmla="*/ 125896 h 1225826"/>
                  <a:gd name="connsiteX16" fmla="*/ 669235 w 1842053"/>
                  <a:gd name="connsiteY16" fmla="*/ 112644 h 1225826"/>
                  <a:gd name="connsiteX17" fmla="*/ 795131 w 1842053"/>
                  <a:gd name="connsiteY17" fmla="*/ 99391 h 1225826"/>
                  <a:gd name="connsiteX18" fmla="*/ 834887 w 1842053"/>
                  <a:gd name="connsiteY18" fmla="*/ 86139 h 1225826"/>
                  <a:gd name="connsiteX19" fmla="*/ 881270 w 1842053"/>
                  <a:gd name="connsiteY19" fmla="*/ 72887 h 1225826"/>
                  <a:gd name="connsiteX20" fmla="*/ 934279 w 1842053"/>
                  <a:gd name="connsiteY20" fmla="*/ 39757 h 1225826"/>
                  <a:gd name="connsiteX21" fmla="*/ 980661 w 1842053"/>
                  <a:gd name="connsiteY21" fmla="*/ 26504 h 1225826"/>
                  <a:gd name="connsiteX22" fmla="*/ 1000540 w 1842053"/>
                  <a:gd name="connsiteY22" fmla="*/ 19878 h 1225826"/>
                  <a:gd name="connsiteX23" fmla="*/ 1040296 w 1842053"/>
                  <a:gd name="connsiteY23" fmla="*/ 13252 h 1225826"/>
                  <a:gd name="connsiteX24" fmla="*/ 1086679 w 1842053"/>
                  <a:gd name="connsiteY24" fmla="*/ 0 h 1225826"/>
                  <a:gd name="connsiteX25" fmla="*/ 1245705 w 1842053"/>
                  <a:gd name="connsiteY25" fmla="*/ 6626 h 1225826"/>
                  <a:gd name="connsiteX26" fmla="*/ 1298714 w 1842053"/>
                  <a:gd name="connsiteY26" fmla="*/ 19878 h 1225826"/>
                  <a:gd name="connsiteX27" fmla="*/ 1331844 w 1842053"/>
                  <a:gd name="connsiteY27" fmla="*/ 39757 h 1225826"/>
                  <a:gd name="connsiteX28" fmla="*/ 1358348 w 1842053"/>
                  <a:gd name="connsiteY28" fmla="*/ 46383 h 1225826"/>
                  <a:gd name="connsiteX29" fmla="*/ 1398105 w 1842053"/>
                  <a:gd name="connsiteY29" fmla="*/ 72887 h 1225826"/>
                  <a:gd name="connsiteX30" fmla="*/ 1417983 w 1842053"/>
                  <a:gd name="connsiteY30" fmla="*/ 79513 h 1225826"/>
                  <a:gd name="connsiteX31" fmla="*/ 1464366 w 1842053"/>
                  <a:gd name="connsiteY31" fmla="*/ 119270 h 1225826"/>
                  <a:gd name="connsiteX32" fmla="*/ 1484244 w 1842053"/>
                  <a:gd name="connsiteY32" fmla="*/ 145774 h 1225826"/>
                  <a:gd name="connsiteX33" fmla="*/ 1497496 w 1842053"/>
                  <a:gd name="connsiteY33" fmla="*/ 172278 h 1225826"/>
                  <a:gd name="connsiteX34" fmla="*/ 1537253 w 1842053"/>
                  <a:gd name="connsiteY34" fmla="*/ 265044 h 1225826"/>
                  <a:gd name="connsiteX35" fmla="*/ 1656522 w 1842053"/>
                  <a:gd name="connsiteY35" fmla="*/ 430696 h 1225826"/>
                  <a:gd name="connsiteX36" fmla="*/ 1696279 w 1842053"/>
                  <a:gd name="connsiteY36" fmla="*/ 483704 h 1225826"/>
                  <a:gd name="connsiteX37" fmla="*/ 1722783 w 1842053"/>
                  <a:gd name="connsiteY37" fmla="*/ 516835 h 1225826"/>
                  <a:gd name="connsiteX38" fmla="*/ 1749287 w 1842053"/>
                  <a:gd name="connsiteY38" fmla="*/ 549965 h 1225826"/>
                  <a:gd name="connsiteX39" fmla="*/ 1775792 w 1842053"/>
                  <a:gd name="connsiteY39" fmla="*/ 583096 h 1225826"/>
                  <a:gd name="connsiteX40" fmla="*/ 1815548 w 1842053"/>
                  <a:gd name="connsiteY40" fmla="*/ 649357 h 1225826"/>
                  <a:gd name="connsiteX41" fmla="*/ 1842053 w 1842053"/>
                  <a:gd name="connsiteY41" fmla="*/ 695739 h 1225826"/>
                  <a:gd name="connsiteX42" fmla="*/ 1835427 w 1842053"/>
                  <a:gd name="connsiteY42" fmla="*/ 795130 h 1225826"/>
                  <a:gd name="connsiteX43" fmla="*/ 1828800 w 1842053"/>
                  <a:gd name="connsiteY43" fmla="*/ 815009 h 1225826"/>
                  <a:gd name="connsiteX44" fmla="*/ 1822174 w 1842053"/>
                  <a:gd name="connsiteY44" fmla="*/ 881270 h 1225826"/>
                  <a:gd name="connsiteX45" fmla="*/ 1815548 w 1842053"/>
                  <a:gd name="connsiteY45" fmla="*/ 1093304 h 1225826"/>
                  <a:gd name="connsiteX46" fmla="*/ 1802296 w 1842053"/>
                  <a:gd name="connsiteY46" fmla="*/ 1106557 h 1225826"/>
                  <a:gd name="connsiteX47" fmla="*/ 1795670 w 1842053"/>
                  <a:gd name="connsiteY47" fmla="*/ 1126435 h 1225826"/>
                  <a:gd name="connsiteX48" fmla="*/ 1722783 w 1842053"/>
                  <a:gd name="connsiteY48" fmla="*/ 1172817 h 1225826"/>
                  <a:gd name="connsiteX49" fmla="*/ 1689653 w 1842053"/>
                  <a:gd name="connsiteY49" fmla="*/ 1192696 h 1225826"/>
                  <a:gd name="connsiteX50" fmla="*/ 1656522 w 1842053"/>
                  <a:gd name="connsiteY50" fmla="*/ 1199322 h 1225826"/>
                  <a:gd name="connsiteX51" fmla="*/ 1583635 w 1842053"/>
                  <a:gd name="connsiteY51" fmla="*/ 1212574 h 1225826"/>
                  <a:gd name="connsiteX52" fmla="*/ 1557131 w 1842053"/>
                  <a:gd name="connsiteY52" fmla="*/ 1219200 h 1225826"/>
                  <a:gd name="connsiteX53" fmla="*/ 1133061 w 1842053"/>
                  <a:gd name="connsiteY53" fmla="*/ 1225826 h 1225826"/>
                  <a:gd name="connsiteX54" fmla="*/ 927653 w 1842053"/>
                  <a:gd name="connsiteY54" fmla="*/ 1219200 h 1225826"/>
                  <a:gd name="connsiteX55" fmla="*/ 861392 w 1842053"/>
                  <a:gd name="connsiteY55" fmla="*/ 1212574 h 1225826"/>
                  <a:gd name="connsiteX56" fmla="*/ 642731 w 1842053"/>
                  <a:gd name="connsiteY56" fmla="*/ 1199322 h 1225826"/>
                  <a:gd name="connsiteX57" fmla="*/ 609600 w 1842053"/>
                  <a:gd name="connsiteY57" fmla="*/ 1192696 h 1225826"/>
                  <a:gd name="connsiteX58" fmla="*/ 589722 w 1842053"/>
                  <a:gd name="connsiteY58" fmla="*/ 1186070 h 1225826"/>
                  <a:gd name="connsiteX59" fmla="*/ 563218 w 1842053"/>
                  <a:gd name="connsiteY59" fmla="*/ 1179444 h 1225826"/>
                  <a:gd name="connsiteX60" fmla="*/ 543340 w 1842053"/>
                  <a:gd name="connsiteY60" fmla="*/ 1166191 h 1225826"/>
                  <a:gd name="connsiteX61" fmla="*/ 490331 w 1842053"/>
                  <a:gd name="connsiteY61" fmla="*/ 1152939 h 1225826"/>
                  <a:gd name="connsiteX62" fmla="*/ 404192 w 1842053"/>
                  <a:gd name="connsiteY62" fmla="*/ 1119809 h 1225826"/>
                  <a:gd name="connsiteX63" fmla="*/ 371061 w 1842053"/>
                  <a:gd name="connsiteY63" fmla="*/ 1099930 h 1225826"/>
                  <a:gd name="connsiteX64" fmla="*/ 344557 w 1842053"/>
                  <a:gd name="connsiteY64" fmla="*/ 1086678 h 1225826"/>
                  <a:gd name="connsiteX65" fmla="*/ 291548 w 1842053"/>
                  <a:gd name="connsiteY65" fmla="*/ 1073426 h 1225826"/>
                  <a:gd name="connsiteX66" fmla="*/ 165653 w 1842053"/>
                  <a:gd name="connsiteY66" fmla="*/ 1000539 h 1225826"/>
                  <a:gd name="connsiteX67" fmla="*/ 119270 w 1842053"/>
                  <a:gd name="connsiteY67" fmla="*/ 974035 h 1225826"/>
                  <a:gd name="connsiteX68" fmla="*/ 86140 w 1842053"/>
                  <a:gd name="connsiteY68" fmla="*/ 954157 h 1225826"/>
                  <a:gd name="connsiteX69" fmla="*/ 33131 w 1842053"/>
                  <a:gd name="connsiteY69" fmla="*/ 927652 h 1225826"/>
                  <a:gd name="connsiteX70" fmla="*/ 0 w 1842053"/>
                  <a:gd name="connsiteY70" fmla="*/ 868017 h 1225826"/>
                  <a:gd name="connsiteX71" fmla="*/ 13253 w 1842053"/>
                  <a:gd name="connsiteY71" fmla="*/ 801757 h 1225826"/>
                  <a:gd name="connsiteX72" fmla="*/ 26505 w 1842053"/>
                  <a:gd name="connsiteY72" fmla="*/ 788504 h 1225826"/>
                  <a:gd name="connsiteX73" fmla="*/ 46383 w 1842053"/>
                  <a:gd name="connsiteY73" fmla="*/ 762000 h 1225826"/>
                  <a:gd name="connsiteX74" fmla="*/ 59635 w 1842053"/>
                  <a:gd name="connsiteY74" fmla="*/ 742122 h 1225826"/>
                  <a:gd name="connsiteX75" fmla="*/ 92766 w 1842053"/>
                  <a:gd name="connsiteY75" fmla="*/ 708991 h 1225826"/>
                  <a:gd name="connsiteX76" fmla="*/ 112644 w 1842053"/>
                  <a:gd name="connsiteY76" fmla="*/ 689113 h 1225826"/>
                  <a:gd name="connsiteX77" fmla="*/ 125896 w 1842053"/>
                  <a:gd name="connsiteY77" fmla="*/ 669235 h 1225826"/>
                  <a:gd name="connsiteX78" fmla="*/ 145774 w 1842053"/>
                  <a:gd name="connsiteY78" fmla="*/ 642730 h 1225826"/>
                  <a:gd name="connsiteX79" fmla="*/ 185531 w 1842053"/>
                  <a:gd name="connsiteY79" fmla="*/ 589722 h 1225826"/>
                  <a:gd name="connsiteX80" fmla="*/ 172279 w 1842053"/>
                  <a:gd name="connsiteY80" fmla="*/ 569844 h 1225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842053" h="1225826">
                    <a:moveTo>
                      <a:pt x="172279" y="569844"/>
                    </a:moveTo>
                    <a:lnTo>
                      <a:pt x="172279" y="569844"/>
                    </a:lnTo>
                    <a:cubicBezTo>
                      <a:pt x="185531" y="543339"/>
                      <a:pt x="202664" y="518442"/>
                      <a:pt x="212035" y="490330"/>
                    </a:cubicBezTo>
                    <a:cubicBezTo>
                      <a:pt x="221179" y="462897"/>
                      <a:pt x="214787" y="476263"/>
                      <a:pt x="231914" y="450574"/>
                    </a:cubicBezTo>
                    <a:cubicBezTo>
                      <a:pt x="235276" y="437127"/>
                      <a:pt x="239463" y="417498"/>
                      <a:pt x="245166" y="404191"/>
                    </a:cubicBezTo>
                    <a:cubicBezTo>
                      <a:pt x="249057" y="395112"/>
                      <a:pt x="254950" y="386936"/>
                      <a:pt x="258418" y="377687"/>
                    </a:cubicBezTo>
                    <a:cubicBezTo>
                      <a:pt x="262376" y="367131"/>
                      <a:pt x="265510" y="342393"/>
                      <a:pt x="271670" y="331304"/>
                    </a:cubicBezTo>
                    <a:cubicBezTo>
                      <a:pt x="286010" y="305491"/>
                      <a:pt x="307335" y="276394"/>
                      <a:pt x="331305" y="258417"/>
                    </a:cubicBezTo>
                    <a:cubicBezTo>
                      <a:pt x="340140" y="251791"/>
                      <a:pt x="348221" y="244018"/>
                      <a:pt x="357809" y="238539"/>
                    </a:cubicBezTo>
                    <a:cubicBezTo>
                      <a:pt x="363873" y="235074"/>
                      <a:pt x="371267" y="234664"/>
                      <a:pt x="377687" y="231913"/>
                    </a:cubicBezTo>
                    <a:cubicBezTo>
                      <a:pt x="386766" y="228022"/>
                      <a:pt x="395357" y="223078"/>
                      <a:pt x="404192" y="218661"/>
                    </a:cubicBezTo>
                    <a:cubicBezTo>
                      <a:pt x="423192" y="199661"/>
                      <a:pt x="429758" y="189881"/>
                      <a:pt x="457200" y="178904"/>
                    </a:cubicBezTo>
                    <a:cubicBezTo>
                      <a:pt x="467657" y="174721"/>
                      <a:pt x="479357" y="174810"/>
                      <a:pt x="490331" y="172278"/>
                    </a:cubicBezTo>
                    <a:cubicBezTo>
                      <a:pt x="508078" y="168183"/>
                      <a:pt x="526061" y="164786"/>
                      <a:pt x="543340" y="159026"/>
                    </a:cubicBezTo>
                    <a:cubicBezTo>
                      <a:pt x="549966" y="156817"/>
                      <a:pt x="557113" y="155792"/>
                      <a:pt x="563218" y="152400"/>
                    </a:cubicBezTo>
                    <a:cubicBezTo>
                      <a:pt x="577141" y="144665"/>
                      <a:pt x="587356" y="129019"/>
                      <a:pt x="602974" y="125896"/>
                    </a:cubicBezTo>
                    <a:cubicBezTo>
                      <a:pt x="625061" y="121479"/>
                      <a:pt x="646803" y="114684"/>
                      <a:pt x="669235" y="112644"/>
                    </a:cubicBezTo>
                    <a:cubicBezTo>
                      <a:pt x="759856" y="104405"/>
                      <a:pt x="717914" y="109043"/>
                      <a:pt x="795131" y="99391"/>
                    </a:cubicBezTo>
                    <a:cubicBezTo>
                      <a:pt x="808383" y="94974"/>
                      <a:pt x="821456" y="89976"/>
                      <a:pt x="834887" y="86139"/>
                    </a:cubicBezTo>
                    <a:cubicBezTo>
                      <a:pt x="850348" y="81722"/>
                      <a:pt x="866158" y="78382"/>
                      <a:pt x="881270" y="72887"/>
                    </a:cubicBezTo>
                    <a:cubicBezTo>
                      <a:pt x="920216" y="58725"/>
                      <a:pt x="897005" y="61057"/>
                      <a:pt x="934279" y="39757"/>
                    </a:cubicBezTo>
                    <a:cubicBezTo>
                      <a:pt x="942227" y="35215"/>
                      <a:pt x="974199" y="28350"/>
                      <a:pt x="980661" y="26504"/>
                    </a:cubicBezTo>
                    <a:cubicBezTo>
                      <a:pt x="987377" y="24585"/>
                      <a:pt x="993722" y="21393"/>
                      <a:pt x="1000540" y="19878"/>
                    </a:cubicBezTo>
                    <a:cubicBezTo>
                      <a:pt x="1013655" y="16964"/>
                      <a:pt x="1027122" y="15887"/>
                      <a:pt x="1040296" y="13252"/>
                    </a:cubicBezTo>
                    <a:cubicBezTo>
                      <a:pt x="1061095" y="9092"/>
                      <a:pt x="1067734" y="6315"/>
                      <a:pt x="1086679" y="0"/>
                    </a:cubicBezTo>
                    <a:cubicBezTo>
                      <a:pt x="1139688" y="2209"/>
                      <a:pt x="1192776" y="2976"/>
                      <a:pt x="1245705" y="6626"/>
                    </a:cubicBezTo>
                    <a:cubicBezTo>
                      <a:pt x="1254473" y="7231"/>
                      <a:pt x="1287508" y="14275"/>
                      <a:pt x="1298714" y="19878"/>
                    </a:cubicBezTo>
                    <a:cubicBezTo>
                      <a:pt x="1310233" y="25638"/>
                      <a:pt x="1320075" y="34526"/>
                      <a:pt x="1331844" y="39757"/>
                    </a:cubicBezTo>
                    <a:cubicBezTo>
                      <a:pt x="1340166" y="43456"/>
                      <a:pt x="1349513" y="44174"/>
                      <a:pt x="1358348" y="46383"/>
                    </a:cubicBezTo>
                    <a:cubicBezTo>
                      <a:pt x="1371600" y="55218"/>
                      <a:pt x="1384182" y="65152"/>
                      <a:pt x="1398105" y="72887"/>
                    </a:cubicBezTo>
                    <a:cubicBezTo>
                      <a:pt x="1404211" y="76279"/>
                      <a:pt x="1411736" y="76389"/>
                      <a:pt x="1417983" y="79513"/>
                    </a:cubicBezTo>
                    <a:cubicBezTo>
                      <a:pt x="1434009" y="87526"/>
                      <a:pt x="1454584" y="106228"/>
                      <a:pt x="1464366" y="119270"/>
                    </a:cubicBezTo>
                    <a:cubicBezTo>
                      <a:pt x="1470992" y="128105"/>
                      <a:pt x="1478391" y="136409"/>
                      <a:pt x="1484244" y="145774"/>
                    </a:cubicBezTo>
                    <a:cubicBezTo>
                      <a:pt x="1489479" y="154150"/>
                      <a:pt x="1493605" y="163199"/>
                      <a:pt x="1497496" y="172278"/>
                    </a:cubicBezTo>
                    <a:cubicBezTo>
                      <a:pt x="1511638" y="205277"/>
                      <a:pt x="1520018" y="234882"/>
                      <a:pt x="1537253" y="265044"/>
                    </a:cubicBezTo>
                    <a:cubicBezTo>
                      <a:pt x="1591384" y="359773"/>
                      <a:pt x="1573197" y="324225"/>
                      <a:pt x="1656522" y="430696"/>
                    </a:cubicBezTo>
                    <a:cubicBezTo>
                      <a:pt x="1670134" y="448089"/>
                      <a:pt x="1682812" y="466197"/>
                      <a:pt x="1696279" y="483704"/>
                    </a:cubicBezTo>
                    <a:cubicBezTo>
                      <a:pt x="1704902" y="494914"/>
                      <a:pt x="1713948" y="505791"/>
                      <a:pt x="1722783" y="516835"/>
                    </a:cubicBezTo>
                    <a:lnTo>
                      <a:pt x="1749287" y="549965"/>
                    </a:lnTo>
                    <a:lnTo>
                      <a:pt x="1775792" y="583096"/>
                    </a:lnTo>
                    <a:cubicBezTo>
                      <a:pt x="1808566" y="665030"/>
                      <a:pt x="1764647" y="564521"/>
                      <a:pt x="1815548" y="649357"/>
                    </a:cubicBezTo>
                    <a:cubicBezTo>
                      <a:pt x="1850582" y="707748"/>
                      <a:pt x="1810167" y="663856"/>
                      <a:pt x="1842053" y="695739"/>
                    </a:cubicBezTo>
                    <a:cubicBezTo>
                      <a:pt x="1839844" y="728869"/>
                      <a:pt x="1839094" y="762129"/>
                      <a:pt x="1835427" y="795130"/>
                    </a:cubicBezTo>
                    <a:cubicBezTo>
                      <a:pt x="1834656" y="802072"/>
                      <a:pt x="1829862" y="808105"/>
                      <a:pt x="1828800" y="815009"/>
                    </a:cubicBezTo>
                    <a:cubicBezTo>
                      <a:pt x="1825425" y="836948"/>
                      <a:pt x="1824383" y="859183"/>
                      <a:pt x="1822174" y="881270"/>
                    </a:cubicBezTo>
                    <a:cubicBezTo>
                      <a:pt x="1819965" y="951948"/>
                      <a:pt x="1821763" y="1022865"/>
                      <a:pt x="1815548" y="1093304"/>
                    </a:cubicBezTo>
                    <a:cubicBezTo>
                      <a:pt x="1814999" y="1099527"/>
                      <a:pt x="1805510" y="1101200"/>
                      <a:pt x="1802296" y="1106557"/>
                    </a:cubicBezTo>
                    <a:cubicBezTo>
                      <a:pt x="1798703" y="1112546"/>
                      <a:pt x="1800609" y="1121496"/>
                      <a:pt x="1795670" y="1126435"/>
                    </a:cubicBezTo>
                    <a:cubicBezTo>
                      <a:pt x="1723325" y="1198779"/>
                      <a:pt x="1767962" y="1150227"/>
                      <a:pt x="1722783" y="1172817"/>
                    </a:cubicBezTo>
                    <a:cubicBezTo>
                      <a:pt x="1711264" y="1178577"/>
                      <a:pt x="1701611" y="1187913"/>
                      <a:pt x="1689653" y="1192696"/>
                    </a:cubicBezTo>
                    <a:cubicBezTo>
                      <a:pt x="1679196" y="1196879"/>
                      <a:pt x="1667603" y="1197307"/>
                      <a:pt x="1656522" y="1199322"/>
                    </a:cubicBezTo>
                    <a:cubicBezTo>
                      <a:pt x="1616969" y="1206513"/>
                      <a:pt x="1620457" y="1204392"/>
                      <a:pt x="1583635" y="1212574"/>
                    </a:cubicBezTo>
                    <a:cubicBezTo>
                      <a:pt x="1574745" y="1214549"/>
                      <a:pt x="1566234" y="1218932"/>
                      <a:pt x="1557131" y="1219200"/>
                    </a:cubicBezTo>
                    <a:cubicBezTo>
                      <a:pt x="1415818" y="1223356"/>
                      <a:pt x="1274418" y="1223617"/>
                      <a:pt x="1133061" y="1225826"/>
                    </a:cubicBezTo>
                    <a:lnTo>
                      <a:pt x="927653" y="1219200"/>
                    </a:lnTo>
                    <a:cubicBezTo>
                      <a:pt x="905482" y="1218119"/>
                      <a:pt x="883512" y="1214417"/>
                      <a:pt x="861392" y="1212574"/>
                    </a:cubicBezTo>
                    <a:cubicBezTo>
                      <a:pt x="778933" y="1205703"/>
                      <a:pt x="728793" y="1203852"/>
                      <a:pt x="642731" y="1199322"/>
                    </a:cubicBezTo>
                    <a:cubicBezTo>
                      <a:pt x="631687" y="1197113"/>
                      <a:pt x="620526" y="1195427"/>
                      <a:pt x="609600" y="1192696"/>
                    </a:cubicBezTo>
                    <a:cubicBezTo>
                      <a:pt x="602824" y="1191002"/>
                      <a:pt x="596438" y="1187989"/>
                      <a:pt x="589722" y="1186070"/>
                    </a:cubicBezTo>
                    <a:cubicBezTo>
                      <a:pt x="580966" y="1183568"/>
                      <a:pt x="572053" y="1181653"/>
                      <a:pt x="563218" y="1179444"/>
                    </a:cubicBezTo>
                    <a:cubicBezTo>
                      <a:pt x="556592" y="1175026"/>
                      <a:pt x="550463" y="1169753"/>
                      <a:pt x="543340" y="1166191"/>
                    </a:cubicBezTo>
                    <a:cubicBezTo>
                      <a:pt x="526634" y="1157838"/>
                      <a:pt x="507968" y="1157978"/>
                      <a:pt x="490331" y="1152939"/>
                    </a:cubicBezTo>
                    <a:cubicBezTo>
                      <a:pt x="453265" y="1142349"/>
                      <a:pt x="434381" y="1136581"/>
                      <a:pt x="404192" y="1119809"/>
                    </a:cubicBezTo>
                    <a:cubicBezTo>
                      <a:pt x="392934" y="1113554"/>
                      <a:pt x="382319" y="1106185"/>
                      <a:pt x="371061" y="1099930"/>
                    </a:cubicBezTo>
                    <a:cubicBezTo>
                      <a:pt x="362427" y="1095133"/>
                      <a:pt x="353928" y="1089801"/>
                      <a:pt x="344557" y="1086678"/>
                    </a:cubicBezTo>
                    <a:cubicBezTo>
                      <a:pt x="327278" y="1080918"/>
                      <a:pt x="291548" y="1073426"/>
                      <a:pt x="291548" y="1073426"/>
                    </a:cubicBezTo>
                    <a:cubicBezTo>
                      <a:pt x="196833" y="1018176"/>
                      <a:pt x="238572" y="1042207"/>
                      <a:pt x="165653" y="1000539"/>
                    </a:cubicBezTo>
                    <a:lnTo>
                      <a:pt x="119270" y="974035"/>
                    </a:lnTo>
                    <a:cubicBezTo>
                      <a:pt x="108146" y="967546"/>
                      <a:pt x="98097" y="958940"/>
                      <a:pt x="86140" y="954157"/>
                    </a:cubicBezTo>
                    <a:cubicBezTo>
                      <a:pt x="45615" y="937946"/>
                      <a:pt x="62906" y="947502"/>
                      <a:pt x="33131" y="927652"/>
                    </a:cubicBezTo>
                    <a:cubicBezTo>
                      <a:pt x="2753" y="882084"/>
                      <a:pt x="11664" y="903005"/>
                      <a:pt x="0" y="868017"/>
                    </a:cubicBezTo>
                    <a:cubicBezTo>
                      <a:pt x="1149" y="859976"/>
                      <a:pt x="4580" y="816213"/>
                      <a:pt x="13253" y="801757"/>
                    </a:cubicBezTo>
                    <a:cubicBezTo>
                      <a:pt x="16467" y="796400"/>
                      <a:pt x="22506" y="793303"/>
                      <a:pt x="26505" y="788504"/>
                    </a:cubicBezTo>
                    <a:cubicBezTo>
                      <a:pt x="33575" y="780020"/>
                      <a:pt x="39964" y="770986"/>
                      <a:pt x="46383" y="762000"/>
                    </a:cubicBezTo>
                    <a:cubicBezTo>
                      <a:pt x="51012" y="755520"/>
                      <a:pt x="54391" y="748115"/>
                      <a:pt x="59635" y="742122"/>
                    </a:cubicBezTo>
                    <a:cubicBezTo>
                      <a:pt x="69920" y="730368"/>
                      <a:pt x="81722" y="720035"/>
                      <a:pt x="92766" y="708991"/>
                    </a:cubicBezTo>
                    <a:cubicBezTo>
                      <a:pt x="99392" y="702365"/>
                      <a:pt x="107446" y="696910"/>
                      <a:pt x="112644" y="689113"/>
                    </a:cubicBezTo>
                    <a:cubicBezTo>
                      <a:pt x="117061" y="682487"/>
                      <a:pt x="121267" y="675715"/>
                      <a:pt x="125896" y="669235"/>
                    </a:cubicBezTo>
                    <a:cubicBezTo>
                      <a:pt x="132315" y="660248"/>
                      <a:pt x="138704" y="651214"/>
                      <a:pt x="145774" y="642730"/>
                    </a:cubicBezTo>
                    <a:cubicBezTo>
                      <a:pt x="158534" y="627418"/>
                      <a:pt x="185531" y="611217"/>
                      <a:pt x="185531" y="589722"/>
                    </a:cubicBezTo>
                    <a:lnTo>
                      <a:pt x="172279" y="569844"/>
                    </a:ln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 smtClean="0">
                    <a:solidFill>
                      <a:schemeClr val="tx1"/>
                    </a:solidFill>
                  </a:rPr>
                  <a:t>Supplier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" name="直線接點 12"/>
              <p:cNvCxnSpPr/>
              <p:nvPr/>
            </p:nvCxnSpPr>
            <p:spPr>
              <a:xfrm>
                <a:off x="3276402" y="2926634"/>
                <a:ext cx="1110068" cy="658079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接點 13"/>
              <p:cNvCxnSpPr>
                <a:stCxn id="12" idx="37"/>
              </p:cNvCxnSpPr>
              <p:nvPr/>
            </p:nvCxnSpPr>
            <p:spPr>
              <a:xfrm flipV="1">
                <a:off x="3198439" y="4551410"/>
                <a:ext cx="1188031" cy="83289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接點 14"/>
              <p:cNvCxnSpPr/>
              <p:nvPr/>
            </p:nvCxnSpPr>
            <p:spPr>
              <a:xfrm flipV="1">
                <a:off x="5801212" y="2708922"/>
                <a:ext cx="787012" cy="644898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接點 15"/>
              <p:cNvCxnSpPr>
                <a:endCxn id="8" idx="11"/>
              </p:cNvCxnSpPr>
              <p:nvPr/>
            </p:nvCxnSpPr>
            <p:spPr>
              <a:xfrm>
                <a:off x="5657196" y="4653136"/>
                <a:ext cx="1100196" cy="753278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接點 16"/>
              <p:cNvCxnSpPr>
                <a:endCxn id="10" idx="75"/>
              </p:cNvCxnSpPr>
              <p:nvPr/>
            </p:nvCxnSpPr>
            <p:spPr>
              <a:xfrm flipV="1">
                <a:off x="6064092" y="4136301"/>
                <a:ext cx="1048946" cy="84787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單箭頭接點 17"/>
              <p:cNvCxnSpPr/>
              <p:nvPr/>
            </p:nvCxnSpPr>
            <p:spPr>
              <a:xfrm flipV="1">
                <a:off x="5801212" y="2708922"/>
                <a:ext cx="570988" cy="4320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單箭頭接點 18"/>
              <p:cNvCxnSpPr/>
              <p:nvPr/>
            </p:nvCxnSpPr>
            <p:spPr>
              <a:xfrm flipV="1">
                <a:off x="6194718" y="4062811"/>
                <a:ext cx="753546" cy="734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/>
              <p:cNvCxnSpPr/>
              <p:nvPr/>
            </p:nvCxnSpPr>
            <p:spPr>
              <a:xfrm>
                <a:off x="5717706" y="4867470"/>
                <a:ext cx="654494" cy="43373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/>
              <p:cNvCxnSpPr/>
              <p:nvPr/>
            </p:nvCxnSpPr>
            <p:spPr>
              <a:xfrm>
                <a:off x="3327074" y="3161866"/>
                <a:ext cx="724516" cy="422847"/>
              </a:xfrm>
              <a:prstGeom prst="straightConnector1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3317709" y="4551410"/>
                <a:ext cx="761778" cy="532929"/>
              </a:xfrm>
              <a:prstGeom prst="straightConnector1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文字方塊 22"/>
              <p:cNvSpPr txBox="1"/>
              <p:nvPr/>
            </p:nvSpPr>
            <p:spPr>
              <a:xfrm>
                <a:off x="5201961" y="2627620"/>
                <a:ext cx="102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 smtClean="0"/>
                  <a:t>Push()</a:t>
                </a:r>
                <a:endParaRPr lang="zh-TW" altLang="en-US" dirty="0"/>
              </a:p>
            </p:txBody>
          </p:sp>
          <p:sp>
            <p:nvSpPr>
              <p:cNvPr id="24" name="文字方塊 23"/>
              <p:cNvSpPr txBox="1"/>
              <p:nvPr/>
            </p:nvSpPr>
            <p:spPr>
              <a:xfrm>
                <a:off x="6066057" y="3707740"/>
                <a:ext cx="102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 smtClean="0"/>
                  <a:t>Push()</a:t>
                </a:r>
                <a:endParaRPr lang="zh-TW" altLang="en-US" dirty="0"/>
              </a:p>
            </p:txBody>
          </p:sp>
          <p:sp>
            <p:nvSpPr>
              <p:cNvPr id="25" name="文字方塊 24"/>
              <p:cNvSpPr txBox="1"/>
              <p:nvPr/>
            </p:nvSpPr>
            <p:spPr>
              <a:xfrm>
                <a:off x="5292080" y="5075892"/>
                <a:ext cx="102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 smtClean="0"/>
                  <a:t>Push()</a:t>
                </a:r>
                <a:endParaRPr lang="zh-TW" altLang="en-US" dirty="0"/>
              </a:p>
            </p:txBody>
          </p:sp>
          <p:sp>
            <p:nvSpPr>
              <p:cNvPr id="26" name="文字方塊 25"/>
              <p:cNvSpPr txBox="1"/>
              <p:nvPr/>
            </p:nvSpPr>
            <p:spPr>
              <a:xfrm>
                <a:off x="2969713" y="4499828"/>
                <a:ext cx="102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 smtClean="0"/>
                  <a:t>Pull()</a:t>
                </a:r>
                <a:endParaRPr lang="zh-TW" altLang="en-US" dirty="0"/>
              </a:p>
            </p:txBody>
          </p:sp>
          <p:sp>
            <p:nvSpPr>
              <p:cNvPr id="27" name="文字方塊 26"/>
              <p:cNvSpPr txBox="1"/>
              <p:nvPr/>
            </p:nvSpPr>
            <p:spPr>
              <a:xfrm>
                <a:off x="2969713" y="3356992"/>
                <a:ext cx="102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 smtClean="0"/>
                  <a:t>Pull()</a:t>
                </a:r>
                <a:endParaRPr lang="zh-TW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783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公正">
  <a:themeElements>
    <a:clrScheme name="4_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4_公正">
      <a:majorFont>
        <a:latin typeface="Franklin Gothic Book"/>
        <a:ea typeface="新細明體"/>
        <a:cs typeface=""/>
      </a:majorFont>
      <a:minorFont>
        <a:latin typeface="Perpetu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公正">
  <a:themeElements>
    <a:clrScheme name="5_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5_公正">
      <a:majorFont>
        <a:latin typeface="Franklin Gothic Book"/>
        <a:ea typeface=""/>
        <a:cs typeface=""/>
      </a:majorFont>
      <a:minorFont>
        <a:latin typeface="Perpet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公正">
  <a:themeElements>
    <a:clrScheme name="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</a:majorFont>
      <a:minorFont>
        <a:latin typeface="Perpet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21077</TotalTime>
  <Words>4933</Words>
  <Application>Microsoft Office PowerPoint</Application>
  <PresentationFormat>如螢幕大小 (4:3)</PresentationFormat>
  <Paragraphs>805</Paragraphs>
  <Slides>80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80</vt:i4>
      </vt:variant>
    </vt:vector>
  </HeadingPairs>
  <TitlesOfParts>
    <vt:vector size="94" baseType="lpstr">
      <vt:lpstr>微軟正黑體</vt:lpstr>
      <vt:lpstr>新細明體</vt:lpstr>
      <vt:lpstr>Arial</vt:lpstr>
      <vt:lpstr>Calibri</vt:lpstr>
      <vt:lpstr>Franklin Gothic Book</vt:lpstr>
      <vt:lpstr>Perpetua</vt:lpstr>
      <vt:lpstr>Poor Richard</vt:lpstr>
      <vt:lpstr>Tahoma</vt:lpstr>
      <vt:lpstr>Times New Roman</vt:lpstr>
      <vt:lpstr>Wingdings</vt:lpstr>
      <vt:lpstr>Wingdings 2</vt:lpstr>
      <vt:lpstr>4_公正</vt:lpstr>
      <vt:lpstr>5_公正</vt:lpstr>
      <vt:lpstr>公正</vt:lpstr>
      <vt:lpstr>Operating Systems Distributed Systems</vt:lpstr>
      <vt:lpstr>Distributed Systems (DS)</vt:lpstr>
      <vt:lpstr>Comparisons Among MP, MC, and DS</vt:lpstr>
      <vt:lpstr>Why Distributed Systems?</vt:lpstr>
      <vt:lpstr>Design Issues of a DS</vt:lpstr>
      <vt:lpstr>Types of Transparency in a DS (1)</vt:lpstr>
      <vt:lpstr>Types of Transparency in a DS (2)</vt:lpstr>
      <vt:lpstr>Types of Transparency in a DS (3)</vt:lpstr>
      <vt:lpstr>Size Scalability</vt:lpstr>
      <vt:lpstr>Techniques for scalability</vt:lpstr>
      <vt:lpstr>Java Applet Example</vt:lpstr>
      <vt:lpstr>DNS Example</vt:lpstr>
      <vt:lpstr>Replication and Caching</vt:lpstr>
      <vt:lpstr>Concealment of Communication Delay</vt:lpstr>
      <vt:lpstr>Difficulties of Scaling</vt:lpstr>
      <vt:lpstr>Fault Tolerant Approaches</vt:lpstr>
      <vt:lpstr>Redundancy</vt:lpstr>
      <vt:lpstr>Information Redundancy:  Hamming Codes</vt:lpstr>
      <vt:lpstr>Space Redundancy: Triple Modular Redundancy (TMR)</vt:lpstr>
      <vt:lpstr>Time Redundancy:  Recovery Blocks (RB)</vt:lpstr>
      <vt:lpstr>An Example of RB</vt:lpstr>
      <vt:lpstr>Network Services</vt:lpstr>
      <vt:lpstr>OS Types for Distributed Systems</vt:lpstr>
      <vt:lpstr>Network Operating Systems</vt:lpstr>
      <vt:lpstr>File Sharing in NOS (1)</vt:lpstr>
      <vt:lpstr>File Sharing in NOS (2)</vt:lpstr>
      <vt:lpstr>Distributed Operating Systems</vt:lpstr>
      <vt:lpstr>Distributed System as a Middleware</vt:lpstr>
      <vt:lpstr>Middleware Models</vt:lpstr>
      <vt:lpstr>The World Wide Web</vt:lpstr>
      <vt:lpstr>Gets a Document from the Web</vt:lpstr>
      <vt:lpstr>Uniform Resource Locator (URL)</vt:lpstr>
      <vt:lpstr>Plan 9 &amp; Inferno</vt:lpstr>
      <vt:lpstr>Core Design Concept of Plan 9 </vt:lpstr>
      <vt:lpstr>Basic Facts of 9P Protocol</vt:lpstr>
      <vt:lpstr>Basic Operations of 9P</vt:lpstr>
      <vt:lpstr>The Servers of Plan 9</vt:lpstr>
      <vt:lpstr>Namespace</vt:lpstr>
      <vt:lpstr>Distributed File Systems (DFSs)</vt:lpstr>
      <vt:lpstr>Data Transfer Models of DFSs</vt:lpstr>
      <vt:lpstr>Directory Hierarchies of DFSs</vt:lpstr>
      <vt:lpstr>Naming in DFSs</vt:lpstr>
      <vt:lpstr>File Sharing Semantics (1)</vt:lpstr>
      <vt:lpstr>File Sharing Semantics (2)</vt:lpstr>
      <vt:lpstr>A Sequential Consistency Example</vt:lpstr>
      <vt:lpstr>A Causal Consistency Example </vt:lpstr>
      <vt:lpstr>Another Causal Consistency Example </vt:lpstr>
      <vt:lpstr>A FIFO Consistency Example</vt:lpstr>
      <vt:lpstr>References</vt:lpstr>
      <vt:lpstr>Object Based Middleware:  CORBA</vt:lpstr>
      <vt:lpstr>Goals of the CORBA</vt:lpstr>
      <vt:lpstr>Interface Definition Language (IDL)</vt:lpstr>
      <vt:lpstr>The IDL syntax</vt:lpstr>
      <vt:lpstr>The IDL Compiler</vt:lpstr>
      <vt:lpstr>Client Server Interaction in CORBA</vt:lpstr>
      <vt:lpstr>The ORB Architecture</vt:lpstr>
      <vt:lpstr>A CORBA Based Distributed System </vt:lpstr>
      <vt:lpstr>The Linda System</vt:lpstr>
      <vt:lpstr>The Linda Concept </vt:lpstr>
      <vt:lpstr>The Tuple Space Concept</vt:lpstr>
      <vt:lpstr>The Tuple Operations</vt:lpstr>
      <vt:lpstr>The Tuple Matching</vt:lpstr>
      <vt:lpstr>A Tuple Matching Example</vt:lpstr>
      <vt:lpstr>A Message Passing Example</vt:lpstr>
      <vt:lpstr>Semaphore Examples</vt:lpstr>
      <vt:lpstr>A Client Server Example</vt:lpstr>
      <vt:lpstr>Coordination/Communication Models</vt:lpstr>
      <vt:lpstr>The Pub/Sub Model</vt:lpstr>
      <vt:lpstr>The Publish/Subscribe Middleware</vt:lpstr>
      <vt:lpstr>Properties of Pub/Sub Middleware</vt:lpstr>
      <vt:lpstr>Java Message Service (JMS)</vt:lpstr>
      <vt:lpstr>Topic-Based Pub/Sub Application</vt:lpstr>
      <vt:lpstr>Topic-Based Pub/Sub Broker</vt:lpstr>
      <vt:lpstr>Content-Based Pub/Sub</vt:lpstr>
      <vt:lpstr>Content-Based Message Routing</vt:lpstr>
      <vt:lpstr>Pub/Sub Operational Models</vt:lpstr>
      <vt:lpstr>The Canonical Push Model</vt:lpstr>
      <vt:lpstr>The Canonical Pull Model</vt:lpstr>
      <vt:lpstr>The Hybrid Push/Pull Model</vt:lpstr>
      <vt:lpstr>The Hybrid Pull/Push Model</vt:lpstr>
    </vt:vector>
  </TitlesOfParts>
  <Company>she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she</dc:creator>
  <cp:lastModifiedBy>user</cp:lastModifiedBy>
  <cp:revision>386</cp:revision>
  <dcterms:created xsi:type="dcterms:W3CDTF">2009-09-21T01:12:33Z</dcterms:created>
  <dcterms:modified xsi:type="dcterms:W3CDTF">2024-04-10T00:48:23Z</dcterms:modified>
</cp:coreProperties>
</file>