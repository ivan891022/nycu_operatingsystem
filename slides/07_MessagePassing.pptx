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1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57"/>
  </p:notesMasterIdLst>
  <p:sldIdLst>
    <p:sldId id="256" r:id="rId4"/>
    <p:sldId id="288" r:id="rId5"/>
    <p:sldId id="289" r:id="rId6"/>
    <p:sldId id="290" r:id="rId7"/>
    <p:sldId id="292" r:id="rId8"/>
    <p:sldId id="291" r:id="rId9"/>
    <p:sldId id="293" r:id="rId10"/>
    <p:sldId id="296" r:id="rId11"/>
    <p:sldId id="298" r:id="rId12"/>
    <p:sldId id="299" r:id="rId13"/>
    <p:sldId id="301" r:id="rId14"/>
    <p:sldId id="302" r:id="rId15"/>
    <p:sldId id="303" r:id="rId16"/>
    <p:sldId id="300" r:id="rId17"/>
    <p:sldId id="304" r:id="rId18"/>
    <p:sldId id="305" r:id="rId19"/>
    <p:sldId id="306" r:id="rId20"/>
    <p:sldId id="308" r:id="rId21"/>
    <p:sldId id="307" r:id="rId22"/>
    <p:sldId id="310" r:id="rId23"/>
    <p:sldId id="309" r:id="rId24"/>
    <p:sldId id="312" r:id="rId25"/>
    <p:sldId id="311" r:id="rId26"/>
    <p:sldId id="313" r:id="rId27"/>
    <p:sldId id="314" r:id="rId28"/>
    <p:sldId id="315" r:id="rId29"/>
    <p:sldId id="316" r:id="rId30"/>
    <p:sldId id="317" r:id="rId31"/>
    <p:sldId id="318" r:id="rId32"/>
    <p:sldId id="325" r:id="rId33"/>
    <p:sldId id="319" r:id="rId34"/>
    <p:sldId id="320" r:id="rId35"/>
    <p:sldId id="322" r:id="rId36"/>
    <p:sldId id="323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1" r:id="rId52"/>
    <p:sldId id="340" r:id="rId53"/>
    <p:sldId id="342" r:id="rId54"/>
    <p:sldId id="343" r:id="rId55"/>
    <p:sldId id="344" r:id="rId56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0099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248" autoAdjust="0"/>
  </p:normalViewPr>
  <p:slideViewPr>
    <p:cSldViewPr>
      <p:cViewPr varScale="1">
        <p:scale>
          <a:sx n="115" d="100"/>
          <a:sy n="115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2024/4/24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76536-6B7D-46DE-95D7-3DD0ACF4DB29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7219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myu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214313" y="1484313"/>
            <a:ext cx="8822183" cy="1470025"/>
          </a:xfrm>
        </p:spPr>
        <p:txBody>
          <a:bodyPr/>
          <a:lstStyle/>
          <a:p>
            <a:pPr algn="ctr" eaLnBrk="1" hangingPunct="1"/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b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Message Passing 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</a:t>
            </a:r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-Ming Yuan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smyuan@gmail.com</a:t>
            </a:r>
            <a:endParaRPr lang="en-US" altLang="zh-TW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hours: Wed. 8~10 (EC442)</a:t>
            </a:r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Inter Process Communication (IPC)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340768"/>
            <a:ext cx="8147248" cy="4168699"/>
          </a:xfrm>
        </p:spPr>
        <p:txBody>
          <a:bodyPr/>
          <a:lstStyle/>
          <a:p>
            <a:r>
              <a:rPr lang="en-US" altLang="zh-TW" dirty="0" smtClean="0"/>
              <a:t>Information </a:t>
            </a:r>
            <a:r>
              <a:rPr lang="en-US" altLang="zh-TW" dirty="0"/>
              <a:t>sharing among two </a:t>
            </a:r>
            <a:r>
              <a:rPr lang="en-US" altLang="zh-TW" dirty="0" smtClean="0"/>
              <a:t>or more processes requires interprocess communication (IPC).</a:t>
            </a:r>
          </a:p>
          <a:p>
            <a:r>
              <a:rPr lang="en-US" altLang="zh-TW" dirty="0" smtClean="0"/>
              <a:t>There are </a:t>
            </a:r>
            <a:r>
              <a:rPr lang="en-US" altLang="zh-TW" dirty="0"/>
              <a:t>two basic </a:t>
            </a:r>
            <a:r>
              <a:rPr lang="en-US" altLang="zh-TW" dirty="0" smtClean="0"/>
              <a:t>IPC mechanisms: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Message </a:t>
            </a:r>
            <a:r>
              <a:rPr lang="en-US" altLang="zh-TW" dirty="0" smtClean="0">
                <a:solidFill>
                  <a:srgbClr val="FF0000"/>
                </a:solidFill>
              </a:rPr>
              <a:t>Passing </a:t>
            </a:r>
            <a:r>
              <a:rPr lang="en-US" altLang="zh-TW" dirty="0" smtClean="0"/>
              <a:t>Approach: </a:t>
            </a:r>
          </a:p>
          <a:p>
            <a:pPr lvl="2"/>
            <a:r>
              <a:rPr lang="en-US" altLang="zh-TW" dirty="0" smtClean="0"/>
              <a:t>The shared information </a:t>
            </a:r>
            <a:r>
              <a:rPr lang="en-US" altLang="zh-TW" dirty="0"/>
              <a:t>is </a:t>
            </a:r>
            <a:r>
              <a:rPr lang="en-US" altLang="zh-TW" dirty="0" smtClean="0"/>
              <a:t>physically copied </a:t>
            </a:r>
            <a:r>
              <a:rPr lang="en-US" altLang="zh-TW" dirty="0"/>
              <a:t>from the sender process's address space to the address spaces of all the </a:t>
            </a:r>
            <a:r>
              <a:rPr lang="en-US" altLang="zh-TW" dirty="0" smtClean="0"/>
              <a:t>receiver processes.</a:t>
            </a:r>
          </a:p>
          <a:p>
            <a:pPr lvl="2"/>
            <a:endParaRPr lang="en-US" altLang="zh-TW" dirty="0"/>
          </a:p>
          <a:p>
            <a:pPr lvl="2"/>
            <a:endParaRPr lang="en-US" altLang="zh-TW" dirty="0" smtClean="0"/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Shared Memory </a:t>
            </a:r>
            <a:r>
              <a:rPr lang="en-US" altLang="zh-TW" dirty="0" smtClean="0"/>
              <a:t>Approach:</a:t>
            </a:r>
          </a:p>
          <a:p>
            <a:pPr lvl="2"/>
            <a:r>
              <a:rPr lang="en-US" altLang="zh-TW" dirty="0" smtClean="0"/>
              <a:t>The shared information is </a:t>
            </a:r>
            <a:r>
              <a:rPr lang="en-US" altLang="zh-TW" dirty="0"/>
              <a:t>placed in a </a:t>
            </a:r>
            <a:r>
              <a:rPr lang="en-US" altLang="zh-TW" dirty="0" smtClean="0"/>
              <a:t>common memory </a:t>
            </a:r>
            <a:r>
              <a:rPr lang="en-US" altLang="zh-TW" dirty="0"/>
              <a:t>area that is accessible to all the </a:t>
            </a:r>
            <a:r>
              <a:rPr lang="en-US" altLang="zh-TW" dirty="0" smtClean="0"/>
              <a:t>processes.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3140224" y="3789040"/>
            <a:ext cx="2808312" cy="660666"/>
            <a:chOff x="4211960" y="3781342"/>
            <a:chExt cx="2808312" cy="660666"/>
          </a:xfrm>
        </p:grpSpPr>
        <p:sp>
          <p:nvSpPr>
            <p:cNvPr id="17" name="橢圓 16"/>
            <p:cNvSpPr/>
            <p:nvPr/>
          </p:nvSpPr>
          <p:spPr>
            <a:xfrm>
              <a:off x="4211960" y="3793936"/>
              <a:ext cx="720080" cy="648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橢圓 17"/>
            <p:cNvSpPr/>
            <p:nvPr/>
          </p:nvSpPr>
          <p:spPr>
            <a:xfrm>
              <a:off x="6300192" y="3781342"/>
              <a:ext cx="720080" cy="648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弧形接點 18"/>
            <p:cNvCxnSpPr>
              <a:stCxn id="17" idx="7"/>
              <a:endCxn id="18" idx="1"/>
            </p:cNvCxnSpPr>
            <p:nvPr/>
          </p:nvCxnSpPr>
          <p:spPr>
            <a:xfrm rot="5400000" flipH="1" flipV="1">
              <a:off x="5609819" y="3093018"/>
              <a:ext cx="12594" cy="1579058"/>
            </a:xfrm>
            <a:prstGeom prst="curvedConnector3">
              <a:avLst>
                <a:gd name="adj1" fmla="val 1366849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弧形接點 19"/>
            <p:cNvCxnSpPr/>
            <p:nvPr/>
          </p:nvCxnSpPr>
          <p:spPr>
            <a:xfrm rot="5400000" flipH="1" flipV="1">
              <a:off x="5648382" y="3569278"/>
              <a:ext cx="12594" cy="1579058"/>
            </a:xfrm>
            <a:prstGeom prst="curvedConnector3">
              <a:avLst>
                <a:gd name="adj1" fmla="val -936517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群組 25"/>
          <p:cNvGrpSpPr/>
          <p:nvPr/>
        </p:nvGrpSpPr>
        <p:grpSpPr>
          <a:xfrm>
            <a:off x="1331640" y="5678306"/>
            <a:ext cx="6624736" cy="715616"/>
            <a:chOff x="1331640" y="5678306"/>
            <a:chExt cx="6624736" cy="715616"/>
          </a:xfrm>
        </p:grpSpPr>
        <p:sp>
          <p:nvSpPr>
            <p:cNvPr id="6" name="橢圓 5"/>
            <p:cNvSpPr/>
            <p:nvPr/>
          </p:nvSpPr>
          <p:spPr>
            <a:xfrm>
              <a:off x="1331640" y="5745850"/>
              <a:ext cx="720080" cy="648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/>
            <p:cNvSpPr/>
            <p:nvPr/>
          </p:nvSpPr>
          <p:spPr>
            <a:xfrm>
              <a:off x="7236296" y="5678306"/>
              <a:ext cx="720080" cy="6480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弧形接點 10"/>
            <p:cNvCxnSpPr/>
            <p:nvPr/>
          </p:nvCxnSpPr>
          <p:spPr>
            <a:xfrm rot="5400000" flipH="1" flipV="1">
              <a:off x="2762944" y="5022032"/>
              <a:ext cx="12594" cy="1579058"/>
            </a:xfrm>
            <a:prstGeom prst="curvedConnector3">
              <a:avLst>
                <a:gd name="adj1" fmla="val 96626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弧形接點 12"/>
            <p:cNvCxnSpPr/>
            <p:nvPr/>
          </p:nvCxnSpPr>
          <p:spPr>
            <a:xfrm rot="5400000" flipH="1" flipV="1">
              <a:off x="2762944" y="5454080"/>
              <a:ext cx="12594" cy="1579058"/>
            </a:xfrm>
            <a:prstGeom prst="curvedConnector3">
              <a:avLst>
                <a:gd name="adj1" fmla="val -936517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3563888" y="5734997"/>
              <a:ext cx="2160240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/>
                <a:t>Shared common</a:t>
              </a:r>
            </a:p>
            <a:p>
              <a:pPr algn="ctr"/>
              <a:r>
                <a:rPr lang="en-US" altLang="zh-TW" dirty="0"/>
                <a:t>m</a:t>
              </a:r>
              <a:r>
                <a:rPr lang="en-US" altLang="zh-TW" dirty="0" smtClean="0"/>
                <a:t>emory area</a:t>
              </a:r>
              <a:endParaRPr lang="zh-TW" altLang="en-US" dirty="0"/>
            </a:p>
          </p:txBody>
        </p:sp>
        <p:cxnSp>
          <p:nvCxnSpPr>
            <p:cNvPr id="24" name="弧形接點 23"/>
            <p:cNvCxnSpPr/>
            <p:nvPr/>
          </p:nvCxnSpPr>
          <p:spPr>
            <a:xfrm rot="5400000" flipH="1" flipV="1">
              <a:off x="6507360" y="5022032"/>
              <a:ext cx="12594" cy="1579058"/>
            </a:xfrm>
            <a:prstGeom prst="curvedConnector3">
              <a:avLst>
                <a:gd name="adj1" fmla="val 96626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弧形接點 24"/>
            <p:cNvCxnSpPr/>
            <p:nvPr/>
          </p:nvCxnSpPr>
          <p:spPr>
            <a:xfrm rot="5400000" flipH="1" flipV="1">
              <a:off x="6507360" y="5454080"/>
              <a:ext cx="12594" cy="1579058"/>
            </a:xfrm>
            <a:prstGeom prst="curvedConnector3">
              <a:avLst>
                <a:gd name="adj1" fmla="val -936517"/>
              </a:avLst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41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Message Passing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5221560"/>
          </a:xfrm>
        </p:spPr>
        <p:txBody>
          <a:bodyPr/>
          <a:lstStyle/>
          <a:p>
            <a:r>
              <a:rPr lang="en-US" altLang="zh-TW" dirty="0"/>
              <a:t>Messages are </a:t>
            </a:r>
            <a:r>
              <a:rPr lang="en-US" altLang="zh-TW" dirty="0" smtClean="0"/>
              <a:t>collections </a:t>
            </a:r>
            <a:r>
              <a:rPr lang="en-US" altLang="zh-TW" dirty="0"/>
              <a:t>of data objects and their structures  </a:t>
            </a:r>
          </a:p>
          <a:p>
            <a:r>
              <a:rPr lang="en-US" altLang="zh-TW" dirty="0" smtClean="0"/>
              <a:t>A message consists of </a:t>
            </a:r>
          </a:p>
          <a:p>
            <a:pPr lvl="1"/>
            <a:r>
              <a:rPr lang="en-US" altLang="zh-TW" dirty="0" smtClean="0"/>
              <a:t>a fixed-length </a:t>
            </a:r>
            <a:r>
              <a:rPr lang="en-US" altLang="zh-TW" dirty="0" smtClean="0">
                <a:solidFill>
                  <a:srgbClr val="FF0000"/>
                </a:solidFill>
              </a:rPr>
              <a:t>header</a:t>
            </a:r>
            <a:r>
              <a:rPr lang="en-US" altLang="zh-TW" dirty="0" smtClean="0"/>
              <a:t> </a:t>
            </a:r>
            <a:r>
              <a:rPr lang="en-US" altLang="zh-TW" dirty="0"/>
              <a:t>containing </a:t>
            </a:r>
            <a:r>
              <a:rPr lang="en-US" altLang="zh-TW" dirty="0" smtClean="0"/>
              <a:t>control information and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/>
              <a:t>fixed-length or variable-length </a:t>
            </a:r>
            <a:r>
              <a:rPr lang="en-US" altLang="zh-TW" dirty="0">
                <a:solidFill>
                  <a:srgbClr val="FF0000"/>
                </a:solidFill>
              </a:rPr>
              <a:t>message body </a:t>
            </a:r>
            <a:r>
              <a:rPr lang="en-US" altLang="zh-TW" dirty="0" smtClean="0"/>
              <a:t>containing a collection </a:t>
            </a:r>
            <a:r>
              <a:rPr lang="en-US" altLang="zh-TW" dirty="0"/>
              <a:t>of typed data </a:t>
            </a:r>
            <a:r>
              <a:rPr lang="en-US" altLang="zh-TW" dirty="0" smtClean="0"/>
              <a:t>objects.</a:t>
            </a:r>
          </a:p>
          <a:p>
            <a:r>
              <a:rPr lang="en-US" altLang="zh-TW" dirty="0" smtClean="0"/>
              <a:t>A message of </a:t>
            </a:r>
            <a:r>
              <a:rPr lang="en-US" altLang="zh-TW" dirty="0" smtClean="0">
                <a:solidFill>
                  <a:srgbClr val="FF0000"/>
                </a:solidFill>
              </a:rPr>
              <a:t>fixed-length</a:t>
            </a:r>
            <a:r>
              <a:rPr lang="en-US" altLang="zh-TW" dirty="0" smtClean="0"/>
              <a:t> is simple </a:t>
            </a:r>
            <a:r>
              <a:rPr lang="en-US" altLang="zh-TW" dirty="0"/>
              <a:t>to </a:t>
            </a:r>
            <a:r>
              <a:rPr lang="en-US" altLang="zh-TW" dirty="0" smtClean="0"/>
              <a:t>manage.</a:t>
            </a:r>
          </a:p>
          <a:p>
            <a:pPr lvl="1"/>
            <a:r>
              <a:rPr lang="en-US" altLang="zh-TW" dirty="0" smtClean="0"/>
              <a:t>A pool </a:t>
            </a:r>
            <a:r>
              <a:rPr lang="en-US" altLang="zh-TW" dirty="0"/>
              <a:t>of </a:t>
            </a:r>
            <a:r>
              <a:rPr lang="en-US" altLang="zh-TW" dirty="0" smtClean="0"/>
              <a:t>fixed-sized buffers can be used in such a way that the </a:t>
            </a:r>
            <a:r>
              <a:rPr lang="en-US" altLang="zh-TW" dirty="0"/>
              <a:t>processing and storage </a:t>
            </a:r>
            <a:r>
              <a:rPr lang="en-US" altLang="zh-TW" dirty="0" smtClean="0"/>
              <a:t>overhead is minimized.</a:t>
            </a:r>
          </a:p>
          <a:p>
            <a:r>
              <a:rPr lang="en-US" altLang="zh-TW" dirty="0"/>
              <a:t>A message of </a:t>
            </a:r>
            <a:r>
              <a:rPr lang="en-US" altLang="zh-TW" dirty="0" smtClean="0">
                <a:solidFill>
                  <a:srgbClr val="FF0000"/>
                </a:solidFill>
              </a:rPr>
              <a:t>variable </a:t>
            </a:r>
            <a:r>
              <a:rPr lang="en-US" altLang="zh-TW" dirty="0">
                <a:solidFill>
                  <a:srgbClr val="FF0000"/>
                </a:solidFill>
              </a:rPr>
              <a:t>length </a:t>
            </a:r>
            <a:r>
              <a:rPr lang="en-US" altLang="zh-TW" dirty="0" smtClean="0"/>
              <a:t>is difficult </a:t>
            </a:r>
            <a:r>
              <a:rPr lang="en-US" altLang="zh-TW" dirty="0"/>
              <a:t>to </a:t>
            </a:r>
            <a:r>
              <a:rPr lang="en-US" altLang="zh-TW" dirty="0" smtClean="0"/>
              <a:t>manage.</a:t>
            </a:r>
          </a:p>
          <a:p>
            <a:pPr lvl="1"/>
            <a:r>
              <a:rPr lang="en-US" altLang="zh-TW" dirty="0" smtClean="0"/>
              <a:t>Dynamic </a:t>
            </a:r>
            <a:r>
              <a:rPr lang="en-US" altLang="zh-TW" dirty="0"/>
              <a:t>memory allocation </a:t>
            </a:r>
            <a:r>
              <a:rPr lang="en-US" altLang="zh-TW" dirty="0" smtClean="0"/>
              <a:t>(a </a:t>
            </a:r>
            <a:r>
              <a:rPr lang="en-US" altLang="zh-TW" dirty="0"/>
              <a:t>heap with garbage </a:t>
            </a:r>
            <a:r>
              <a:rPr lang="en-US" altLang="zh-TW" dirty="0" smtClean="0"/>
              <a:t>collection) mechanism is needed.</a:t>
            </a:r>
          </a:p>
          <a:p>
            <a:pPr lvl="2"/>
            <a:r>
              <a:rPr lang="en-US" altLang="zh-TW" dirty="0" smtClean="0"/>
              <a:t>It needs more overheads and creates memory fragmentations.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46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Direct Communication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5022"/>
            <a:ext cx="8928992" cy="5008314"/>
          </a:xfrm>
        </p:spPr>
        <p:txBody>
          <a:bodyPr/>
          <a:lstStyle/>
          <a:p>
            <a:r>
              <a:rPr lang="en-US" altLang="zh-TW" sz="2400" dirty="0" smtClean="0"/>
              <a:t>Direct Communication model uses </a:t>
            </a:r>
            <a:r>
              <a:rPr lang="en-US" altLang="zh-TW" sz="2400" dirty="0" smtClean="0">
                <a:solidFill>
                  <a:srgbClr val="FF0000"/>
                </a:solidFill>
              </a:rPr>
              <a:t>process names (global process IDs) </a:t>
            </a:r>
            <a:r>
              <a:rPr lang="en-US" altLang="zh-TW" sz="2400" dirty="0" smtClean="0"/>
              <a:t>to specify communicating participants.</a:t>
            </a:r>
          </a:p>
          <a:p>
            <a:pPr lvl="1"/>
            <a:r>
              <a:rPr lang="en-US" altLang="zh-TW" sz="2200" dirty="0" smtClean="0"/>
              <a:t>In </a:t>
            </a:r>
            <a:r>
              <a:rPr lang="en-US" altLang="zh-TW" sz="2200" dirty="0" smtClean="0">
                <a:solidFill>
                  <a:srgbClr val="FF0000"/>
                </a:solidFill>
              </a:rPr>
              <a:t>Symmetric Addressing, </a:t>
            </a:r>
            <a:r>
              <a:rPr lang="en-US" altLang="zh-TW" sz="2200" dirty="0" smtClean="0"/>
              <a:t>both </a:t>
            </a:r>
            <a:r>
              <a:rPr lang="en-US" altLang="zh-TW" sz="2200" dirty="0"/>
              <a:t>the </a:t>
            </a:r>
            <a:r>
              <a:rPr lang="en-US" altLang="zh-TW" sz="2200" dirty="0" smtClean="0"/>
              <a:t>sender and receiver have </a:t>
            </a:r>
            <a:r>
              <a:rPr lang="en-US" altLang="zh-TW" sz="2200" dirty="0"/>
              <a:t>to explicitly name </a:t>
            </a:r>
            <a:r>
              <a:rPr lang="en-US" altLang="zh-TW" sz="2200" dirty="0" smtClean="0"/>
              <a:t>their counterparts in </a:t>
            </a:r>
            <a:r>
              <a:rPr lang="en-US" altLang="zh-TW" sz="2200" dirty="0"/>
              <a:t>the </a:t>
            </a:r>
            <a:r>
              <a:rPr lang="en-US" altLang="zh-TW" sz="2200" dirty="0" smtClean="0"/>
              <a:t>primitives</a:t>
            </a:r>
            <a:r>
              <a:rPr lang="en-US" altLang="zh-TW" sz="2200" dirty="0"/>
              <a:t>.</a:t>
            </a:r>
          </a:p>
          <a:p>
            <a:pPr lvl="2"/>
            <a:r>
              <a:rPr lang="en-US" altLang="zh-TW" dirty="0"/>
              <a:t>send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destination</a:t>
            </a:r>
            <a:r>
              <a:rPr lang="en-US" altLang="zh-TW" dirty="0"/>
              <a:t>, 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message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 smtClean="0"/>
              <a:t>receive 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source</a:t>
            </a:r>
            <a:r>
              <a:rPr lang="en-US" altLang="zh-TW" dirty="0"/>
              <a:t>, </a:t>
            </a:r>
            <a:r>
              <a:rPr lang="en-US" altLang="zh-TW" b="1" dirty="0" smtClean="0">
                <a:solidFill>
                  <a:srgbClr val="C00000"/>
                </a:solidFill>
              </a:rPr>
              <a:t>out</a:t>
            </a:r>
            <a:r>
              <a:rPr lang="en-US" altLang="zh-TW" dirty="0" smtClean="0"/>
              <a:t> message)</a:t>
            </a:r>
          </a:p>
          <a:p>
            <a:pPr lvl="1"/>
            <a:r>
              <a:rPr lang="en-US" altLang="zh-TW" sz="2200" dirty="0" smtClean="0"/>
              <a:t>In </a:t>
            </a:r>
            <a:r>
              <a:rPr lang="en-US" altLang="zh-TW" sz="2200" dirty="0" smtClean="0">
                <a:solidFill>
                  <a:srgbClr val="FF0000"/>
                </a:solidFill>
              </a:rPr>
              <a:t>Asymmetric Addressing, </a:t>
            </a:r>
            <a:r>
              <a:rPr lang="en-US" altLang="zh-TW" sz="2200" dirty="0" smtClean="0"/>
              <a:t>only the sender </a:t>
            </a:r>
            <a:r>
              <a:rPr lang="en-US" altLang="zh-TW" sz="2200" dirty="0"/>
              <a:t>needs to indicate the recipient</a:t>
            </a:r>
            <a:r>
              <a:rPr lang="en-US" altLang="zh-TW" sz="2200" dirty="0" smtClean="0"/>
              <a:t>.</a:t>
            </a:r>
          </a:p>
          <a:p>
            <a:pPr lvl="2"/>
            <a:r>
              <a:rPr lang="en-US" altLang="zh-TW" dirty="0"/>
              <a:t>send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destination</a:t>
            </a:r>
            <a:r>
              <a:rPr lang="en-US" altLang="zh-TW" dirty="0"/>
              <a:t>, 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message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receive </a:t>
            </a:r>
            <a:r>
              <a:rPr lang="en-US" altLang="zh-TW" dirty="0" smtClean="0"/>
              <a:t>(</a:t>
            </a:r>
            <a:r>
              <a:rPr lang="en-US" altLang="zh-TW" b="1" dirty="0" smtClean="0">
                <a:solidFill>
                  <a:srgbClr val="C00000"/>
                </a:solidFill>
              </a:rPr>
              <a:t>out</a:t>
            </a:r>
            <a:r>
              <a:rPr lang="en-US" altLang="zh-TW" dirty="0" smtClean="0"/>
              <a:t> source</a:t>
            </a:r>
            <a:r>
              <a:rPr lang="en-US" altLang="zh-TW" dirty="0"/>
              <a:t>, </a:t>
            </a:r>
            <a:r>
              <a:rPr lang="en-US" altLang="zh-TW" b="1" dirty="0" smtClean="0">
                <a:solidFill>
                  <a:srgbClr val="C00000"/>
                </a:solidFill>
              </a:rPr>
              <a:t>out</a:t>
            </a:r>
            <a:r>
              <a:rPr lang="en-US" altLang="zh-TW" dirty="0" smtClean="0"/>
              <a:t> message)</a:t>
            </a:r>
          </a:p>
          <a:p>
            <a:r>
              <a:rPr lang="en-US" altLang="zh-TW" sz="2400" dirty="0" smtClean="0"/>
              <a:t>Disadvantages </a:t>
            </a:r>
            <a:r>
              <a:rPr lang="en-US" altLang="zh-TW" sz="2400" dirty="0"/>
              <a:t>:</a:t>
            </a:r>
          </a:p>
          <a:p>
            <a:pPr lvl="1"/>
            <a:r>
              <a:rPr lang="en-US" altLang="zh-TW" sz="2200" dirty="0" smtClean="0"/>
              <a:t>Changing </a:t>
            </a:r>
            <a:r>
              <a:rPr lang="en-US" altLang="zh-TW" sz="2200" dirty="0"/>
              <a:t>the name of a process </a:t>
            </a:r>
            <a:r>
              <a:rPr lang="en-US" altLang="zh-TW" sz="2200" dirty="0" smtClean="0"/>
              <a:t>requires all related processes to update their programs.</a:t>
            </a:r>
            <a:endParaRPr lang="en-US" altLang="zh-TW" sz="2200" dirty="0"/>
          </a:p>
          <a:p>
            <a:pPr lvl="1"/>
            <a:r>
              <a:rPr lang="en-US" altLang="zh-TW" sz="2200" dirty="0" smtClean="0"/>
              <a:t>Process names need to be known in advance.</a:t>
            </a:r>
            <a:endParaRPr lang="en-US" altLang="zh-TW" sz="2200" dirty="0"/>
          </a:p>
          <a:p>
            <a:endParaRPr lang="en-US" altLang="zh-TW" dirty="0"/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982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Naming / Addressing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149552"/>
          </a:xfrm>
        </p:spPr>
        <p:txBody>
          <a:bodyPr/>
          <a:lstStyle/>
          <a:p>
            <a:r>
              <a:rPr lang="en-US" altLang="zh-TW" dirty="0" smtClean="0"/>
              <a:t>There are several common ways to identify a process.</a:t>
            </a:r>
          </a:p>
          <a:p>
            <a:pPr lvl="1"/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Hostname + Local-ID</a:t>
            </a:r>
            <a:r>
              <a:rPr lang="en-US" altLang="zh-TW" dirty="0">
                <a:latin typeface="Poor Richard" panose="02080502050505020702" pitchFamily="18" charset="0"/>
              </a:rPr>
              <a:t> "</a:t>
            </a:r>
            <a:endParaRPr lang="en-US" altLang="zh-TW" dirty="0" smtClean="0"/>
          </a:p>
          <a:p>
            <a:pPr lvl="1"/>
            <a:r>
              <a:rPr lang="en-US" altLang="zh-TW" dirty="0">
                <a:latin typeface="Poor Richard" panose="02080502050505020702" pitchFamily="18" charset="0"/>
              </a:rPr>
              <a:t>" </a:t>
            </a:r>
            <a:r>
              <a:rPr lang="en-US" altLang="zh-TW" dirty="0" smtClean="0"/>
              <a:t>Hostname (original) + Local-ID + Hostname (current)</a:t>
            </a:r>
            <a:r>
              <a:rPr lang="en-US" altLang="zh-TW" dirty="0" smtClean="0">
                <a:latin typeface="Poor Richard" panose="02080502050505020702" pitchFamily="18" charset="0"/>
              </a:rPr>
              <a:t> </a:t>
            </a:r>
            <a:r>
              <a:rPr lang="en-US" altLang="zh-TW" dirty="0">
                <a:latin typeface="Poor Richard" panose="02080502050505020702" pitchFamily="18" charset="0"/>
              </a:rPr>
              <a:t>"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Initially, the 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hostname and the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hostname are both the hostname of the original creator. </a:t>
            </a:r>
          </a:p>
          <a:p>
            <a:pPr lvl="3"/>
            <a:r>
              <a:rPr lang="en-US" altLang="zh-TW" dirty="0" smtClean="0"/>
              <a:t>When a process migrates to a new host, the 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hostname is changed to the hostname of the new host.</a:t>
            </a:r>
          </a:p>
          <a:p>
            <a:pPr lvl="3"/>
            <a:r>
              <a:rPr lang="en-US" altLang="zh-TW" dirty="0" smtClean="0"/>
              <a:t>Every host maintains a mapping table for migration information.</a:t>
            </a:r>
          </a:p>
          <a:p>
            <a:pPr lvl="2"/>
            <a:r>
              <a:rPr lang="en-US" altLang="zh-TW" dirty="0" smtClean="0"/>
              <a:t>A message is always sent to 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host with 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st</a:t>
            </a:r>
            <a:r>
              <a:rPr lang="en-US" altLang="zh-TW" dirty="0" smtClean="0">
                <a:solidFill>
                  <a:srgbClr val="FF0000"/>
                </a:solidFill>
              </a:rPr>
              <a:t> hostname + local-ID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. </a:t>
            </a:r>
          </a:p>
          <a:p>
            <a:pPr lvl="3"/>
            <a:r>
              <a:rPr lang="en-US" altLang="zh-TW" dirty="0" smtClean="0"/>
              <a:t>Upon receiving a message, if the destination process was moved, the new 2</a:t>
            </a:r>
            <a:r>
              <a:rPr lang="en-US" altLang="zh-TW" baseline="30000" dirty="0" smtClean="0"/>
              <a:t>nd</a:t>
            </a:r>
            <a:r>
              <a:rPr lang="en-US" altLang="zh-TW" dirty="0" smtClean="0"/>
              <a:t> hostname is used to forward the message.</a:t>
            </a:r>
          </a:p>
          <a:p>
            <a:pPr lvl="3"/>
            <a:r>
              <a:rPr lang="en-US" altLang="zh-TW" dirty="0" smtClean="0"/>
              <a:t>The new </a:t>
            </a:r>
            <a:r>
              <a:rPr lang="en-US" altLang="zh-TW" dirty="0" smtClean="0">
                <a:solidFill>
                  <a:srgbClr val="FF0000"/>
                </a:solidFill>
              </a:rPr>
              <a:t>global process ID </a:t>
            </a:r>
            <a:r>
              <a:rPr lang="en-US" altLang="zh-TW" dirty="0" smtClean="0"/>
              <a:t>can be sent back to the sender on ACK.</a:t>
            </a:r>
          </a:p>
          <a:p>
            <a:pPr lvl="1"/>
            <a:r>
              <a:rPr lang="en-US" altLang="zh-TW" dirty="0" smtClean="0"/>
              <a:t>A global name server is used for mapping a process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s human readable string name to its current </a:t>
            </a:r>
            <a:r>
              <a:rPr lang="en-US" altLang="zh-TW" dirty="0"/>
              <a:t>global ID </a:t>
            </a:r>
            <a:r>
              <a:rPr lang="en-US" altLang="zh-TW" dirty="0" smtClean="0"/>
              <a:t>(i.e. " </a:t>
            </a:r>
            <a:r>
              <a:rPr lang="en-US" altLang="zh-TW" dirty="0"/>
              <a:t>Hostname + Local-ID " 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2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100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The Indirect Communication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5221560"/>
          </a:xfrm>
        </p:spPr>
        <p:txBody>
          <a:bodyPr/>
          <a:lstStyle/>
          <a:p>
            <a:r>
              <a:rPr lang="en-US" altLang="zh-TW" dirty="0" smtClean="0"/>
              <a:t>Indirect </a:t>
            </a:r>
            <a:r>
              <a:rPr lang="en-US" altLang="zh-TW" dirty="0"/>
              <a:t>Communication model </a:t>
            </a:r>
            <a:r>
              <a:rPr lang="en-US" altLang="zh-TW" dirty="0" smtClean="0"/>
              <a:t>does not send a message from a sender </a:t>
            </a:r>
            <a:r>
              <a:rPr lang="en-US" altLang="zh-TW" dirty="0"/>
              <a:t>to </a:t>
            </a:r>
            <a:r>
              <a:rPr lang="en-US" altLang="zh-TW" dirty="0" smtClean="0"/>
              <a:t>its receiver directly. </a:t>
            </a:r>
          </a:p>
          <a:p>
            <a:pPr lvl="1"/>
            <a:r>
              <a:rPr lang="en-US" altLang="zh-TW" dirty="0" smtClean="0"/>
              <a:t>A shared </a:t>
            </a:r>
            <a:r>
              <a:rPr lang="en-US" altLang="zh-TW" dirty="0"/>
              <a:t>data </a:t>
            </a:r>
            <a:r>
              <a:rPr lang="en-US" altLang="zh-TW" dirty="0" smtClean="0"/>
              <a:t>structure is used among senders and receivers. </a:t>
            </a:r>
          </a:p>
          <a:p>
            <a:pPr lvl="1"/>
            <a:r>
              <a:rPr lang="en-US" altLang="zh-TW" dirty="0" smtClean="0"/>
              <a:t>Messages are sent to the shared data structure by senders and retrieved from the shared data structure by receivers.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Mailbox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port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message queues </a:t>
            </a:r>
            <a:r>
              <a:rPr lang="en-US" altLang="zh-TW" dirty="0" smtClean="0"/>
              <a:t>are the commonly used shared data structures.</a:t>
            </a:r>
          </a:p>
          <a:p>
            <a:r>
              <a:rPr lang="en-US" altLang="zh-TW" dirty="0" smtClean="0"/>
              <a:t>Indirect Communication primitives are:</a:t>
            </a:r>
          </a:p>
          <a:p>
            <a:pPr lvl="1"/>
            <a:r>
              <a:rPr lang="en-US" altLang="zh-TW" dirty="0" smtClean="0"/>
              <a:t>Create/open/close/destroy 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mailbox)</a:t>
            </a:r>
          </a:p>
          <a:p>
            <a:pPr lvl="1"/>
            <a:r>
              <a:rPr lang="en-US" altLang="zh-TW" dirty="0" smtClean="0"/>
              <a:t>Send 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mailbox, 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message)</a:t>
            </a:r>
          </a:p>
          <a:p>
            <a:pPr lvl="1"/>
            <a:r>
              <a:rPr lang="en-US" altLang="zh-TW" dirty="0" smtClean="0"/>
              <a:t>Receive (</a:t>
            </a:r>
            <a:r>
              <a:rPr lang="en-US" altLang="zh-TW" dirty="0" smtClean="0">
                <a:solidFill>
                  <a:srgbClr val="00B0F0"/>
                </a:solidFill>
              </a:rPr>
              <a:t>in</a:t>
            </a:r>
            <a:r>
              <a:rPr lang="en-US" altLang="zh-TW" dirty="0" smtClean="0"/>
              <a:t> mailbox, </a:t>
            </a:r>
            <a:r>
              <a:rPr lang="en-US" altLang="zh-TW" b="1" dirty="0" smtClean="0">
                <a:solidFill>
                  <a:srgbClr val="C00000"/>
                </a:solidFill>
              </a:rPr>
              <a:t>out</a:t>
            </a:r>
            <a:r>
              <a:rPr lang="en-US" altLang="zh-TW" dirty="0" smtClean="0"/>
              <a:t> message)</a:t>
            </a:r>
          </a:p>
          <a:p>
            <a:r>
              <a:rPr lang="en-US" altLang="zh-TW" dirty="0" smtClean="0"/>
              <a:t>Senders and receivers are </a:t>
            </a:r>
            <a:r>
              <a:rPr lang="en-US" altLang="zh-TW" dirty="0" smtClean="0">
                <a:solidFill>
                  <a:srgbClr val="FF0000"/>
                </a:solidFill>
              </a:rPr>
              <a:t>decoupled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241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399802"/>
            <a:ext cx="7992888" cy="940966"/>
          </a:xfrm>
        </p:spPr>
        <p:txBody>
          <a:bodyPr/>
          <a:lstStyle/>
          <a:p>
            <a:pPr algn="ctr"/>
            <a:r>
              <a:rPr lang="en-US" altLang="zh-TW" dirty="0" smtClean="0"/>
              <a:t>Persistent and Transient Messaging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21296"/>
            <a:ext cx="8784976" cy="5076056"/>
          </a:xfrm>
        </p:spPr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persistent</a:t>
            </a:r>
            <a:r>
              <a:rPr lang="en-US" altLang="zh-TW" dirty="0" smtClean="0"/>
              <a:t> messaging, </a:t>
            </a:r>
            <a:r>
              <a:rPr lang="en-US" altLang="zh-TW" dirty="0"/>
              <a:t>messages are </a:t>
            </a:r>
            <a:r>
              <a:rPr lang="en-US" altLang="zh-TW" dirty="0">
                <a:solidFill>
                  <a:srgbClr val="FF0000"/>
                </a:solidFill>
              </a:rPr>
              <a:t>stored as long as necessary</a:t>
            </a:r>
            <a:r>
              <a:rPr lang="en-US" altLang="zh-TW" dirty="0"/>
              <a:t> by the communication system (e.g., e-mail</a:t>
            </a:r>
            <a:r>
              <a:rPr lang="en-US" altLang="zh-TW" dirty="0" smtClean="0"/>
              <a:t>) until </a:t>
            </a:r>
            <a:r>
              <a:rPr lang="en-US" altLang="zh-TW" dirty="0"/>
              <a:t>they can be </a:t>
            </a:r>
            <a:r>
              <a:rPr lang="en-US" altLang="zh-TW" dirty="0" smtClean="0"/>
              <a:t>delivered.</a:t>
            </a:r>
            <a:endParaRPr lang="en-US" altLang="zh-TW" dirty="0"/>
          </a:p>
          <a:p>
            <a:pPr lvl="1"/>
            <a:r>
              <a:rPr lang="en-US" altLang="zh-TW" dirty="0" smtClean="0"/>
              <a:t>A sender </a:t>
            </a:r>
            <a:r>
              <a:rPr lang="en-US" altLang="zh-TW" dirty="0"/>
              <a:t>can terminate after executing </a:t>
            </a:r>
            <a:r>
              <a:rPr lang="en-US" altLang="zh-TW" dirty="0" smtClean="0"/>
              <a:t>the send primitive.</a:t>
            </a:r>
            <a:endParaRPr lang="en-US" altLang="zh-TW" dirty="0"/>
          </a:p>
          <a:p>
            <a:pPr lvl="1"/>
            <a:r>
              <a:rPr lang="en-US" altLang="zh-TW" dirty="0" smtClean="0"/>
              <a:t>A receiver may retrieve a message whenever it needs.</a:t>
            </a:r>
            <a:endParaRPr lang="en-US" altLang="zh-TW" dirty="0"/>
          </a:p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transient</a:t>
            </a:r>
            <a:r>
              <a:rPr lang="en-US" altLang="zh-TW" dirty="0" smtClean="0"/>
              <a:t> messaging, </a:t>
            </a:r>
            <a:r>
              <a:rPr lang="en-US" altLang="zh-TW" dirty="0"/>
              <a:t>messages exist only while the sender and receiver are </a:t>
            </a:r>
            <a:r>
              <a:rPr lang="en-US" altLang="zh-TW" dirty="0" smtClean="0"/>
              <a:t>running.</a:t>
            </a:r>
          </a:p>
          <a:p>
            <a:pPr lvl="1"/>
            <a:r>
              <a:rPr lang="en-US" altLang="zh-TW" dirty="0"/>
              <a:t>Transient messages are discarded when they cannot be </a:t>
            </a:r>
            <a:r>
              <a:rPr lang="en-US" altLang="zh-TW" dirty="0" smtClean="0"/>
              <a:t>delivered. </a:t>
            </a:r>
            <a:endParaRPr lang="en-US" altLang="zh-TW" dirty="0"/>
          </a:p>
          <a:p>
            <a:pPr lvl="2"/>
            <a:r>
              <a:rPr lang="en-US" altLang="zh-TW" dirty="0"/>
              <a:t>Communication errors or inactive </a:t>
            </a:r>
            <a:r>
              <a:rPr lang="en-US" altLang="zh-TW" dirty="0" smtClean="0"/>
              <a:t>receivers can cause messages </a:t>
            </a:r>
            <a:r>
              <a:rPr lang="en-US" altLang="zh-TW" dirty="0"/>
              <a:t>to be </a:t>
            </a:r>
            <a:r>
              <a:rPr lang="en-US" altLang="zh-TW" dirty="0" smtClean="0"/>
              <a:t>discarded.</a:t>
            </a:r>
            <a:endParaRPr lang="en-US" altLang="zh-TW" dirty="0"/>
          </a:p>
          <a:p>
            <a:pPr lvl="1"/>
            <a:r>
              <a:rPr lang="en-US" altLang="zh-TW" dirty="0" smtClean="0"/>
              <a:t>UDP and TCP are both transient.</a:t>
            </a:r>
          </a:p>
          <a:p>
            <a:r>
              <a:rPr lang="en-US" altLang="zh-TW" dirty="0" smtClean="0"/>
              <a:t>In general, </a:t>
            </a:r>
            <a:r>
              <a:rPr lang="en-US" altLang="zh-TW" dirty="0" smtClean="0">
                <a:solidFill>
                  <a:srgbClr val="FF0000"/>
                </a:solidFill>
              </a:rPr>
              <a:t>indirect communication </a:t>
            </a:r>
            <a:r>
              <a:rPr lang="en-US" altLang="zh-TW" dirty="0" smtClean="0"/>
              <a:t>systems are more likely to support </a:t>
            </a:r>
            <a:r>
              <a:rPr lang="en-US" altLang="zh-TW" dirty="0" smtClean="0">
                <a:solidFill>
                  <a:srgbClr val="FF0000"/>
                </a:solidFill>
              </a:rPr>
              <a:t>persistent</a:t>
            </a:r>
            <a:r>
              <a:rPr lang="en-US" altLang="zh-TW" dirty="0" smtClean="0"/>
              <a:t> messaging.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659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6672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Blocking vs Nonblocking Primitives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008" y="1447800"/>
            <a:ext cx="9036496" cy="5149552"/>
          </a:xfrm>
        </p:spPr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blocking send </a:t>
            </a:r>
            <a:r>
              <a:rPr lang="en-US" altLang="zh-TW" dirty="0" smtClean="0"/>
              <a:t>model, a </a:t>
            </a:r>
            <a:r>
              <a:rPr lang="en-US" altLang="zh-TW" dirty="0"/>
              <a:t>sender is blocked until </a:t>
            </a:r>
          </a:p>
          <a:p>
            <a:pPr lvl="1"/>
            <a:r>
              <a:rPr lang="en-US" altLang="zh-TW" dirty="0" smtClean="0"/>
              <a:t>the communication system </a:t>
            </a:r>
            <a:r>
              <a:rPr lang="en-US" altLang="zh-TW" b="1" dirty="0">
                <a:solidFill>
                  <a:srgbClr val="0099FF"/>
                </a:solidFill>
              </a:rPr>
              <a:t>notifies acceptance </a:t>
            </a:r>
            <a:r>
              <a:rPr lang="en-US" altLang="zh-TW" dirty="0"/>
              <a:t>of the message, or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message has been </a:t>
            </a:r>
            <a:r>
              <a:rPr lang="en-US" altLang="zh-TW" b="1" dirty="0">
                <a:solidFill>
                  <a:srgbClr val="0099FF"/>
                </a:solidFill>
              </a:rPr>
              <a:t>delivered</a:t>
            </a:r>
            <a:r>
              <a:rPr lang="en-US" altLang="zh-TW" dirty="0"/>
              <a:t> to the receiver, or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receiver processes it </a:t>
            </a:r>
            <a:r>
              <a:rPr lang="en-US" altLang="zh-TW" dirty="0" smtClean="0"/>
              <a:t>and </a:t>
            </a:r>
            <a:r>
              <a:rPr lang="en-US" altLang="zh-TW" dirty="0"/>
              <a:t>returns a </a:t>
            </a:r>
            <a:r>
              <a:rPr lang="en-US" altLang="zh-TW" b="1" dirty="0">
                <a:solidFill>
                  <a:srgbClr val="0099FF"/>
                </a:solidFill>
              </a:rPr>
              <a:t>response</a:t>
            </a:r>
            <a:r>
              <a:rPr lang="en-US" altLang="zh-TW" dirty="0" smtClean="0"/>
              <a:t>, or </a:t>
            </a:r>
            <a:r>
              <a:rPr lang="en-US" altLang="zh-TW" b="1" dirty="0">
                <a:solidFill>
                  <a:srgbClr val="0099FF"/>
                </a:solidFill>
              </a:rPr>
              <a:t>timed out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blocking receive </a:t>
            </a:r>
            <a:r>
              <a:rPr lang="en-US" altLang="zh-TW" dirty="0" smtClean="0"/>
              <a:t>model, a receiver is blocked until</a:t>
            </a:r>
          </a:p>
          <a:p>
            <a:pPr lvl="1"/>
            <a:r>
              <a:rPr lang="en-US" altLang="zh-TW" dirty="0"/>
              <a:t>t</a:t>
            </a:r>
            <a:r>
              <a:rPr lang="en-US" altLang="zh-TW" dirty="0" smtClean="0"/>
              <a:t>he desired message is </a:t>
            </a:r>
            <a:r>
              <a:rPr lang="en-US" altLang="zh-TW" b="1" dirty="0">
                <a:solidFill>
                  <a:srgbClr val="0099FF"/>
                </a:solidFill>
              </a:rPr>
              <a:t>received</a:t>
            </a:r>
            <a:r>
              <a:rPr lang="en-US" altLang="zh-TW" dirty="0" smtClean="0"/>
              <a:t> or </a:t>
            </a:r>
            <a:r>
              <a:rPr lang="en-US" altLang="zh-TW" b="1" dirty="0">
                <a:solidFill>
                  <a:srgbClr val="0099FF"/>
                </a:solidFill>
              </a:rPr>
              <a:t>timed out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non-blocking send</a:t>
            </a:r>
            <a:r>
              <a:rPr lang="en-US" altLang="zh-TW" dirty="0" smtClean="0"/>
              <a:t>, a </a:t>
            </a:r>
            <a:r>
              <a:rPr lang="en-US" altLang="zh-TW" dirty="0"/>
              <a:t>sender resumes execution as soon as the message is passed to the </a:t>
            </a:r>
            <a:r>
              <a:rPr lang="en-US" altLang="zh-TW" dirty="0" smtClean="0"/>
              <a:t>communication </a:t>
            </a:r>
            <a:r>
              <a:rPr lang="en-US" altLang="zh-TW" dirty="0"/>
              <a:t>s</a:t>
            </a:r>
            <a:r>
              <a:rPr lang="en-US" altLang="zh-TW" dirty="0" smtClean="0"/>
              <a:t>ystem.</a:t>
            </a:r>
          </a:p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non-blocking receive</a:t>
            </a:r>
            <a:r>
              <a:rPr lang="en-US" altLang="zh-TW" dirty="0" smtClean="0"/>
              <a:t>, a receiver resumes execution immediately.</a:t>
            </a:r>
          </a:p>
          <a:p>
            <a:pPr lvl="1"/>
            <a:r>
              <a:rPr lang="en-US" altLang="zh-TW" dirty="0" smtClean="0"/>
              <a:t>A message is either </a:t>
            </a:r>
            <a:r>
              <a:rPr lang="en-US" altLang="zh-TW" b="1" dirty="0">
                <a:solidFill>
                  <a:srgbClr val="0099FF"/>
                </a:solidFill>
              </a:rPr>
              <a:t>returned</a:t>
            </a:r>
            <a:r>
              <a:rPr lang="en-US" altLang="zh-TW" dirty="0" smtClean="0"/>
              <a:t> or </a:t>
            </a:r>
          </a:p>
          <a:p>
            <a:pPr lvl="1"/>
            <a:r>
              <a:rPr lang="en-US" altLang="zh-TW" dirty="0" smtClean="0"/>
              <a:t>an </a:t>
            </a:r>
            <a:r>
              <a:rPr lang="en-US" altLang="zh-TW" b="1" dirty="0">
                <a:solidFill>
                  <a:srgbClr val="0099FF"/>
                </a:solidFill>
              </a:rPr>
              <a:t>error flag </a:t>
            </a:r>
            <a:r>
              <a:rPr lang="en-US" altLang="zh-TW" dirty="0" smtClean="0"/>
              <a:t>is set to indicate that no message was returned.</a:t>
            </a:r>
            <a:endParaRPr lang="en-US" altLang="zh-TW" dirty="0"/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227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Blocking Send + </a:t>
            </a:r>
            <a:r>
              <a:rPr lang="en-US" altLang="zh-TW" dirty="0"/>
              <a:t>B</a:t>
            </a:r>
            <a:r>
              <a:rPr lang="en-US" altLang="zh-TW" dirty="0" smtClean="0"/>
              <a:t>locking Receive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539552" y="2060847"/>
            <a:ext cx="8064896" cy="3960441"/>
            <a:chOff x="1266603" y="1988839"/>
            <a:chExt cx="7360815" cy="3960441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5413" y="2376370"/>
              <a:ext cx="2434700" cy="3212870"/>
            </a:xfrm>
            <a:prstGeom prst="rect">
              <a:avLst/>
            </a:prstGeom>
          </p:spPr>
        </p:pic>
        <p:sp>
          <p:nvSpPr>
            <p:cNvPr id="5" name="Content Placeholder 8"/>
            <p:cNvSpPr txBox="1">
              <a:spLocks/>
            </p:cNvSpPr>
            <p:nvPr/>
          </p:nvSpPr>
          <p:spPr bwMode="auto">
            <a:xfrm>
              <a:off x="1266603" y="1988839"/>
              <a:ext cx="7360815" cy="3960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73050" indent="-273050" algn="l" rtl="0" eaLnBrk="0" fontAlgn="base" hangingPunct="0">
                <a:spcBef>
                  <a:spcPts val="575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7688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822325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096963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13716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18288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2860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27432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2004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ea typeface="新細明體" panose="02020500000000000000" pitchFamily="18" charset="-120"/>
                </a:rPr>
                <a:t>                                          </a:t>
              </a: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Sender                                       Receiver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    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   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Send(message);                                               Receive(message);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execution suspended               message                  execution suspended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           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execution resumed</a:t>
              </a:r>
            </a:p>
            <a:p>
              <a:pPr>
                <a:buFont typeface="Wingdings 2" panose="05020102010507070707" pitchFamily="18" charset="2"/>
                <a:buNone/>
              </a:pPr>
              <a:endParaRPr kumimoji="0" lang="en-US" altLang="zh-TW" sz="1600" b="1" kern="0" dirty="0" smtClean="0">
                <a:latin typeface="+mj-lt"/>
                <a:ea typeface="新細明體" panose="02020500000000000000" pitchFamily="18" charset="-120"/>
              </a:endParaRP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Send(acknowledgement)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      </a:t>
              </a:r>
            </a:p>
            <a:p>
              <a:pPr lvl="1"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execution resumed             acknowledgement</a:t>
              </a:r>
            </a:p>
            <a:p>
              <a:endParaRPr kumimoji="0" lang="en-US" altLang="zh-TW" sz="1600" b="1" kern="0" dirty="0" smtClean="0">
                <a:ea typeface="新細明體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6262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497968" cy="940966"/>
          </a:xfrm>
        </p:spPr>
        <p:txBody>
          <a:bodyPr/>
          <a:lstStyle/>
          <a:p>
            <a:pPr algn="ctr"/>
            <a:r>
              <a:rPr lang="en-US" altLang="zh-TW" dirty="0" smtClean="0"/>
              <a:t>Non-Blocking Send + Blocking Receive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178488" y="1844823"/>
            <a:ext cx="8569976" cy="4104457"/>
            <a:chOff x="184914" y="1844823"/>
            <a:chExt cx="8442504" cy="4104457"/>
          </a:xfrm>
        </p:grpSpPr>
        <p:sp>
          <p:nvSpPr>
            <p:cNvPr id="4" name="Content Placeholder 8"/>
            <p:cNvSpPr txBox="1">
              <a:spLocks/>
            </p:cNvSpPr>
            <p:nvPr/>
          </p:nvSpPr>
          <p:spPr bwMode="auto">
            <a:xfrm>
              <a:off x="683568" y="1844823"/>
              <a:ext cx="7943850" cy="4104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73050" indent="-273050" algn="l" rtl="0" eaLnBrk="0" fontAlgn="base" hangingPunct="0">
                <a:spcBef>
                  <a:spcPts val="575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7688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+mn-lt"/>
                </a:defRPr>
              </a:lvl2pPr>
              <a:lvl3pPr marL="822325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+mn-lt"/>
                </a:defRPr>
              </a:lvl3pPr>
              <a:lvl4pPr marL="1096963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13716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5pPr>
              <a:lvl6pPr marL="18288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6pPr>
              <a:lvl7pPr marL="22860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7pPr>
              <a:lvl8pPr marL="27432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8pPr>
              <a:lvl9pPr marL="3200400" indent="-228600" algn="l" rtl="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Sender                                        Receiver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ea typeface="新細明體" panose="02020500000000000000" pitchFamily="18" charset="-120"/>
                </a:rPr>
                <a:t>                                                                                                       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/>
                <a:t>                                                                                                      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</a:rPr>
                <a:t>             Send(message);                                                        Receive(message);</a:t>
              </a:r>
            </a:p>
            <a:p>
              <a:pPr lvl="1">
                <a:spcBef>
                  <a:spcPct val="0"/>
                </a:spcBef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</a:rPr>
                <a:t>      execution continued               message                             execution suspended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ea typeface="新細明體" panose="02020500000000000000" pitchFamily="18" charset="-120"/>
                </a:rPr>
                <a:t>                                                                                                              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execution resumed</a:t>
              </a:r>
            </a:p>
            <a:p>
              <a:pPr>
                <a:buFont typeface="Wingdings 2" panose="05020102010507070707" pitchFamily="18" charset="2"/>
                <a:buNone/>
              </a:pPr>
              <a:endParaRPr kumimoji="0" lang="en-US" altLang="zh-TW" sz="1600" b="1" kern="0" dirty="0" smtClean="0">
                <a:latin typeface="+mj-lt"/>
                <a:ea typeface="新細明體" panose="02020500000000000000" pitchFamily="18" charset="-120"/>
              </a:endParaRP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Send(acknowledgement)</a:t>
              </a:r>
            </a:p>
            <a:p>
              <a:pPr>
                <a:buFont typeface="Wingdings 2" panose="05020102010507070707" pitchFamily="18" charset="2"/>
                <a:buNone/>
              </a:pPr>
              <a:r>
                <a:rPr kumimoji="0" lang="en-US" altLang="zh-TW" sz="1600" b="1" kern="0" dirty="0" smtClean="0">
                  <a:latin typeface="+mj-lt"/>
                  <a:ea typeface="新細明體" panose="02020500000000000000" pitchFamily="18" charset="-120"/>
                </a:rPr>
                <a:t>                                                                                                         </a:t>
              </a:r>
            </a:p>
            <a:p>
              <a:pPr lvl="1">
                <a:buFont typeface="Verdana" panose="020B0604030504040204" pitchFamily="34" charset="0"/>
                <a:buNone/>
              </a:pPr>
              <a:r>
                <a:rPr kumimoji="0" lang="en-US" altLang="zh-TW" sz="1600" b="1" kern="0" dirty="0" smtClean="0">
                  <a:latin typeface="+mj-lt"/>
                </a:rPr>
                <a:t>                                                   acknowledgement</a:t>
              </a:r>
            </a:p>
            <a:p>
              <a:pPr lvl="1">
                <a:buFont typeface="Verdana" panose="020B0604030504040204" pitchFamily="34" charset="0"/>
                <a:buNone/>
              </a:pPr>
              <a:r>
                <a:rPr kumimoji="0" lang="en-US" altLang="zh-TW" sz="1600" b="1" kern="0" dirty="0">
                  <a:latin typeface="+mj-lt"/>
                </a:rPr>
                <a:t> </a:t>
              </a:r>
              <a:r>
                <a:rPr kumimoji="0" lang="en-US" altLang="zh-TW" sz="1600" b="1" kern="0" dirty="0" smtClean="0">
                  <a:latin typeface="+mj-lt"/>
                </a:rPr>
                <a:t>          </a:t>
              </a:r>
            </a:p>
            <a:p>
              <a:endParaRPr kumimoji="0" lang="en-US" altLang="zh-TW" sz="1600" b="1" kern="0" dirty="0" smtClean="0">
                <a:ea typeface="新細明體" panose="02020500000000000000" pitchFamily="18" charset="-120"/>
              </a:endParaRPr>
            </a:p>
            <a:p>
              <a:endParaRPr kumimoji="0" lang="en-US" altLang="zh-TW" sz="1600" b="1" kern="0" dirty="0" smtClean="0">
                <a:ea typeface="新細明體" panose="02020500000000000000" pitchFamily="18" charset="-120"/>
              </a:endParaRP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H="1">
              <a:off x="5747965" y="2348880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3052936" y="3191091"/>
              <a:ext cx="2695029" cy="505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5747957" y="3696417"/>
              <a:ext cx="48179" cy="1852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 flipH="1">
              <a:off x="3052936" y="4285964"/>
              <a:ext cx="2695029" cy="589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1" name="Line 19"/>
            <p:cNvSpPr>
              <a:spLocks noChangeShapeType="1"/>
            </p:cNvSpPr>
            <p:nvPr/>
          </p:nvSpPr>
          <p:spPr bwMode="auto">
            <a:xfrm>
              <a:off x="3052936" y="3191091"/>
              <a:ext cx="0" cy="1684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2" name="Line 20"/>
            <p:cNvSpPr>
              <a:spLocks noChangeShapeType="1"/>
            </p:cNvSpPr>
            <p:nvPr/>
          </p:nvSpPr>
          <p:spPr bwMode="auto">
            <a:xfrm>
              <a:off x="5747965" y="3022648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flipV="1">
              <a:off x="3052936" y="2348880"/>
              <a:ext cx="0" cy="8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 flipH="1">
              <a:off x="3052936" y="4875512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184914" y="4719519"/>
              <a:ext cx="28384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0" lang="en-US" altLang="zh-TW" sz="1600" b="1" kern="0" dirty="0">
                  <a:latin typeface="+mj-lt"/>
                </a:rPr>
                <a:t>Interrupt or signal </a:t>
              </a:r>
              <a:r>
                <a:rPr kumimoji="0" lang="en-US" altLang="zh-TW" sz="1600" b="1" kern="0" dirty="0" smtClean="0">
                  <a:latin typeface="+mj-lt"/>
                </a:rPr>
                <a:t>to notify </a:t>
              </a:r>
              <a:r>
                <a:rPr kumimoji="0" lang="en-US" altLang="zh-TW" sz="1600" b="1" kern="0" dirty="0">
                  <a:latin typeface="+mj-lt"/>
                </a:rPr>
                <a:t>server or </a:t>
              </a:r>
              <a:r>
                <a:rPr kumimoji="0" lang="en-US" altLang="zh-TW" sz="1600" b="1" kern="0" dirty="0" smtClean="0">
                  <a:latin typeface="+mj-lt"/>
                </a:rPr>
                <a:t>sender </a:t>
              </a:r>
              <a:r>
                <a:rPr kumimoji="0" lang="en-US" altLang="zh-TW" sz="1600" b="1" kern="0" dirty="0">
                  <a:latin typeface="+mj-lt"/>
                </a:rPr>
                <a:t>polls periodically</a:t>
              </a:r>
              <a:endParaRPr kumimoji="0" lang="zh-TW" altLang="en-US" sz="1600" b="1" kern="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403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640960" cy="940966"/>
          </a:xfrm>
        </p:spPr>
        <p:txBody>
          <a:bodyPr/>
          <a:lstStyle/>
          <a:p>
            <a:pPr algn="ctr"/>
            <a:r>
              <a:rPr lang="en-US" altLang="zh-TW" dirty="0"/>
              <a:t>B</a:t>
            </a:r>
            <a:r>
              <a:rPr lang="en-US" altLang="zh-TW" dirty="0" smtClean="0"/>
              <a:t>locking Send + Non-blocking Receive</a:t>
            </a:r>
            <a:endParaRPr lang="zh-TW" alt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35496" y="1772817"/>
            <a:ext cx="9073008" cy="4608512"/>
            <a:chOff x="873064" y="1999873"/>
            <a:chExt cx="7958915" cy="3517359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 flipH="1">
              <a:off x="5617245" y="2316832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6" name="Line 9"/>
            <p:cNvSpPr>
              <a:spLocks noChangeShapeType="1"/>
            </p:cNvSpPr>
            <p:nvPr/>
          </p:nvSpPr>
          <p:spPr bwMode="auto">
            <a:xfrm>
              <a:off x="2922216" y="3159043"/>
              <a:ext cx="2695029" cy="505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5617237" y="3664369"/>
              <a:ext cx="48179" cy="1852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 flipH="1">
              <a:off x="2922216" y="4253916"/>
              <a:ext cx="2695029" cy="589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9" name="Line 19"/>
            <p:cNvSpPr>
              <a:spLocks noChangeShapeType="1"/>
            </p:cNvSpPr>
            <p:nvPr/>
          </p:nvSpPr>
          <p:spPr bwMode="auto">
            <a:xfrm>
              <a:off x="2922216" y="3159043"/>
              <a:ext cx="0" cy="1684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0" name="Line 20"/>
            <p:cNvSpPr>
              <a:spLocks noChangeShapeType="1"/>
            </p:cNvSpPr>
            <p:nvPr/>
          </p:nvSpPr>
          <p:spPr bwMode="auto">
            <a:xfrm>
              <a:off x="5617245" y="2990600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1" name="Line 21"/>
            <p:cNvSpPr>
              <a:spLocks noChangeShapeType="1"/>
            </p:cNvSpPr>
            <p:nvPr/>
          </p:nvSpPr>
          <p:spPr bwMode="auto">
            <a:xfrm flipV="1">
              <a:off x="2922216" y="2316832"/>
              <a:ext cx="0" cy="8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H="1">
              <a:off x="2922216" y="4843464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4" name="橢圓 13"/>
            <p:cNvSpPr/>
            <p:nvPr/>
          </p:nvSpPr>
          <p:spPr>
            <a:xfrm>
              <a:off x="5564808" y="3068960"/>
              <a:ext cx="76275" cy="900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873064" y="2895327"/>
              <a:ext cx="2096460" cy="44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0" lang="en-US" altLang="zh-TW" sz="1600" b="1" kern="0" dirty="0">
                  <a:solidFill>
                    <a:srgbClr val="000000"/>
                  </a:solidFill>
                </a:rPr>
                <a:t>Send(message</a:t>
              </a:r>
              <a:r>
                <a:rPr kumimoji="0" lang="en-US" altLang="zh-TW" sz="1600" b="1" kern="0" dirty="0" smtClean="0">
                  <a:solidFill>
                    <a:srgbClr val="000000"/>
                  </a:solidFill>
                </a:rPr>
                <a:t>);</a:t>
              </a:r>
            </a:p>
            <a:p>
              <a:pPr algn="r"/>
              <a:r>
                <a:rPr kumimoji="0" lang="en-US" altLang="zh-TW" sz="1600" b="1" kern="0" dirty="0" smtClean="0">
                  <a:solidFill>
                    <a:srgbClr val="000000"/>
                  </a:solidFill>
                </a:rPr>
                <a:t>Execution suspended</a:t>
              </a: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3332560" y="2996952"/>
              <a:ext cx="11521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message</a:t>
              </a:r>
              <a:endParaRPr lang="zh-TW" altLang="en-US" sz="1600" b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260552" y="4664169"/>
              <a:ext cx="20448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acknowledgement</a:t>
              </a:r>
              <a:endParaRPr lang="zh-TW" altLang="en-US" sz="1600" b="1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617624" y="2879212"/>
              <a:ext cx="2719456" cy="44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Receive(message)</a:t>
              </a:r>
              <a:r>
                <a:rPr lang="en-US" altLang="zh-TW" sz="1600" b="1" dirty="0" smtClean="0">
                  <a:sym typeface="Wingdings" panose="05000000000000000000" pitchFamily="2" charset="2"/>
                </a:rPr>
                <a:t>NULL;</a:t>
              </a:r>
            </a:p>
            <a:p>
              <a:r>
                <a:rPr lang="en-US" altLang="zh-TW" sz="1600" b="1" dirty="0" smtClean="0">
                  <a:sym typeface="Wingdings" panose="05000000000000000000" pitchFamily="2" charset="2"/>
                </a:rPr>
                <a:t>Execution continued</a:t>
              </a:r>
              <a:endParaRPr lang="zh-TW" altLang="en-US" sz="1600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627974" y="3429000"/>
              <a:ext cx="3204005" cy="446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Interrupt or signal to notify receiver or Receiver polls periodically</a:t>
              </a:r>
              <a:endParaRPr lang="zh-TW" altLang="en-US" sz="1600" b="1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564808" y="4088105"/>
              <a:ext cx="2026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Send(ACK)</a:t>
              </a:r>
              <a:endParaRPr lang="zh-TW" altLang="en-US" sz="1600" b="1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996256" y="4725144"/>
              <a:ext cx="1904256" cy="258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600" b="1" dirty="0" smtClean="0"/>
                <a:t>Execution resumed</a:t>
              </a:r>
              <a:endParaRPr lang="zh-TW" altLang="en-US" sz="1600" b="1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2540472" y="1999873"/>
              <a:ext cx="10801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sender</a:t>
              </a:r>
              <a:endParaRPr lang="zh-TW" altLang="en-US" sz="1600" b="1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204768" y="1999873"/>
              <a:ext cx="1224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receiver</a:t>
              </a:r>
              <a:endParaRPr lang="zh-TW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1426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3297" y="404664"/>
            <a:ext cx="8335167" cy="940966"/>
          </a:xfrm>
        </p:spPr>
        <p:txBody>
          <a:bodyPr/>
          <a:lstStyle/>
          <a:p>
            <a:pPr algn="ctr"/>
            <a:r>
              <a:rPr lang="en-US" altLang="zh-TW" dirty="0" smtClean="0"/>
              <a:t>Non-Blocking + Non-Blocking Receive</a:t>
            </a:r>
            <a:endParaRPr lang="zh-TW" altLang="en-US" dirty="0"/>
          </a:p>
        </p:txBody>
      </p:sp>
      <p:grpSp>
        <p:nvGrpSpPr>
          <p:cNvPr id="22" name="群組 21"/>
          <p:cNvGrpSpPr/>
          <p:nvPr/>
        </p:nvGrpSpPr>
        <p:grpSpPr>
          <a:xfrm>
            <a:off x="-396552" y="1999873"/>
            <a:ext cx="9577064" cy="3556268"/>
            <a:chOff x="-108520" y="1999873"/>
            <a:chExt cx="9577064" cy="3556268"/>
          </a:xfrm>
        </p:grpSpPr>
        <p:sp>
          <p:nvSpPr>
            <p:cNvPr id="4" name="Line 8"/>
            <p:cNvSpPr>
              <a:spLocks noChangeShapeType="1"/>
            </p:cNvSpPr>
            <p:nvPr/>
          </p:nvSpPr>
          <p:spPr bwMode="auto">
            <a:xfrm flipH="1">
              <a:off x="5617245" y="2316832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5" name="Line 9"/>
            <p:cNvSpPr>
              <a:spLocks noChangeShapeType="1"/>
            </p:cNvSpPr>
            <p:nvPr/>
          </p:nvSpPr>
          <p:spPr bwMode="auto">
            <a:xfrm>
              <a:off x="2922216" y="3159043"/>
              <a:ext cx="2695029" cy="505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5617237" y="3664369"/>
              <a:ext cx="48179" cy="1852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 flipH="1">
              <a:off x="2922216" y="4253916"/>
              <a:ext cx="2695029" cy="5895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>
              <a:off x="2922216" y="3159043"/>
              <a:ext cx="0" cy="1684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9" name="Line 20"/>
            <p:cNvSpPr>
              <a:spLocks noChangeShapeType="1"/>
            </p:cNvSpPr>
            <p:nvPr/>
          </p:nvSpPr>
          <p:spPr bwMode="auto">
            <a:xfrm>
              <a:off x="5617245" y="2990600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 flipV="1">
              <a:off x="2922216" y="2316832"/>
              <a:ext cx="0" cy="842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H="1">
              <a:off x="2922216" y="4843464"/>
              <a:ext cx="0" cy="673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 sz="1600" b="1"/>
            </a:p>
          </p:txBody>
        </p:sp>
        <p:sp>
          <p:nvSpPr>
            <p:cNvPr id="12" name="橢圓 11"/>
            <p:cNvSpPr/>
            <p:nvPr/>
          </p:nvSpPr>
          <p:spPr>
            <a:xfrm>
              <a:off x="5564808" y="3068960"/>
              <a:ext cx="76275" cy="900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639665" y="2895327"/>
              <a:ext cx="22608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0" lang="en-US" altLang="zh-TW" sz="1600" b="1" kern="0" dirty="0">
                  <a:solidFill>
                    <a:srgbClr val="000000"/>
                  </a:solidFill>
                </a:rPr>
                <a:t>Send(message</a:t>
              </a:r>
              <a:r>
                <a:rPr kumimoji="0" lang="en-US" altLang="zh-TW" sz="1600" b="1" kern="0" dirty="0" smtClean="0">
                  <a:solidFill>
                    <a:srgbClr val="000000"/>
                  </a:solidFill>
                </a:rPr>
                <a:t>);</a:t>
              </a:r>
            </a:p>
            <a:p>
              <a:pPr algn="r"/>
              <a:r>
                <a:rPr kumimoji="0" lang="en-US" altLang="zh-TW" sz="1600" b="1" kern="0" dirty="0" smtClean="0">
                  <a:solidFill>
                    <a:srgbClr val="000000"/>
                  </a:solidFill>
                </a:rPr>
                <a:t>Execution continued</a:t>
              </a: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332560" y="2996952"/>
              <a:ext cx="11521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message</a:t>
              </a:r>
              <a:endParaRPr lang="zh-TW" altLang="en-US" sz="1600" b="1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260552" y="4664169"/>
              <a:ext cx="20448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acknowledgement</a:t>
              </a:r>
              <a:endParaRPr lang="zh-TW" altLang="en-US" sz="1600" b="1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626472" y="2852936"/>
              <a:ext cx="31219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Receive(message)</a:t>
              </a:r>
              <a:r>
                <a:rPr lang="en-US" altLang="zh-TW" sz="1600" b="1" dirty="0" smtClean="0">
                  <a:sym typeface="Wingdings" panose="05000000000000000000" pitchFamily="2" charset="2"/>
                </a:rPr>
                <a:t>NULL;</a:t>
              </a:r>
            </a:p>
            <a:p>
              <a:r>
                <a:rPr lang="en-US" altLang="zh-TW" sz="1600" b="1" dirty="0" smtClean="0">
                  <a:sym typeface="Wingdings" panose="05000000000000000000" pitchFamily="2" charset="2"/>
                </a:rPr>
                <a:t>Execution continued</a:t>
              </a:r>
              <a:endParaRPr lang="zh-TW" altLang="en-US" sz="1600" b="1" dirty="0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5636816" y="3429000"/>
              <a:ext cx="3831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Interrupt or signal to notify receiver or Receiver polls periodically</a:t>
              </a:r>
              <a:endParaRPr lang="zh-TW" altLang="en-US" sz="1600" b="1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641776" y="4088105"/>
              <a:ext cx="2026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Send(ACK)</a:t>
              </a:r>
              <a:endParaRPr lang="zh-TW" altLang="en-US" sz="1600" b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-108520" y="4725144"/>
              <a:ext cx="30090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1600" b="1" dirty="0" smtClean="0"/>
                <a:t>Interrupt or signal to </a:t>
              </a:r>
            </a:p>
            <a:p>
              <a:pPr algn="r"/>
              <a:r>
                <a:rPr lang="en-US" altLang="zh-TW" sz="1600" b="1" dirty="0" smtClean="0"/>
                <a:t>notify server or </a:t>
              </a:r>
            </a:p>
            <a:p>
              <a:pPr algn="r"/>
              <a:r>
                <a:rPr lang="en-US" altLang="zh-TW" sz="1600" b="1" dirty="0" smtClean="0"/>
                <a:t>sender polls periodically</a:t>
              </a:r>
              <a:endParaRPr lang="zh-TW" altLang="en-US" sz="1600" b="1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2540472" y="1999873"/>
              <a:ext cx="10801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sender</a:t>
              </a:r>
              <a:endParaRPr lang="zh-TW" altLang="en-US" sz="1600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204768" y="1999873"/>
              <a:ext cx="1224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 smtClean="0"/>
                <a:t>receiver</a:t>
              </a:r>
              <a:endParaRPr lang="zh-TW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457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99802"/>
            <a:ext cx="8136904" cy="940966"/>
          </a:xfrm>
        </p:spPr>
        <p:txBody>
          <a:bodyPr/>
          <a:lstStyle/>
          <a:p>
            <a:pPr algn="ctr"/>
            <a:r>
              <a:rPr lang="en-US" altLang="zh-TW" dirty="0" smtClean="0"/>
              <a:t>Pros and Cons of Blocking Primitives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291264" cy="4572000"/>
          </a:xfrm>
        </p:spPr>
        <p:txBody>
          <a:bodyPr/>
          <a:lstStyle/>
          <a:p>
            <a:r>
              <a:rPr lang="en-US" altLang="zh-TW" dirty="0" smtClean="0"/>
              <a:t>Pros:</a:t>
            </a:r>
          </a:p>
          <a:p>
            <a:pPr lvl="1"/>
            <a:r>
              <a:rPr lang="en-US" altLang="zh-TW" dirty="0" smtClean="0"/>
              <a:t>The blocking primitives are much easy to implement.</a:t>
            </a:r>
          </a:p>
          <a:p>
            <a:r>
              <a:rPr lang="en-US" altLang="zh-TW" dirty="0" smtClean="0"/>
              <a:t>Cons:</a:t>
            </a:r>
          </a:p>
          <a:p>
            <a:pPr lvl="1"/>
            <a:r>
              <a:rPr lang="en-US" altLang="zh-TW" dirty="0" smtClean="0"/>
              <a:t>The sender and/or the receiver can block forever if the other party crashes or messages are lost.</a:t>
            </a:r>
          </a:p>
          <a:p>
            <a:pPr lvl="1"/>
            <a:r>
              <a:rPr lang="en-US" altLang="zh-TW" dirty="0" smtClean="0"/>
              <a:t>The concurrency degree between sender and receiver is limited.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communication deadlock </a:t>
            </a:r>
            <a:r>
              <a:rPr lang="en-US" altLang="zh-TW" dirty="0" smtClean="0"/>
              <a:t>is more likely to happen.</a:t>
            </a:r>
            <a:endParaRPr lang="zh-TW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1520" y="4569420"/>
            <a:ext cx="3797300" cy="173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TW" altLang="zh-TW" b="1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7083" y="4777383"/>
            <a:ext cx="3869650" cy="134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30200" indent="-330200" defTabSz="8794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P1:</a:t>
            </a:r>
          </a:p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  send() to P2;</a:t>
            </a:r>
          </a:p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  receive() from P2;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975920" y="4569420"/>
            <a:ext cx="3797300" cy="173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TW" altLang="zh-TW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031483" y="4777383"/>
            <a:ext cx="3869650" cy="134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330200" indent="-330200" defTabSz="8794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defTabSz="8794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P2:</a:t>
            </a:r>
          </a:p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  send() to P1;</a:t>
            </a:r>
          </a:p>
          <a:p>
            <a:pPr>
              <a:spcBef>
                <a:spcPct val="20000"/>
              </a:spcBef>
            </a:pPr>
            <a:r>
              <a:rPr lang="en-US" altLang="zh-TW" b="1" dirty="0">
                <a:latin typeface="Courier New" panose="02070309020205020404" pitchFamily="49" charset="0"/>
              </a:rPr>
              <a:t>  receive() from P1;</a:t>
            </a:r>
          </a:p>
        </p:txBody>
      </p:sp>
    </p:spTree>
    <p:extLst>
      <p:ext uri="{BB962C8B-B14F-4D97-AF65-F5344CB8AC3E}">
        <p14:creationId xmlns:p14="http://schemas.microsoft.com/office/powerpoint/2010/main" val="435538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Pros and Cons of Non-blocking OPs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447800"/>
            <a:ext cx="8147248" cy="4572000"/>
          </a:xfrm>
        </p:spPr>
        <p:txBody>
          <a:bodyPr/>
          <a:lstStyle/>
          <a:p>
            <a:r>
              <a:rPr lang="en-US" altLang="zh-TW" dirty="0" smtClean="0"/>
              <a:t>Pros: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sender </a:t>
            </a:r>
            <a:r>
              <a:rPr lang="en-US" altLang="zh-TW" dirty="0" smtClean="0"/>
              <a:t>and/or the receiver </a:t>
            </a:r>
            <a:r>
              <a:rPr lang="en-US" altLang="zh-TW" dirty="0"/>
              <a:t>can continue </a:t>
            </a:r>
            <a:r>
              <a:rPr lang="en-US" altLang="zh-TW" dirty="0" smtClean="0"/>
              <a:t>their executions </a:t>
            </a:r>
            <a:r>
              <a:rPr lang="en-US" altLang="zh-TW" dirty="0"/>
              <a:t>without </a:t>
            </a:r>
            <a:r>
              <a:rPr lang="en-US" altLang="zh-TW" dirty="0" smtClean="0"/>
              <a:t>waiting for each other.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/>
              <a:t>system </a:t>
            </a:r>
            <a:r>
              <a:rPr lang="en-US" altLang="zh-TW" dirty="0"/>
              <a:t>is less likely to run into a deadlock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Cons:</a:t>
            </a:r>
          </a:p>
          <a:p>
            <a:pPr lvl="1"/>
            <a:r>
              <a:rPr lang="en-US" altLang="zh-TW" dirty="0"/>
              <a:t>The sender does not know whether or not the receiver has actually received the message.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sender cannot modify the message buffer until the message has been </a:t>
            </a:r>
            <a:r>
              <a:rPr lang="en-US" altLang="zh-TW" dirty="0" smtClean="0"/>
              <a:t>sent.</a:t>
            </a:r>
          </a:p>
          <a:p>
            <a:pPr lvl="2"/>
            <a:r>
              <a:rPr lang="en-US" altLang="zh-TW" dirty="0" smtClean="0"/>
              <a:t>Additional </a:t>
            </a:r>
            <a:r>
              <a:rPr lang="en-US" altLang="zh-TW" dirty="0"/>
              <a:t>overhead is required to notify the </a:t>
            </a:r>
            <a:r>
              <a:rPr lang="en-US" altLang="zh-TW" dirty="0" smtClean="0"/>
              <a:t>sender and the receiver.</a:t>
            </a:r>
          </a:p>
          <a:p>
            <a:pPr lvl="2"/>
            <a:r>
              <a:rPr lang="en-US" altLang="zh-TW" dirty="0" smtClean="0"/>
              <a:t>Additional data copy is required to reuse message buffer.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62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Message Buffering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5149552"/>
          </a:xfrm>
        </p:spPr>
        <p:txBody>
          <a:bodyPr/>
          <a:lstStyle/>
          <a:p>
            <a:r>
              <a:rPr lang="en-US" altLang="zh-TW" dirty="0" smtClean="0"/>
              <a:t>In general, a message is transmitted from a sender to a receiver </a:t>
            </a:r>
            <a:r>
              <a:rPr lang="en-US" altLang="zh-TW" dirty="0"/>
              <a:t>by copying the </a:t>
            </a:r>
            <a:r>
              <a:rPr lang="en-US" altLang="zh-TW" dirty="0" smtClean="0"/>
              <a:t>message </a:t>
            </a:r>
            <a:r>
              <a:rPr lang="en-US" altLang="zh-TW" dirty="0"/>
              <a:t>from the address space of the sending process to the address space of the </a:t>
            </a:r>
            <a:r>
              <a:rPr lang="en-US" altLang="zh-TW" dirty="0" smtClean="0"/>
              <a:t>receiving process.</a:t>
            </a:r>
          </a:p>
          <a:p>
            <a:pPr lvl="1"/>
            <a:r>
              <a:rPr lang="en-US" altLang="zh-TW" dirty="0" smtClean="0"/>
              <a:t>If a </a:t>
            </a:r>
            <a:r>
              <a:rPr lang="en-US" altLang="zh-TW" dirty="0"/>
              <a:t>receiver is not ready to </a:t>
            </a:r>
            <a:r>
              <a:rPr lang="en-US" altLang="zh-TW" dirty="0" smtClean="0"/>
              <a:t>accept </a:t>
            </a:r>
            <a:r>
              <a:rPr lang="en-US" altLang="zh-TW" dirty="0"/>
              <a:t>a </a:t>
            </a:r>
            <a:r>
              <a:rPr lang="en-US" altLang="zh-TW" dirty="0" smtClean="0"/>
              <a:t>message, the communication system may need to </a:t>
            </a:r>
            <a:r>
              <a:rPr lang="en-US" altLang="zh-TW" dirty="0"/>
              <a:t>save </a:t>
            </a:r>
            <a:r>
              <a:rPr lang="en-US" altLang="zh-TW" dirty="0" smtClean="0"/>
              <a:t>the message </a:t>
            </a:r>
            <a:r>
              <a:rPr lang="en-US" altLang="zh-TW" dirty="0"/>
              <a:t>for later </a:t>
            </a:r>
            <a:r>
              <a:rPr lang="en-US" altLang="zh-TW" dirty="0" smtClean="0"/>
              <a:t>usage.</a:t>
            </a:r>
          </a:p>
          <a:p>
            <a:r>
              <a:rPr lang="en-US" altLang="zh-TW" dirty="0" smtClean="0"/>
              <a:t>The message buffering </a:t>
            </a:r>
            <a:r>
              <a:rPr lang="en-US" altLang="zh-TW" dirty="0"/>
              <a:t>strategy is strongly </a:t>
            </a:r>
            <a:r>
              <a:rPr lang="en-US" altLang="zh-TW" dirty="0" smtClean="0"/>
              <a:t>affected by whether blocking or non-blocking primitives are used. </a:t>
            </a:r>
          </a:p>
          <a:p>
            <a:pPr lvl="1"/>
            <a:r>
              <a:rPr lang="en-US" altLang="zh-TW" dirty="0" smtClean="0"/>
              <a:t>In blocking send, no buffer is needed in the sender side.</a:t>
            </a:r>
          </a:p>
          <a:p>
            <a:pPr lvl="1"/>
            <a:r>
              <a:rPr lang="en-US" altLang="zh-TW" dirty="0" smtClean="0"/>
              <a:t>In non-blocking send, some buffers are needed in the sender side.</a:t>
            </a:r>
          </a:p>
          <a:p>
            <a:pPr lvl="1"/>
            <a:r>
              <a:rPr lang="en-US" altLang="zh-TW" dirty="0"/>
              <a:t>In </a:t>
            </a:r>
            <a:r>
              <a:rPr lang="en-US" altLang="zh-TW" dirty="0" smtClean="0"/>
              <a:t>blocking receive, </a:t>
            </a:r>
            <a:r>
              <a:rPr lang="en-US" altLang="zh-TW" dirty="0"/>
              <a:t>there may or may not have buffers in the receiver sider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In non-blocking receive, some buffers are needed in the receiver side.  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648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008" y="476672"/>
            <a:ext cx="8276456" cy="868958"/>
          </a:xfrm>
        </p:spPr>
        <p:txBody>
          <a:bodyPr/>
          <a:lstStyle/>
          <a:p>
            <a:pPr algn="ctr"/>
            <a:r>
              <a:rPr lang="en-US" altLang="zh-TW" dirty="0"/>
              <a:t>Blocking Send + Blocking </a:t>
            </a:r>
            <a:r>
              <a:rPr lang="en-US" altLang="zh-TW" dirty="0" smtClean="0"/>
              <a:t>Receive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334935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No Buffering </a:t>
            </a:r>
            <a:r>
              <a:rPr lang="en-US" altLang="zh-TW" dirty="0" smtClean="0"/>
              <a:t>Strategies: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Send-After-Receive</a:t>
            </a:r>
            <a:r>
              <a:rPr lang="en-US" altLang="zh-TW" dirty="0" smtClean="0"/>
              <a:t> policy: a message </a:t>
            </a:r>
            <a:r>
              <a:rPr lang="en-US" altLang="zh-TW" dirty="0"/>
              <a:t>is only copied once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message </a:t>
            </a:r>
            <a:r>
              <a:rPr lang="en-US" altLang="zh-TW" dirty="0"/>
              <a:t>remains in </a:t>
            </a:r>
            <a:r>
              <a:rPr lang="en-US" altLang="zh-TW" dirty="0" smtClean="0"/>
              <a:t>the sending process and </a:t>
            </a:r>
            <a:r>
              <a:rPr lang="en-US" altLang="zh-TW" dirty="0"/>
              <a:t>the execution of send is delayed until the receiver executes the corresponding </a:t>
            </a:r>
            <a:r>
              <a:rPr lang="en-US" altLang="zh-TW" dirty="0" smtClean="0"/>
              <a:t>receive.</a:t>
            </a:r>
            <a:endParaRPr lang="en-US" altLang="zh-TW" dirty="0"/>
          </a:p>
          <a:p>
            <a:pPr lvl="2"/>
            <a:r>
              <a:rPr lang="en-US" altLang="zh-TW" dirty="0" smtClean="0"/>
              <a:t>On receiving an ACK, the message is copied into the receiving process.</a:t>
            </a:r>
            <a:endParaRPr lang="en-US" altLang="zh-TW" dirty="0"/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Send-Discard-Retry</a:t>
            </a:r>
            <a:r>
              <a:rPr lang="en-US" altLang="zh-TW" dirty="0" smtClean="0"/>
              <a:t> policy: a message may be copied several times.</a:t>
            </a:r>
          </a:p>
          <a:p>
            <a:pPr lvl="2"/>
            <a:r>
              <a:rPr lang="en-US" altLang="zh-TW" dirty="0"/>
              <a:t>After executing send, </a:t>
            </a:r>
            <a:r>
              <a:rPr lang="en-US" altLang="zh-TW" dirty="0" smtClean="0"/>
              <a:t>the sender waits </a:t>
            </a:r>
            <a:r>
              <a:rPr lang="en-US" altLang="zh-TW" dirty="0"/>
              <a:t>for an </a:t>
            </a:r>
            <a:r>
              <a:rPr lang="en-US" altLang="zh-TW" dirty="0" smtClean="0"/>
              <a:t>ACK.</a:t>
            </a:r>
            <a:endParaRPr lang="en-US" altLang="zh-TW" dirty="0"/>
          </a:p>
          <a:p>
            <a:pPr lvl="2"/>
            <a:r>
              <a:rPr lang="en-US" altLang="zh-TW" dirty="0" smtClean="0"/>
              <a:t>If the receiver is not ready, the </a:t>
            </a:r>
            <a:r>
              <a:rPr lang="en-US" altLang="zh-TW" dirty="0"/>
              <a:t>message is simply discarded and </a:t>
            </a:r>
            <a:r>
              <a:rPr lang="en-US" altLang="zh-TW" dirty="0" smtClean="0"/>
              <a:t>a </a:t>
            </a:r>
            <a:r>
              <a:rPr lang="en-US" altLang="zh-TW" dirty="0"/>
              <a:t>time out mechanism is used to resend message after a time out </a:t>
            </a:r>
            <a:r>
              <a:rPr lang="en-US" altLang="zh-TW" dirty="0" smtClean="0"/>
              <a:t>period.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grpSp>
        <p:nvGrpSpPr>
          <p:cNvPr id="20" name="群組 19"/>
          <p:cNvGrpSpPr/>
          <p:nvPr/>
        </p:nvGrpSpPr>
        <p:grpSpPr>
          <a:xfrm>
            <a:off x="1115616" y="5003884"/>
            <a:ext cx="6768752" cy="1593468"/>
            <a:chOff x="1115616" y="5003884"/>
            <a:chExt cx="6768752" cy="1593468"/>
          </a:xfrm>
        </p:grpSpPr>
        <p:grpSp>
          <p:nvGrpSpPr>
            <p:cNvPr id="15" name="群組 14"/>
            <p:cNvGrpSpPr/>
            <p:nvPr/>
          </p:nvGrpSpPr>
          <p:grpSpPr>
            <a:xfrm>
              <a:off x="1115616" y="5003884"/>
              <a:ext cx="6768752" cy="1449452"/>
              <a:chOff x="1259632" y="4859868"/>
              <a:chExt cx="6768752" cy="1449452"/>
            </a:xfrm>
          </p:grpSpPr>
          <p:grpSp>
            <p:nvGrpSpPr>
              <p:cNvPr id="7" name="群組 6"/>
              <p:cNvGrpSpPr/>
              <p:nvPr/>
            </p:nvGrpSpPr>
            <p:grpSpPr>
              <a:xfrm>
                <a:off x="1619672" y="5229200"/>
                <a:ext cx="1224136" cy="1080120"/>
                <a:chOff x="1619672" y="5229200"/>
                <a:chExt cx="1224136" cy="1080120"/>
              </a:xfrm>
            </p:grpSpPr>
            <p:sp>
              <p:nvSpPr>
                <p:cNvPr id="5" name="橢圓 4"/>
                <p:cNvSpPr/>
                <p:nvPr/>
              </p:nvSpPr>
              <p:spPr>
                <a:xfrm>
                  <a:off x="1619672" y="5229200"/>
                  <a:ext cx="1224136" cy="10801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" name="文字方塊 5"/>
                <p:cNvSpPr txBox="1"/>
                <p:nvPr/>
              </p:nvSpPr>
              <p:spPr>
                <a:xfrm>
                  <a:off x="1763688" y="5589240"/>
                  <a:ext cx="936104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400" dirty="0" smtClean="0"/>
                    <a:t>Message</a:t>
                  </a:r>
                  <a:endParaRPr lang="zh-TW" altLang="en-US" sz="1400" dirty="0"/>
                </a:p>
              </p:txBody>
            </p:sp>
          </p:grpSp>
          <p:grpSp>
            <p:nvGrpSpPr>
              <p:cNvPr id="8" name="群組 7"/>
              <p:cNvGrpSpPr/>
              <p:nvPr/>
            </p:nvGrpSpPr>
            <p:grpSpPr>
              <a:xfrm>
                <a:off x="6372200" y="5229200"/>
                <a:ext cx="1224136" cy="1080120"/>
                <a:chOff x="1619672" y="5229200"/>
                <a:chExt cx="1224136" cy="1080120"/>
              </a:xfrm>
            </p:grpSpPr>
            <p:sp>
              <p:nvSpPr>
                <p:cNvPr id="9" name="橢圓 8"/>
                <p:cNvSpPr/>
                <p:nvPr/>
              </p:nvSpPr>
              <p:spPr>
                <a:xfrm>
                  <a:off x="1619672" y="5229200"/>
                  <a:ext cx="1224136" cy="10801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文字方塊 9"/>
                <p:cNvSpPr txBox="1"/>
                <p:nvPr/>
              </p:nvSpPr>
              <p:spPr>
                <a:xfrm>
                  <a:off x="1763688" y="5589240"/>
                  <a:ext cx="936104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zh-TW" altLang="en-US" sz="1400" dirty="0"/>
                </a:p>
              </p:txBody>
            </p:sp>
          </p:grpSp>
          <p:cxnSp>
            <p:nvCxnSpPr>
              <p:cNvPr id="12" name="直線單箭頭接點 11"/>
              <p:cNvCxnSpPr>
                <a:stCxn id="6" idx="3"/>
                <a:endCxn id="10" idx="1"/>
              </p:cNvCxnSpPr>
              <p:nvPr/>
            </p:nvCxnSpPr>
            <p:spPr>
              <a:xfrm>
                <a:off x="2699792" y="5743129"/>
                <a:ext cx="3816424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字方塊 12"/>
              <p:cNvSpPr txBox="1"/>
              <p:nvPr/>
            </p:nvSpPr>
            <p:spPr>
              <a:xfrm>
                <a:off x="1259632" y="4869160"/>
                <a:ext cx="19442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 smtClean="0"/>
                  <a:t>Sending process</a:t>
                </a:r>
                <a:endParaRPr lang="zh-TW" altLang="en-US" sz="1600" dirty="0"/>
              </a:p>
            </p:txBody>
          </p:sp>
          <p:sp>
            <p:nvSpPr>
              <p:cNvPr id="14" name="文字方塊 13"/>
              <p:cNvSpPr txBox="1"/>
              <p:nvPr/>
            </p:nvSpPr>
            <p:spPr>
              <a:xfrm>
                <a:off x="5796136" y="4859868"/>
                <a:ext cx="22322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 smtClean="0"/>
                  <a:t>Receiving process</a:t>
                </a:r>
                <a:endParaRPr lang="zh-TW" altLang="en-US" sz="1600" dirty="0"/>
              </a:p>
            </p:txBody>
          </p:sp>
        </p:grpSp>
        <p:cxnSp>
          <p:nvCxnSpPr>
            <p:cNvPr id="17" name="直線接點 16"/>
            <p:cNvCxnSpPr/>
            <p:nvPr/>
          </p:nvCxnSpPr>
          <p:spPr>
            <a:xfrm>
              <a:off x="3779912" y="5342438"/>
              <a:ext cx="0" cy="1254914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3203848" y="5034662"/>
              <a:ext cx="16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Node boundary</a:t>
              </a:r>
              <a:endParaRPr lang="zh-TW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4018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424936" cy="868958"/>
          </a:xfrm>
        </p:spPr>
        <p:txBody>
          <a:bodyPr/>
          <a:lstStyle/>
          <a:p>
            <a:pPr algn="ctr"/>
            <a:r>
              <a:rPr lang="en-US" altLang="zh-TW" dirty="0"/>
              <a:t>Blocking Send + Blocking </a:t>
            </a:r>
            <a:r>
              <a:rPr lang="en-US" altLang="zh-TW" dirty="0" smtClean="0"/>
              <a:t>Receive</a:t>
            </a:r>
            <a:r>
              <a:rPr lang="zh-TW" altLang="en-US" dirty="0" smtClean="0"/>
              <a:t>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47800"/>
            <a:ext cx="8291264" cy="1837184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Single Buffer Strategy</a:t>
            </a:r>
            <a:r>
              <a:rPr lang="en-US" altLang="zh-TW" dirty="0" smtClean="0"/>
              <a:t>: a message is always copied twice.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buffer </a:t>
            </a:r>
            <a:r>
              <a:rPr lang="en-US" altLang="zh-TW" dirty="0" smtClean="0"/>
              <a:t>is </a:t>
            </a:r>
            <a:r>
              <a:rPr lang="en-US" altLang="zh-TW" dirty="0"/>
              <a:t>used on the </a:t>
            </a:r>
            <a:r>
              <a:rPr lang="en-US" altLang="zh-TW" dirty="0" smtClean="0"/>
              <a:t>receiver side to store one outstanding incoming message.</a:t>
            </a:r>
          </a:p>
          <a:p>
            <a:pPr lvl="1"/>
            <a:r>
              <a:rPr lang="en-US" altLang="zh-TW" dirty="0" smtClean="0"/>
              <a:t>The sending process will be blocked until the buffer is available.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grpSp>
        <p:nvGrpSpPr>
          <p:cNvPr id="30" name="群組 29"/>
          <p:cNvGrpSpPr/>
          <p:nvPr/>
        </p:nvGrpSpPr>
        <p:grpSpPr>
          <a:xfrm>
            <a:off x="899592" y="4005064"/>
            <a:ext cx="7344816" cy="1736903"/>
            <a:chOff x="899592" y="4005064"/>
            <a:chExt cx="7344816" cy="1736903"/>
          </a:xfrm>
        </p:grpSpPr>
        <p:grpSp>
          <p:nvGrpSpPr>
            <p:cNvPr id="5" name="群組 4"/>
            <p:cNvGrpSpPr/>
            <p:nvPr/>
          </p:nvGrpSpPr>
          <p:grpSpPr>
            <a:xfrm>
              <a:off x="899592" y="4005064"/>
              <a:ext cx="7344816" cy="1593468"/>
              <a:chOff x="539552" y="5003884"/>
              <a:chExt cx="7344816" cy="1593468"/>
            </a:xfrm>
          </p:grpSpPr>
          <p:grpSp>
            <p:nvGrpSpPr>
              <p:cNvPr id="6" name="群組 5"/>
              <p:cNvGrpSpPr/>
              <p:nvPr/>
            </p:nvGrpSpPr>
            <p:grpSpPr>
              <a:xfrm>
                <a:off x="539552" y="5003884"/>
                <a:ext cx="7344816" cy="1449452"/>
                <a:chOff x="683568" y="4859868"/>
                <a:chExt cx="7344816" cy="1449452"/>
              </a:xfrm>
            </p:grpSpPr>
            <p:grpSp>
              <p:nvGrpSpPr>
                <p:cNvPr id="9" name="群組 8"/>
                <p:cNvGrpSpPr/>
                <p:nvPr/>
              </p:nvGrpSpPr>
              <p:grpSpPr>
                <a:xfrm>
                  <a:off x="971600" y="5229200"/>
                  <a:ext cx="1224136" cy="1080120"/>
                  <a:chOff x="971600" y="5229200"/>
                  <a:chExt cx="1224136" cy="1080120"/>
                </a:xfrm>
              </p:grpSpPr>
              <p:sp>
                <p:nvSpPr>
                  <p:cNvPr id="16" name="橢圓 15"/>
                  <p:cNvSpPr/>
                  <p:nvPr/>
                </p:nvSpPr>
                <p:spPr>
                  <a:xfrm>
                    <a:off x="971600" y="5229200"/>
                    <a:ext cx="1224136" cy="108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7" name="文字方塊 16"/>
                  <p:cNvSpPr txBox="1"/>
                  <p:nvPr/>
                </p:nvSpPr>
                <p:spPr>
                  <a:xfrm>
                    <a:off x="1115616" y="5589240"/>
                    <a:ext cx="936104" cy="30777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400" dirty="0" smtClean="0"/>
                      <a:t>Message</a:t>
                    </a:r>
                    <a:endParaRPr lang="zh-TW" altLang="en-US" sz="1400" dirty="0"/>
                  </a:p>
                </p:txBody>
              </p:sp>
            </p:grpSp>
            <p:grpSp>
              <p:nvGrpSpPr>
                <p:cNvPr id="10" name="群組 9"/>
                <p:cNvGrpSpPr/>
                <p:nvPr/>
              </p:nvGrpSpPr>
              <p:grpSpPr>
                <a:xfrm>
                  <a:off x="6372200" y="5229200"/>
                  <a:ext cx="1224136" cy="1080120"/>
                  <a:chOff x="1619672" y="5229200"/>
                  <a:chExt cx="1224136" cy="1080120"/>
                </a:xfrm>
              </p:grpSpPr>
              <p:sp>
                <p:nvSpPr>
                  <p:cNvPr id="14" name="橢圓 13"/>
                  <p:cNvSpPr/>
                  <p:nvPr/>
                </p:nvSpPr>
                <p:spPr>
                  <a:xfrm>
                    <a:off x="1619672" y="5229200"/>
                    <a:ext cx="1224136" cy="108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" name="文字方塊 14"/>
                  <p:cNvSpPr txBox="1"/>
                  <p:nvPr/>
                </p:nvSpPr>
                <p:spPr>
                  <a:xfrm>
                    <a:off x="1763688" y="5589240"/>
                    <a:ext cx="936104" cy="30777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zh-TW" altLang="en-US" sz="1400" dirty="0"/>
                  </a:p>
                </p:txBody>
              </p:sp>
            </p:grpSp>
            <p:sp>
              <p:nvSpPr>
                <p:cNvPr id="12" name="文字方塊 11"/>
                <p:cNvSpPr txBox="1"/>
                <p:nvPr/>
              </p:nvSpPr>
              <p:spPr>
                <a:xfrm>
                  <a:off x="683568" y="4869160"/>
                  <a:ext cx="19442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dirty="0" smtClean="0"/>
                    <a:t>Sending process</a:t>
                  </a:r>
                  <a:endParaRPr lang="zh-TW" altLang="en-US" sz="1600" dirty="0"/>
                </a:p>
              </p:txBody>
            </p:sp>
            <p:sp>
              <p:nvSpPr>
                <p:cNvPr id="13" name="文字方塊 12"/>
                <p:cNvSpPr txBox="1"/>
                <p:nvPr/>
              </p:nvSpPr>
              <p:spPr>
                <a:xfrm>
                  <a:off x="5796136" y="4859868"/>
                  <a:ext cx="22322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dirty="0" smtClean="0"/>
                    <a:t>Receiving process</a:t>
                  </a:r>
                  <a:endParaRPr lang="zh-TW" altLang="en-US" sz="1600" dirty="0"/>
                </a:p>
              </p:txBody>
            </p:sp>
          </p:grpSp>
          <p:cxnSp>
            <p:nvCxnSpPr>
              <p:cNvPr id="7" name="直線接點 6"/>
              <p:cNvCxnSpPr/>
              <p:nvPr/>
            </p:nvCxnSpPr>
            <p:spPr>
              <a:xfrm>
                <a:off x="3203848" y="5342438"/>
                <a:ext cx="0" cy="1254914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文字方塊 7"/>
              <p:cNvSpPr txBox="1"/>
              <p:nvPr/>
            </p:nvSpPr>
            <p:spPr>
              <a:xfrm>
                <a:off x="2699792" y="5034662"/>
                <a:ext cx="16561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 smtClean="0"/>
                  <a:t>Node boundary</a:t>
                </a:r>
                <a:endParaRPr lang="zh-TW" altLang="en-US" sz="1600" dirty="0"/>
              </a:p>
            </p:txBody>
          </p:sp>
        </p:grpSp>
        <p:sp>
          <p:nvSpPr>
            <p:cNvPr id="18" name="文字方塊 17"/>
            <p:cNvSpPr txBox="1"/>
            <p:nvPr/>
          </p:nvSpPr>
          <p:spPr>
            <a:xfrm>
              <a:off x="4283968" y="4725144"/>
              <a:ext cx="93610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067944" y="4581128"/>
              <a:ext cx="1368152" cy="576064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" name="直線單箭頭接點 19"/>
            <p:cNvCxnSpPr>
              <a:stCxn id="17" idx="3"/>
              <a:endCxn id="18" idx="1"/>
            </p:cNvCxnSpPr>
            <p:nvPr/>
          </p:nvCxnSpPr>
          <p:spPr>
            <a:xfrm flipV="1">
              <a:off x="2267744" y="4879033"/>
              <a:ext cx="2016224" cy="92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18" idx="3"/>
            </p:cNvCxnSpPr>
            <p:nvPr/>
          </p:nvCxnSpPr>
          <p:spPr>
            <a:xfrm flipV="1">
              <a:off x="5220072" y="4869160"/>
              <a:ext cx="1512168" cy="9873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3923928" y="5157192"/>
              <a:ext cx="16561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Single-message</a:t>
              </a:r>
            </a:p>
            <a:p>
              <a:pPr algn="ctr"/>
              <a:r>
                <a:rPr lang="en-US" altLang="zh-TW" sz="1600" dirty="0" smtClean="0"/>
                <a:t>buffer</a:t>
              </a:r>
              <a:endParaRPr lang="zh-TW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6656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3184" y="471810"/>
            <a:ext cx="8579296" cy="868958"/>
          </a:xfrm>
        </p:spPr>
        <p:txBody>
          <a:bodyPr/>
          <a:lstStyle/>
          <a:p>
            <a:pPr algn="ctr"/>
            <a:r>
              <a:rPr lang="en-US" altLang="zh-TW" dirty="0"/>
              <a:t>Non-Blocking Send + Blocking Receive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84784"/>
            <a:ext cx="8219256" cy="180020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Multiple </a:t>
            </a:r>
            <a:r>
              <a:rPr lang="en-US" altLang="zh-TW" dirty="0">
                <a:solidFill>
                  <a:srgbClr val="FF0000"/>
                </a:solidFill>
              </a:rPr>
              <a:t>Buffer Strategy</a:t>
            </a:r>
            <a:r>
              <a:rPr lang="en-US" altLang="zh-TW" dirty="0"/>
              <a:t>: a message is always copied twice.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/>
              <a:t>finite number of buffers are used in the sender side.</a:t>
            </a:r>
          </a:p>
          <a:p>
            <a:pPr lvl="1"/>
            <a:r>
              <a:rPr lang="en-US" altLang="zh-TW" dirty="0" smtClean="0"/>
              <a:t>A single buffer may be used in the receiver side to reduce the control messages. An extra message copy is needed.</a:t>
            </a:r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755576" y="3356992"/>
            <a:ext cx="8208912" cy="2879958"/>
            <a:chOff x="755576" y="3399165"/>
            <a:chExt cx="8208912" cy="2879958"/>
          </a:xfrm>
        </p:grpSpPr>
        <p:grpSp>
          <p:nvGrpSpPr>
            <p:cNvPr id="13" name="群組 12"/>
            <p:cNvGrpSpPr/>
            <p:nvPr/>
          </p:nvGrpSpPr>
          <p:grpSpPr>
            <a:xfrm>
              <a:off x="755576" y="3399165"/>
              <a:ext cx="8208912" cy="2346429"/>
              <a:chOff x="395536" y="4397985"/>
              <a:chExt cx="8208912" cy="2346429"/>
            </a:xfrm>
          </p:grpSpPr>
          <p:grpSp>
            <p:nvGrpSpPr>
              <p:cNvPr id="19" name="群組 18"/>
              <p:cNvGrpSpPr/>
              <p:nvPr/>
            </p:nvGrpSpPr>
            <p:grpSpPr>
              <a:xfrm>
                <a:off x="395536" y="5003884"/>
                <a:ext cx="8208912" cy="1449452"/>
                <a:chOff x="539552" y="4859868"/>
                <a:chExt cx="8208912" cy="1449452"/>
              </a:xfrm>
            </p:grpSpPr>
            <p:grpSp>
              <p:nvGrpSpPr>
                <p:cNvPr id="22" name="群組 21"/>
                <p:cNvGrpSpPr/>
                <p:nvPr/>
              </p:nvGrpSpPr>
              <p:grpSpPr>
                <a:xfrm>
                  <a:off x="539552" y="5229200"/>
                  <a:ext cx="1224136" cy="1080120"/>
                  <a:chOff x="539552" y="5229200"/>
                  <a:chExt cx="1224136" cy="1080120"/>
                </a:xfrm>
              </p:grpSpPr>
              <p:sp>
                <p:nvSpPr>
                  <p:cNvPr id="28" name="橢圓 27"/>
                  <p:cNvSpPr/>
                  <p:nvPr/>
                </p:nvSpPr>
                <p:spPr>
                  <a:xfrm>
                    <a:off x="539552" y="5229200"/>
                    <a:ext cx="1224136" cy="108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9" name="文字方塊 28"/>
                  <p:cNvSpPr txBox="1"/>
                  <p:nvPr/>
                </p:nvSpPr>
                <p:spPr>
                  <a:xfrm>
                    <a:off x="683568" y="5589240"/>
                    <a:ext cx="936104" cy="30777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1400" dirty="0" smtClean="0"/>
                      <a:t>Message</a:t>
                    </a:r>
                    <a:endParaRPr lang="zh-TW" altLang="en-US" sz="1400" dirty="0"/>
                  </a:p>
                </p:txBody>
              </p:sp>
            </p:grpSp>
            <p:grpSp>
              <p:nvGrpSpPr>
                <p:cNvPr id="23" name="群組 22"/>
                <p:cNvGrpSpPr/>
                <p:nvPr/>
              </p:nvGrpSpPr>
              <p:grpSpPr>
                <a:xfrm>
                  <a:off x="7092280" y="5229200"/>
                  <a:ext cx="1224136" cy="1080120"/>
                  <a:chOff x="2339752" y="5229200"/>
                  <a:chExt cx="1224136" cy="1080120"/>
                </a:xfrm>
              </p:grpSpPr>
              <p:sp>
                <p:nvSpPr>
                  <p:cNvPr id="26" name="橢圓 25"/>
                  <p:cNvSpPr/>
                  <p:nvPr/>
                </p:nvSpPr>
                <p:spPr>
                  <a:xfrm>
                    <a:off x="2339752" y="5229200"/>
                    <a:ext cx="1224136" cy="10801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7" name="文字方塊 26"/>
                  <p:cNvSpPr txBox="1"/>
                  <p:nvPr/>
                </p:nvSpPr>
                <p:spPr>
                  <a:xfrm>
                    <a:off x="2483768" y="5589240"/>
                    <a:ext cx="936104" cy="30777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zh-TW" altLang="en-US" sz="1400" dirty="0"/>
                  </a:p>
                </p:txBody>
              </p:sp>
            </p:grpSp>
            <p:sp>
              <p:nvSpPr>
                <p:cNvPr id="24" name="文字方塊 23"/>
                <p:cNvSpPr txBox="1"/>
                <p:nvPr/>
              </p:nvSpPr>
              <p:spPr>
                <a:xfrm>
                  <a:off x="683568" y="4869160"/>
                  <a:ext cx="19442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dirty="0" smtClean="0"/>
                    <a:t>Sending process</a:t>
                  </a:r>
                  <a:endParaRPr lang="zh-TW" altLang="en-US" sz="1600" dirty="0"/>
                </a:p>
              </p:txBody>
            </p:sp>
            <p:sp>
              <p:nvSpPr>
                <p:cNvPr id="25" name="文字方塊 24"/>
                <p:cNvSpPr txBox="1"/>
                <p:nvPr/>
              </p:nvSpPr>
              <p:spPr>
                <a:xfrm>
                  <a:off x="6516216" y="4859868"/>
                  <a:ext cx="22322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600" dirty="0" smtClean="0"/>
                    <a:t>Receiving process</a:t>
                  </a:r>
                  <a:endParaRPr lang="zh-TW" altLang="en-US" sz="1600" dirty="0"/>
                </a:p>
              </p:txBody>
            </p:sp>
          </p:grpSp>
          <p:cxnSp>
            <p:nvCxnSpPr>
              <p:cNvPr id="20" name="直線接點 19"/>
              <p:cNvCxnSpPr>
                <a:stCxn id="21" idx="2"/>
              </p:cNvCxnSpPr>
              <p:nvPr/>
            </p:nvCxnSpPr>
            <p:spPr>
              <a:xfrm>
                <a:off x="5400092" y="4736539"/>
                <a:ext cx="0" cy="2007875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文字方塊 20"/>
              <p:cNvSpPr txBox="1"/>
              <p:nvPr/>
            </p:nvSpPr>
            <p:spPr>
              <a:xfrm>
                <a:off x="4572000" y="4397985"/>
                <a:ext cx="16561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 smtClean="0"/>
                  <a:t>Node boundary</a:t>
                </a:r>
                <a:endParaRPr lang="zh-TW" altLang="en-US" sz="1600" dirty="0"/>
              </a:p>
            </p:txBody>
          </p:sp>
        </p:grpSp>
        <p:sp>
          <p:nvSpPr>
            <p:cNvPr id="14" name="文字方塊 13"/>
            <p:cNvSpPr txBox="1"/>
            <p:nvPr/>
          </p:nvSpPr>
          <p:spPr>
            <a:xfrm>
              <a:off x="3275856" y="3717032"/>
              <a:ext cx="93610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059832" y="3583032"/>
              <a:ext cx="1368152" cy="229424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單箭頭接點 15"/>
            <p:cNvCxnSpPr>
              <a:stCxn id="29" idx="3"/>
            </p:cNvCxnSpPr>
            <p:nvPr/>
          </p:nvCxnSpPr>
          <p:spPr>
            <a:xfrm>
              <a:off x="1835696" y="4888325"/>
              <a:ext cx="1446241" cy="68639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14" idx="3"/>
            </p:cNvCxnSpPr>
            <p:nvPr/>
          </p:nvCxnSpPr>
          <p:spPr>
            <a:xfrm>
              <a:off x="4211960" y="3870921"/>
              <a:ext cx="3240360" cy="102495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2411760" y="5940569"/>
              <a:ext cx="26642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 smtClean="0"/>
                <a:t>Multiple message buffers</a:t>
              </a:r>
              <a:endParaRPr lang="zh-TW" altLang="en-US" sz="1600" dirty="0"/>
            </a:p>
          </p:txBody>
        </p:sp>
      </p:grpSp>
      <p:sp>
        <p:nvSpPr>
          <p:cNvPr id="30" name="文字方塊 29"/>
          <p:cNvSpPr txBox="1"/>
          <p:nvPr/>
        </p:nvSpPr>
        <p:spPr>
          <a:xfrm>
            <a:off x="3275856" y="4149080"/>
            <a:ext cx="9361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3275856" y="4581128"/>
            <a:ext cx="9361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275856" y="5425479"/>
            <a:ext cx="9361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3224062" y="3697287"/>
            <a:ext cx="1059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 smtClean="0"/>
              <a:t>Message 1</a:t>
            </a:r>
            <a:endParaRPr lang="zh-TW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3224062" y="4129335"/>
            <a:ext cx="1059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 smtClean="0"/>
              <a:t>Message 2</a:t>
            </a:r>
            <a:endParaRPr lang="zh-TW" altLang="en-US" sz="1400" dirty="0"/>
          </a:p>
        </p:txBody>
      </p:sp>
      <p:sp>
        <p:nvSpPr>
          <p:cNvPr id="35" name="矩形 34"/>
          <p:cNvSpPr/>
          <p:nvPr/>
        </p:nvSpPr>
        <p:spPr>
          <a:xfrm>
            <a:off x="3224062" y="4561383"/>
            <a:ext cx="1059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 smtClean="0"/>
              <a:t>Message 3</a:t>
            </a:r>
            <a:endParaRPr lang="zh-TW" altLang="en-US" sz="1400" dirty="0"/>
          </a:p>
        </p:txBody>
      </p:sp>
      <p:sp>
        <p:nvSpPr>
          <p:cNvPr id="36" name="矩形 35"/>
          <p:cNvSpPr/>
          <p:nvPr/>
        </p:nvSpPr>
        <p:spPr>
          <a:xfrm>
            <a:off x="3224062" y="5425479"/>
            <a:ext cx="10599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400" dirty="0" smtClean="0"/>
              <a:t>Message n</a:t>
            </a:r>
            <a:endParaRPr lang="zh-TW" altLang="en-US" sz="1400" dirty="0"/>
          </a:p>
        </p:txBody>
      </p:sp>
      <p:cxnSp>
        <p:nvCxnSpPr>
          <p:cNvPr id="37" name="直線接點 36"/>
          <p:cNvCxnSpPr/>
          <p:nvPr/>
        </p:nvCxnSpPr>
        <p:spPr>
          <a:xfrm>
            <a:off x="3743908" y="4941168"/>
            <a:ext cx="10107" cy="45440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41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07524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Non-Blocking </a:t>
            </a:r>
            <a:r>
              <a:rPr lang="en-US" altLang="zh-TW" dirty="0"/>
              <a:t>Receive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395536" y="1447800"/>
            <a:ext cx="8352928" cy="4861520"/>
          </a:xfrm>
        </p:spPr>
        <p:txBody>
          <a:bodyPr/>
          <a:lstStyle/>
          <a:p>
            <a:r>
              <a:rPr lang="en-US" altLang="zh-TW" dirty="0" smtClean="0"/>
              <a:t>At least one buffer is needed in the receiver side to make non-blocking receive possible.</a:t>
            </a:r>
          </a:p>
          <a:p>
            <a:pPr lvl="1"/>
            <a:r>
              <a:rPr lang="en-US" altLang="zh-TW" dirty="0" smtClean="0"/>
              <a:t>Otherwise, the receive function must send a control message to the sender and wait for the ACK before it can </a:t>
            </a:r>
            <a:r>
              <a:rPr lang="en-US" altLang="zh-TW" dirty="0"/>
              <a:t>determine to return either a </a:t>
            </a:r>
            <a:r>
              <a:rPr lang="en-US" altLang="zh-TW" dirty="0" smtClean="0"/>
              <a:t>message or a NULL.</a:t>
            </a:r>
          </a:p>
          <a:p>
            <a:pPr lvl="2"/>
            <a:r>
              <a:rPr lang="en-US" altLang="zh-TW" dirty="0" smtClean="0"/>
              <a:t>This violates the definition of non-blocking.</a:t>
            </a:r>
          </a:p>
          <a:p>
            <a:r>
              <a:rPr lang="en-US" altLang="zh-TW" dirty="0" smtClean="0"/>
              <a:t>In general, a </a:t>
            </a:r>
            <a:r>
              <a:rPr lang="en-US" altLang="zh-TW" dirty="0"/>
              <a:t>finite number of buffers are </a:t>
            </a:r>
            <a:r>
              <a:rPr lang="en-US" altLang="zh-TW" dirty="0" smtClean="0"/>
              <a:t>used </a:t>
            </a:r>
            <a:r>
              <a:rPr lang="en-US" altLang="zh-TW" dirty="0"/>
              <a:t>in the </a:t>
            </a:r>
            <a:r>
              <a:rPr lang="en-US" altLang="zh-TW" dirty="0" smtClean="0"/>
              <a:t>receiver side to support non-blocking receive.</a:t>
            </a:r>
          </a:p>
          <a:p>
            <a:pPr lvl="1"/>
            <a:r>
              <a:rPr lang="en-US" altLang="zh-TW" dirty="0" smtClean="0"/>
              <a:t>If blocking send primitive is preferred, then </a:t>
            </a:r>
            <a:r>
              <a:rPr lang="en-US" altLang="zh-TW" dirty="0"/>
              <a:t>no buffer is </a:t>
            </a:r>
            <a:r>
              <a:rPr lang="en-US" altLang="zh-TW" dirty="0" smtClean="0"/>
              <a:t>needed </a:t>
            </a:r>
            <a:r>
              <a:rPr lang="en-US" altLang="zh-TW" dirty="0"/>
              <a:t>in the sender </a:t>
            </a:r>
            <a:r>
              <a:rPr lang="en-US" altLang="zh-TW" dirty="0" smtClean="0"/>
              <a:t>side.</a:t>
            </a:r>
          </a:p>
          <a:p>
            <a:pPr lvl="1"/>
            <a:r>
              <a:rPr lang="en-US" altLang="zh-TW" dirty="0" smtClean="0"/>
              <a:t>If non-blocking send is preferred, then a </a:t>
            </a:r>
            <a:r>
              <a:rPr lang="en-US" altLang="zh-TW" dirty="0"/>
              <a:t>finite number of buffers are </a:t>
            </a:r>
            <a:r>
              <a:rPr lang="en-US" altLang="zh-TW" dirty="0" smtClean="0"/>
              <a:t>needed </a:t>
            </a:r>
            <a:r>
              <a:rPr lang="en-US" altLang="zh-TW" dirty="0"/>
              <a:t>in the sender </a:t>
            </a:r>
            <a:r>
              <a:rPr lang="en-US" altLang="zh-TW" dirty="0" smtClean="0"/>
              <a:t>side also.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557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Client Server Computing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5293568"/>
          </a:xfrm>
        </p:spPr>
        <p:txBody>
          <a:bodyPr/>
          <a:lstStyle/>
          <a:p>
            <a:r>
              <a:rPr lang="en-US" altLang="zh-TW" dirty="0"/>
              <a:t>The client-server </a:t>
            </a:r>
            <a:r>
              <a:rPr lang="en-US" altLang="zh-TW" dirty="0" smtClean="0"/>
              <a:t>model </a:t>
            </a:r>
            <a:r>
              <a:rPr lang="en-US" altLang="zh-TW" dirty="0"/>
              <a:t>assigns asymmetric roles to  </a:t>
            </a:r>
            <a:r>
              <a:rPr lang="en-US" altLang="zh-TW" dirty="0" smtClean="0"/>
              <a:t>communicating </a:t>
            </a:r>
            <a:r>
              <a:rPr lang="en-US" altLang="zh-TW" dirty="0"/>
              <a:t>processes.</a:t>
            </a:r>
          </a:p>
          <a:p>
            <a:pPr lvl="1"/>
            <a:r>
              <a:rPr lang="en-US" altLang="zh-TW" dirty="0"/>
              <a:t>One process, the </a:t>
            </a:r>
            <a:r>
              <a:rPr lang="en-US" altLang="zh-TW" dirty="0">
                <a:solidFill>
                  <a:srgbClr val="FF0000"/>
                </a:solidFill>
              </a:rPr>
              <a:t>server</a:t>
            </a:r>
            <a:r>
              <a:rPr lang="en-US" altLang="zh-TW" dirty="0"/>
              <a:t>, plays the role of a service provider which </a:t>
            </a:r>
            <a:r>
              <a:rPr lang="en-US" altLang="zh-TW" dirty="0">
                <a:solidFill>
                  <a:srgbClr val="FF0000"/>
                </a:solidFill>
              </a:rPr>
              <a:t>waits passively </a:t>
            </a:r>
            <a:r>
              <a:rPr lang="en-US" altLang="zh-TW" dirty="0"/>
              <a:t>for the arrival of </a:t>
            </a:r>
            <a:r>
              <a:rPr lang="en-US" altLang="zh-TW" dirty="0" smtClean="0"/>
              <a:t>request messages.  </a:t>
            </a:r>
            <a:endParaRPr lang="en-US" altLang="zh-TW" dirty="0"/>
          </a:p>
          <a:p>
            <a:pPr lvl="1"/>
            <a:r>
              <a:rPr lang="en-US" altLang="zh-TW" dirty="0"/>
              <a:t>The other processes, the </a:t>
            </a:r>
            <a:r>
              <a:rPr lang="en-US" altLang="zh-TW" dirty="0">
                <a:solidFill>
                  <a:srgbClr val="FF0000"/>
                </a:solidFill>
              </a:rPr>
              <a:t>clients</a:t>
            </a:r>
            <a:r>
              <a:rPr lang="en-US" altLang="zh-TW" dirty="0"/>
              <a:t>, issue specific requests to the server and awaits its response.  </a:t>
            </a:r>
          </a:p>
          <a:p>
            <a:r>
              <a:rPr lang="en-US" altLang="zh-TW" dirty="0"/>
              <a:t>Many well known </a:t>
            </a:r>
            <a:r>
              <a:rPr lang="en-US" altLang="zh-TW" dirty="0" smtClean="0"/>
              <a:t>internet </a:t>
            </a:r>
            <a:r>
              <a:rPr lang="en-US" altLang="zh-TW" dirty="0"/>
              <a:t>services are client server applications. </a:t>
            </a:r>
          </a:p>
          <a:p>
            <a:pPr lvl="1"/>
            <a:r>
              <a:rPr lang="en-US" altLang="zh-TW" dirty="0"/>
              <a:t>Telnet, HTTP, FTP, DNS, finger, gopher, </a:t>
            </a:r>
            <a:r>
              <a:rPr lang="en-US" altLang="zh-TW" dirty="0" smtClean="0"/>
              <a:t>etc.</a:t>
            </a:r>
          </a:p>
          <a:p>
            <a:r>
              <a:rPr lang="en-US" altLang="zh-TW" dirty="0" smtClean="0"/>
              <a:t>Most distributed systems use the client server model as their underlining communication model.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4709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568952" cy="868958"/>
          </a:xfrm>
        </p:spPr>
        <p:txBody>
          <a:bodyPr/>
          <a:lstStyle/>
          <a:p>
            <a:pPr algn="ctr"/>
            <a:r>
              <a:rPr lang="en-US" altLang="zh-TW" dirty="0" smtClean="0"/>
              <a:t>Failure Handling in </a:t>
            </a:r>
            <a:r>
              <a:rPr lang="en-US" altLang="zh-TW" dirty="0"/>
              <a:t>C</a:t>
            </a:r>
            <a:r>
              <a:rPr lang="en-US" altLang="zh-TW" dirty="0" smtClean="0"/>
              <a:t>lient </a:t>
            </a:r>
            <a:r>
              <a:rPr lang="en-US" altLang="zh-TW" dirty="0"/>
              <a:t>S</a:t>
            </a:r>
            <a:r>
              <a:rPr lang="en-US" altLang="zh-TW" dirty="0" smtClean="0"/>
              <a:t>erver </a:t>
            </a:r>
            <a:r>
              <a:rPr lang="en-US" altLang="zh-TW" dirty="0"/>
              <a:t>M</a:t>
            </a:r>
            <a:r>
              <a:rPr lang="en-US" altLang="zh-TW" dirty="0" smtClean="0"/>
              <a:t>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12776"/>
            <a:ext cx="8424936" cy="2989312"/>
          </a:xfrm>
        </p:spPr>
        <p:txBody>
          <a:bodyPr/>
          <a:lstStyle/>
          <a:p>
            <a:r>
              <a:rPr lang="en-US" altLang="zh-TW" dirty="0" smtClean="0"/>
              <a:t>There are three basic exceptions may happen in message exchanges of client server model.</a:t>
            </a: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LostReq</a:t>
            </a:r>
            <a:r>
              <a:rPr lang="en-US" altLang="zh-TW" dirty="0" smtClean="0"/>
              <a:t>: Lost of request </a:t>
            </a:r>
            <a:r>
              <a:rPr lang="en-US" altLang="zh-TW" dirty="0"/>
              <a:t>(</a:t>
            </a:r>
            <a:r>
              <a:rPr lang="en-US" altLang="zh-TW" dirty="0" err="1" smtClean="0">
                <a:solidFill>
                  <a:srgbClr val="FF0000"/>
                </a:solidFill>
              </a:rPr>
              <a:t>Req</a:t>
            </a:r>
            <a:r>
              <a:rPr lang="en-US" altLang="zh-TW" dirty="0" smtClean="0"/>
              <a:t>) message </a:t>
            </a: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LostResp</a:t>
            </a:r>
            <a:r>
              <a:rPr lang="en-US" altLang="zh-TW" dirty="0" smtClean="0"/>
              <a:t>: Lost of response message (</a:t>
            </a:r>
            <a:r>
              <a:rPr lang="en-US" altLang="zh-TW" dirty="0" err="1" smtClean="0">
                <a:solidFill>
                  <a:srgbClr val="FF0000"/>
                </a:solidFill>
              </a:rPr>
              <a:t>Resp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SerCrash</a:t>
            </a:r>
            <a:r>
              <a:rPr lang="en-US" altLang="zh-TW" dirty="0" smtClean="0"/>
              <a:t>: Unsuccessful execution of the request </a:t>
            </a:r>
          </a:p>
          <a:p>
            <a:r>
              <a:rPr lang="en-US" altLang="zh-TW" dirty="0" smtClean="0"/>
              <a:t>To handle these exceptions, a </a:t>
            </a:r>
            <a:r>
              <a:rPr lang="en-US" altLang="zh-TW" dirty="0" smtClean="0">
                <a:solidFill>
                  <a:srgbClr val="FF0000"/>
                </a:solidFill>
              </a:rPr>
              <a:t>reliable message passing </a:t>
            </a:r>
            <a:r>
              <a:rPr lang="en-US" altLang="zh-TW" dirty="0" smtClean="0"/>
              <a:t>system is needed.</a:t>
            </a:r>
          </a:p>
          <a:p>
            <a:pPr marL="0" indent="0">
              <a:buNone/>
            </a:pPr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47803"/>
            <a:ext cx="4104456" cy="23935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360746"/>
            <a:ext cx="4176464" cy="238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86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U</a:t>
            </a:r>
            <a:r>
              <a:rPr lang="en-US" altLang="zh-TW" dirty="0" smtClean="0"/>
              <a:t>nsuccessful request execution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973088"/>
          </a:xfrm>
        </p:spPr>
        <p:txBody>
          <a:bodyPr/>
          <a:lstStyle/>
          <a:p>
            <a:r>
              <a:rPr lang="en-US" altLang="zh-TW" dirty="0" smtClean="0"/>
              <a:t>The server crash after receiving the request message and before generate the response.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333074"/>
            <a:ext cx="5614349" cy="433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32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64096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err="1" smtClean="0"/>
              <a:t>Req-Ack-Resp-Ack</a:t>
            </a:r>
            <a:r>
              <a:rPr lang="en-US" altLang="zh-TW" dirty="0" smtClean="0"/>
              <a:t> (</a:t>
            </a:r>
            <a:r>
              <a:rPr lang="en-US" altLang="zh-TW" dirty="0" smtClean="0">
                <a:solidFill>
                  <a:srgbClr val="FF0000"/>
                </a:solidFill>
              </a:rPr>
              <a:t>RARA</a:t>
            </a:r>
            <a:r>
              <a:rPr lang="en-US" altLang="zh-TW" dirty="0" smtClean="0"/>
              <a:t>)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6749" y="1807840"/>
            <a:ext cx="5567379" cy="4357464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Acknowledgement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timeout</a:t>
            </a:r>
            <a:r>
              <a:rPr lang="en-US" altLang="zh-TW" dirty="0" smtClean="0"/>
              <a:t>, and </a:t>
            </a:r>
            <a:r>
              <a:rPr lang="en-US" altLang="zh-TW" dirty="0" smtClean="0">
                <a:solidFill>
                  <a:srgbClr val="FF0000"/>
                </a:solidFill>
              </a:rPr>
              <a:t>retransmission</a:t>
            </a:r>
            <a:r>
              <a:rPr lang="en-US" altLang="zh-TW" dirty="0" smtClean="0"/>
              <a:t> are most commonly used mechanisms in reliable message passing systems.</a:t>
            </a:r>
          </a:p>
          <a:p>
            <a:r>
              <a:rPr lang="en-US" altLang="zh-TW" dirty="0" smtClean="0"/>
              <a:t>The RARA protocol can be used to handle LostReq and LostResp failures.</a:t>
            </a:r>
          </a:p>
          <a:p>
            <a:pPr lvl="1"/>
            <a:r>
              <a:rPr lang="en-US" altLang="zh-TW" dirty="0" smtClean="0"/>
              <a:t>The client uses a time out for resending 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if LostReq occurs.</a:t>
            </a:r>
          </a:p>
          <a:p>
            <a:pPr lvl="1"/>
            <a:r>
              <a:rPr lang="en-US" altLang="zh-TW" dirty="0" smtClean="0"/>
              <a:t>The server uses a timeout for resending the </a:t>
            </a:r>
            <a:r>
              <a:rPr lang="en-US" altLang="zh-TW" dirty="0" err="1" smtClean="0"/>
              <a:t>Resp</a:t>
            </a:r>
            <a:r>
              <a:rPr lang="en-US" altLang="zh-TW" dirty="0"/>
              <a:t> </a:t>
            </a:r>
            <a:r>
              <a:rPr lang="en-US" altLang="zh-TW" dirty="0" smtClean="0"/>
              <a:t>if LostResp occurs.</a:t>
            </a: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484785"/>
            <a:ext cx="3096344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68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err="1" smtClean="0"/>
              <a:t>Req-Resp-Ack</a:t>
            </a:r>
            <a:r>
              <a:rPr lang="en-US" altLang="zh-TW" dirty="0" smtClean="0"/>
              <a:t> (</a:t>
            </a:r>
            <a:r>
              <a:rPr lang="en-US" altLang="zh-TW" dirty="0" smtClean="0">
                <a:solidFill>
                  <a:srgbClr val="FF0000"/>
                </a:solidFill>
              </a:rPr>
              <a:t>RRA</a:t>
            </a:r>
            <a:r>
              <a:rPr lang="en-US" altLang="zh-TW" dirty="0" smtClean="0"/>
              <a:t>)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5832648" cy="5328592"/>
          </a:xfrm>
        </p:spPr>
        <p:txBody>
          <a:bodyPr/>
          <a:lstStyle/>
          <a:p>
            <a:r>
              <a:rPr lang="en-US" altLang="zh-TW" dirty="0"/>
              <a:t>Since the </a:t>
            </a:r>
            <a:r>
              <a:rPr lang="en-US" altLang="zh-TW" dirty="0" err="1" smtClean="0"/>
              <a:t>Resp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sufficient to acknowledge the reception of </a:t>
            </a:r>
            <a:r>
              <a:rPr lang="en-US" altLang="zh-TW" dirty="0"/>
              <a:t>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, it is possible to eliminate the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Ack</a:t>
            </a:r>
            <a:r>
              <a:rPr lang="en-US" altLang="zh-TW" dirty="0" smtClean="0"/>
              <a:t> message.</a:t>
            </a:r>
          </a:p>
          <a:p>
            <a:r>
              <a:rPr lang="en-US" altLang="zh-TW" dirty="0" smtClean="0"/>
              <a:t>The RRA protocol can handle both LostReq and LostResp exceptions if the execution of 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does not take an extremely long time.</a:t>
            </a:r>
          </a:p>
          <a:p>
            <a:pPr lvl="1"/>
            <a:r>
              <a:rPr lang="en-US" altLang="zh-TW" dirty="0" smtClean="0"/>
              <a:t>To handle long processing time situation, the server can set a timer for sending an </a:t>
            </a:r>
            <a:r>
              <a:rPr lang="en-US" altLang="zh-TW" dirty="0" smtClean="0">
                <a:solidFill>
                  <a:srgbClr val="FF0000"/>
                </a:solidFill>
              </a:rPr>
              <a:t>optional </a:t>
            </a:r>
            <a:r>
              <a:rPr lang="en-US" altLang="zh-TW" dirty="0" err="1" smtClean="0">
                <a:solidFill>
                  <a:srgbClr val="FF0000"/>
                </a:solidFill>
              </a:rPr>
              <a:t>Ack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to inform the client the reception of the request.</a:t>
            </a:r>
          </a:p>
          <a:p>
            <a:r>
              <a:rPr lang="en-US" altLang="zh-TW" dirty="0" smtClean="0"/>
              <a:t>Both client and server again use timeouts for resending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or Resp.</a:t>
            </a: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589" y="1484784"/>
            <a:ext cx="3060899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804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err="1" smtClean="0"/>
              <a:t>Req-Resp</a:t>
            </a:r>
            <a:r>
              <a:rPr lang="en-US" altLang="zh-TW" dirty="0" smtClean="0"/>
              <a:t> (</a:t>
            </a:r>
            <a:r>
              <a:rPr lang="en-US" altLang="zh-TW" dirty="0" smtClean="0">
                <a:solidFill>
                  <a:srgbClr val="FF0000"/>
                </a:solidFill>
              </a:rPr>
              <a:t>RR</a:t>
            </a:r>
            <a:r>
              <a:rPr lang="en-US" altLang="zh-TW" dirty="0" smtClean="0"/>
              <a:t>)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772816"/>
            <a:ext cx="5544616" cy="4429472"/>
          </a:xfrm>
        </p:spPr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Ack</a:t>
            </a:r>
            <a:r>
              <a:rPr lang="en-US" altLang="zh-TW" dirty="0" smtClean="0"/>
              <a:t> </a:t>
            </a:r>
            <a:r>
              <a:rPr lang="en-US" altLang="zh-TW" dirty="0"/>
              <a:t>from </a:t>
            </a:r>
            <a:r>
              <a:rPr lang="en-US" altLang="zh-TW" dirty="0" smtClean="0"/>
              <a:t>client </a:t>
            </a:r>
            <a:r>
              <a:rPr lang="en-US" altLang="zh-TW" dirty="0"/>
              <a:t>to </a:t>
            </a:r>
            <a:r>
              <a:rPr lang="en-US" altLang="zh-TW" dirty="0" smtClean="0"/>
              <a:t>server in the RRA protocol </a:t>
            </a:r>
            <a:r>
              <a:rPr lang="en-US" altLang="zh-TW" dirty="0"/>
              <a:t>is convenient but not a </a:t>
            </a:r>
            <a:r>
              <a:rPr lang="en-US" altLang="zh-TW" dirty="0" smtClean="0"/>
              <a:t>necessity also. 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</a:t>
            </a:r>
            <a:r>
              <a:rPr lang="en-US" altLang="zh-TW" dirty="0" err="1" smtClean="0"/>
              <a:t>Resp</a:t>
            </a:r>
            <a:r>
              <a:rPr lang="en-US" altLang="zh-TW" dirty="0" smtClean="0"/>
              <a:t> </a:t>
            </a:r>
            <a:r>
              <a:rPr lang="en-US" altLang="zh-TW" dirty="0"/>
              <a:t>is lost, the </a:t>
            </a:r>
            <a:r>
              <a:rPr lang="en-US" altLang="zh-TW" dirty="0" smtClean="0"/>
              <a:t>client will resend 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after </a:t>
            </a:r>
            <a:r>
              <a:rPr lang="en-US" altLang="zh-TW" dirty="0"/>
              <a:t>timeout. The server </a:t>
            </a:r>
            <a:r>
              <a:rPr lang="en-US" altLang="zh-TW" dirty="0" smtClean="0"/>
              <a:t>can (</a:t>
            </a:r>
            <a:r>
              <a:rPr lang="en-US" altLang="zh-TW" dirty="0" smtClean="0">
                <a:solidFill>
                  <a:srgbClr val="FF0000"/>
                </a:solidFill>
              </a:rPr>
              <a:t>process </a:t>
            </a:r>
            <a:r>
              <a:rPr lang="en-US" altLang="zh-TW" dirty="0">
                <a:solidFill>
                  <a:srgbClr val="FF0000"/>
                </a:solidFill>
              </a:rPr>
              <a:t>the </a:t>
            </a:r>
            <a:r>
              <a:rPr lang="en-US" altLang="zh-TW" dirty="0" err="1" smtClean="0">
                <a:solidFill>
                  <a:srgbClr val="FF0000"/>
                </a:solidFill>
              </a:rPr>
              <a:t>Req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once again </a:t>
            </a:r>
            <a:r>
              <a:rPr lang="en-US" altLang="zh-TW" dirty="0" smtClean="0">
                <a:solidFill>
                  <a:srgbClr val="FF0000"/>
                </a:solidFill>
              </a:rPr>
              <a:t>and</a:t>
            </a:r>
            <a:r>
              <a:rPr lang="en-US" altLang="zh-TW" dirty="0" smtClean="0"/>
              <a:t>) </a:t>
            </a:r>
            <a:r>
              <a:rPr lang="en-US" altLang="zh-TW" dirty="0"/>
              <a:t>return the </a:t>
            </a:r>
            <a:r>
              <a:rPr lang="en-US" altLang="zh-TW" dirty="0" err="1" smtClean="0"/>
              <a:t>Resp</a:t>
            </a:r>
            <a:r>
              <a:rPr lang="en-US" altLang="zh-TW" dirty="0" smtClean="0"/>
              <a:t> </a:t>
            </a:r>
            <a:r>
              <a:rPr lang="en-US" altLang="zh-TW" dirty="0"/>
              <a:t>to the client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Both client and server again use timeouts for resending </a:t>
            </a:r>
            <a:r>
              <a:rPr lang="en-US" altLang="zh-TW" dirty="0" err="1"/>
              <a:t>Req</a:t>
            </a:r>
            <a:r>
              <a:rPr lang="en-US" altLang="zh-TW" dirty="0"/>
              <a:t> or Resp.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467544"/>
            <a:ext cx="3116385" cy="520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4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At-Least-Once</a:t>
            </a:r>
            <a:r>
              <a:rPr lang="en-US" altLang="zh-TW" dirty="0" smtClean="0"/>
              <a:t> Semantics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663824"/>
            <a:ext cx="3744416" cy="4141440"/>
          </a:xfrm>
        </p:spPr>
        <p:txBody>
          <a:bodyPr/>
          <a:lstStyle/>
          <a:p>
            <a:r>
              <a:rPr lang="en-US" altLang="zh-TW" dirty="0" smtClean="0"/>
              <a:t>The RR protocol ensures that 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is executed </a:t>
            </a:r>
            <a:r>
              <a:rPr lang="en-US" altLang="zh-TW" dirty="0" smtClean="0">
                <a:solidFill>
                  <a:srgbClr val="FF0000"/>
                </a:solidFill>
              </a:rPr>
              <a:t>at least once</a:t>
            </a:r>
            <a:r>
              <a:rPr lang="en-US" altLang="zh-TW" dirty="0" smtClean="0"/>
              <a:t> by the server.</a:t>
            </a:r>
          </a:p>
          <a:p>
            <a:r>
              <a:rPr lang="en-US" altLang="zh-TW" dirty="0" smtClean="0"/>
              <a:t>Since the </a:t>
            </a:r>
            <a:r>
              <a:rPr lang="en-US" altLang="zh-TW" dirty="0"/>
              <a:t>results of the last execution of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is </a:t>
            </a:r>
            <a:r>
              <a:rPr lang="en-US" altLang="zh-TW" dirty="0"/>
              <a:t>used by the </a:t>
            </a:r>
            <a:r>
              <a:rPr lang="en-US" altLang="zh-TW" dirty="0" smtClean="0"/>
              <a:t>client, it is also called </a:t>
            </a:r>
            <a:r>
              <a:rPr lang="en-US" altLang="zh-TW" dirty="0" smtClean="0">
                <a:solidFill>
                  <a:srgbClr val="FF0000"/>
                </a:solidFill>
              </a:rPr>
              <a:t>last-one</a:t>
            </a:r>
            <a:r>
              <a:rPr lang="en-US" altLang="zh-TW" dirty="0" smtClean="0"/>
              <a:t> semantics.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484784"/>
            <a:ext cx="4807393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37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Idempotent</a:t>
            </a:r>
            <a:r>
              <a:rPr lang="en-US" altLang="zh-TW" dirty="0" smtClean="0"/>
              <a:t>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5184576"/>
          </a:xfrm>
        </p:spPr>
        <p:txBody>
          <a:bodyPr/>
          <a:lstStyle/>
          <a:p>
            <a:r>
              <a:rPr lang="en-US" altLang="zh-TW" dirty="0" smtClean="0"/>
              <a:t>The Idempotency means repeatability. </a:t>
            </a:r>
          </a:p>
          <a:p>
            <a:pPr lvl="1"/>
            <a:r>
              <a:rPr lang="en-US" altLang="zh-TW" dirty="0" smtClean="0"/>
              <a:t>An </a:t>
            </a:r>
            <a:r>
              <a:rPr lang="en-US" altLang="zh-TW" dirty="0"/>
              <a:t>idempotent operation produces </a:t>
            </a:r>
            <a:r>
              <a:rPr lang="en-US" altLang="zh-TW" dirty="0" smtClean="0"/>
              <a:t>the same </a:t>
            </a:r>
            <a:r>
              <a:rPr lang="en-US" altLang="zh-TW" dirty="0"/>
              <a:t>results without any side effects no matter how </a:t>
            </a:r>
            <a:r>
              <a:rPr lang="en-US" altLang="zh-TW" dirty="0" smtClean="0"/>
              <a:t>many times </a:t>
            </a:r>
            <a:r>
              <a:rPr lang="en-US" altLang="zh-TW" dirty="0"/>
              <a:t>it is performed with </a:t>
            </a:r>
            <a:r>
              <a:rPr lang="en-US" altLang="zh-TW" dirty="0" smtClean="0"/>
              <a:t>the same </a:t>
            </a:r>
            <a:r>
              <a:rPr lang="en-US" altLang="zh-TW" dirty="0"/>
              <a:t>arguments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Thus, the At-Least-Once semantics is proper for idempotent services.</a:t>
            </a:r>
          </a:p>
          <a:p>
            <a:r>
              <a:rPr lang="en-US" altLang="zh-TW" dirty="0" smtClean="0"/>
              <a:t>However, for non-idempotent services, the </a:t>
            </a:r>
            <a:r>
              <a:rPr lang="en-US" altLang="zh-TW" dirty="0" smtClean="0">
                <a:solidFill>
                  <a:srgbClr val="FF0000"/>
                </a:solidFill>
              </a:rPr>
              <a:t>Exactly-Once</a:t>
            </a:r>
            <a:r>
              <a:rPr lang="en-US" altLang="zh-TW" dirty="0" smtClean="0"/>
              <a:t> semantics is needed. </a:t>
            </a:r>
          </a:p>
          <a:p>
            <a:r>
              <a:rPr lang="en-US" altLang="zh-TW" dirty="0" smtClean="0"/>
              <a:t>One possible implementation of </a:t>
            </a:r>
            <a:r>
              <a:rPr lang="en-US" altLang="zh-TW" dirty="0" smtClean="0">
                <a:solidFill>
                  <a:srgbClr val="FF0000"/>
                </a:solidFill>
              </a:rPr>
              <a:t>Exactly-Once</a:t>
            </a:r>
            <a:r>
              <a:rPr lang="en-US" altLang="zh-TW" dirty="0" smtClean="0"/>
              <a:t> is as follows.</a:t>
            </a:r>
          </a:p>
          <a:p>
            <a:pPr lvl="1"/>
            <a:r>
              <a:rPr lang="en-US" altLang="zh-TW" dirty="0" smtClean="0"/>
              <a:t>The client assigns a </a:t>
            </a:r>
            <a:r>
              <a:rPr lang="en-US" altLang="zh-TW" dirty="0">
                <a:solidFill>
                  <a:srgbClr val="FF0000"/>
                </a:solidFill>
              </a:rPr>
              <a:t>unique </a:t>
            </a:r>
            <a:r>
              <a:rPr lang="en-US" altLang="zh-TW" dirty="0" smtClean="0">
                <a:solidFill>
                  <a:srgbClr val="FF0000"/>
                </a:solidFill>
              </a:rPr>
              <a:t>ID </a:t>
            </a:r>
            <a:r>
              <a:rPr lang="en-US" altLang="zh-TW" dirty="0" smtClean="0"/>
              <a:t>to every </a:t>
            </a:r>
            <a:r>
              <a:rPr lang="en-US" altLang="zh-TW" dirty="0" smtClean="0">
                <a:solidFill>
                  <a:srgbClr val="FF0000"/>
                </a:solidFill>
              </a:rPr>
              <a:t>Req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server then can discard duplicated Req.</a:t>
            </a:r>
          </a:p>
          <a:p>
            <a:pPr lvl="1"/>
            <a:r>
              <a:rPr lang="en-US" altLang="zh-TW" dirty="0" smtClean="0"/>
              <a:t>The server sets </a:t>
            </a:r>
            <a:r>
              <a:rPr lang="en-US" altLang="zh-TW" dirty="0"/>
              <a:t>up a </a:t>
            </a:r>
            <a:r>
              <a:rPr lang="en-US" altLang="zh-TW" dirty="0">
                <a:solidFill>
                  <a:srgbClr val="FF0000"/>
                </a:solidFill>
              </a:rPr>
              <a:t>reply cache </a:t>
            </a:r>
            <a:r>
              <a:rPr lang="en-US" altLang="zh-TW" dirty="0" smtClean="0"/>
              <a:t>for each </a:t>
            </a:r>
            <a:r>
              <a:rPr lang="en-US" altLang="zh-TW" dirty="0" smtClean="0">
                <a:solidFill>
                  <a:srgbClr val="FF0000"/>
                </a:solidFill>
              </a:rPr>
              <a:t>Resp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server then can avoid to execute the same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 twice.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5550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764704"/>
            <a:ext cx="8829460" cy="552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50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Group Communication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5149552"/>
          </a:xfrm>
        </p:spPr>
        <p:txBody>
          <a:bodyPr/>
          <a:lstStyle/>
          <a:p>
            <a:r>
              <a:rPr lang="en-US" altLang="zh-TW" dirty="0"/>
              <a:t>Group communication is a </a:t>
            </a:r>
            <a:r>
              <a:rPr lang="en-US" altLang="zh-TW" dirty="0" smtClean="0"/>
              <a:t>computing model </a:t>
            </a:r>
            <a:r>
              <a:rPr lang="en-US" altLang="zh-TW" dirty="0"/>
              <a:t>for </a:t>
            </a:r>
            <a:r>
              <a:rPr lang="en-US" altLang="zh-TW" dirty="0">
                <a:solidFill>
                  <a:srgbClr val="FF0000"/>
                </a:solidFill>
              </a:rPr>
              <a:t>multi-party</a:t>
            </a:r>
            <a:r>
              <a:rPr lang="en-US" altLang="zh-TW" dirty="0"/>
              <a:t> communication that is based on the notion of </a:t>
            </a:r>
            <a:r>
              <a:rPr lang="en-US" altLang="zh-TW" dirty="0" smtClean="0"/>
              <a:t>groups. </a:t>
            </a:r>
          </a:p>
          <a:p>
            <a:pPr lvl="1"/>
            <a:r>
              <a:rPr lang="en-US" altLang="zh-TW" dirty="0"/>
              <a:t>A group is a set of parties </a:t>
            </a:r>
            <a:r>
              <a:rPr lang="en-US" altLang="zh-TW" dirty="0" smtClean="0"/>
              <a:t>that </a:t>
            </a:r>
            <a:r>
              <a:rPr lang="en-US" altLang="zh-TW" dirty="0"/>
              <a:t>want to exchange information in a </a:t>
            </a:r>
            <a:r>
              <a:rPr lang="en-US" altLang="zh-TW" dirty="0" smtClean="0"/>
              <a:t>reliable and consistent </a:t>
            </a:r>
            <a:r>
              <a:rPr lang="en-US" altLang="zh-TW" dirty="0"/>
              <a:t>manner. </a:t>
            </a:r>
            <a:endParaRPr lang="en-US" altLang="zh-TW" dirty="0" smtClean="0"/>
          </a:p>
          <a:p>
            <a:r>
              <a:rPr lang="en-US" altLang="zh-TW" dirty="0" smtClean="0"/>
              <a:t>There are three basic types of group communication.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One to many </a:t>
            </a:r>
            <a:r>
              <a:rPr lang="en-US" altLang="zh-TW" dirty="0"/>
              <a:t>(single sender and multiple </a:t>
            </a:r>
            <a:r>
              <a:rPr lang="en-US" altLang="zh-TW" dirty="0" smtClean="0"/>
              <a:t>receivers)</a:t>
            </a:r>
          </a:p>
          <a:p>
            <a:pPr lvl="2"/>
            <a:r>
              <a:rPr lang="en-US" altLang="zh-TW" dirty="0" smtClean="0"/>
              <a:t>It is also called </a:t>
            </a:r>
            <a:r>
              <a:rPr lang="en-US" altLang="zh-TW" dirty="0" smtClean="0">
                <a:solidFill>
                  <a:srgbClr val="FF0000"/>
                </a:solidFill>
              </a:rPr>
              <a:t>multicast</a:t>
            </a:r>
            <a:r>
              <a:rPr lang="en-US" altLang="zh-TW" dirty="0" smtClean="0"/>
              <a:t> communication.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Many to one </a:t>
            </a:r>
            <a:r>
              <a:rPr lang="en-US" altLang="zh-TW" dirty="0"/>
              <a:t>(multiple senders and single </a:t>
            </a:r>
            <a:r>
              <a:rPr lang="en-US" altLang="zh-TW" dirty="0" smtClean="0"/>
              <a:t>receiver)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Many to many </a:t>
            </a:r>
            <a:r>
              <a:rPr lang="en-US" altLang="zh-TW" dirty="0"/>
              <a:t>(multiple senders and multiple receivers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Why Group Communication </a:t>
            </a:r>
            <a:r>
              <a:rPr lang="en-US" altLang="zh-TW" dirty="0" smtClean="0"/>
              <a:t>?</a:t>
            </a:r>
          </a:p>
          <a:p>
            <a:pPr lvl="1"/>
            <a:r>
              <a:rPr lang="en-US" altLang="zh-TW" dirty="0"/>
              <a:t>Highly available servers (client-server</a:t>
            </a:r>
            <a:r>
              <a:rPr lang="en-US" altLang="zh-TW" dirty="0" smtClean="0"/>
              <a:t>), Database </a:t>
            </a:r>
            <a:r>
              <a:rPr lang="en-US" altLang="zh-TW" dirty="0"/>
              <a:t>Replication</a:t>
            </a:r>
          </a:p>
          <a:p>
            <a:pPr lvl="1"/>
            <a:r>
              <a:rPr lang="en-US" altLang="zh-TW" dirty="0"/>
              <a:t>Multimedia </a:t>
            </a:r>
            <a:r>
              <a:rPr lang="en-US" altLang="zh-TW" dirty="0" smtClean="0"/>
              <a:t>Conferencing, Online Games, ….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0723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High Available Web Servers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932040" y="1730767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Replicated Web Servers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100099"/>
            <a:ext cx="7058670" cy="449725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475656" y="173076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Web Clients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223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Open and Closed Groups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2520280"/>
          </a:xfrm>
        </p:spPr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closed</a:t>
            </a:r>
            <a:r>
              <a:rPr lang="en-US" altLang="zh-TW" dirty="0"/>
              <a:t> group is one in which only </a:t>
            </a:r>
            <a:r>
              <a:rPr lang="en-US" altLang="zh-TW" dirty="0" smtClean="0"/>
              <a:t>the members </a:t>
            </a:r>
            <a:r>
              <a:rPr lang="en-US" altLang="zh-TW" dirty="0"/>
              <a:t>of the group can send a message to the group.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An </a:t>
            </a:r>
            <a:r>
              <a:rPr lang="en-US" altLang="zh-TW" dirty="0"/>
              <a:t>outside process cannot </a:t>
            </a:r>
            <a:r>
              <a:rPr lang="en-US" altLang="zh-TW" dirty="0" smtClean="0"/>
              <a:t>send a </a:t>
            </a:r>
            <a:r>
              <a:rPr lang="en-US" altLang="zh-TW" dirty="0"/>
              <a:t>message to the group as a whole, although it may send a message to an </a:t>
            </a:r>
            <a:r>
              <a:rPr lang="en-US" altLang="zh-TW" dirty="0" smtClean="0"/>
              <a:t>individual member </a:t>
            </a:r>
            <a:r>
              <a:rPr lang="en-US" altLang="zh-TW" dirty="0"/>
              <a:t>of the group. </a:t>
            </a:r>
            <a:endParaRPr lang="en-US" altLang="zh-TW" dirty="0" smtClean="0"/>
          </a:p>
          <a:p>
            <a:r>
              <a:rPr lang="en-US" altLang="zh-TW" dirty="0" smtClean="0"/>
              <a:t>An </a:t>
            </a:r>
            <a:r>
              <a:rPr lang="en-US" altLang="zh-TW" dirty="0">
                <a:solidFill>
                  <a:srgbClr val="FF0000"/>
                </a:solidFill>
              </a:rPr>
              <a:t>open</a:t>
            </a:r>
            <a:r>
              <a:rPr lang="en-US" altLang="zh-TW" dirty="0"/>
              <a:t> group is one in which any process </a:t>
            </a:r>
            <a:r>
              <a:rPr lang="en-US" altLang="zh-TW" dirty="0" smtClean="0"/>
              <a:t>in the </a:t>
            </a:r>
            <a:r>
              <a:rPr lang="en-US" altLang="zh-TW" dirty="0"/>
              <a:t>system can send a message to the </a:t>
            </a:r>
            <a:r>
              <a:rPr lang="en-US" altLang="zh-TW" dirty="0" smtClean="0"/>
              <a:t>group.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55" y="3933056"/>
            <a:ext cx="2645813" cy="280831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933056"/>
            <a:ext cx="276552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Group Membership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4572000"/>
          </a:xfrm>
        </p:spPr>
        <p:txBody>
          <a:bodyPr/>
          <a:lstStyle/>
          <a:p>
            <a:r>
              <a:rPr lang="en-US" altLang="zh-TW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/>
              <a:t>g</a:t>
            </a:r>
            <a:r>
              <a:rPr lang="en-US" altLang="zh-TW" dirty="0" smtClean="0"/>
              <a:t>roup </a:t>
            </a:r>
            <a:r>
              <a:rPr lang="en-US" altLang="zh-TW" dirty="0"/>
              <a:t>communication facility s</a:t>
            </a:r>
            <a:r>
              <a:rPr lang="en-US" altLang="zh-TW" dirty="0" smtClean="0"/>
              <a:t>hould provide flexible primitives</a:t>
            </a:r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create and delete groups dynamically and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allow a process to join or leave a group </a:t>
            </a:r>
            <a:r>
              <a:rPr lang="en-US" altLang="zh-TW" dirty="0" smtClean="0"/>
              <a:t>at any </a:t>
            </a:r>
            <a:r>
              <a:rPr lang="en-US" altLang="zh-TW" dirty="0"/>
              <a:t>time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</a:t>
            </a:r>
            <a:r>
              <a:rPr lang="en-US" altLang="zh-TW" dirty="0" smtClean="0"/>
              <a:t>centralized </a:t>
            </a:r>
            <a:r>
              <a:rPr lang="en-US" altLang="zh-TW" dirty="0"/>
              <a:t>group server 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CGS</a:t>
            </a:r>
            <a:r>
              <a:rPr lang="en-US" altLang="zh-TW" dirty="0"/>
              <a:t>) </a:t>
            </a:r>
            <a:r>
              <a:rPr lang="en-US" altLang="zh-TW" dirty="0" smtClean="0"/>
              <a:t>may be used </a:t>
            </a:r>
            <a:r>
              <a:rPr lang="en-US" altLang="zh-TW" dirty="0"/>
              <a:t>to </a:t>
            </a:r>
            <a:r>
              <a:rPr lang="en-US" altLang="zh-TW" dirty="0" smtClean="0"/>
              <a:t>manage the</a:t>
            </a:r>
            <a:r>
              <a:rPr lang="zh-TW" altLang="en-US" dirty="0" smtClean="0"/>
              <a:t> </a:t>
            </a:r>
            <a:r>
              <a:rPr lang="en-US" altLang="zh-TW" dirty="0" smtClean="0"/>
              <a:t>groups </a:t>
            </a:r>
            <a:r>
              <a:rPr lang="en-US" altLang="zh-TW" dirty="0"/>
              <a:t>and their membership information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/>
              <a:t>CGS </a:t>
            </a:r>
            <a:r>
              <a:rPr lang="en-US" altLang="zh-TW" dirty="0"/>
              <a:t>maintains a list of </a:t>
            </a:r>
            <a:r>
              <a:rPr lang="en-US" altLang="zh-TW" dirty="0" smtClean="0"/>
              <a:t>member process IDs for </a:t>
            </a:r>
            <a:r>
              <a:rPr lang="en-US" altLang="zh-TW" dirty="0"/>
              <a:t>each </a:t>
            </a:r>
            <a:r>
              <a:rPr lang="en-US" altLang="zh-TW" dirty="0" smtClean="0"/>
              <a:t>group.</a:t>
            </a:r>
          </a:p>
          <a:p>
            <a:pPr lvl="2"/>
            <a:r>
              <a:rPr lang="en-US" altLang="zh-TW" dirty="0"/>
              <a:t>All requests to create a group, to delete a group, to </a:t>
            </a:r>
            <a:r>
              <a:rPr lang="en-US" altLang="zh-TW" dirty="0" smtClean="0"/>
              <a:t>add a </a:t>
            </a:r>
            <a:r>
              <a:rPr lang="en-US" altLang="zh-TW" dirty="0"/>
              <a:t>member to a group, or to remove a member from a group are sent to </a:t>
            </a:r>
            <a:r>
              <a:rPr lang="en-US" altLang="zh-TW" dirty="0" smtClean="0"/>
              <a:t>the CGS.</a:t>
            </a:r>
          </a:p>
          <a:p>
            <a:pPr lvl="1"/>
            <a:r>
              <a:rPr lang="en-US" altLang="zh-TW" dirty="0" smtClean="0"/>
              <a:t>Cons: single point of failure and performance bottleneck.</a:t>
            </a:r>
          </a:p>
          <a:p>
            <a:pPr lvl="1"/>
            <a:r>
              <a:rPr lang="en-US" altLang="zh-TW" dirty="0" smtClean="0"/>
              <a:t>Pros: easy to implement.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4357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Group Addressing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5256584"/>
          </a:xfrm>
        </p:spPr>
        <p:txBody>
          <a:bodyPr/>
          <a:lstStyle/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two-level </a:t>
            </a:r>
            <a:r>
              <a:rPr lang="en-US" altLang="zh-TW" dirty="0"/>
              <a:t>naming scheme is normally used for group addressing.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high-level </a:t>
            </a:r>
            <a:r>
              <a:rPr lang="en-US" altLang="zh-TW" dirty="0" smtClean="0"/>
              <a:t>group name </a:t>
            </a:r>
            <a:r>
              <a:rPr lang="en-US" altLang="zh-TW" dirty="0"/>
              <a:t>is an ASCII string that is independent of the location information of the </a:t>
            </a:r>
            <a:r>
              <a:rPr lang="en-US" altLang="zh-TW" dirty="0" smtClean="0"/>
              <a:t>processes in </a:t>
            </a:r>
            <a:r>
              <a:rPr lang="en-US" altLang="zh-TW" dirty="0"/>
              <a:t>the group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low-level group name depends </a:t>
            </a:r>
            <a:r>
              <a:rPr lang="en-US" altLang="zh-TW" dirty="0" smtClean="0"/>
              <a:t>on the </a:t>
            </a:r>
            <a:r>
              <a:rPr lang="en-US" altLang="zh-TW" dirty="0"/>
              <a:t>underlying </a:t>
            </a:r>
            <a:r>
              <a:rPr lang="en-US" altLang="zh-TW" dirty="0" smtClean="0"/>
              <a:t>network.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Multicast enabled </a:t>
            </a:r>
            <a:r>
              <a:rPr lang="en-US" altLang="zh-TW" dirty="0">
                <a:solidFill>
                  <a:srgbClr val="FF0000"/>
                </a:solidFill>
              </a:rPr>
              <a:t>network</a:t>
            </a:r>
            <a:r>
              <a:rPr lang="en-US" altLang="zh-TW" dirty="0"/>
              <a:t>: a </a:t>
            </a:r>
            <a:r>
              <a:rPr lang="en-US" altLang="zh-TW" dirty="0">
                <a:solidFill>
                  <a:srgbClr val="00B0F0"/>
                </a:solidFill>
              </a:rPr>
              <a:t>multicast address </a:t>
            </a:r>
            <a:r>
              <a:rPr lang="en-US" altLang="zh-TW" dirty="0" smtClean="0"/>
              <a:t>can be used as </a:t>
            </a:r>
            <a:r>
              <a:rPr lang="en-US" altLang="zh-TW" dirty="0"/>
              <a:t>a low-level </a:t>
            </a:r>
            <a:r>
              <a:rPr lang="en-US" altLang="zh-TW" dirty="0" smtClean="0"/>
              <a:t>name.</a:t>
            </a:r>
          </a:p>
          <a:p>
            <a:pPr lvl="3"/>
            <a:r>
              <a:rPr lang="en-US" altLang="zh-TW" dirty="0" smtClean="0"/>
              <a:t>A </a:t>
            </a:r>
            <a:r>
              <a:rPr lang="en-US" altLang="zh-TW" dirty="0"/>
              <a:t>packet sent to a multicast address is automatically delivered to </a:t>
            </a:r>
            <a:r>
              <a:rPr lang="en-US" altLang="zh-TW" dirty="0" smtClean="0"/>
              <a:t>all machines </a:t>
            </a:r>
            <a:r>
              <a:rPr lang="en-US" altLang="zh-TW" dirty="0"/>
              <a:t>listening to the address. 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Broadcast </a:t>
            </a:r>
            <a:r>
              <a:rPr lang="en-US" altLang="zh-TW" dirty="0">
                <a:solidFill>
                  <a:srgbClr val="FF0000"/>
                </a:solidFill>
              </a:rPr>
              <a:t>enabled network</a:t>
            </a:r>
            <a:r>
              <a:rPr lang="en-US" altLang="zh-TW" dirty="0"/>
              <a:t>: the </a:t>
            </a:r>
            <a:r>
              <a:rPr lang="en-US" altLang="zh-TW" dirty="0">
                <a:solidFill>
                  <a:srgbClr val="00B0F0"/>
                </a:solidFill>
              </a:rPr>
              <a:t>broadcast address </a:t>
            </a:r>
            <a:r>
              <a:rPr lang="en-US" altLang="zh-TW" dirty="0" smtClean="0"/>
              <a:t>may </a:t>
            </a:r>
            <a:r>
              <a:rPr lang="en-US" altLang="zh-TW" dirty="0"/>
              <a:t>be used as a low-level </a:t>
            </a:r>
            <a:r>
              <a:rPr lang="en-US" altLang="zh-TW" dirty="0" smtClean="0"/>
              <a:t>name. </a:t>
            </a:r>
          </a:p>
          <a:p>
            <a:pPr lvl="3"/>
            <a:r>
              <a:rPr lang="en-US" altLang="zh-TW" dirty="0" smtClean="0"/>
              <a:t>A </a:t>
            </a:r>
            <a:r>
              <a:rPr lang="en-US" altLang="zh-TW" dirty="0"/>
              <a:t>packet sent to </a:t>
            </a:r>
            <a:r>
              <a:rPr lang="en-US" altLang="zh-TW" dirty="0" smtClean="0"/>
              <a:t>the broadcast </a:t>
            </a:r>
            <a:r>
              <a:rPr lang="en-US" altLang="zh-TW" dirty="0"/>
              <a:t>address is </a:t>
            </a:r>
            <a:r>
              <a:rPr lang="en-US" altLang="zh-TW" dirty="0" smtClean="0"/>
              <a:t>automatically delivered </a:t>
            </a:r>
            <a:r>
              <a:rPr lang="en-US" altLang="zh-TW" dirty="0"/>
              <a:t>to all </a:t>
            </a:r>
            <a:r>
              <a:rPr lang="en-US" altLang="zh-TW" dirty="0" smtClean="0"/>
              <a:t>host. </a:t>
            </a:r>
          </a:p>
          <a:p>
            <a:pPr lvl="3"/>
            <a:r>
              <a:rPr lang="en-US" altLang="zh-TW" dirty="0" smtClean="0"/>
              <a:t>Each host must </a:t>
            </a:r>
            <a:r>
              <a:rPr lang="en-US" altLang="zh-TW" dirty="0"/>
              <a:t>check to see if the packet is intended for it. </a:t>
            </a:r>
            <a:endParaRPr lang="en-US" altLang="zh-TW" dirty="0" smtClean="0"/>
          </a:p>
          <a:p>
            <a:pPr lvl="4"/>
            <a:r>
              <a:rPr lang="en-US" altLang="zh-TW" dirty="0" smtClean="0"/>
              <a:t>If </a:t>
            </a:r>
            <a:r>
              <a:rPr lang="en-US" altLang="zh-TW" dirty="0"/>
              <a:t>not, the packet is simply discarded. </a:t>
            </a:r>
            <a:endParaRPr lang="en-US" altLang="zh-TW" dirty="0" smtClean="0"/>
          </a:p>
          <a:p>
            <a:pPr lvl="3"/>
            <a:r>
              <a:rPr lang="en-US" altLang="zh-TW" dirty="0" smtClean="0"/>
              <a:t>All </a:t>
            </a:r>
            <a:r>
              <a:rPr lang="en-US" altLang="zh-TW" dirty="0"/>
              <a:t>groups have the same low-level name, the broadcast address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low-level name </a:t>
            </a:r>
            <a:r>
              <a:rPr lang="en-US" altLang="zh-TW" dirty="0" smtClean="0"/>
              <a:t>contains </a:t>
            </a:r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list of </a:t>
            </a:r>
            <a:r>
              <a:rPr lang="en-US" altLang="zh-TW" dirty="0" smtClean="0">
                <a:solidFill>
                  <a:srgbClr val="FF0000"/>
                </a:solidFill>
              </a:rPr>
              <a:t>hosts </a:t>
            </a:r>
            <a:r>
              <a:rPr lang="en-US" altLang="zh-TW" dirty="0"/>
              <a:t>that have a process </a:t>
            </a:r>
            <a:r>
              <a:rPr lang="en-US" altLang="zh-TW" dirty="0" smtClean="0"/>
              <a:t>in </a:t>
            </a:r>
            <a:r>
              <a:rPr lang="en-US" altLang="zh-TW" dirty="0"/>
              <a:t>the group</a:t>
            </a:r>
            <a:r>
              <a:rPr lang="en-US" altLang="zh-TW" dirty="0" smtClean="0"/>
              <a:t>.</a:t>
            </a:r>
          </a:p>
          <a:p>
            <a:pPr lvl="3"/>
            <a:r>
              <a:rPr lang="en-US" altLang="zh-TW" dirty="0" smtClean="0"/>
              <a:t>The </a:t>
            </a:r>
            <a:r>
              <a:rPr lang="en-US" altLang="zh-TW" dirty="0"/>
              <a:t>sending </a:t>
            </a:r>
            <a:r>
              <a:rPr lang="en-US" altLang="zh-TW" dirty="0" smtClean="0"/>
              <a:t>host sends </a:t>
            </a:r>
            <a:r>
              <a:rPr lang="en-US" altLang="zh-TW" dirty="0"/>
              <a:t>the message </a:t>
            </a:r>
            <a:r>
              <a:rPr lang="en-US" altLang="zh-TW" dirty="0" smtClean="0"/>
              <a:t>separately to </a:t>
            </a:r>
            <a:r>
              <a:rPr lang="en-US" altLang="zh-TW" dirty="0"/>
              <a:t>each </a:t>
            </a:r>
            <a:r>
              <a:rPr lang="en-US" altLang="zh-TW" dirty="0" smtClean="0"/>
              <a:t>host in the list.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9780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399802"/>
            <a:ext cx="8784976" cy="940966"/>
          </a:xfrm>
        </p:spPr>
        <p:txBody>
          <a:bodyPr/>
          <a:lstStyle/>
          <a:p>
            <a:pPr algn="ctr"/>
            <a:r>
              <a:rPr lang="en-US" altLang="zh-TW" dirty="0" smtClean="0"/>
              <a:t>Message Delivery in Multicasting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65312"/>
            <a:ext cx="8784976" cy="4283968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sender sends a message to a group </a:t>
            </a:r>
            <a:r>
              <a:rPr lang="en-US" altLang="zh-TW" dirty="0" smtClean="0"/>
              <a:t>by specifying </a:t>
            </a:r>
            <a:r>
              <a:rPr lang="en-US" altLang="zh-TW" dirty="0"/>
              <a:t>its high level </a:t>
            </a:r>
            <a:r>
              <a:rPr lang="en-US" altLang="zh-TW" dirty="0" smtClean="0"/>
              <a:t>name. </a:t>
            </a:r>
          </a:p>
          <a:p>
            <a:pPr lvl="1"/>
            <a:r>
              <a:rPr lang="en-US" altLang="zh-TW" dirty="0" smtClean="0"/>
              <a:t>The kernel of the sending host contacts </a:t>
            </a:r>
            <a:r>
              <a:rPr lang="en-US" altLang="zh-TW" dirty="0"/>
              <a:t>the </a:t>
            </a:r>
            <a:r>
              <a:rPr lang="en-US" altLang="zh-TW" dirty="0" smtClean="0"/>
              <a:t>CGS </a:t>
            </a:r>
            <a:r>
              <a:rPr lang="en-US" altLang="zh-TW" dirty="0"/>
              <a:t>to obtain </a:t>
            </a:r>
            <a:r>
              <a:rPr lang="en-US" altLang="zh-TW" dirty="0" smtClean="0"/>
              <a:t>the low </a:t>
            </a:r>
            <a:r>
              <a:rPr lang="en-US" altLang="zh-TW" dirty="0"/>
              <a:t>level name </a:t>
            </a:r>
            <a:r>
              <a:rPr lang="en-US" altLang="zh-TW" dirty="0" smtClean="0"/>
              <a:t>and the list of PIDs of the group.</a:t>
            </a:r>
            <a:endParaRPr lang="en-US" altLang="zh-TW" dirty="0"/>
          </a:p>
          <a:p>
            <a:pPr lvl="2"/>
            <a:r>
              <a:rPr lang="en-US" altLang="zh-TW" dirty="0"/>
              <a:t>This list of </a:t>
            </a:r>
            <a:r>
              <a:rPr lang="en-US" altLang="zh-TW" dirty="0" smtClean="0"/>
              <a:t>PIDs </a:t>
            </a:r>
            <a:r>
              <a:rPr lang="en-US" altLang="zh-TW" dirty="0"/>
              <a:t>is </a:t>
            </a:r>
            <a:r>
              <a:rPr lang="en-US" altLang="zh-TW" dirty="0" smtClean="0"/>
              <a:t>then embedded into </a:t>
            </a:r>
            <a:r>
              <a:rPr lang="en-US" altLang="zh-TW" dirty="0"/>
              <a:t>the </a:t>
            </a:r>
            <a:r>
              <a:rPr lang="en-US" altLang="zh-TW" dirty="0" smtClean="0"/>
              <a:t>message as part of the header.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kernel </a:t>
            </a:r>
            <a:r>
              <a:rPr lang="en-US" altLang="zh-TW" dirty="0" smtClean="0"/>
              <a:t>either sends </a:t>
            </a:r>
            <a:r>
              <a:rPr lang="en-US" altLang="zh-TW" dirty="0"/>
              <a:t>the </a:t>
            </a:r>
            <a:r>
              <a:rPr lang="en-US" altLang="zh-TW" dirty="0" smtClean="0"/>
              <a:t>message </a:t>
            </a:r>
            <a:r>
              <a:rPr lang="en-US" altLang="zh-TW" dirty="0"/>
              <a:t>to </a:t>
            </a:r>
            <a:r>
              <a:rPr lang="en-US" altLang="zh-TW" dirty="0" smtClean="0"/>
              <a:t>the multicast/broadcast address</a:t>
            </a:r>
            <a:r>
              <a:rPr lang="en-US" altLang="zh-TW" dirty="0"/>
              <a:t> </a:t>
            </a:r>
            <a:r>
              <a:rPr lang="en-US" altLang="zh-TW" dirty="0" smtClean="0"/>
              <a:t>or </a:t>
            </a:r>
            <a:r>
              <a:rPr lang="en-US" altLang="zh-TW" dirty="0"/>
              <a:t>sends </a:t>
            </a:r>
            <a:r>
              <a:rPr lang="en-US" altLang="zh-TW" dirty="0" smtClean="0"/>
              <a:t>the message </a:t>
            </a:r>
            <a:r>
              <a:rPr lang="en-US" altLang="zh-TW" dirty="0"/>
              <a:t>separately to each </a:t>
            </a:r>
            <a:r>
              <a:rPr lang="en-US" altLang="zh-TW" dirty="0" smtClean="0"/>
              <a:t>host in the host list.</a:t>
            </a:r>
          </a:p>
          <a:p>
            <a:r>
              <a:rPr lang="en-US" altLang="zh-TW" dirty="0"/>
              <a:t>When the </a:t>
            </a:r>
            <a:r>
              <a:rPr lang="en-US" altLang="zh-TW" dirty="0" smtClean="0"/>
              <a:t>message </a:t>
            </a:r>
            <a:r>
              <a:rPr lang="en-US" altLang="zh-TW" dirty="0"/>
              <a:t>reaches a </a:t>
            </a:r>
            <a:r>
              <a:rPr lang="en-US" altLang="zh-TW" dirty="0" smtClean="0"/>
              <a:t>host, </a:t>
            </a:r>
            <a:r>
              <a:rPr lang="en-US" altLang="zh-TW" dirty="0"/>
              <a:t>the kernel of that </a:t>
            </a:r>
            <a:r>
              <a:rPr lang="en-US" altLang="zh-TW" dirty="0" smtClean="0"/>
              <a:t>host </a:t>
            </a:r>
            <a:r>
              <a:rPr lang="en-US" altLang="zh-TW" dirty="0"/>
              <a:t>extracts the list </a:t>
            </a:r>
            <a:r>
              <a:rPr lang="en-US" altLang="zh-TW" dirty="0" smtClean="0"/>
              <a:t>of PIDs </a:t>
            </a:r>
            <a:r>
              <a:rPr lang="en-US" altLang="zh-TW" dirty="0"/>
              <a:t>and forwards the message </a:t>
            </a:r>
            <a:r>
              <a:rPr lang="en-US" altLang="zh-TW" dirty="0" smtClean="0"/>
              <a:t>to those processes </a:t>
            </a:r>
            <a:r>
              <a:rPr lang="en-US" altLang="zh-TW" dirty="0"/>
              <a:t>in </a:t>
            </a:r>
            <a:r>
              <a:rPr lang="en-US" altLang="zh-TW" dirty="0" smtClean="0"/>
              <a:t>the host.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3098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Buffered / Unbuffered </a:t>
            </a:r>
            <a:r>
              <a:rPr lang="en-US" altLang="zh-TW" dirty="0" smtClean="0"/>
              <a:t>Multicasting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856984" cy="5221560"/>
          </a:xfrm>
        </p:spPr>
        <p:txBody>
          <a:bodyPr/>
          <a:lstStyle/>
          <a:p>
            <a:r>
              <a:rPr lang="en-US" altLang="zh-TW" dirty="0"/>
              <a:t>Multicasting is an </a:t>
            </a:r>
            <a:r>
              <a:rPr lang="en-US" altLang="zh-TW" dirty="0">
                <a:solidFill>
                  <a:srgbClr val="FF0000"/>
                </a:solidFill>
              </a:rPr>
              <a:t>asynchronous</a:t>
            </a:r>
            <a:r>
              <a:rPr lang="en-US" altLang="zh-TW" dirty="0"/>
              <a:t> communication mechanism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It is unrealistic to expect a sending process to wait until all the receiving </a:t>
            </a:r>
            <a:r>
              <a:rPr lang="en-US" altLang="zh-TW" dirty="0" smtClean="0"/>
              <a:t>processes that </a:t>
            </a:r>
            <a:r>
              <a:rPr lang="en-US" altLang="zh-TW" dirty="0"/>
              <a:t>belong to the multicast group are ready to receive the multicast message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sending process may not be aware of all the receiving processes that </a:t>
            </a:r>
            <a:r>
              <a:rPr lang="en-US" altLang="zh-TW" dirty="0" smtClean="0"/>
              <a:t>belong to </a:t>
            </a:r>
            <a:r>
              <a:rPr lang="en-US" altLang="zh-TW" dirty="0"/>
              <a:t>the multicast group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How a multicast message is treated on a receiving </a:t>
            </a:r>
            <a:r>
              <a:rPr lang="en-US" altLang="zh-TW" dirty="0" smtClean="0"/>
              <a:t>side </a:t>
            </a:r>
            <a:r>
              <a:rPr lang="en-US" altLang="zh-TW" dirty="0"/>
              <a:t>depends on </a:t>
            </a:r>
            <a:r>
              <a:rPr lang="en-US" altLang="zh-TW" dirty="0" smtClean="0"/>
              <a:t>whether the </a:t>
            </a:r>
            <a:r>
              <a:rPr lang="en-US" altLang="zh-TW" dirty="0"/>
              <a:t>multicast </a:t>
            </a:r>
            <a:r>
              <a:rPr lang="en-US" altLang="zh-TW" dirty="0" smtClean="0"/>
              <a:t>is </a:t>
            </a:r>
            <a:r>
              <a:rPr lang="en-US" altLang="zh-TW" dirty="0">
                <a:solidFill>
                  <a:srgbClr val="FF0000"/>
                </a:solidFill>
              </a:rPr>
              <a:t>buffered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FF0000"/>
                </a:solidFill>
              </a:rPr>
              <a:t>unbuffered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For an unbuffered multicast, the message is received only by those </a:t>
            </a:r>
            <a:r>
              <a:rPr lang="en-US" altLang="zh-TW" dirty="0" smtClean="0"/>
              <a:t>processes of </a:t>
            </a:r>
            <a:r>
              <a:rPr lang="en-US" altLang="zh-TW" dirty="0"/>
              <a:t>the multicast group that are ready to receive it.</a:t>
            </a:r>
            <a:endParaRPr lang="zh-TW" altLang="en-US" dirty="0"/>
          </a:p>
          <a:p>
            <a:pPr lvl="2"/>
            <a:r>
              <a:rPr lang="en-US" altLang="zh-TW" dirty="0"/>
              <a:t>T</a:t>
            </a:r>
            <a:r>
              <a:rPr lang="en-US" altLang="zh-TW" dirty="0" smtClean="0"/>
              <a:t>he message is dropped </a:t>
            </a:r>
            <a:r>
              <a:rPr lang="en-US" altLang="zh-TW" dirty="0"/>
              <a:t>if the receiving process is </a:t>
            </a:r>
            <a:r>
              <a:rPr lang="en-US" altLang="zh-TW" dirty="0" smtClean="0"/>
              <a:t>not ready </a:t>
            </a:r>
            <a:r>
              <a:rPr lang="en-US" altLang="zh-TW" dirty="0"/>
              <a:t>to receive it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a </a:t>
            </a:r>
            <a:r>
              <a:rPr lang="en-US" altLang="zh-TW" dirty="0" smtClean="0"/>
              <a:t>buffered multicast</a:t>
            </a:r>
            <a:r>
              <a:rPr lang="en-US" altLang="zh-TW" dirty="0"/>
              <a:t>, the message is buffered for the receiving processes, so </a:t>
            </a:r>
            <a:r>
              <a:rPr lang="en-US" altLang="zh-TW" dirty="0" smtClean="0"/>
              <a:t>all processes will </a:t>
            </a:r>
            <a:r>
              <a:rPr lang="en-US" altLang="zh-TW" dirty="0"/>
              <a:t>eventually receive the message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43097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Semantics of Multicasting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784976" cy="5005536"/>
          </a:xfrm>
        </p:spPr>
        <p:txBody>
          <a:bodyPr/>
          <a:lstStyle/>
          <a:p>
            <a:r>
              <a:rPr lang="en-US" altLang="zh-TW" dirty="0" smtClean="0"/>
              <a:t>There are two kinds of semantics in multicast.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Send-to-all</a:t>
            </a:r>
            <a:r>
              <a:rPr lang="en-US" altLang="zh-TW" dirty="0"/>
              <a:t> semantics.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copy of the message is sent to each process of </a:t>
            </a:r>
            <a:r>
              <a:rPr lang="en-US" altLang="zh-TW" dirty="0" smtClean="0"/>
              <a:t>the multicast </a:t>
            </a:r>
            <a:r>
              <a:rPr lang="en-US" altLang="zh-TW" dirty="0"/>
              <a:t>group and the message is buffered until it is accepted by the process</a:t>
            </a:r>
            <a:r>
              <a:rPr lang="en-US" altLang="zh-TW" dirty="0" smtClean="0"/>
              <a:t>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Bulletin-board </a:t>
            </a:r>
            <a:r>
              <a:rPr lang="en-US" altLang="zh-TW" dirty="0"/>
              <a:t>semantics.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message to be multicast is addressed to a </a:t>
            </a:r>
            <a:r>
              <a:rPr lang="en-US" altLang="zh-TW" dirty="0" smtClean="0">
                <a:solidFill>
                  <a:srgbClr val="FF0000"/>
                </a:solidFill>
              </a:rPr>
              <a:t>channel</a:t>
            </a:r>
            <a:r>
              <a:rPr lang="en-US" altLang="zh-TW" dirty="0" smtClean="0"/>
              <a:t> instead </a:t>
            </a:r>
            <a:r>
              <a:rPr lang="en-US" altLang="zh-TW" dirty="0"/>
              <a:t>of being sent to every individual process of the multicast group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channel plays the role of a bulletin board.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receiving process </a:t>
            </a:r>
            <a:r>
              <a:rPr lang="en-US" altLang="zh-TW" dirty="0" smtClean="0"/>
              <a:t>copies the </a:t>
            </a:r>
            <a:r>
              <a:rPr lang="en-US" altLang="zh-TW" dirty="0"/>
              <a:t>message from the channel instead of removing it when it makes a receive request </a:t>
            </a:r>
            <a:r>
              <a:rPr lang="en-US" altLang="zh-TW" dirty="0" smtClean="0"/>
              <a:t>on the </a:t>
            </a:r>
            <a:r>
              <a:rPr lang="en-US" altLang="zh-TW" dirty="0"/>
              <a:t>channel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All </a:t>
            </a:r>
            <a:r>
              <a:rPr lang="en-US" altLang="zh-TW" dirty="0"/>
              <a:t>processes that have receive access right on </a:t>
            </a:r>
            <a:r>
              <a:rPr lang="en-US" altLang="zh-TW" dirty="0" smtClean="0"/>
              <a:t>the channel </a:t>
            </a:r>
            <a:r>
              <a:rPr lang="en-US" altLang="zh-TW" dirty="0"/>
              <a:t>constitute the multicast group.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7009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Reliability in Multicasting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89646"/>
            <a:ext cx="9036496" cy="5107706"/>
          </a:xfrm>
        </p:spPr>
        <p:txBody>
          <a:bodyPr/>
          <a:lstStyle/>
          <a:p>
            <a:r>
              <a:rPr lang="en-US" altLang="zh-TW" dirty="0" smtClean="0"/>
              <a:t>The sender of </a:t>
            </a:r>
            <a:r>
              <a:rPr lang="en-US" altLang="zh-TW" dirty="0"/>
              <a:t>a multicast message can specify the number of receivers from which a </a:t>
            </a:r>
            <a:r>
              <a:rPr lang="en-US" altLang="zh-TW" dirty="0" smtClean="0"/>
              <a:t>response message </a:t>
            </a:r>
            <a:r>
              <a:rPr lang="en-US" altLang="zh-TW" dirty="0"/>
              <a:t>is expected. </a:t>
            </a:r>
            <a:endParaRPr lang="en-US" altLang="zh-TW" dirty="0" smtClean="0"/>
          </a:p>
          <a:p>
            <a:r>
              <a:rPr lang="en-US" altLang="zh-TW" dirty="0" smtClean="0"/>
              <a:t>In multicast </a:t>
            </a:r>
            <a:r>
              <a:rPr lang="en-US" altLang="zh-TW" dirty="0"/>
              <a:t>communication, the degree of reliability is </a:t>
            </a:r>
            <a:r>
              <a:rPr lang="en-US" altLang="zh-TW" dirty="0" smtClean="0"/>
              <a:t>normally expressed </a:t>
            </a:r>
            <a:r>
              <a:rPr lang="en-US" altLang="zh-TW" dirty="0"/>
              <a:t>in the following forms: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r>
              <a:rPr lang="en-US" altLang="zh-TW" dirty="0" smtClean="0">
                <a:solidFill>
                  <a:srgbClr val="FF0000"/>
                </a:solidFill>
              </a:rPr>
              <a:t>-reliable</a:t>
            </a:r>
            <a:r>
              <a:rPr lang="en-US" altLang="zh-TW" dirty="0"/>
              <a:t>. </a:t>
            </a:r>
            <a:r>
              <a:rPr lang="en-US" altLang="zh-TW" dirty="0" smtClean="0"/>
              <a:t>No </a:t>
            </a:r>
            <a:r>
              <a:rPr lang="en-US" altLang="zh-TW" dirty="0"/>
              <a:t>response is expected </a:t>
            </a:r>
            <a:r>
              <a:rPr lang="en-US" altLang="zh-TW" dirty="0" smtClean="0"/>
              <a:t>from </a:t>
            </a:r>
            <a:r>
              <a:rPr lang="en-US" altLang="zh-TW" dirty="0"/>
              <a:t>any of the receivers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An </a:t>
            </a:r>
            <a:r>
              <a:rPr lang="en-US" altLang="zh-TW" dirty="0"/>
              <a:t>example of this type </a:t>
            </a:r>
            <a:r>
              <a:rPr lang="en-US" altLang="zh-TW" dirty="0" smtClean="0"/>
              <a:t>of application </a:t>
            </a:r>
            <a:r>
              <a:rPr lang="en-US" altLang="zh-TW" dirty="0"/>
              <a:t>is a </a:t>
            </a:r>
            <a:r>
              <a:rPr lang="en-US" altLang="zh-TW" dirty="0">
                <a:solidFill>
                  <a:srgbClr val="FF0000"/>
                </a:solidFill>
              </a:rPr>
              <a:t>time signal </a:t>
            </a:r>
            <a:r>
              <a:rPr lang="en-US" altLang="zh-TW" dirty="0"/>
              <a:t>generator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l-reliable</a:t>
            </a:r>
            <a:r>
              <a:rPr lang="en-US" altLang="zh-TW" dirty="0"/>
              <a:t>. </a:t>
            </a:r>
            <a:r>
              <a:rPr lang="en-US" altLang="zh-TW" dirty="0" smtClean="0"/>
              <a:t>Only one response is expected </a:t>
            </a:r>
            <a:r>
              <a:rPr lang="en-US" altLang="zh-TW" dirty="0"/>
              <a:t>from any of the receivers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Sends a request to several agents and selects the fastest for the future request.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M-out-of-N-reliable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multicast group consists of </a:t>
            </a:r>
            <a:r>
              <a:rPr lang="en-US" altLang="zh-TW" dirty="0" smtClean="0"/>
              <a:t>N </a:t>
            </a:r>
            <a:r>
              <a:rPr lang="en-US" altLang="zh-TW" dirty="0"/>
              <a:t>receivers and </a:t>
            </a:r>
            <a:r>
              <a:rPr lang="en-US" altLang="zh-TW" dirty="0" smtClean="0"/>
              <a:t>the sender </a:t>
            </a:r>
            <a:r>
              <a:rPr lang="en-US" altLang="zh-TW" dirty="0"/>
              <a:t>expects </a:t>
            </a:r>
            <a:r>
              <a:rPr lang="en-US" altLang="zh-TW" dirty="0" smtClean="0"/>
              <a:t>M responses </a:t>
            </a:r>
            <a:r>
              <a:rPr lang="en-US" altLang="zh-TW" dirty="0"/>
              <a:t>from </a:t>
            </a:r>
            <a:r>
              <a:rPr lang="en-US" altLang="zh-TW" dirty="0" smtClean="0"/>
              <a:t>receivers, where 1 &lt;M &lt;N. </a:t>
            </a:r>
          </a:p>
          <a:p>
            <a:pPr lvl="2"/>
            <a:r>
              <a:rPr lang="en-US" altLang="zh-TW" dirty="0" smtClean="0"/>
              <a:t>Erasure coding, RAID, etc.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All-reliable</a:t>
            </a:r>
            <a:r>
              <a:rPr lang="en-US" altLang="zh-TW" dirty="0"/>
              <a:t>. The sender expects a response </a:t>
            </a:r>
            <a:r>
              <a:rPr lang="en-US" altLang="zh-TW" dirty="0" smtClean="0"/>
              <a:t>from </a:t>
            </a:r>
            <a:r>
              <a:rPr lang="en-US" altLang="zh-TW" dirty="0"/>
              <a:t>all the </a:t>
            </a:r>
            <a:r>
              <a:rPr lang="en-US" altLang="zh-TW" dirty="0" smtClean="0"/>
              <a:t>receivers.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5433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Atomic Multicast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507288" cy="3997424"/>
          </a:xfrm>
        </p:spPr>
        <p:txBody>
          <a:bodyPr/>
          <a:lstStyle/>
          <a:p>
            <a:r>
              <a:rPr lang="en-US" altLang="zh-TW" dirty="0"/>
              <a:t>Atomic multicast has an </a:t>
            </a:r>
            <a:r>
              <a:rPr lang="en-US" altLang="zh-TW" dirty="0">
                <a:solidFill>
                  <a:srgbClr val="FF0000"/>
                </a:solidFill>
              </a:rPr>
              <a:t>all-or-nothing</a:t>
            </a:r>
            <a:r>
              <a:rPr lang="en-US" altLang="zh-TW" dirty="0"/>
              <a:t> property.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An atomic multicast message </a:t>
            </a:r>
            <a:r>
              <a:rPr lang="en-US" altLang="zh-TW" dirty="0"/>
              <a:t>is either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received </a:t>
            </a:r>
            <a:r>
              <a:rPr lang="en-US" altLang="zh-TW" dirty="0"/>
              <a:t>by all the processes </a:t>
            </a:r>
            <a:r>
              <a:rPr lang="en-US" altLang="zh-TW" dirty="0" smtClean="0"/>
              <a:t>in the group or</a:t>
            </a:r>
          </a:p>
          <a:p>
            <a:pPr lvl="2"/>
            <a:r>
              <a:rPr lang="en-US" altLang="zh-TW" dirty="0" smtClean="0"/>
              <a:t>it </a:t>
            </a:r>
            <a:r>
              <a:rPr lang="en-US" altLang="zh-TW" dirty="0"/>
              <a:t>is not received by any of them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Only </a:t>
            </a:r>
            <a:r>
              <a:rPr lang="en-US" altLang="zh-TW" dirty="0" smtClean="0">
                <a:solidFill>
                  <a:srgbClr val="FF0000"/>
                </a:solidFill>
              </a:rPr>
              <a:t>all-reliable</a:t>
            </a:r>
            <a:r>
              <a:rPr lang="en-US" altLang="zh-TW" dirty="0" smtClean="0"/>
              <a:t> applications need </a:t>
            </a:r>
            <a:r>
              <a:rPr lang="en-US" altLang="zh-TW" dirty="0">
                <a:solidFill>
                  <a:srgbClr val="FF0000"/>
                </a:solidFill>
              </a:rPr>
              <a:t>atomic multicast </a:t>
            </a:r>
            <a:r>
              <a:rPr lang="en-US" altLang="zh-TW" dirty="0"/>
              <a:t>facility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 simple method of implementing atomic multicast is by using </a:t>
            </a:r>
            <a:r>
              <a:rPr lang="en-US" altLang="zh-TW" dirty="0" smtClean="0">
                <a:solidFill>
                  <a:srgbClr val="00B0F0"/>
                </a:solidFill>
              </a:rPr>
              <a:t>timeouts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00B0F0"/>
                </a:solidFill>
              </a:rPr>
              <a:t>ACKs</a:t>
            </a:r>
            <a:r>
              <a:rPr lang="en-US" altLang="zh-TW" dirty="0" smtClean="0"/>
              <a:t> and </a:t>
            </a:r>
            <a:r>
              <a:rPr lang="en-US" altLang="zh-TW" dirty="0" smtClean="0">
                <a:solidFill>
                  <a:srgbClr val="00B0F0"/>
                </a:solidFill>
              </a:rPr>
              <a:t>retransmissions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method </a:t>
            </a:r>
            <a:r>
              <a:rPr lang="en-US" altLang="zh-TW" dirty="0"/>
              <a:t>works fine </a:t>
            </a:r>
            <a:r>
              <a:rPr lang="en-US" altLang="zh-TW" dirty="0" smtClean="0"/>
              <a:t>as </a:t>
            </a:r>
            <a:r>
              <a:rPr lang="en-US" altLang="zh-TW" dirty="0"/>
              <a:t>long as the </a:t>
            </a:r>
            <a:r>
              <a:rPr lang="en-US" altLang="zh-TW" dirty="0" smtClean="0"/>
              <a:t>sending host and all receiving hosts </a:t>
            </a:r>
            <a:r>
              <a:rPr lang="en-US" altLang="zh-TW" dirty="0"/>
              <a:t>do not fail during an atomic multicast operation</a:t>
            </a:r>
            <a:r>
              <a:rPr lang="en-US" altLang="zh-TW" dirty="0" smtClean="0"/>
              <a:t>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0399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Fault Tolerant Atomic Multicast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712968" cy="4861520"/>
          </a:xfrm>
        </p:spPr>
        <p:txBody>
          <a:bodyPr/>
          <a:lstStyle/>
          <a:p>
            <a:r>
              <a:rPr lang="en-US" altLang="zh-TW" dirty="0" smtClean="0"/>
              <a:t>A simple FT Atomic Multicast algorithm is as follows.</a:t>
            </a:r>
          </a:p>
          <a:p>
            <a:r>
              <a:rPr lang="en-US" altLang="zh-TW" dirty="0"/>
              <a:t>The sender sends a message to all members of the </a:t>
            </a:r>
            <a:r>
              <a:rPr lang="en-US" altLang="zh-TW" dirty="0" smtClean="0"/>
              <a:t>group.</a:t>
            </a:r>
          </a:p>
          <a:p>
            <a:pPr lvl="1"/>
            <a:r>
              <a:rPr lang="en-US" altLang="zh-TW" dirty="0" smtClean="0"/>
              <a:t>Timers </a:t>
            </a:r>
            <a:r>
              <a:rPr lang="en-US" altLang="zh-TW" dirty="0"/>
              <a:t>are set and retransmissions </a:t>
            </a:r>
            <a:r>
              <a:rPr lang="en-US" altLang="zh-TW" dirty="0" smtClean="0"/>
              <a:t>are sent when </a:t>
            </a:r>
            <a:r>
              <a:rPr lang="en-US" altLang="zh-TW" dirty="0"/>
              <a:t>necessary. </a:t>
            </a:r>
          </a:p>
          <a:p>
            <a:r>
              <a:rPr lang="en-US" altLang="zh-TW" dirty="0"/>
              <a:t>When a process receives a message,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it has not yet seen this particular message, </a:t>
            </a:r>
            <a:r>
              <a:rPr lang="en-US" altLang="zh-TW" dirty="0" smtClean="0"/>
              <a:t>it </a:t>
            </a:r>
            <a:r>
              <a:rPr lang="en-US" altLang="zh-TW" dirty="0"/>
              <a:t>sends the message to all members of the </a:t>
            </a:r>
            <a:r>
              <a:rPr lang="en-US" altLang="zh-TW" dirty="0" smtClean="0"/>
              <a:t>group.</a:t>
            </a:r>
          </a:p>
          <a:p>
            <a:pPr lvl="2"/>
            <a:r>
              <a:rPr lang="en-US" altLang="zh-TW" dirty="0" smtClean="0"/>
              <a:t>Timers are set and </a:t>
            </a:r>
            <a:r>
              <a:rPr lang="en-US" altLang="zh-TW" dirty="0"/>
              <a:t>retransmissions </a:t>
            </a:r>
            <a:r>
              <a:rPr lang="en-US" altLang="zh-TW" dirty="0" smtClean="0"/>
              <a:t>are sent if necessary. 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it has already seen the message, </a:t>
            </a:r>
            <a:r>
              <a:rPr lang="en-US" altLang="zh-TW" dirty="0" smtClean="0"/>
              <a:t>the </a:t>
            </a:r>
            <a:r>
              <a:rPr lang="en-US" altLang="zh-TW" dirty="0"/>
              <a:t>message is discarded. </a:t>
            </a:r>
            <a:endParaRPr lang="en-US" altLang="zh-TW" dirty="0" smtClean="0"/>
          </a:p>
          <a:p>
            <a:r>
              <a:rPr lang="en-US" altLang="zh-TW" dirty="0" smtClean="0"/>
              <a:t>It can be shown that no </a:t>
            </a:r>
            <a:r>
              <a:rPr lang="en-US" altLang="zh-TW" dirty="0"/>
              <a:t>matter how many machines crash or how many packets are lost, eventually all the </a:t>
            </a:r>
            <a:r>
              <a:rPr lang="en-US" altLang="zh-TW" dirty="0">
                <a:solidFill>
                  <a:srgbClr val="FF0000"/>
                </a:solidFill>
              </a:rPr>
              <a:t>surviving processes </a:t>
            </a:r>
            <a:r>
              <a:rPr lang="en-US" altLang="zh-TW" dirty="0"/>
              <a:t>will get the message.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8163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Multicast Primitives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519808"/>
            <a:ext cx="8784976" cy="4861520"/>
          </a:xfrm>
        </p:spPr>
        <p:txBody>
          <a:bodyPr/>
          <a:lstStyle/>
          <a:p>
            <a:r>
              <a:rPr lang="en-US" altLang="zh-TW" dirty="0" smtClean="0"/>
              <a:t>Multicast </a:t>
            </a:r>
            <a:r>
              <a:rPr lang="en-US" altLang="zh-TW" dirty="0"/>
              <a:t>communication </a:t>
            </a:r>
            <a:r>
              <a:rPr lang="en-US" altLang="zh-TW" dirty="0" smtClean="0"/>
              <a:t>facility is usually implemented as a </a:t>
            </a:r>
            <a:r>
              <a:rPr lang="en-US" altLang="zh-TW" dirty="0"/>
              <a:t>middleware that provides </a:t>
            </a:r>
            <a:r>
              <a:rPr lang="en-US" altLang="zh-TW" dirty="0" smtClean="0"/>
              <a:t>a set </a:t>
            </a:r>
            <a:r>
              <a:rPr lang="en-US" altLang="zh-TW" dirty="0"/>
              <a:t>of primitives </a:t>
            </a:r>
            <a:r>
              <a:rPr lang="en-US" altLang="zh-TW" dirty="0" smtClean="0"/>
              <a:t>to applications.</a:t>
            </a:r>
          </a:p>
          <a:p>
            <a:r>
              <a:rPr lang="en-US" altLang="zh-TW" dirty="0" smtClean="0"/>
              <a:t>Most </a:t>
            </a:r>
            <a:r>
              <a:rPr lang="en-US" altLang="zh-TW" dirty="0"/>
              <a:t>systems </a:t>
            </a:r>
            <a:r>
              <a:rPr lang="en-US" altLang="zh-TW" dirty="0" smtClean="0"/>
              <a:t>provide </a:t>
            </a:r>
            <a:r>
              <a:rPr lang="en-US" altLang="zh-TW" dirty="0"/>
              <a:t>a </a:t>
            </a:r>
            <a:r>
              <a:rPr lang="en-US" altLang="zh-TW" dirty="0" smtClean="0"/>
              <a:t>separate primitive, such </a:t>
            </a:r>
            <a:r>
              <a:rPr lang="en-US" altLang="zh-TW" dirty="0"/>
              <a:t>as </a:t>
            </a:r>
            <a:r>
              <a:rPr lang="en-US" altLang="zh-TW" dirty="0" smtClean="0">
                <a:solidFill>
                  <a:srgbClr val="FF0000"/>
                </a:solidFill>
              </a:rPr>
              <a:t>send_group ()</a:t>
            </a:r>
            <a:r>
              <a:rPr lang="en-US" altLang="zh-TW" dirty="0" smtClean="0"/>
              <a:t>, </a:t>
            </a:r>
            <a:r>
              <a:rPr lang="en-US" altLang="zh-TW" dirty="0"/>
              <a:t>for sending a message to a group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Send () is then used only for one to one communication.</a:t>
            </a:r>
          </a:p>
          <a:p>
            <a:r>
              <a:rPr lang="en-US" altLang="zh-TW" dirty="0" smtClean="0"/>
              <a:t>This </a:t>
            </a:r>
            <a:r>
              <a:rPr lang="en-US" altLang="zh-TW" dirty="0"/>
              <a:t>simplifies the design and implementation of a </a:t>
            </a:r>
            <a:r>
              <a:rPr lang="en-US" altLang="zh-TW" dirty="0" smtClean="0"/>
              <a:t>group communication </a:t>
            </a:r>
            <a:r>
              <a:rPr lang="en-US" altLang="zh-TW" dirty="0"/>
              <a:t>facility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Name server is used by send () for two-level process naming. </a:t>
            </a:r>
          </a:p>
          <a:p>
            <a:pPr lvl="1"/>
            <a:r>
              <a:rPr lang="en-US" altLang="zh-TW" dirty="0" smtClean="0"/>
              <a:t>Group server is used by send_group () for two-level group naming.</a:t>
            </a:r>
          </a:p>
          <a:p>
            <a:pPr lvl="2"/>
            <a:r>
              <a:rPr lang="en-US" altLang="zh-TW" dirty="0" smtClean="0"/>
              <a:t>An extra parameter </a:t>
            </a:r>
            <a:r>
              <a:rPr lang="en-US" altLang="zh-TW" dirty="0"/>
              <a:t>may be used </a:t>
            </a:r>
            <a:r>
              <a:rPr lang="en-US" altLang="zh-TW" dirty="0" smtClean="0"/>
              <a:t>to specify </a:t>
            </a:r>
            <a:r>
              <a:rPr lang="en-US" altLang="zh-TW" dirty="0"/>
              <a:t>the </a:t>
            </a:r>
            <a:r>
              <a:rPr lang="en-US" altLang="zh-TW" dirty="0" smtClean="0"/>
              <a:t>degree of reliability.</a:t>
            </a:r>
          </a:p>
          <a:p>
            <a:pPr lvl="2"/>
            <a:r>
              <a:rPr lang="en-US" altLang="zh-TW" dirty="0" smtClean="0"/>
              <a:t>A 2nd extra parameter can be used to specify the atomicity requirement.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7366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Many to </a:t>
            </a:r>
            <a:r>
              <a:rPr lang="en-US" altLang="zh-TW" dirty="0"/>
              <a:t>O</a:t>
            </a:r>
            <a:r>
              <a:rPr lang="en-US" altLang="zh-TW" dirty="0" smtClean="0"/>
              <a:t>ne Communication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712968" cy="5005536"/>
          </a:xfrm>
        </p:spPr>
        <p:txBody>
          <a:bodyPr/>
          <a:lstStyle/>
          <a:p>
            <a:r>
              <a:rPr lang="en-US" altLang="zh-TW" dirty="0" smtClean="0"/>
              <a:t>Multiple </a:t>
            </a:r>
            <a:r>
              <a:rPr lang="en-US" altLang="zh-TW" dirty="0"/>
              <a:t>senders send messages to a single receiver.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single </a:t>
            </a:r>
            <a:r>
              <a:rPr lang="en-US" altLang="zh-TW" dirty="0" smtClean="0"/>
              <a:t>receiver may </a:t>
            </a:r>
            <a:r>
              <a:rPr lang="en-US" altLang="zh-TW" dirty="0"/>
              <a:t>be </a:t>
            </a:r>
            <a:r>
              <a:rPr lang="en-US" altLang="zh-TW" dirty="0">
                <a:solidFill>
                  <a:srgbClr val="FF0000"/>
                </a:solidFill>
              </a:rPr>
              <a:t>selective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rgbClr val="FF0000"/>
                </a:solidFill>
              </a:rPr>
              <a:t>nonselective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>
                <a:solidFill>
                  <a:srgbClr val="00B0F0"/>
                </a:solidFill>
              </a:rPr>
              <a:t>selective</a:t>
            </a:r>
            <a:r>
              <a:rPr lang="en-US" altLang="zh-TW" dirty="0"/>
              <a:t> receiver specifies a </a:t>
            </a:r>
            <a:r>
              <a:rPr lang="en-US" altLang="zh-TW" dirty="0">
                <a:solidFill>
                  <a:srgbClr val="FF0000"/>
                </a:solidFill>
              </a:rPr>
              <a:t>unique </a:t>
            </a:r>
            <a:r>
              <a:rPr lang="en-US" altLang="zh-TW" dirty="0" smtClean="0">
                <a:solidFill>
                  <a:srgbClr val="FF0000"/>
                </a:solidFill>
              </a:rPr>
              <a:t>sender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 message exchange </a:t>
            </a:r>
            <a:r>
              <a:rPr lang="en-US" altLang="zh-TW" dirty="0"/>
              <a:t>takes place only if that </a:t>
            </a:r>
            <a:r>
              <a:rPr lang="en-US" altLang="zh-TW" dirty="0" smtClean="0"/>
              <a:t>particular sender </a:t>
            </a:r>
            <a:r>
              <a:rPr lang="en-US" altLang="zh-TW" dirty="0"/>
              <a:t>sends a message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00B0F0"/>
                </a:solidFill>
              </a:rPr>
              <a:t>nonselective</a:t>
            </a:r>
            <a:r>
              <a:rPr lang="en-US" altLang="zh-TW" dirty="0" smtClean="0"/>
              <a:t> </a:t>
            </a:r>
            <a:r>
              <a:rPr lang="en-US" altLang="zh-TW" dirty="0"/>
              <a:t>receiver specifies a </a:t>
            </a:r>
            <a:r>
              <a:rPr lang="en-US" altLang="zh-TW" dirty="0">
                <a:solidFill>
                  <a:srgbClr val="FF0000"/>
                </a:solidFill>
              </a:rPr>
              <a:t>set of </a:t>
            </a:r>
            <a:r>
              <a:rPr lang="en-US" altLang="zh-TW" dirty="0" smtClean="0">
                <a:solidFill>
                  <a:srgbClr val="FF0000"/>
                </a:solidFill>
              </a:rPr>
              <a:t>senders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If any </a:t>
            </a:r>
            <a:r>
              <a:rPr lang="en-US" altLang="zh-TW" dirty="0"/>
              <a:t>sender in the set sends </a:t>
            </a:r>
            <a:r>
              <a:rPr lang="en-US" altLang="zh-TW" dirty="0" smtClean="0"/>
              <a:t>a message </a:t>
            </a:r>
            <a:r>
              <a:rPr lang="en-US" altLang="zh-TW" dirty="0"/>
              <a:t>to this receiver, a message exchange </a:t>
            </a:r>
            <a:r>
              <a:rPr lang="en-US" altLang="zh-TW" dirty="0" smtClean="0"/>
              <a:t>then takes </a:t>
            </a:r>
            <a:r>
              <a:rPr lang="en-US" altLang="zh-TW" dirty="0"/>
              <a:t>place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An </a:t>
            </a:r>
            <a:r>
              <a:rPr lang="en-US" altLang="zh-TW" dirty="0"/>
              <a:t>important issue related to the many-to-one </a:t>
            </a:r>
            <a:r>
              <a:rPr lang="en-US" altLang="zh-TW" dirty="0" smtClean="0"/>
              <a:t>communication scheme </a:t>
            </a:r>
            <a:r>
              <a:rPr lang="en-US" altLang="zh-TW" dirty="0"/>
              <a:t>is </a:t>
            </a:r>
            <a:r>
              <a:rPr lang="en-US" altLang="zh-TW" dirty="0">
                <a:solidFill>
                  <a:srgbClr val="FF0000"/>
                </a:solidFill>
              </a:rPr>
              <a:t>nondeterminism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A receiver may want to wait for information from </a:t>
            </a:r>
            <a:r>
              <a:rPr lang="en-US" altLang="zh-TW" dirty="0" smtClean="0"/>
              <a:t>a sender that it </a:t>
            </a:r>
            <a:r>
              <a:rPr lang="en-US" altLang="zh-TW" dirty="0"/>
              <a:t>is not known in </a:t>
            </a:r>
            <a:r>
              <a:rPr lang="en-US" altLang="zh-TW" dirty="0" smtClean="0"/>
              <a:t>advance.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46092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Many to Many </a:t>
            </a:r>
            <a:r>
              <a:rPr lang="en-US" altLang="zh-TW" dirty="0" smtClean="0"/>
              <a:t>Communication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640960" cy="5077544"/>
          </a:xfrm>
        </p:spPr>
        <p:txBody>
          <a:bodyPr/>
          <a:lstStyle/>
          <a:p>
            <a:r>
              <a:rPr lang="en-US" altLang="zh-TW" dirty="0" smtClean="0"/>
              <a:t>Multiple </a:t>
            </a:r>
            <a:r>
              <a:rPr lang="en-US" altLang="zh-TW" dirty="0"/>
              <a:t>senders send messages to multiple receivers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/>
              <a:t>multicast and </a:t>
            </a:r>
            <a:r>
              <a:rPr lang="en-US" altLang="zh-TW" dirty="0"/>
              <a:t>many-to-one </a:t>
            </a:r>
            <a:r>
              <a:rPr lang="en-US" altLang="zh-TW" dirty="0" smtClean="0"/>
              <a:t>are special cases of </a:t>
            </a:r>
            <a:r>
              <a:rPr lang="en-US" altLang="zh-TW" dirty="0"/>
              <a:t>this </a:t>
            </a:r>
            <a:r>
              <a:rPr lang="en-US" altLang="zh-TW" dirty="0" smtClean="0"/>
              <a:t>scheme.</a:t>
            </a:r>
          </a:p>
          <a:p>
            <a:r>
              <a:rPr lang="en-US" altLang="zh-TW" dirty="0" smtClean="0"/>
              <a:t>One of </a:t>
            </a:r>
            <a:r>
              <a:rPr lang="en-US" altLang="zh-TW" dirty="0"/>
              <a:t>an important issue for the many to many </a:t>
            </a:r>
            <a:r>
              <a:rPr lang="en-US" altLang="zh-TW" dirty="0" smtClean="0"/>
              <a:t>communication is </a:t>
            </a:r>
            <a:r>
              <a:rPr lang="en-US" altLang="zh-TW" dirty="0">
                <a:solidFill>
                  <a:srgbClr val="FF0000"/>
                </a:solidFill>
              </a:rPr>
              <a:t>o</a:t>
            </a:r>
            <a:r>
              <a:rPr lang="en-US" altLang="zh-TW" dirty="0" smtClean="0">
                <a:solidFill>
                  <a:srgbClr val="FF0000"/>
                </a:solidFill>
              </a:rPr>
              <a:t>rdered </a:t>
            </a:r>
            <a:r>
              <a:rPr lang="en-US" altLang="zh-TW" dirty="0">
                <a:solidFill>
                  <a:srgbClr val="FF0000"/>
                </a:solidFill>
              </a:rPr>
              <a:t>message </a:t>
            </a:r>
            <a:r>
              <a:rPr lang="en-US" altLang="zh-TW" dirty="0" smtClean="0">
                <a:solidFill>
                  <a:srgbClr val="FF0000"/>
                </a:solidFill>
              </a:rPr>
              <a:t>delivery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Ordered message delivery ensures that all messages are delivered to all receivers </a:t>
            </a:r>
            <a:r>
              <a:rPr lang="en-US" altLang="zh-TW" dirty="0" smtClean="0"/>
              <a:t>in an </a:t>
            </a:r>
            <a:r>
              <a:rPr lang="en-US" altLang="zh-TW" dirty="0"/>
              <a:t>order acceptable to the application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Multiple clients updating the same DB that has multiple replicates </a:t>
            </a:r>
            <a:r>
              <a:rPr lang="en-US" altLang="zh-TW" dirty="0"/>
              <a:t>requires that all </a:t>
            </a:r>
            <a:r>
              <a:rPr lang="en-US" altLang="zh-TW" dirty="0" smtClean="0"/>
              <a:t>update messages </a:t>
            </a:r>
            <a:r>
              <a:rPr lang="en-US" altLang="zh-TW" dirty="0"/>
              <a:t>be delivered in the same order to </a:t>
            </a:r>
            <a:r>
              <a:rPr lang="en-US" altLang="zh-TW" dirty="0" smtClean="0"/>
              <a:t>all replicates.</a:t>
            </a:r>
          </a:p>
          <a:p>
            <a:pPr lvl="1"/>
            <a:r>
              <a:rPr lang="en-US" altLang="zh-TW" dirty="0"/>
              <a:t>Ordered message delivery requires </a:t>
            </a:r>
            <a:r>
              <a:rPr lang="en-US" altLang="zh-TW" dirty="0">
                <a:solidFill>
                  <a:srgbClr val="FF0000"/>
                </a:solidFill>
              </a:rPr>
              <a:t>message sequencing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/>
              <a:t>In multicasting, </a:t>
            </a:r>
            <a:r>
              <a:rPr lang="en-US" altLang="zh-TW" dirty="0" smtClean="0"/>
              <a:t>a </a:t>
            </a:r>
            <a:r>
              <a:rPr lang="en-US" altLang="zh-TW" dirty="0"/>
              <a:t>sender </a:t>
            </a:r>
            <a:r>
              <a:rPr lang="en-US" altLang="zh-TW" dirty="0" smtClean="0"/>
              <a:t>can initiate </a:t>
            </a:r>
            <a:r>
              <a:rPr lang="en-US" altLang="zh-TW" dirty="0"/>
              <a:t>the next multicast </a:t>
            </a:r>
            <a:r>
              <a:rPr lang="en-US" altLang="zh-TW" dirty="0" smtClean="0"/>
              <a:t>only after the </a:t>
            </a:r>
            <a:r>
              <a:rPr lang="en-US" altLang="zh-TW" dirty="0"/>
              <a:t>previous multicast message has been received by all the </a:t>
            </a:r>
            <a:r>
              <a:rPr lang="en-US" altLang="zh-TW" dirty="0" smtClean="0"/>
              <a:t>members.</a:t>
            </a:r>
          </a:p>
          <a:p>
            <a:pPr lvl="2"/>
            <a:r>
              <a:rPr lang="en-US" altLang="zh-TW" dirty="0" smtClean="0"/>
              <a:t>In many to one, since there is only </a:t>
            </a:r>
            <a:r>
              <a:rPr lang="en-US" altLang="zh-TW" dirty="0"/>
              <a:t>one receiver, </a:t>
            </a:r>
            <a:r>
              <a:rPr lang="en-US" altLang="zh-TW" dirty="0" smtClean="0"/>
              <a:t>the ordering can </a:t>
            </a:r>
            <a:r>
              <a:rPr lang="en-US" altLang="zh-TW" dirty="0"/>
              <a:t>simply </a:t>
            </a:r>
            <a:r>
              <a:rPr lang="en-US" altLang="zh-TW" dirty="0" smtClean="0"/>
              <a:t>be handled </a:t>
            </a:r>
            <a:r>
              <a:rPr lang="en-US" altLang="zh-TW" dirty="0"/>
              <a:t>by the </a:t>
            </a:r>
            <a:r>
              <a:rPr lang="en-US" altLang="zh-TW" dirty="0" smtClean="0"/>
              <a:t>receiver.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0528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No Ordered Message Delivery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60425"/>
            <a:ext cx="7236296" cy="507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89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Semantics of Message Ordering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507754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Absolute </a:t>
            </a:r>
            <a:r>
              <a:rPr lang="en-US" altLang="zh-TW" dirty="0" smtClean="0">
                <a:solidFill>
                  <a:srgbClr val="FF0000"/>
                </a:solidFill>
              </a:rPr>
              <a:t>Ordering</a:t>
            </a:r>
            <a:r>
              <a:rPr lang="en-US" altLang="zh-TW" dirty="0" smtClean="0"/>
              <a:t>: all messages are delivered to all receivers in </a:t>
            </a:r>
            <a:r>
              <a:rPr lang="en-US" altLang="zh-TW" dirty="0"/>
              <a:t>the exact order in which they were </a:t>
            </a:r>
            <a:r>
              <a:rPr lang="en-US" altLang="zh-TW" dirty="0" smtClean="0"/>
              <a:t>sent.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Consistent </a:t>
            </a:r>
            <a:r>
              <a:rPr lang="en-US" altLang="zh-TW" dirty="0" smtClean="0">
                <a:solidFill>
                  <a:srgbClr val="FF0000"/>
                </a:solidFill>
              </a:rPr>
              <a:t>Ordering</a:t>
            </a:r>
            <a:r>
              <a:rPr lang="en-US" altLang="zh-TW" dirty="0"/>
              <a:t>, </a:t>
            </a:r>
            <a:r>
              <a:rPr lang="en-US" altLang="zh-TW" dirty="0" smtClean="0"/>
              <a:t>all messages </a:t>
            </a:r>
            <a:r>
              <a:rPr lang="en-US" altLang="zh-TW" dirty="0"/>
              <a:t>are guaranteed to arrive at all </a:t>
            </a:r>
            <a:r>
              <a:rPr lang="en-US" altLang="zh-TW" dirty="0" smtClean="0"/>
              <a:t>receivers </a:t>
            </a:r>
            <a:r>
              <a:rPr lang="en-US" altLang="zh-TW" dirty="0"/>
              <a:t>in the same order, but that order may not be the real order in which they were sent</a:t>
            </a:r>
            <a:r>
              <a:rPr lang="en-US" altLang="zh-TW" dirty="0" smtClean="0"/>
              <a:t>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Causal </a:t>
            </a:r>
            <a:r>
              <a:rPr lang="en-US" altLang="zh-TW" dirty="0" smtClean="0">
                <a:solidFill>
                  <a:srgbClr val="FF0000"/>
                </a:solidFill>
              </a:rPr>
              <a:t>Ordering</a:t>
            </a:r>
            <a:r>
              <a:rPr lang="en-US" altLang="zh-TW" dirty="0"/>
              <a:t>, </a:t>
            </a:r>
            <a:r>
              <a:rPr lang="en-US" altLang="zh-TW" dirty="0" smtClean="0"/>
              <a:t>it </a:t>
            </a:r>
            <a:r>
              <a:rPr lang="en-US" altLang="zh-TW" dirty="0"/>
              <a:t>ensures that if the event </a:t>
            </a:r>
            <a:r>
              <a:rPr lang="en-US" altLang="zh-TW" dirty="0" smtClean="0"/>
              <a:t>of sending </a:t>
            </a:r>
            <a:r>
              <a:rPr lang="en-US" altLang="zh-TW" dirty="0"/>
              <a:t>one </a:t>
            </a:r>
            <a:r>
              <a:rPr lang="en-US" altLang="zh-TW" dirty="0" smtClean="0"/>
              <a:t>message </a:t>
            </a:r>
            <a:r>
              <a:rPr lang="en-US" altLang="zh-TW" dirty="0"/>
              <a:t>is causally </a:t>
            </a:r>
            <a:r>
              <a:rPr lang="en-US" altLang="zh-TW" dirty="0" smtClean="0"/>
              <a:t>related on </a:t>
            </a:r>
            <a:r>
              <a:rPr lang="en-US" altLang="zh-TW" dirty="0"/>
              <a:t>the event of sending another message, the </a:t>
            </a:r>
            <a:r>
              <a:rPr lang="en-US" altLang="zh-TW" dirty="0" smtClean="0"/>
              <a:t>two messages </a:t>
            </a:r>
            <a:r>
              <a:rPr lang="en-US" altLang="zh-TW" dirty="0"/>
              <a:t>are delivered to all receivers in the </a:t>
            </a:r>
            <a:r>
              <a:rPr lang="en-US" altLang="zh-TW" dirty="0" smtClean="0"/>
              <a:t>same causal </a:t>
            </a:r>
            <a:r>
              <a:rPr lang="en-US" altLang="zh-TW" dirty="0"/>
              <a:t>order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If, however, </a:t>
            </a:r>
            <a:r>
              <a:rPr lang="en-US" altLang="zh-TW" dirty="0" smtClean="0"/>
              <a:t>two messages </a:t>
            </a:r>
            <a:r>
              <a:rPr lang="en-US" altLang="zh-TW" dirty="0"/>
              <a:t>are </a:t>
            </a:r>
            <a:r>
              <a:rPr lang="en-US" altLang="zh-TW" dirty="0" smtClean="0"/>
              <a:t>concurrent (not causally related), </a:t>
            </a:r>
            <a:r>
              <a:rPr lang="en-US" altLang="zh-TW" dirty="0"/>
              <a:t>no guarantees are made, and the system is free to deliver them in a different order to different processes if this is easier.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12844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Absolute Ordering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1621160"/>
          </a:xfrm>
        </p:spPr>
        <p:txBody>
          <a:bodyPr/>
          <a:lstStyle/>
          <a:p>
            <a:r>
              <a:rPr lang="en-US" altLang="zh-TW" dirty="0"/>
              <a:t>One method to implement </a:t>
            </a:r>
            <a:r>
              <a:rPr lang="en-US" altLang="zh-TW" dirty="0" smtClean="0"/>
              <a:t>absolute ordering is to attach each message a globally </a:t>
            </a:r>
            <a:r>
              <a:rPr lang="en-US" altLang="zh-TW" dirty="0"/>
              <a:t>synchronized </a:t>
            </a:r>
            <a:r>
              <a:rPr lang="en-US" altLang="zh-TW" dirty="0" smtClean="0">
                <a:solidFill>
                  <a:srgbClr val="FF0000"/>
                </a:solidFill>
              </a:rPr>
              <a:t>timestamp</a:t>
            </a:r>
            <a:r>
              <a:rPr lang="en-US" altLang="zh-TW" dirty="0" smtClean="0"/>
              <a:t> (sync clocks).</a:t>
            </a:r>
          </a:p>
          <a:p>
            <a:pPr lvl="1"/>
            <a:r>
              <a:rPr lang="en-US" altLang="zh-TW" dirty="0" smtClean="0"/>
              <a:t>All receiving host delivers messages to its processes in the order of timestamps.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192" y="2996952"/>
            <a:ext cx="5724128" cy="372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54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35298"/>
            <a:ext cx="7772400" cy="905470"/>
          </a:xfrm>
        </p:spPr>
        <p:txBody>
          <a:bodyPr/>
          <a:lstStyle/>
          <a:p>
            <a:pPr algn="ctr"/>
            <a:r>
              <a:rPr lang="en-US" altLang="zh-TW" dirty="0" smtClean="0"/>
              <a:t>Consistent Ordering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12777"/>
            <a:ext cx="9324528" cy="2520279"/>
          </a:xfrm>
        </p:spPr>
        <p:txBody>
          <a:bodyPr/>
          <a:lstStyle/>
          <a:p>
            <a:r>
              <a:rPr lang="en-US" altLang="zh-TW" dirty="0" smtClean="0"/>
              <a:t>Consistent ordering may be implemented by combining </a:t>
            </a:r>
            <a:r>
              <a:rPr lang="en-US" altLang="zh-TW" dirty="0"/>
              <a:t>many-to-one and one-to-many </a:t>
            </a:r>
            <a:r>
              <a:rPr lang="en-US" altLang="zh-TW" dirty="0" smtClean="0"/>
              <a:t>schemes.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sending </a:t>
            </a:r>
            <a:r>
              <a:rPr lang="en-US" altLang="zh-TW" dirty="0" smtClean="0"/>
              <a:t>host 1st sends a control message </a:t>
            </a:r>
            <a:r>
              <a:rPr lang="en-US" altLang="zh-TW" dirty="0"/>
              <a:t>to a </a:t>
            </a:r>
            <a:r>
              <a:rPr lang="en-US" altLang="zh-TW" dirty="0" smtClean="0"/>
              <a:t>special </a:t>
            </a:r>
            <a:r>
              <a:rPr lang="en-US" altLang="zh-TW" dirty="0"/>
              <a:t>receiver (known as a </a:t>
            </a:r>
            <a:r>
              <a:rPr lang="en-US" altLang="zh-TW" dirty="0">
                <a:solidFill>
                  <a:srgbClr val="FF0000"/>
                </a:solidFill>
              </a:rPr>
              <a:t>sequencer</a:t>
            </a:r>
            <a:r>
              <a:rPr lang="en-US" altLang="zh-TW" dirty="0"/>
              <a:t>) that </a:t>
            </a:r>
            <a:r>
              <a:rPr lang="en-US" altLang="zh-TW" dirty="0" smtClean="0"/>
              <a:t>responses </a:t>
            </a:r>
            <a:r>
              <a:rPr lang="en-US" altLang="zh-TW" dirty="0"/>
              <a:t>a </a:t>
            </a:r>
            <a:r>
              <a:rPr lang="en-US" altLang="zh-TW" dirty="0" smtClean="0"/>
              <a:t>unique </a:t>
            </a:r>
            <a:r>
              <a:rPr lang="en-US" altLang="zh-TW" dirty="0" err="1" smtClean="0">
                <a:solidFill>
                  <a:srgbClr val="FF0000"/>
                </a:solidFill>
              </a:rPr>
              <a:t>seq</a:t>
            </a:r>
            <a:r>
              <a:rPr lang="en-US" altLang="zh-TW" dirty="0" smtClean="0">
                <a:solidFill>
                  <a:srgbClr val="FF0000"/>
                </a:solidFill>
              </a:rPr>
              <a:t>#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sending host then </a:t>
            </a:r>
            <a:r>
              <a:rPr lang="en-US" altLang="zh-TW" dirty="0"/>
              <a:t>multicasts </a:t>
            </a:r>
            <a:r>
              <a:rPr lang="en-US" altLang="zh-TW" dirty="0" smtClean="0"/>
              <a:t>the real message with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#.</a:t>
            </a:r>
          </a:p>
          <a:p>
            <a:pPr lvl="1"/>
            <a:r>
              <a:rPr lang="en-US" altLang="zh-TW" dirty="0"/>
              <a:t>All receiving host delivers messages to its processes in the order of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#.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839344"/>
            <a:ext cx="4824536" cy="29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61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ABCAST Protocol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4573488"/>
          </a:xfrm>
        </p:spPr>
        <p:txBody>
          <a:bodyPr/>
          <a:lstStyle/>
          <a:p>
            <a:r>
              <a:rPr lang="en-US" altLang="zh-TW" dirty="0"/>
              <a:t>The ABCAST protocol of the ISIS </a:t>
            </a:r>
            <a:r>
              <a:rPr lang="en-US" altLang="zh-TW" dirty="0" smtClean="0"/>
              <a:t>system is a distributed sequencing algorithm that provides consistent ordering.</a:t>
            </a:r>
          </a:p>
          <a:p>
            <a:pPr lvl="1"/>
            <a:r>
              <a:rPr lang="en-US" altLang="zh-TW" dirty="0"/>
              <a:t>The sender assigns a </a:t>
            </a:r>
            <a:r>
              <a:rPr lang="en-US" altLang="zh-TW" dirty="0">
                <a:solidFill>
                  <a:srgbClr val="FF0000"/>
                </a:solidFill>
              </a:rPr>
              <a:t>temporary </a:t>
            </a:r>
            <a:r>
              <a:rPr lang="en-US" altLang="zh-TW" dirty="0" smtClean="0">
                <a:solidFill>
                  <a:srgbClr val="FF0000"/>
                </a:solidFill>
              </a:rPr>
              <a:t>sequence# </a:t>
            </a:r>
            <a:r>
              <a:rPr lang="en-US" altLang="zh-TW" dirty="0"/>
              <a:t>to the message and sends </a:t>
            </a:r>
            <a:r>
              <a:rPr lang="en-US" altLang="zh-TW" dirty="0" smtClean="0"/>
              <a:t>it to </a:t>
            </a:r>
            <a:r>
              <a:rPr lang="en-US" altLang="zh-TW" dirty="0"/>
              <a:t>all the members of the </a:t>
            </a:r>
            <a:r>
              <a:rPr lang="en-US" altLang="zh-TW" dirty="0" smtClean="0"/>
              <a:t>group.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temp </a:t>
            </a:r>
            <a:r>
              <a:rPr lang="en-US" altLang="zh-TW" dirty="0" err="1" smtClean="0">
                <a:solidFill>
                  <a:srgbClr val="FF0000"/>
                </a:solidFill>
              </a:rPr>
              <a:t>seq</a:t>
            </a:r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en-US" altLang="zh-TW" dirty="0" smtClean="0"/>
              <a:t>must be </a:t>
            </a:r>
            <a:r>
              <a:rPr lang="en-US" altLang="zh-TW" dirty="0"/>
              <a:t>greater than any previous </a:t>
            </a:r>
            <a:r>
              <a:rPr lang="en-US" altLang="zh-TW" dirty="0" smtClean="0"/>
              <a:t>used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by </a:t>
            </a:r>
            <a:r>
              <a:rPr lang="en-US" altLang="zh-TW" dirty="0"/>
              <a:t>the sender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On receiving the message, each </a:t>
            </a:r>
            <a:r>
              <a:rPr lang="en-US" altLang="zh-TW" dirty="0" smtClean="0"/>
              <a:t>receiver </a:t>
            </a:r>
            <a:r>
              <a:rPr lang="en-US" altLang="zh-TW" dirty="0"/>
              <a:t>returns a </a:t>
            </a:r>
            <a:r>
              <a:rPr lang="en-US" altLang="zh-TW" dirty="0" smtClean="0">
                <a:solidFill>
                  <a:srgbClr val="FF0000"/>
                </a:solidFill>
              </a:rPr>
              <a:t>proposed </a:t>
            </a:r>
            <a:r>
              <a:rPr lang="en-US" altLang="zh-TW" dirty="0" err="1" smtClean="0">
                <a:solidFill>
                  <a:srgbClr val="FF0000"/>
                </a:solidFill>
              </a:rPr>
              <a:t>seq</a:t>
            </a:r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en-US" altLang="zh-TW" dirty="0"/>
              <a:t>to the sender.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member (</a:t>
            </a:r>
            <a:r>
              <a:rPr lang="en-US" altLang="zh-TW" dirty="0" err="1"/>
              <a:t>i</a:t>
            </a:r>
            <a:r>
              <a:rPr lang="en-US" altLang="zh-TW" dirty="0"/>
              <a:t>) calculates its proposed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by </a:t>
            </a:r>
            <a:r>
              <a:rPr lang="en-US" altLang="zh-TW" dirty="0"/>
              <a:t>using the </a:t>
            </a:r>
            <a:r>
              <a:rPr lang="en-US" altLang="zh-TW" dirty="0" smtClean="0"/>
              <a:t>function</a:t>
            </a:r>
          </a:p>
          <a:p>
            <a:pPr marL="593725" lvl="2" indent="0">
              <a:buNone/>
            </a:pPr>
            <a:r>
              <a:rPr lang="en-US" altLang="zh-TW" dirty="0" smtClean="0"/>
              <a:t>                     </a:t>
            </a:r>
            <a:r>
              <a:rPr lang="en-US" altLang="zh-TW" b="1" dirty="0" smtClean="0">
                <a:solidFill>
                  <a:srgbClr val="FF0000"/>
                </a:solidFill>
              </a:rPr>
              <a:t>max(</a:t>
            </a:r>
            <a:r>
              <a:rPr lang="en-US" altLang="zh-TW" b="1" dirty="0" err="1" smtClean="0">
                <a:solidFill>
                  <a:srgbClr val="FF0000"/>
                </a:solidFill>
              </a:rPr>
              <a:t>F</a:t>
            </a:r>
            <a:r>
              <a:rPr lang="en-US" altLang="zh-TW" b="1" baseline="-25000" dirty="0" err="1" smtClean="0">
                <a:solidFill>
                  <a:srgbClr val="FF0000"/>
                </a:solidFill>
              </a:rPr>
              <a:t>max</a:t>
            </a:r>
            <a:r>
              <a:rPr lang="en-US" altLang="zh-TW" b="1" dirty="0" smtClean="0">
                <a:solidFill>
                  <a:srgbClr val="FF0000"/>
                </a:solidFill>
              </a:rPr>
              <a:t>,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P</a:t>
            </a:r>
            <a:r>
              <a:rPr lang="en-US" altLang="zh-TW" b="1" baseline="-25000" dirty="0" err="1" smtClean="0">
                <a:solidFill>
                  <a:srgbClr val="FF0000"/>
                </a:solidFill>
              </a:rPr>
              <a:t>max</a:t>
            </a:r>
            <a:r>
              <a:rPr lang="en-US" altLang="zh-TW" b="1" dirty="0" smtClean="0">
                <a:solidFill>
                  <a:srgbClr val="FF0000"/>
                </a:solidFill>
              </a:rPr>
              <a:t>) + 1 + (</a:t>
            </a:r>
            <a:r>
              <a:rPr lang="en-US" altLang="zh-TW" b="1" dirty="0" err="1" smtClean="0">
                <a:solidFill>
                  <a:srgbClr val="FF0000"/>
                </a:solidFill>
              </a:rPr>
              <a:t>i</a:t>
            </a:r>
            <a:r>
              <a:rPr lang="en-US" altLang="zh-TW" b="1" dirty="0" smtClean="0">
                <a:solidFill>
                  <a:srgbClr val="FF0000"/>
                </a:solidFill>
              </a:rPr>
              <a:t>/N)</a:t>
            </a:r>
          </a:p>
          <a:p>
            <a:pPr lvl="3"/>
            <a:r>
              <a:rPr lang="en-US" altLang="zh-TW" dirty="0" err="1"/>
              <a:t>F</a:t>
            </a:r>
            <a:r>
              <a:rPr lang="en-US" altLang="zh-TW" baseline="-25000" dirty="0" err="1"/>
              <a:t>max</a:t>
            </a:r>
            <a:r>
              <a:rPr lang="en-US" altLang="zh-TW" dirty="0"/>
              <a:t> is the largest </a:t>
            </a:r>
            <a:r>
              <a:rPr lang="en-US" altLang="zh-TW" dirty="0">
                <a:solidFill>
                  <a:srgbClr val="FF0000"/>
                </a:solidFill>
              </a:rPr>
              <a:t>final </a:t>
            </a:r>
            <a:r>
              <a:rPr lang="en-US" altLang="zh-TW" dirty="0" err="1" smtClean="0">
                <a:solidFill>
                  <a:srgbClr val="FF0000"/>
                </a:solidFill>
              </a:rPr>
              <a:t>seq</a:t>
            </a:r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en-US" altLang="zh-TW" dirty="0"/>
              <a:t>agreed upon so far </a:t>
            </a:r>
            <a:r>
              <a:rPr lang="en-US" altLang="zh-TW" dirty="0" smtClean="0"/>
              <a:t>by </a:t>
            </a:r>
            <a:r>
              <a:rPr lang="en-US" altLang="zh-TW" dirty="0"/>
              <a:t>the </a:t>
            </a:r>
            <a:r>
              <a:rPr lang="en-US" altLang="zh-TW" dirty="0" smtClean="0"/>
              <a:t>group.</a:t>
            </a:r>
          </a:p>
          <a:p>
            <a:pPr lvl="3"/>
            <a:r>
              <a:rPr lang="en-US" altLang="zh-TW" dirty="0" err="1"/>
              <a:t>P</a:t>
            </a:r>
            <a:r>
              <a:rPr lang="en-US" altLang="zh-TW" baseline="-25000" dirty="0" err="1"/>
              <a:t>max</a:t>
            </a:r>
            <a:r>
              <a:rPr lang="en-US" altLang="zh-TW" dirty="0"/>
              <a:t> is the largest </a:t>
            </a:r>
            <a:r>
              <a:rPr lang="en-US" altLang="zh-TW" dirty="0">
                <a:solidFill>
                  <a:srgbClr val="FF0000"/>
                </a:solidFill>
              </a:rPr>
              <a:t>proposed </a:t>
            </a:r>
            <a:r>
              <a:rPr lang="en-US" altLang="zh-TW" dirty="0" err="1" smtClean="0">
                <a:solidFill>
                  <a:srgbClr val="FF0000"/>
                </a:solidFill>
              </a:rPr>
              <a:t>seq</a:t>
            </a:r>
            <a:r>
              <a:rPr lang="en-US" altLang="zh-TW" dirty="0" smtClean="0">
                <a:solidFill>
                  <a:srgbClr val="FF0000"/>
                </a:solidFill>
              </a:rPr>
              <a:t># </a:t>
            </a:r>
            <a:r>
              <a:rPr lang="en-US" altLang="zh-TW" dirty="0"/>
              <a:t>by </a:t>
            </a:r>
            <a:r>
              <a:rPr lang="en-US" altLang="zh-TW" dirty="0" smtClean="0"/>
              <a:t>the member 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).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9036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ABCAST Protocol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519808"/>
            <a:ext cx="8640960" cy="4069432"/>
          </a:xfrm>
        </p:spPr>
        <p:txBody>
          <a:bodyPr/>
          <a:lstStyle/>
          <a:p>
            <a:r>
              <a:rPr lang="en-US" altLang="zh-TW" dirty="0"/>
              <a:t>On receiving all </a:t>
            </a:r>
            <a:r>
              <a:rPr lang="en-US" altLang="zh-TW" dirty="0">
                <a:solidFill>
                  <a:srgbClr val="FF0000"/>
                </a:solidFill>
              </a:rPr>
              <a:t>proposed </a:t>
            </a:r>
            <a:r>
              <a:rPr lang="en-US" altLang="zh-TW" dirty="0" err="1">
                <a:solidFill>
                  <a:srgbClr val="FF0000"/>
                </a:solidFill>
              </a:rPr>
              <a:t>seq</a:t>
            </a:r>
            <a:r>
              <a:rPr lang="en-US" altLang="zh-TW" dirty="0">
                <a:solidFill>
                  <a:srgbClr val="FF0000"/>
                </a:solidFill>
              </a:rPr>
              <a:t>#, </a:t>
            </a:r>
            <a:r>
              <a:rPr lang="en-US" altLang="zh-TW" dirty="0"/>
              <a:t>the sender selects the largest one as the </a:t>
            </a:r>
            <a:r>
              <a:rPr lang="en-US" altLang="zh-TW" dirty="0">
                <a:solidFill>
                  <a:srgbClr val="FF0000"/>
                </a:solidFill>
              </a:rPr>
              <a:t>final </a:t>
            </a:r>
            <a:r>
              <a:rPr lang="en-US" altLang="zh-TW" dirty="0" err="1">
                <a:solidFill>
                  <a:srgbClr val="FF0000"/>
                </a:solidFill>
              </a:rPr>
              <a:t>seq</a:t>
            </a:r>
            <a:r>
              <a:rPr lang="en-US" altLang="zh-TW" dirty="0">
                <a:solidFill>
                  <a:srgbClr val="FF0000"/>
                </a:solidFill>
              </a:rPr>
              <a:t># </a:t>
            </a:r>
            <a:r>
              <a:rPr lang="en-US" altLang="zh-TW" dirty="0"/>
              <a:t>for the message and sends it to all members in a </a:t>
            </a:r>
            <a:r>
              <a:rPr lang="en-US" altLang="zh-TW" dirty="0">
                <a:solidFill>
                  <a:srgbClr val="FF0000"/>
                </a:solidFill>
              </a:rPr>
              <a:t>commit</a:t>
            </a:r>
            <a:r>
              <a:rPr lang="en-US" altLang="zh-TW" dirty="0"/>
              <a:t> message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chosen final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</a:t>
            </a:r>
            <a:r>
              <a:rPr lang="en-US" altLang="zh-TW" dirty="0"/>
              <a:t>is </a:t>
            </a:r>
            <a:r>
              <a:rPr lang="en-US" altLang="zh-TW" dirty="0" smtClean="0"/>
              <a:t>guaranteed to </a:t>
            </a:r>
            <a:r>
              <a:rPr lang="en-US" altLang="zh-TW" dirty="0"/>
              <a:t>be unique because of the term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/N) in </a:t>
            </a:r>
            <a:r>
              <a:rPr lang="en-US" altLang="zh-TW" dirty="0"/>
              <a:t>the </a:t>
            </a:r>
            <a:r>
              <a:rPr lang="en-US" altLang="zh-TW" dirty="0" smtClean="0"/>
              <a:t>function of calculating proposed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#.</a:t>
            </a:r>
            <a:endParaRPr lang="en-US" altLang="zh-TW" dirty="0"/>
          </a:p>
          <a:p>
            <a:r>
              <a:rPr lang="en-US" altLang="zh-TW" dirty="0" smtClean="0"/>
              <a:t>On </a:t>
            </a:r>
            <a:r>
              <a:rPr lang="en-US" altLang="zh-TW" dirty="0"/>
              <a:t>receiving the commit message, each </a:t>
            </a:r>
            <a:r>
              <a:rPr lang="en-US" altLang="zh-TW" dirty="0" smtClean="0"/>
              <a:t>receiver </a:t>
            </a:r>
            <a:r>
              <a:rPr lang="en-US" altLang="zh-TW" dirty="0"/>
              <a:t>attaches the final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</a:t>
            </a:r>
            <a:r>
              <a:rPr lang="en-US" altLang="zh-TW" dirty="0"/>
              <a:t>to the message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Committed messages with final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</a:t>
            </a:r>
            <a:r>
              <a:rPr lang="en-US" altLang="zh-TW" dirty="0"/>
              <a:t>are delivered to the </a:t>
            </a:r>
            <a:r>
              <a:rPr lang="en-US" altLang="zh-TW" dirty="0" smtClean="0"/>
              <a:t>applications </a:t>
            </a:r>
            <a:r>
              <a:rPr lang="en-US" altLang="zh-TW" dirty="0"/>
              <a:t>in </a:t>
            </a:r>
            <a:r>
              <a:rPr lang="en-US" altLang="zh-TW" dirty="0" smtClean="0"/>
              <a:t>the order </a:t>
            </a:r>
            <a:r>
              <a:rPr lang="en-US" altLang="zh-TW" dirty="0"/>
              <a:t>of their final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485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19808"/>
            <a:ext cx="8219256" cy="4213448"/>
          </a:xfrm>
        </p:spPr>
        <p:txBody>
          <a:bodyPr/>
          <a:lstStyle/>
          <a:p>
            <a:r>
              <a:rPr lang="en-US" altLang="zh-TW" dirty="0"/>
              <a:t>Birman, K. P., "The Process Group Approach to Reliable Distributed Computing,“ Communications of the ACM, Vol. 36, pp. 36-53 (1993</a:t>
            </a:r>
            <a:r>
              <a:rPr lang="en-US" altLang="zh-TW" dirty="0" smtClean="0"/>
              <a:t>).</a:t>
            </a:r>
          </a:p>
          <a:p>
            <a:r>
              <a:rPr lang="en-US" altLang="zh-TW" dirty="0"/>
              <a:t>Birman, K. P., </a:t>
            </a:r>
            <a:r>
              <a:rPr lang="en-US" altLang="zh-TW" dirty="0" err="1"/>
              <a:t>Schiper</a:t>
            </a:r>
            <a:r>
              <a:rPr lang="en-US" altLang="zh-TW" dirty="0"/>
              <a:t>, A., and Stephenson, P., "Lightweight Causal </a:t>
            </a:r>
            <a:r>
              <a:rPr lang="en-US" altLang="zh-TW" dirty="0" smtClean="0"/>
              <a:t>and Atomic </a:t>
            </a:r>
            <a:r>
              <a:rPr lang="en-US" altLang="zh-TW" dirty="0"/>
              <a:t>Group Multicast," ACM Transactions on Computer Systems, Vol. 9, No.3, pp. </a:t>
            </a:r>
            <a:r>
              <a:rPr lang="en-US" altLang="zh-TW" dirty="0" smtClean="0"/>
              <a:t>272-314 (1991).</a:t>
            </a:r>
          </a:p>
          <a:p>
            <a:r>
              <a:rPr lang="en-US" altLang="zh-TW" dirty="0"/>
              <a:t>Birman, K. P., and Joseph, T. A., "Reliable Communication in </a:t>
            </a:r>
            <a:r>
              <a:rPr lang="en-US" altLang="zh-TW" dirty="0" smtClean="0"/>
              <a:t>the Presence </a:t>
            </a:r>
            <a:r>
              <a:rPr lang="en-US" altLang="zh-TW" dirty="0"/>
              <a:t>of Failures," ACM Transactions on Computer Systems, Vol. 5, No.1, pp. </a:t>
            </a:r>
            <a:r>
              <a:rPr lang="en-US" altLang="zh-TW" dirty="0" smtClean="0"/>
              <a:t>47-76 (1987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615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35299"/>
            <a:ext cx="7772400" cy="905469"/>
          </a:xfrm>
        </p:spPr>
        <p:txBody>
          <a:bodyPr/>
          <a:lstStyle/>
          <a:p>
            <a:pPr algn="ctr"/>
            <a:r>
              <a:rPr lang="en-US" altLang="zh-TW" dirty="0"/>
              <a:t>Causal Ordering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2160240"/>
          </a:xfrm>
        </p:spPr>
        <p:txBody>
          <a:bodyPr/>
          <a:lstStyle/>
          <a:p>
            <a:r>
              <a:rPr lang="en-US" altLang="zh-TW" dirty="0"/>
              <a:t>One </a:t>
            </a:r>
            <a:r>
              <a:rPr lang="en-US" altLang="zh-TW" dirty="0" smtClean="0"/>
              <a:t>weaker </a:t>
            </a:r>
            <a:r>
              <a:rPr lang="en-US" altLang="zh-TW" dirty="0"/>
              <a:t>ordering semantics that is acceptable to </a:t>
            </a:r>
            <a:r>
              <a:rPr lang="en-US" altLang="zh-TW" dirty="0" smtClean="0"/>
              <a:t>many applications </a:t>
            </a:r>
            <a:r>
              <a:rPr lang="en-US" altLang="zh-TW" dirty="0"/>
              <a:t>is the </a:t>
            </a:r>
            <a:r>
              <a:rPr lang="en-US" altLang="zh-TW" dirty="0">
                <a:solidFill>
                  <a:srgbClr val="FF0000"/>
                </a:solidFill>
              </a:rPr>
              <a:t>causal-ordering</a:t>
            </a:r>
            <a:r>
              <a:rPr lang="en-US" altLang="zh-TW" dirty="0"/>
              <a:t> semantics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m</a:t>
            </a:r>
            <a:r>
              <a:rPr lang="en-US" altLang="zh-TW" dirty="0" smtClean="0"/>
              <a:t>1</a:t>
            </a:r>
            <a:r>
              <a:rPr lang="en-US" altLang="zh-TW" dirty="0" smtClean="0">
                <a:sym typeface="Wingdings" panose="05000000000000000000" pitchFamily="2" charset="2"/>
              </a:rPr>
              <a:t>m3, m3 depends on m1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m1||m2, </a:t>
            </a:r>
            <a:r>
              <a:rPr lang="en-US" altLang="zh-TW" dirty="0">
                <a:sym typeface="Wingdings" panose="05000000000000000000" pitchFamily="2" charset="2"/>
              </a:rPr>
              <a:t>m1 and m2 are </a:t>
            </a:r>
            <a:r>
              <a:rPr lang="en-US" altLang="zh-TW" dirty="0" smtClean="0">
                <a:sym typeface="Wingdings" panose="05000000000000000000" pitchFamily="2" charset="2"/>
              </a:rPr>
              <a:t>concurrent</a:t>
            </a:r>
          </a:p>
          <a:p>
            <a:pPr lvl="1"/>
            <a:r>
              <a:rPr lang="en-US" altLang="zh-TW" dirty="0" smtClean="0">
                <a:sym typeface="Wingdings" panose="05000000000000000000" pitchFamily="2" charset="2"/>
              </a:rPr>
              <a:t>m2||m3, m2 and m3 are concurrent 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240" y="3377282"/>
            <a:ext cx="4644008" cy="3335371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4788024" y="3414192"/>
            <a:ext cx="36004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 smtClean="0">
                <a:cs typeface="Arial" panose="020B0604020202020204" pitchFamily="34" charset="0"/>
              </a:rPr>
              <a:t>R3</a:t>
            </a:r>
            <a:endParaRPr lang="en-US" sz="9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48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CBCAST Protocol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6512" y="1412776"/>
            <a:ext cx="9252520" cy="5256584"/>
          </a:xfrm>
        </p:spPr>
        <p:txBody>
          <a:bodyPr/>
          <a:lstStyle/>
          <a:p>
            <a:r>
              <a:rPr lang="en-US" altLang="zh-TW" dirty="0"/>
              <a:t>Each member </a:t>
            </a:r>
            <a:r>
              <a:rPr lang="en-US" altLang="zh-TW" dirty="0" smtClean="0"/>
              <a:t>of </a:t>
            </a:r>
            <a:r>
              <a:rPr lang="en-US" altLang="zh-TW" dirty="0"/>
              <a:t>a group maintains a vector of </a:t>
            </a:r>
            <a:r>
              <a:rPr lang="en-US" altLang="zh-TW" dirty="0" smtClean="0"/>
              <a:t>N elements.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err="1" smtClean="0"/>
              <a:t>i</a:t>
            </a:r>
            <a:r>
              <a:rPr lang="en-US" altLang="zh-TW" baseline="30000" dirty="0" err="1" smtClean="0"/>
              <a:t>th</a:t>
            </a:r>
            <a:r>
              <a:rPr lang="en-US" altLang="zh-TW" dirty="0" smtClean="0"/>
              <a:t> element </a:t>
            </a:r>
            <a:r>
              <a:rPr lang="en-US" altLang="zh-TW" dirty="0"/>
              <a:t>records </a:t>
            </a:r>
            <a:r>
              <a:rPr lang="en-US" altLang="zh-TW" dirty="0" smtClean="0"/>
              <a:t>the largest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received by </a:t>
            </a:r>
            <a:r>
              <a:rPr lang="en-US" altLang="zh-TW" dirty="0"/>
              <a:t>this member </a:t>
            </a:r>
            <a:r>
              <a:rPr lang="en-US" altLang="zh-TW" dirty="0" smtClean="0"/>
              <a:t>from the member </a:t>
            </a:r>
            <a:r>
              <a:rPr lang="en-US" altLang="zh-TW" dirty="0" err="1"/>
              <a:t>i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/>
              <a:t>To send a message, a process </a:t>
            </a:r>
            <a:r>
              <a:rPr lang="en-US" altLang="zh-TW" dirty="0" smtClean="0"/>
              <a:t>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increments </a:t>
            </a:r>
            <a:r>
              <a:rPr lang="en-US" altLang="zh-TW" dirty="0"/>
              <a:t>the </a:t>
            </a:r>
            <a:r>
              <a:rPr lang="en-US" altLang="zh-TW" dirty="0" err="1" smtClean="0"/>
              <a:t>seq</a:t>
            </a:r>
            <a:r>
              <a:rPr lang="en-US" altLang="zh-TW" dirty="0" smtClean="0"/>
              <a:t># </a:t>
            </a:r>
            <a:r>
              <a:rPr lang="en-US" altLang="zh-TW" dirty="0"/>
              <a:t>of its own </a:t>
            </a:r>
            <a:r>
              <a:rPr lang="en-US" altLang="zh-TW" dirty="0" smtClean="0"/>
              <a:t>element in its own </a:t>
            </a:r>
            <a:r>
              <a:rPr lang="en-US" altLang="zh-TW" dirty="0"/>
              <a:t>vector </a:t>
            </a:r>
            <a:r>
              <a:rPr lang="en-US" altLang="zh-TW" dirty="0" smtClean="0"/>
              <a:t>and then </a:t>
            </a:r>
            <a:r>
              <a:rPr lang="en-US" altLang="zh-TW" dirty="0"/>
              <a:t>sends the </a:t>
            </a:r>
            <a:r>
              <a:rPr lang="en-US" altLang="zh-TW" dirty="0" smtClean="0"/>
              <a:t>message with the vector.</a:t>
            </a:r>
          </a:p>
          <a:p>
            <a:r>
              <a:rPr lang="en-US" altLang="zh-TW" dirty="0" smtClean="0"/>
              <a:t>On receiving a message, the receiving host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puts it in a buffer.</a:t>
            </a:r>
          </a:p>
          <a:p>
            <a:pPr lvl="1"/>
            <a:r>
              <a:rPr lang="en-US" altLang="zh-TW" dirty="0"/>
              <a:t>Let S </a:t>
            </a:r>
            <a:r>
              <a:rPr lang="en-US" altLang="zh-TW" dirty="0" smtClean="0"/>
              <a:t>be the vectors attached on the received message.</a:t>
            </a:r>
          </a:p>
          <a:p>
            <a:pPr lvl="1"/>
            <a:r>
              <a:rPr lang="en-US" altLang="zh-TW" dirty="0" smtClean="0"/>
              <a:t>Let R be </a:t>
            </a:r>
            <a:r>
              <a:rPr lang="en-US" altLang="zh-TW" dirty="0"/>
              <a:t>the vector </a:t>
            </a:r>
            <a:r>
              <a:rPr lang="en-US" altLang="zh-TW" dirty="0" smtClean="0"/>
              <a:t>maintained by </a:t>
            </a:r>
            <a:r>
              <a:rPr lang="en-US" altLang="zh-TW" dirty="0"/>
              <a:t>the </a:t>
            </a:r>
            <a:r>
              <a:rPr lang="en-US" altLang="zh-TW" dirty="0" smtClean="0"/>
              <a:t>receiver itself. </a:t>
            </a:r>
          </a:p>
          <a:p>
            <a:pPr lvl="1"/>
            <a:r>
              <a:rPr lang="en-US" altLang="zh-TW" dirty="0" smtClean="0"/>
              <a:t>Let </a:t>
            </a:r>
            <a:r>
              <a:rPr lang="en-US" altLang="zh-TW" dirty="0" err="1"/>
              <a:t>i</a:t>
            </a:r>
            <a:r>
              <a:rPr lang="en-US" altLang="zh-TW" dirty="0"/>
              <a:t> be the </a:t>
            </a:r>
            <a:r>
              <a:rPr lang="en-US" altLang="zh-TW" dirty="0" smtClean="0"/>
              <a:t>unique ID of the sender.</a:t>
            </a:r>
          </a:p>
          <a:p>
            <a:pPr lvl="1"/>
            <a:r>
              <a:rPr lang="en-US" altLang="zh-TW" dirty="0" smtClean="0"/>
              <a:t>If S[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]=R[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]+1 and for all </a:t>
            </a:r>
            <a:r>
              <a:rPr lang="en-US" altLang="zh-TW" dirty="0" err="1" smtClean="0"/>
              <a:t>j≠i</a:t>
            </a:r>
            <a:r>
              <a:rPr lang="en-US" altLang="zh-TW" dirty="0" smtClean="0"/>
              <a:t>, S[j] ≤ R[j], then the message is delivered to the application, otherwise, the message is left in the buffer.</a:t>
            </a:r>
          </a:p>
          <a:p>
            <a:pPr lvl="1"/>
            <a:r>
              <a:rPr lang="en-US" altLang="zh-TW" dirty="0" smtClean="0"/>
              <a:t>R[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</a:t>
            </a:r>
            <a:r>
              <a:rPr lang="en-US" altLang="zh-TW" dirty="0" smtClean="0">
                <a:sym typeface="Wingdings" panose="05000000000000000000" pitchFamily="2" charset="2"/>
              </a:rPr>
              <a:t> S[</a:t>
            </a:r>
            <a:r>
              <a:rPr lang="en-US" altLang="zh-TW" dirty="0" err="1" smtClean="0">
                <a:sym typeface="Wingdings" panose="05000000000000000000" pitchFamily="2" charset="2"/>
              </a:rPr>
              <a:t>i</a:t>
            </a:r>
            <a:r>
              <a:rPr lang="en-US" altLang="zh-TW" dirty="0" smtClean="0">
                <a:sym typeface="Wingdings" panose="05000000000000000000" pitchFamily="2" charset="2"/>
              </a:rPr>
              <a:t>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102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CBCAST Protocol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41176" y="1447800"/>
            <a:ext cx="8795320" cy="5221560"/>
          </a:xfrm>
        </p:spPr>
        <p:txBody>
          <a:bodyPr/>
          <a:lstStyle/>
          <a:p>
            <a:r>
              <a:rPr lang="en-US" altLang="zh-TW" dirty="0" smtClean="0"/>
              <a:t>Periodically, each undelivered message is tested to decide whether to deliver it to the application or remain in the buffer.</a:t>
            </a:r>
          </a:p>
          <a:p>
            <a:pPr lvl="1"/>
            <a:r>
              <a:rPr lang="en-US" altLang="zh-TW" dirty="0" smtClean="0"/>
              <a:t>Let the undelivered message is sent from the member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If S[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]=R[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and for all </a:t>
            </a:r>
            <a:r>
              <a:rPr lang="en-US" altLang="zh-TW" dirty="0" err="1" smtClean="0"/>
              <a:t>j≠i</a:t>
            </a:r>
            <a:r>
              <a:rPr lang="en-US" altLang="zh-TW" dirty="0" smtClean="0"/>
              <a:t>, S[j]≤R[j], then the message is delivered.</a:t>
            </a:r>
          </a:p>
          <a:p>
            <a:r>
              <a:rPr lang="en-US" altLang="zh-TW" dirty="0" smtClean="0"/>
              <a:t>The test of </a:t>
            </a:r>
            <a:r>
              <a:rPr lang="en-US" altLang="zh-TW" dirty="0" smtClean="0">
                <a:solidFill>
                  <a:srgbClr val="FF0000"/>
                </a:solidFill>
              </a:rPr>
              <a:t>S[</a:t>
            </a:r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]=R[</a:t>
            </a:r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]+1 </a:t>
            </a:r>
            <a:r>
              <a:rPr lang="en-US" altLang="zh-TW" dirty="0"/>
              <a:t>is to </a:t>
            </a:r>
            <a:r>
              <a:rPr lang="en-US" altLang="zh-TW" dirty="0" smtClean="0"/>
              <a:t>ensure </a:t>
            </a:r>
            <a:r>
              <a:rPr lang="en-US" altLang="zh-TW" dirty="0"/>
              <a:t>that the receiver has not missed any message </a:t>
            </a:r>
            <a:r>
              <a:rPr lang="en-US" altLang="zh-TW" dirty="0" smtClean="0"/>
              <a:t>sent from the sender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. </a:t>
            </a:r>
          </a:p>
          <a:p>
            <a:pPr lvl="1"/>
            <a:r>
              <a:rPr lang="en-US" altLang="zh-TW" dirty="0" smtClean="0"/>
              <a:t>Two </a:t>
            </a:r>
            <a:r>
              <a:rPr lang="en-US" altLang="zh-TW" dirty="0"/>
              <a:t>messages from the same sender are </a:t>
            </a:r>
            <a:r>
              <a:rPr lang="en-US" altLang="zh-TW" dirty="0" smtClean="0"/>
              <a:t>always causally </a:t>
            </a:r>
            <a:r>
              <a:rPr lang="en-US" altLang="zh-TW" dirty="0"/>
              <a:t>related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test </a:t>
            </a:r>
            <a:r>
              <a:rPr lang="en-US" altLang="zh-TW" dirty="0"/>
              <a:t>of </a:t>
            </a:r>
            <a:r>
              <a:rPr lang="en-US" altLang="zh-TW" dirty="0">
                <a:solidFill>
                  <a:srgbClr val="FF0000"/>
                </a:solidFill>
              </a:rPr>
              <a:t>for all </a:t>
            </a:r>
            <a:r>
              <a:rPr lang="en-US" altLang="zh-TW" dirty="0" err="1">
                <a:solidFill>
                  <a:srgbClr val="FF0000"/>
                </a:solidFill>
              </a:rPr>
              <a:t>j≠i</a:t>
            </a:r>
            <a:r>
              <a:rPr lang="en-US" altLang="zh-TW" dirty="0">
                <a:solidFill>
                  <a:srgbClr val="FF0000"/>
                </a:solidFill>
              </a:rPr>
              <a:t>, S[j]≤R[j</a:t>
            </a:r>
            <a:r>
              <a:rPr lang="en-US" altLang="zh-TW" dirty="0" smtClean="0">
                <a:solidFill>
                  <a:srgbClr val="FF0000"/>
                </a:solidFill>
              </a:rPr>
              <a:t>] </a:t>
            </a:r>
            <a:r>
              <a:rPr lang="en-US" altLang="zh-TW" dirty="0" smtClean="0"/>
              <a:t>is to ensure that the sender has not received any message </a:t>
            </a:r>
            <a:r>
              <a:rPr lang="en-US" altLang="zh-TW" dirty="0"/>
              <a:t>that the receiver has not yet received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test is needed to make sure that </a:t>
            </a:r>
            <a:r>
              <a:rPr lang="en-US" altLang="zh-TW" dirty="0" smtClean="0"/>
              <a:t>the sender's </a:t>
            </a:r>
            <a:r>
              <a:rPr lang="en-US" altLang="zh-TW" dirty="0"/>
              <a:t>message is not causally related to </a:t>
            </a:r>
            <a:r>
              <a:rPr lang="en-US" altLang="zh-TW" dirty="0" smtClean="0"/>
              <a:t>any </a:t>
            </a:r>
            <a:r>
              <a:rPr lang="en-US" altLang="zh-TW" dirty="0"/>
              <a:t>message missed by the receiver.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134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6" y="332656"/>
            <a:ext cx="8704407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58607"/>
      </p:ext>
    </p:extLst>
  </p:cSld>
  <p:clrMapOvr>
    <a:masterClrMapping/>
  </p:clrMapOvr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9310</TotalTime>
  <Words>4555</Words>
  <Application>Microsoft Office PowerPoint</Application>
  <PresentationFormat>如螢幕大小 (4:3)</PresentationFormat>
  <Paragraphs>429</Paragraphs>
  <Slides>53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53</vt:i4>
      </vt:variant>
    </vt:vector>
  </HeadingPairs>
  <TitlesOfParts>
    <vt:vector size="69" baseType="lpstr">
      <vt:lpstr>ＭＳ Ｐゴシック</vt:lpstr>
      <vt:lpstr>微軟正黑體</vt:lpstr>
      <vt:lpstr>新細明體</vt:lpstr>
      <vt:lpstr>Arial</vt:lpstr>
      <vt:lpstr>Calibri</vt:lpstr>
      <vt:lpstr>Courier New</vt:lpstr>
      <vt:lpstr>Franklin Gothic Book</vt:lpstr>
      <vt:lpstr>Perpetua</vt:lpstr>
      <vt:lpstr>Poor Richard</vt:lpstr>
      <vt:lpstr>Times New Roman</vt:lpstr>
      <vt:lpstr>Verdana</vt:lpstr>
      <vt:lpstr>Wingdings</vt:lpstr>
      <vt:lpstr>Wingdings 2</vt:lpstr>
      <vt:lpstr>4_公正</vt:lpstr>
      <vt:lpstr>5_公正</vt:lpstr>
      <vt:lpstr>公正</vt:lpstr>
      <vt:lpstr>Operating Systems Message Passing </vt:lpstr>
      <vt:lpstr>Inter Process Communication (IPC)</vt:lpstr>
      <vt:lpstr>The Message Passing Model</vt:lpstr>
      <vt:lpstr>Direct Communication Model</vt:lpstr>
      <vt:lpstr>Naming / Addressing</vt:lpstr>
      <vt:lpstr>The Indirect Communication Model</vt:lpstr>
      <vt:lpstr>Persistent and Transient Messaging</vt:lpstr>
      <vt:lpstr>Blocking vs Nonblocking Primitives</vt:lpstr>
      <vt:lpstr>Blocking Send + Blocking Receive</vt:lpstr>
      <vt:lpstr>Non-Blocking Send + Blocking Receive</vt:lpstr>
      <vt:lpstr>Blocking Send + Non-blocking Receive</vt:lpstr>
      <vt:lpstr>Non-Blocking + Non-Blocking Receive</vt:lpstr>
      <vt:lpstr>Pros and Cons of Blocking Primitives</vt:lpstr>
      <vt:lpstr>Pros and Cons of Non-blocking OPs</vt:lpstr>
      <vt:lpstr>Message Buffering</vt:lpstr>
      <vt:lpstr>Blocking Send + Blocking Receive (1)</vt:lpstr>
      <vt:lpstr>Blocking Send + Blocking Receive (2)</vt:lpstr>
      <vt:lpstr>Non-Blocking Send + Blocking Receive</vt:lpstr>
      <vt:lpstr>Non-Blocking Receive</vt:lpstr>
      <vt:lpstr>The Client Server Computing Model</vt:lpstr>
      <vt:lpstr>Failure Handling in Client Server Model</vt:lpstr>
      <vt:lpstr>Unsuccessful request execution</vt:lpstr>
      <vt:lpstr>The Req-Ack-Resp-Ack (RARA) Protocol</vt:lpstr>
      <vt:lpstr>The Req-Resp-Ack (RRA) Protocol</vt:lpstr>
      <vt:lpstr>The Req-Resp (RR) Protocol</vt:lpstr>
      <vt:lpstr>The At-Least-Once Semantics</vt:lpstr>
      <vt:lpstr>The Idempotent Service</vt:lpstr>
      <vt:lpstr>PowerPoint 簡報</vt:lpstr>
      <vt:lpstr>Group Communication </vt:lpstr>
      <vt:lpstr>High Available Web Servers</vt:lpstr>
      <vt:lpstr>Open and Closed Groups</vt:lpstr>
      <vt:lpstr>Group Membership Management</vt:lpstr>
      <vt:lpstr>Group Addressing</vt:lpstr>
      <vt:lpstr>Message Delivery in Multicasting</vt:lpstr>
      <vt:lpstr>Buffered / Unbuffered Multicasting</vt:lpstr>
      <vt:lpstr>Semantics of Multicasting</vt:lpstr>
      <vt:lpstr>Reliability in Multicasting</vt:lpstr>
      <vt:lpstr>Atomic Multicast</vt:lpstr>
      <vt:lpstr>Fault Tolerant Atomic Multicast</vt:lpstr>
      <vt:lpstr>Multicast Primitives</vt:lpstr>
      <vt:lpstr>Many to One Communication</vt:lpstr>
      <vt:lpstr>Many to Many Communication</vt:lpstr>
      <vt:lpstr>No Ordered Message Delivery</vt:lpstr>
      <vt:lpstr>Semantics of Message Ordering</vt:lpstr>
      <vt:lpstr>Absolute Ordering</vt:lpstr>
      <vt:lpstr>Consistent Ordering</vt:lpstr>
      <vt:lpstr>The ABCAST Protocol (1)</vt:lpstr>
      <vt:lpstr>The ABCAST Protocol (2)</vt:lpstr>
      <vt:lpstr>References</vt:lpstr>
      <vt:lpstr>Causal Ordering</vt:lpstr>
      <vt:lpstr>The CBCAST Protocol (1)</vt:lpstr>
      <vt:lpstr>The CBCAST Protocol (2)</vt:lpstr>
      <vt:lpstr>PowerPoint 簡報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334</cp:revision>
  <dcterms:created xsi:type="dcterms:W3CDTF">2009-09-21T01:12:33Z</dcterms:created>
  <dcterms:modified xsi:type="dcterms:W3CDTF">2024-04-24T01:37:41Z</dcterms:modified>
</cp:coreProperties>
</file>